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NDCG@10</c:v>
                </c:pt>
              </c:strCache>
            </c:strRef>
          </c:tx>
          <c:spPr>
            <a:solidFill>
              <a:srgbClr val="0F766E"/>
            </a:solidFill>
          </c:spPr>
          <c:dPt>
            <c:idx val="0"/>
            <c:spPr>
              <a:solidFill>
                <a:srgbClr val="B45309"/>
              </a:solidFill>
            </c:spPr>
          </c:dPt>
          <c:cat>
            <c:strRef>
              <c:f>Sheet1!$A$2:$A$11</c:f>
              <c:strCache>
                <c:ptCount val="10"/>
                <c:pt idx="0">
                  <c:v>B3 RecentPop</c:v>
                </c:pt>
                <c:pt idx="1">
                  <c:v>B5 SKNN</c:v>
                </c:pt>
                <c:pt idx="2">
                  <c:v>GRU lite</c:v>
                </c:pt>
                <c:pt idx="3">
                  <c:v>B6 Markov</c:v>
                </c:pt>
                <c:pt idx="4">
                  <c:v>B4 ItemKNN</c:v>
                </c:pt>
                <c:pt idx="5">
                  <c:v>B7 WRMF</c:v>
                </c:pt>
                <c:pt idx="6">
                  <c:v>B10 EASE</c:v>
                </c:pt>
                <c:pt idx="7">
                  <c:v>B2 Pop</c:v>
                </c:pt>
                <c:pt idx="8">
                  <c:v>B9 CBF</c:v>
                </c:pt>
                <c:pt idx="9">
                  <c:v>B1 Random</c:v>
                </c:pt>
              </c:strCache>
            </c:strRef>
          </c:cat>
          <c:val>
            <c:numRef>
              <c:f>Sheet1!$B$2:$B$11</c:f>
              <c:numCache>
                <c:formatCode>General</c:formatCode>
                <c:ptCount val="10"/>
                <c:pt idx="0">
                  <c:v>0.541</c:v>
                </c:pt>
                <c:pt idx="1">
                  <c:v>0.531</c:v>
                </c:pt>
                <c:pt idx="2">
                  <c:v>0.519</c:v>
                </c:pt>
                <c:pt idx="3">
                  <c:v>0.393</c:v>
                </c:pt>
                <c:pt idx="4">
                  <c:v>0.314</c:v>
                </c:pt>
                <c:pt idx="5">
                  <c:v>0.248</c:v>
                </c:pt>
                <c:pt idx="6">
                  <c:v>0.187</c:v>
                </c:pt>
                <c:pt idx="7">
                  <c:v>0.141</c:v>
                </c:pt>
                <c:pt idx="8">
                  <c:v>0.138</c:v>
                </c:pt>
                <c:pt idx="9">
                  <c:v>0.052</c:v>
                </c:pt>
              </c:numCache>
            </c:numRef>
          </c:val>
        </c:ser>
        <c:dLbls>
          <c:numFmt formatCode="0.000" sourceLinked="0"/>
          <c:txPr>
            <a:bodyPr/>
            <a:lstStyle/>
            <a:p>
              <a:pPr>
                <a:defRPr sz="1300" b="1">
                  <a:solidFill>
                    <a:srgbClr val="134E4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300"/>
            </a:pPr>
          </a:p>
        </c:txPr>
        <c:crossAx val="-2113994440"/>
        <c:crosses val="autoZero"/>
        <c:auto val="1"/>
        <c:lblAlgn val="ctr"/>
        <c:lblOffset val="100"/>
        <c:noMultiLvlLbl val="0"/>
      </c:catAx>
      <c:valAx>
        <c:axId val="-2113994440"/>
        <c:scaling>
          <c:max val="0.6383800000000001"/>
          <c:min val="0.0"/>
        </c:scaling>
        <c:delete/>
        <c:axPos val="b"/>
        <c:majorTickMark val="out"/>
        <c:minorTickMark val="none"/>
        <c:tickLblPos val="nextTo"/>
        <c:crossAx val="-2068027336"/>
        <c:crosses val="autoZero"/>
      </c:valAx>
    </c:plotArea>
    <c:dispBlanksAs val="gap"/>
  </c:chart>
  <c:txPr>
    <a:bodyPr/>
    <a:lstStyle/>
    <a:p>
      <a:pPr>
        <a:defRPr sz="1300">
          <a:solidFill>
            <a:srgbClr val="134E4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مرحباً بالسادة أعضاء اللجنة. أقدّم خلاصة رسالتي: نظام توصية للتعليم الإلكتروني يعتمد على تحليل سلوك المتعلم، وأسأل فيه سؤالاً محدداً: ماذا يضيف تحليل السلوك فوق ما يمليه الجدول الدراسي؟ المدة المتوقعة نحو 18 دقيقة، ثم الأسئلة.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محاور: أبدأ بالمشكلة، ثم الأدبيات والفجوة، ثم البيانات وتمثيل السلوك، ثم الخوارزميات وبروتوكول التقييم، ثم النظام، ثم النتائج والمناقشة، وأختم بالقيود والخاتمة.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في الجامعة الافتراضية السورية يرى المدرّس من سلوك طلابه ما تسجّله المنصة فقط. الاعتراض المنهجي أن معظم الوصول يقوده الجدول الدراسي نفسه، فالسؤال: هل يضيف التخصيص القائم على السلوك شيئاً فوق الشعبية الآنية؟ وتقبل الصياغة صراحةً أن يكون الجواب سلبياً، وتُبلَّغ النتيجة السلبية كما هي.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الهدف العام قياس ما يضيفه تحليل السلوك. أربعة أسئلة، لكل منها فرضية مسجّلة مسبقاً: H1 للشخصنة، H2-أ لترجيح الإشارات، H3 لـ GRU-lite (ثنائية الاتجاه)، H4-أ للتنبؤ بالخطر عند اليوم 56. ومعها H2-ب وH4-ب ثانويتان واستكشافيتان.</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وثلاثون مرجعاً حُلّلت بقالب موحّد. ثلاثة استنتاجات: خطوط الأساس البسيطة منافسة (المرجع 31 والمرجع 20)؛ ترجيح الإشارات مقترح في أعمال كالمرجعين 26 و34 لكن دون استئصال مضبوط؛ والأرقام تتبع البروتوكول (المرجع 47). الفجوة محدودة بالمراجع المحللة، ودرجة الثقة بها متوسطة. والمساهمة تجريبية ومنهجية لا خوارزمية جديدة.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OULAD مجموعة مفتوحة من الجامعة المفتوحة البريطانية بترخيص CC BY 4.0، وكانت الوحيدة التي اجتازت بوابتي التحميل والترخيص وخدمت أهداف الخطة كلها. الأرقام المعروضة من التحليل الاستكشافي على عروض 2013 التسعة حصراً (results/dev2013/eda.md): الكتالوج صغير، والاستعمال متركّز (جيني بين 0.44 و0.79)، وأكثر من نصف أزواج الوصول في نوافذ الاختبار إعادات (متوسط 55.9% إلى 59.2% بحسب نقطة القطع). لذلك عُرّف الهدف الأساسي بالموارد الجديدة، واستُبعدت الأنواع التنقلية.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دقة السجلات يوم واحد، فلا ترتيب داخل اليوم، ولذلك نتحدث عن تسلسل سلال لا جلسات تصفح. الإشارة الموزونة تجمع على أيام الوصول اضمحلالاً أسّياً للحداثة بثابت τ وشدة نقرات مطبَّعة بوسيط نوع النشاط ومضغوطة باللوغاريتم بمعامل β. المستويات الأربعة متداخلة، فيصبح الاستئصال نظيفاً: النموذج نفسه والبروتوكول نفسه ولا يختلف إلا تمثيل الإشارة.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عشرة خطوط أساس تمثّل عائلات الأدبيات، تُضبط جميعها بميزانية متساوية (حتى 20 إعداداً) على نافذة تحقق. الهجين يدمج رتب المكوّنات لا درجاتها لأن مقاييسها غير قابلة للمقارنة، ويُقبل المكوّن بقاعدة مكتوبة سلفاً، وتُضاف أرضية للشخصنة كي يسأل H1 دائماً عن قيمة الشخصنة. GRU-lite يُقارَن بأقوى بديل غير عصبوني بعد ضبطه بإنصاف، وقد اجتاز فحص التدرج وبقية البوابات.</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ثلاث نقاط قطع عامة (اليوم 70 و126 و182)، والاختبار الأربعة عشر يوماً التالية، والتحقق الأربعة عشر يوماً التي تسبق القطع. التقييم على الكتالوج كاملاً لأن السوالب المعيَّنة قد تقلب ترتيب النماذج. التطوير على عروض 2013 التسعة، ثم تجميد التصميم وتشغيل تأكيدي واحد على عروض 2014 الثلاثة عشر. وحدة التحليل العرض، وفاصل bootstrap-t العنقودي، وقيمة p بقلب الإشارات الدقيق، وتصحيح هولم على أربع فرضيات رئيسية، وعتبة الأثر 0.02 نهائية لا تُراجع.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 الفاصل الأهم أن serving.Engine هو المكان الوحيد الذي تُحسب فيه التوصية والتفسير والملف، فتعتمد عليه الواجهة والخدمة دون تكرار منطق. الإطار المتصل في المخطط موجود، والمتقطع مخطط حالياً. كل الشيفرة بـ numpy وpandas مع اختبار تحقق لكل تنفيذ.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الواجهة تعمل بنمط إعادة التشغيل على بيانات تاريخية، وتظهر في أعلاها شارة تنبّه إلى ذلك. لكل بطاقة درجة الهجين وسبب مبسّط وحصص مساهمة المكوّنات، وزر «لماذا؟» يفتح التفسير. لا تُعرض للمتعلم أي درجة خطر. ولا دراسة مستخدمين لهذه الواجهة ضمن الرسالة.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اللوحة تقدّم للمدرّس صورة مبكرة: بطاقات مؤشرات، وعناقيد المتعلمين عند اليوم 56 بأشكال تُميّزها بعيداً عن اللون وحده، وتوزيع درجة الخطر وجدول المتعلمين. تنبيه بارز في أعلاها يوضح أن درجة الخطر غير معايَرة وللمدرّس فقط.</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أرقام تطوير على عروض 2013 لتثبيت التصميم، وهي وصفية لا اختبار للفرضيات. الشعبية الآنية (0.541) تتقدّم على معظم النماذج الشخصية، وSKNN (0.531) وGRU-lite (0.519) قريبان منها. الفرق بين SKNN والشعبية الآنية −0.010 وفاصله [−0.057، +0.024]. الهجين المجمَّد 0.556 ± 0.078، والفرق عن الشعبية الآنية +0.015 [−0.011، +0.040] وp = 0.26: لا يُستنتج منه شيء قبل التأكيد. B10 EASE مرجعي فقط.</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[يُملأ في الجولة التالية من ملفات نتائج التأكيد 2014.] الأحكام وفق الجدولين 3-14 و3-15 في الفصل الثالث: مؤكَّدة، مدحوضة عكسياً، مدحوضة عملياً، غير حاسمة (وفي H3 أيضاً تكافؤ عملي وتأخر مؤكَّد). النتيجة السلبية نتيجة رئيسية مقبولة. تُلحق عبارة MDE80 بكل حكم «غير حاسم».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[يُملأ لاحقاً.] التحليلات الثانوية مسجّلة مسبقاً في الجدول 3-19 ولا تغيّر حكم الفرضيات، وتفسّر متانته. للمرجع فقط (وصفي على 2013): في results/dev2013/summary.md استئصال الإشارة في WRMF وItem-kNN.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[تُكتب بعد النتائج.] المحاور الأربعة مسجّلة سلفاً. سياسة النتيجة السلبية مكتوبة في الفصل الثالث: تفوّق الشعبية الآنية على الهجين، أو الجيران على GRU-lite، نتيجة رئيسية مقبولة.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حدود الادعاء: الوصول المستقبلي وكيل للملاءمة لا للتعلم، والتعميم داخل المؤسسة نفسها، ولم تُدمج السمات الديموغرافية في أي نموذج. من العمل المستقبلي ما يعالج هذه القيود مباشرة. [يُراجع هذا القسم بعد النتائج التأكيدية إن ظهرت قيود إضافية.]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الخاتمة: أربع مساهمات تجريبية ومنهجية. لا أدّعي ابتكار خوارزمية، بل اختبار أفكار قائمة اختباراً منضبطاً على سجلات تعليمية عامة. [الجملة الختامية عن نتيجة التأكيد تُستكمل في الجولة التالية.] سواء كانت النتيجة إيجابية أم سلبية، فهي تجيب عن سؤال تحتاجه أي منصة تعليمية: ما الذي يضيفه التخصيص فوق مواد الأسبوع الحالي؟</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أشكر اللجنة والمشرف، وأرحّب بالأسئلة. الشرائح الاحتياطية التالية تغطي الأسئلة المتوقعة: لماذا numpy فقط؟ لماذا لا CNN؟ ما الدلالة الإحصائية؟ ما حدود التعميم؟</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الجواب الموثّق: قرار منهجي مبرَّر بقيد بيئي وبديل معلن. استُبعدت الـCNN لسببين: مرجعها غير قابل للتكرار، وغياب بنية محلية في سلال الأيام. الشبكة العصبونية المتكررة ممثَّلة بـ GRU-lite، وقد اجتازت حزمة صحة قبل أي تقييم.</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القاعدة مسجّلة قبل رؤية نتائج 2014 وتُطبَّق آلياً بالأسبقية. الفواصل على 9 عروض في التطوير وصفية فقط. الفاصل المعيَّر يغطي نحو 95% عند 13 وحدة مقابل نحو 92% للمئيني. أصغر p ممكنة نحو 0.00024. والنماذج العشوائية تُقرَّر بخمس بذور.</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الحدود معلنة في الفصل الأول (1-5) وتُناقَش في الفصل السادس. القيمة المنهجية للبروتوكول قابلة للنقل حتى لو لم تنتقل الأرقام.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زخرفة"/>
          <p:cNvSpPr/>
          <p:nvPr/>
        </p:nvSpPr>
        <p:spPr>
          <a:xfrm>
            <a:off x="-548640" y="5120640"/>
            <a:ext cx="2377440" cy="2377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شعار الجامعة"/>
          <p:cNvSpPr/>
          <p:nvPr/>
        </p:nvSpPr>
        <p:spPr>
          <a:xfrm>
            <a:off x="10774375" y="502920"/>
            <a:ext cx="868680"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134E4A"/>
                </a:solidFill>
                <a:latin typeface="Arial"/>
                <a:cs typeface="Arial"/>
              </a:rPr>
              <a:t>SVU</a:t>
            </a:r>
          </a:p>
        </p:txBody>
      </p:sp>
      <p:sp>
        <p:nvSpPr>
          <p:cNvPr id="6" name="اسم الجامعة"/>
          <p:cNvSpPr txBox="1"/>
          <p:nvPr/>
        </p:nvSpPr>
        <p:spPr>
          <a:xfrm>
            <a:off x="5653735" y="502920"/>
            <a:ext cx="5029200" cy="38404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FFFFFF"/>
                </a:solidFill>
                <a:latin typeface="Arial"/>
                <a:cs typeface="Arial"/>
              </a:rPr>
              <a:t>الجامعة الافتراضية السورية</a:t>
            </a:r>
          </a:p>
        </p:txBody>
      </p:sp>
      <p:sp>
        <p:nvSpPr>
          <p:cNvPr id="7" name="نوع الرسالة"/>
          <p:cNvSpPr/>
          <p:nvPr/>
        </p:nvSpPr>
        <p:spPr>
          <a:xfrm>
            <a:off x="8168335" y="1600200"/>
            <a:ext cx="3474720" cy="4114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رسالة ماجستير في علوم الوب</a:t>
            </a:r>
          </a:p>
        </p:txBody>
      </p:sp>
      <p:sp>
        <p:nvSpPr>
          <p:cNvPr id="8" name="العنوان"/>
          <p:cNvSpPr txBox="1"/>
          <p:nvPr/>
        </p:nvSpPr>
        <p:spPr>
          <a:xfrm>
            <a:off x="3474720" y="2148840"/>
            <a:ext cx="8168335" cy="210312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4000" b="1" i="0" lang="ar-SA">
                <a:solidFill>
                  <a:srgbClr val="FFFFFF"/>
                </a:solidFill>
                <a:latin typeface="Arial"/>
                <a:cs typeface="Arial"/>
              </a:rPr>
              <a:t>نظام توصية للتعليم الإلكتروني القائم على تحليل سلوك المستخدم</a:t>
            </a:r>
          </a:p>
        </p:txBody>
      </p:sp>
      <p:sp>
        <p:nvSpPr>
          <p:cNvPr id="9" name="بيانات الرسالة"/>
          <p:cNvSpPr txBox="1"/>
          <p:nvPr/>
        </p:nvSpPr>
        <p:spPr>
          <a:xfrm>
            <a:off x="3474720" y="4434840"/>
            <a:ext cx="8168335" cy="146304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الطالب: 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a:p>
            <a:pPr rtl="1" algn="r">
              <a:lnSpc>
                <a:spcPct val="120000"/>
              </a:lnSpc>
              <a:spcBef>
                <a:spcPts val="0"/>
              </a:spcBef>
              <a:spcAft>
                <a:spcPts val="400"/>
              </a:spcAft>
            </a:pPr>
            <a:r>
              <a:rPr sz="2200" b="0" i="0" lang="ar-SA">
                <a:solidFill>
                  <a:srgbClr val="CCFBF1"/>
                </a:solidFill>
                <a:latin typeface="Arial"/>
                <a:cs typeface="Arial"/>
              </a:rPr>
              <a:t>الجامعة الافتراضية السورية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جدول الأعمال</a:t>
            </a:r>
          </a:p>
        </p:txBody>
      </p:sp>
      <p:sp>
        <p:nvSpPr>
          <p:cNvPr id="3" name="بطاقة"/>
          <p:cNvSpPr/>
          <p:nvPr/>
        </p:nvSpPr>
        <p:spPr>
          <a:xfrm>
            <a:off x="9075191"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9212351"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المشكلة والهدف</a:t>
            </a:r>
          </a:p>
        </p:txBody>
      </p:sp>
      <p:sp>
        <p:nvSpPr>
          <p:cNvPr id="6" name="TextBox 5"/>
          <p:cNvSpPr txBox="1"/>
          <p:nvPr/>
        </p:nvSpPr>
        <p:spPr>
          <a:xfrm>
            <a:off x="9212351"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السؤال وأسئلة البحث</a:t>
            </a:r>
          </a:p>
        </p:txBody>
      </p:sp>
      <p:sp>
        <p:nvSpPr>
          <p:cNvPr id="7" name="بطاقة"/>
          <p:cNvSpPr/>
          <p:nvPr/>
        </p:nvSpPr>
        <p:spPr>
          <a:xfrm>
            <a:off x="6233007"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115071"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370167"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الأدبيات والفجوة</a:t>
            </a:r>
          </a:p>
        </p:txBody>
      </p:sp>
      <p:sp>
        <p:nvSpPr>
          <p:cNvPr id="10" name="TextBox 9"/>
          <p:cNvSpPr txBox="1"/>
          <p:nvPr/>
        </p:nvSpPr>
        <p:spPr>
          <a:xfrm>
            <a:off x="6370167"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ما قيل وما لم يُختبر</a:t>
            </a:r>
          </a:p>
        </p:txBody>
      </p:sp>
      <p:sp>
        <p:nvSpPr>
          <p:cNvPr id="11" name="بطاقة"/>
          <p:cNvSpPr/>
          <p:nvPr/>
        </p:nvSpPr>
        <p:spPr>
          <a:xfrm>
            <a:off x="3390823"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3527983"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البيانات والسلوك</a:t>
            </a:r>
          </a:p>
        </p:txBody>
      </p:sp>
      <p:sp>
        <p:nvSpPr>
          <p:cNvPr id="14" name="TextBox 13"/>
          <p:cNvSpPr txBox="1"/>
          <p:nvPr/>
        </p:nvSpPr>
        <p:spPr>
          <a:xfrm>
            <a:off x="3527983"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OULAD والإشارات</a:t>
            </a:r>
          </a:p>
        </p:txBody>
      </p:sp>
      <p:sp>
        <p:nvSpPr>
          <p:cNvPr id="15" name="بطاقة"/>
          <p:cNvSpPr/>
          <p:nvPr/>
        </p:nvSpPr>
        <p:spPr>
          <a:xfrm>
            <a:off x="548640"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2430703"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الخوارزميات والبروتوكول</a:t>
            </a:r>
          </a:p>
        </p:txBody>
      </p:sp>
      <p:sp>
        <p:nvSpPr>
          <p:cNvPr id="18" name="TextBox 17"/>
          <p:cNvSpPr txBox="1"/>
          <p:nvPr/>
        </p:nvSpPr>
        <p:spPr>
          <a:xfrm>
            <a:off x="685800"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النماذج وخطة التقييم</a:t>
            </a:r>
          </a:p>
        </p:txBody>
      </p:sp>
      <p:sp>
        <p:nvSpPr>
          <p:cNvPr id="19" name="بطاقة"/>
          <p:cNvSpPr/>
          <p:nvPr/>
        </p:nvSpPr>
        <p:spPr>
          <a:xfrm>
            <a:off x="9075191"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5</a:t>
            </a:r>
          </a:p>
        </p:txBody>
      </p:sp>
      <p:sp>
        <p:nvSpPr>
          <p:cNvPr id="21" name="TextBox 20"/>
          <p:cNvSpPr txBox="1"/>
          <p:nvPr/>
        </p:nvSpPr>
        <p:spPr>
          <a:xfrm>
            <a:off x="9212351"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النظام والواجهة</a:t>
            </a:r>
          </a:p>
        </p:txBody>
      </p:sp>
      <p:sp>
        <p:nvSpPr>
          <p:cNvPr id="22" name="TextBox 21"/>
          <p:cNvSpPr txBox="1"/>
          <p:nvPr/>
        </p:nvSpPr>
        <p:spPr>
          <a:xfrm>
            <a:off x="9212351"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المعمارية والمتعلم والمدرّس</a:t>
            </a:r>
          </a:p>
        </p:txBody>
      </p:sp>
      <p:sp>
        <p:nvSpPr>
          <p:cNvPr id="23" name="بطاقة"/>
          <p:cNvSpPr/>
          <p:nvPr/>
        </p:nvSpPr>
        <p:spPr>
          <a:xfrm>
            <a:off x="6233007"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رقم"/>
          <p:cNvSpPr/>
          <p:nvPr/>
        </p:nvSpPr>
        <p:spPr>
          <a:xfrm>
            <a:off x="8115071"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6</a:t>
            </a:r>
          </a:p>
        </p:txBody>
      </p:sp>
      <p:sp>
        <p:nvSpPr>
          <p:cNvPr id="25" name="TextBox 24"/>
          <p:cNvSpPr txBox="1"/>
          <p:nvPr/>
        </p:nvSpPr>
        <p:spPr>
          <a:xfrm>
            <a:off x="6370167"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النتائج والمناقشة</a:t>
            </a:r>
          </a:p>
        </p:txBody>
      </p:sp>
      <p:sp>
        <p:nvSpPr>
          <p:cNvPr id="26" name="TextBox 25"/>
          <p:cNvSpPr txBox="1"/>
          <p:nvPr/>
        </p:nvSpPr>
        <p:spPr>
          <a:xfrm>
            <a:off x="6370167"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التطوير ثم التأكيد</a:t>
            </a:r>
          </a:p>
        </p:txBody>
      </p:sp>
      <p:sp>
        <p:nvSpPr>
          <p:cNvPr id="27" name="بطاقة"/>
          <p:cNvSpPr/>
          <p:nvPr/>
        </p:nvSpPr>
        <p:spPr>
          <a:xfrm>
            <a:off x="3390823"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رقم"/>
          <p:cNvSpPr/>
          <p:nvPr/>
        </p:nvSpPr>
        <p:spPr>
          <a:xfrm>
            <a:off x="5272887"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7</a:t>
            </a:r>
          </a:p>
        </p:txBody>
      </p:sp>
      <p:sp>
        <p:nvSpPr>
          <p:cNvPr id="29" name="TextBox 28"/>
          <p:cNvSpPr txBox="1"/>
          <p:nvPr/>
        </p:nvSpPr>
        <p:spPr>
          <a:xfrm>
            <a:off x="3527983"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القيود والمستقبل</a:t>
            </a:r>
          </a:p>
        </p:txBody>
      </p:sp>
      <p:sp>
        <p:nvSpPr>
          <p:cNvPr id="30" name="TextBox 29"/>
          <p:cNvSpPr txBox="1"/>
          <p:nvPr/>
        </p:nvSpPr>
        <p:spPr>
          <a:xfrm>
            <a:off x="3527983"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حدود الادعاء</a:t>
            </a:r>
          </a:p>
        </p:txBody>
      </p:sp>
      <p:sp>
        <p:nvSpPr>
          <p:cNvPr id="31" name="بطاقة"/>
          <p:cNvSpPr/>
          <p:nvPr/>
        </p:nvSpPr>
        <p:spPr>
          <a:xfrm>
            <a:off x="548640"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2430703"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8</a:t>
            </a:r>
          </a:p>
        </p:txBody>
      </p:sp>
      <p:sp>
        <p:nvSpPr>
          <p:cNvPr id="33" name="TextBox 32"/>
          <p:cNvSpPr txBox="1"/>
          <p:nvPr/>
        </p:nvSpPr>
        <p:spPr>
          <a:xfrm>
            <a:off x="685800"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الخاتمة</a:t>
            </a:r>
          </a:p>
        </p:txBody>
      </p:sp>
      <p:sp>
        <p:nvSpPr>
          <p:cNvPr id="34" name="TextBox 33"/>
          <p:cNvSpPr txBox="1"/>
          <p:nvPr/>
        </p:nvSpPr>
        <p:spPr>
          <a:xfrm>
            <a:off x="685800"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المساهمات والأسئلة</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المشكلة: ماذا يضيف تحليل السلوك؟</a:t>
            </a:r>
          </a:p>
        </p:txBody>
      </p:sp>
      <p:sp>
        <p:nvSpPr>
          <p:cNvPr id="3" name="صف"/>
          <p:cNvSpPr/>
          <p:nvPr/>
        </p:nvSpPr>
        <p:spPr>
          <a:xfrm>
            <a:off x="548640" y="1463040"/>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708404"/>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777240" y="1463040"/>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المتعلم عن بُعد أمام مئات الموارد، وبلا توجيه فوري من المدرّس</a:t>
            </a:r>
          </a:p>
        </p:txBody>
      </p:sp>
      <p:sp>
        <p:nvSpPr>
          <p:cNvPr id="6" name="صف"/>
          <p:cNvSpPr/>
          <p:nvPr/>
        </p:nvSpPr>
        <p:spPr>
          <a:xfrm>
            <a:off x="548640" y="2657856"/>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p:cNvSpPr/>
          <p:nvPr/>
        </p:nvSpPr>
        <p:spPr>
          <a:xfrm>
            <a:off x="10957255" y="29032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8" name="TextBox 7"/>
          <p:cNvSpPr txBox="1"/>
          <p:nvPr/>
        </p:nvSpPr>
        <p:spPr>
          <a:xfrm>
            <a:off x="777240" y="2657856"/>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المنصة تسجّل كل نقرة: الموارد والأيام والتسليمات</a:t>
            </a:r>
          </a:p>
        </p:txBody>
      </p:sp>
      <p:sp>
        <p:nvSpPr>
          <p:cNvPr id="9" name="صف"/>
          <p:cNvSpPr/>
          <p:nvPr/>
        </p:nvSpPr>
        <p:spPr>
          <a:xfrm>
            <a:off x="548640" y="3852672"/>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4098036"/>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1" name="TextBox 10"/>
          <p:cNvSpPr txBox="1"/>
          <p:nvPr/>
        </p:nvSpPr>
        <p:spPr>
          <a:xfrm>
            <a:off x="777240" y="3852672"/>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الجدول الدراسي والشعبية والإعادات تقود معظم الوصول</a:t>
            </a:r>
          </a:p>
        </p:txBody>
      </p:sp>
      <p:sp>
        <p:nvSpPr>
          <p:cNvPr id="12" name="خلاصة"/>
          <p:cNvSpPr/>
          <p:nvPr/>
        </p:nvSpPr>
        <p:spPr>
          <a:xfrm>
            <a:off x="548640" y="5074920"/>
            <a:ext cx="11094415" cy="105156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هل يقترح نظام قائم على السلوك موارد جديدة بأفضل مما تقترحه الشعبية الآنية؟</a:t>
            </a:r>
          </a:p>
        </p:txBody>
      </p:sp>
      <p:sp>
        <p:nvSpPr>
          <p:cNvPr id="1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الهدف وأسئلة البحث الأربعة</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الهدف: قياس ما يضيفه تحليل السلوك للتوصية ضمن بروتوكول زمني صارم</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682935"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RQ1</a:t>
            </a:r>
          </a:p>
        </p:txBody>
      </p:sp>
      <p:sp>
        <p:nvSpPr>
          <p:cNvPr id="6" name="TextBox 5"/>
          <p:cNvSpPr txBox="1"/>
          <p:nvPr/>
        </p:nvSpPr>
        <p:spPr>
          <a:xfrm>
            <a:off x="6370167"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الشخصنة فوق السياق الزمني</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الهجين السلوكي على الشعبية الآنية في اكتشاف الموارد الجديدة؟</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4998567"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RQ2</a:t>
            </a:r>
          </a:p>
        </p:txBody>
      </p:sp>
      <p:sp>
        <p:nvSpPr>
          <p:cNvPr id="10" name="TextBox 9"/>
          <p:cNvSpPr txBox="1"/>
          <p:nvPr/>
        </p:nvSpPr>
        <p:spPr>
          <a:xfrm>
            <a:off x="685800"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قيمة ترجيح الإشارات</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يحسّن ترجيح الأيام والحداثة والشدة الأداء مقارنة بالإشارة الثنائية؟</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682935"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RQ3</a:t>
            </a:r>
          </a:p>
        </p:txBody>
      </p:sp>
      <p:sp>
        <p:nvSpPr>
          <p:cNvPr id="14" name="TextBox 13"/>
          <p:cNvSpPr txBox="1"/>
          <p:nvPr/>
        </p:nvSpPr>
        <p:spPr>
          <a:xfrm>
            <a:off x="6370167"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التسلسل العصبوني</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GRU-lite على أفضل بديل تسلسلي غير عصبوني؟</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4998567"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RQ4</a:t>
            </a:r>
          </a:p>
        </p:txBody>
      </p:sp>
      <p:sp>
        <p:nvSpPr>
          <p:cNvPr id="18" name="TextBox 17"/>
          <p:cNvSpPr txBox="1"/>
          <p:nvPr/>
        </p:nvSpPr>
        <p:spPr>
          <a:xfrm>
            <a:off x="685800"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تحليل المتعلمين</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تتنبأ ملامح السلوك المبكرة بالخطر أفضل من مجموع النقرات؟</a:t>
            </a:r>
          </a:p>
        </p:txBody>
      </p:sp>
      <p:sp>
        <p:nvSpPr>
          <p:cNvPr id="2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ماذا تقول الأدبيات؟ وأين الفجوة؟</a:t>
            </a:r>
          </a:p>
        </p:txBody>
      </p:sp>
      <p:sp>
        <p:nvSpPr>
          <p:cNvPr id="3" name="بطاقة"/>
          <p:cNvSpPr/>
          <p:nvPr/>
        </p:nvSpPr>
        <p:spPr>
          <a:xfrm>
            <a:off x="8127796"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8264956"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البساطة تنافس</a:t>
            </a:r>
          </a:p>
        </p:txBody>
      </p:sp>
      <p:sp>
        <p:nvSpPr>
          <p:cNvPr id="6" name="TextBox 5"/>
          <p:cNvSpPr txBox="1"/>
          <p:nvPr/>
        </p:nvSpPr>
        <p:spPr>
          <a:xfrm>
            <a:off x="8264956"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الخطوط غير الشخصية قوية، والتعقيد لا يضمن التحسن</a:t>
            </a:r>
          </a:p>
        </p:txBody>
      </p:sp>
      <p:sp>
        <p:nvSpPr>
          <p:cNvPr id="7" name="بطاقة"/>
          <p:cNvSpPr/>
          <p:nvPr/>
        </p:nvSpPr>
        <p:spPr>
          <a:xfrm>
            <a:off x="4338218"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7167676"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4475378"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الترجيح لم يُختبر</a:t>
            </a:r>
          </a:p>
        </p:txBody>
      </p:sp>
      <p:sp>
        <p:nvSpPr>
          <p:cNvPr id="10" name="TextBox 9"/>
          <p:cNvSpPr txBox="1"/>
          <p:nvPr/>
        </p:nvSpPr>
        <p:spPr>
          <a:xfrm>
            <a:off x="4475378"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الضمنية مقترح دون استئصال مضبوط</a:t>
            </a:r>
          </a:p>
        </p:txBody>
      </p:sp>
      <p:sp>
        <p:nvSpPr>
          <p:cNvPr id="11" name="بطاقة"/>
          <p:cNvSpPr/>
          <p:nvPr/>
        </p:nvSpPr>
        <p:spPr>
          <a:xfrm>
            <a:off x="548639"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3378098"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85799"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الأرقام تتبع البروتوكول</a:t>
            </a:r>
          </a:p>
        </p:txBody>
      </p:sp>
      <p:sp>
        <p:nvSpPr>
          <p:cNvPr id="14" name="TextBox 13"/>
          <p:cNvSpPr txBox="1"/>
          <p:nvPr/>
        </p:nvSpPr>
        <p:spPr>
          <a:xfrm>
            <a:off x="685799"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التقسيم العشوائي والسوالب المعيَّنة تضخّم المقاييس</a:t>
            </a:r>
          </a:p>
        </p:txBody>
      </p:sp>
      <p:sp>
        <p:nvSpPr>
          <p:cNvPr id="15" name="خلاصة"/>
          <p:cNvSpPr/>
          <p:nvPr/>
        </p:nvSpPr>
        <p:spPr>
          <a:xfrm>
            <a:off x="548640" y="457200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الفجوة: لا اختبار استئصالياً مضبوطاً لترجيح الإشارات السلوكية على سجلات تعليمية عامة، بتقسيم زمني وكتالوج كامل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البيانات: OULAD، والاستعمال متركّز</a:t>
            </a:r>
          </a:p>
        </p:txBody>
      </p:sp>
      <p:sp>
        <p:nvSpPr>
          <p:cNvPr id="3" name="بطاقة رقم"/>
          <p:cNvSpPr/>
          <p:nvPr/>
        </p:nvSpPr>
        <p:spPr>
          <a:xfrm>
            <a:off x="8127796"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كبير"/>
          <p:cNvSpPr txBox="1"/>
          <p:nvPr/>
        </p:nvSpPr>
        <p:spPr>
          <a:xfrm>
            <a:off x="8219236"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‎13,529‎</a:t>
            </a:r>
          </a:p>
        </p:txBody>
      </p:sp>
      <p:sp>
        <p:nvSpPr>
          <p:cNvPr id="5" name="TextBox 4"/>
          <p:cNvSpPr txBox="1"/>
          <p:nvPr/>
        </p:nvSpPr>
        <p:spPr>
          <a:xfrm>
            <a:off x="8310676"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تسجيلاً في 9 عروض تطوير (2013)</a:t>
            </a:r>
          </a:p>
        </p:txBody>
      </p:sp>
      <p:sp>
        <p:nvSpPr>
          <p:cNvPr id="6" name="بطاقة رقم"/>
          <p:cNvSpPr/>
          <p:nvPr/>
        </p:nvSpPr>
        <p:spPr>
          <a:xfrm>
            <a:off x="4338218"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كبير"/>
          <p:cNvSpPr txBox="1"/>
          <p:nvPr/>
        </p:nvSpPr>
        <p:spPr>
          <a:xfrm>
            <a:off x="4429658"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‎96–444‎</a:t>
            </a:r>
          </a:p>
        </p:txBody>
      </p:sp>
      <p:sp>
        <p:nvSpPr>
          <p:cNvPr id="8" name="TextBox 7"/>
          <p:cNvSpPr txBox="1"/>
          <p:nvPr/>
        </p:nvSpPr>
        <p:spPr>
          <a:xfrm>
            <a:off x="4521098"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مورداً غير تنقلي لكل عرض</a:t>
            </a:r>
          </a:p>
        </p:txBody>
      </p:sp>
      <p:sp>
        <p:nvSpPr>
          <p:cNvPr id="9" name="بطاقة رقم"/>
          <p:cNvSpPr/>
          <p:nvPr/>
        </p:nvSpPr>
        <p:spPr>
          <a:xfrm>
            <a:off x="548639"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كبير"/>
          <p:cNvSpPr txBox="1"/>
          <p:nvPr/>
        </p:nvSpPr>
        <p:spPr>
          <a:xfrm>
            <a:off x="640079"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‎28%‎</a:t>
            </a:r>
          </a:p>
        </p:txBody>
      </p:sp>
      <p:sp>
        <p:nvSpPr>
          <p:cNvPr id="11" name="TextBox 10"/>
          <p:cNvSpPr txBox="1"/>
          <p:nvPr/>
        </p:nvSpPr>
        <p:spPr>
          <a:xfrm>
            <a:off x="731519"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نقرات التنقل (مرجّحة بالنقرات)</a:t>
            </a:r>
          </a:p>
        </p:txBody>
      </p:sp>
      <p:sp>
        <p:nvSpPr>
          <p:cNvPr id="12" name="بطاقة رقم"/>
          <p:cNvSpPr/>
          <p:nvPr/>
        </p:nvSpPr>
        <p:spPr>
          <a:xfrm>
            <a:off x="8127796"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كبير"/>
          <p:cNvSpPr txBox="1"/>
          <p:nvPr/>
        </p:nvSpPr>
        <p:spPr>
          <a:xfrm>
            <a:off x="8219236"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‎41%–86%‎</a:t>
            </a:r>
          </a:p>
        </p:txBody>
      </p:sp>
      <p:sp>
        <p:nvSpPr>
          <p:cNvPr id="14" name="TextBox 13"/>
          <p:cNvSpPr txBox="1"/>
          <p:nvPr/>
        </p:nvSpPr>
        <p:spPr>
          <a:xfrm>
            <a:off x="8310676"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أعلى 20% من الموارد من أزواج الوصول</a:t>
            </a:r>
          </a:p>
        </p:txBody>
      </p:sp>
      <p:sp>
        <p:nvSpPr>
          <p:cNvPr id="15" name="بطاقة رقم"/>
          <p:cNvSpPr/>
          <p:nvPr/>
        </p:nvSpPr>
        <p:spPr>
          <a:xfrm>
            <a:off x="4338218"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كبير"/>
          <p:cNvSpPr txBox="1"/>
          <p:nvPr/>
        </p:nvSpPr>
        <p:spPr>
          <a:xfrm>
            <a:off x="4429658"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‎56%–59%‎</a:t>
            </a:r>
          </a:p>
        </p:txBody>
      </p:sp>
      <p:sp>
        <p:nvSpPr>
          <p:cNvPr id="17" name="TextBox 16"/>
          <p:cNvSpPr txBox="1"/>
          <p:nvPr/>
        </p:nvSpPr>
        <p:spPr>
          <a:xfrm>
            <a:off x="4521098"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الإعادات في نوافذ الاختبار (متوسط العروض)</a:t>
            </a:r>
          </a:p>
        </p:txBody>
      </p:sp>
      <p:sp>
        <p:nvSpPr>
          <p:cNvPr id="18" name="بطاقة رقم"/>
          <p:cNvSpPr/>
          <p:nvPr/>
        </p:nvSpPr>
        <p:spPr>
          <a:xfrm>
            <a:off x="548639"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رقم كبير"/>
          <p:cNvSpPr txBox="1"/>
          <p:nvPr/>
        </p:nvSpPr>
        <p:spPr>
          <a:xfrm>
            <a:off x="640079"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‎10%–42%‎</a:t>
            </a:r>
          </a:p>
        </p:txBody>
      </p:sp>
      <p:sp>
        <p:nvSpPr>
          <p:cNvPr id="20" name="TextBox 19"/>
          <p:cNvSpPr txBox="1"/>
          <p:nvPr/>
        </p:nvSpPr>
        <p:spPr>
          <a:xfrm>
            <a:off x="731519"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كثافة مصفوفة المتعلمين × الموارد</a:t>
            </a:r>
          </a:p>
        </p:txBody>
      </p:sp>
      <p:sp>
        <p:nvSpPr>
          <p:cNvPr id="21" name="TextBox 20"/>
          <p:cNvSpPr txBox="1"/>
          <p:nvPr/>
        </p:nvSpPr>
        <p:spPr>
          <a:xfrm>
            <a:off x="548640" y="56052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مجموعة OULAD: 7 مقررات و22 عرضاً، 32,593 تسجيلاً، ترخيص CC BY 4.0؛ عروض 2014 (13 عرضاً) محجوزة للتأكيد</a:t>
            </a:r>
          </a:p>
        </p:txBody>
      </p:sp>
      <p:sp>
        <p:nvSpPr>
          <p:cNvPr id="2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تمثيل السلوك: سلة اليوم وعائلة الإشارات</a:t>
            </a:r>
          </a:p>
        </p:txBody>
      </p:sp>
      <p:sp>
        <p:nvSpPr>
          <p:cNvPr id="3" name="TextBox 2"/>
          <p:cNvSpPr txBox="1"/>
          <p:nvPr/>
        </p:nvSpPr>
        <p:spPr>
          <a:xfrm>
            <a:off x="548640" y="1463040"/>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من السجل إلى التسلسل</a:t>
            </a:r>
          </a:p>
        </p:txBody>
      </p:sp>
      <p:sp>
        <p:nvSpPr>
          <p:cNvPr id="4" name="خطوة"/>
          <p:cNvSpPr/>
          <p:nvPr/>
        </p:nvSpPr>
        <p:spPr>
          <a:xfrm>
            <a:off x="8298484"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9924"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نقرات يومية</a:t>
            </a:r>
          </a:p>
        </p:txBody>
      </p:sp>
      <p:sp>
        <p:nvSpPr>
          <p:cNvPr id="6" name="TextBox 5"/>
          <p:cNvSpPr txBox="1"/>
          <p:nvPr/>
        </p:nvSpPr>
        <p:spPr>
          <a:xfrm>
            <a:off x="8389924"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متعلم × مورد × يوم</a:t>
            </a:r>
          </a:p>
        </p:txBody>
      </p:sp>
      <p:sp>
        <p:nvSpPr>
          <p:cNvPr id="7" name="سهم"/>
          <p:cNvSpPr/>
          <p:nvPr/>
        </p:nvSpPr>
        <p:spPr>
          <a:xfrm>
            <a:off x="7768132"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خطوة"/>
          <p:cNvSpPr/>
          <p:nvPr/>
        </p:nvSpPr>
        <p:spPr>
          <a:xfrm>
            <a:off x="4423562"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5002"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سلة اليوم</a:t>
            </a:r>
          </a:p>
        </p:txBody>
      </p:sp>
      <p:sp>
        <p:nvSpPr>
          <p:cNvPr id="10" name="TextBox 9"/>
          <p:cNvSpPr txBox="1"/>
          <p:nvPr/>
        </p:nvSpPr>
        <p:spPr>
          <a:xfrm>
            <a:off x="4515002"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مجموعة موارد غير مرتبة</a:t>
            </a:r>
          </a:p>
        </p:txBody>
      </p:sp>
      <p:sp>
        <p:nvSpPr>
          <p:cNvPr id="11" name="سهم"/>
          <p:cNvSpPr/>
          <p:nvPr/>
        </p:nvSpPr>
        <p:spPr>
          <a:xfrm>
            <a:off x="3893210"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خطوة"/>
          <p:cNvSpPr/>
          <p:nvPr/>
        </p:nvSpPr>
        <p:spPr>
          <a:xfrm>
            <a:off x="548639"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تسلسل السلال</a:t>
            </a:r>
          </a:p>
        </p:txBody>
      </p:sp>
      <p:sp>
        <p:nvSpPr>
          <p:cNvPr id="14" name="TextBox 13"/>
          <p:cNvSpPr txBox="1"/>
          <p:nvPr/>
        </p:nvSpPr>
        <p:spPr>
          <a:xfrm>
            <a:off x="640079"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الأيام النشطة بالترتيب</a:t>
            </a:r>
          </a:p>
        </p:txBody>
      </p:sp>
      <p:sp>
        <p:nvSpPr>
          <p:cNvPr id="15" name="TextBox 14"/>
          <p:cNvSpPr txBox="1"/>
          <p:nvPr/>
        </p:nvSpPr>
        <p:spPr>
          <a:xfrm>
            <a:off x="548640" y="3383279"/>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الإشارة الضمنية: كل مستوى حالة خاصة من التالي</a:t>
            </a:r>
          </a:p>
        </p:txBody>
      </p:sp>
      <p:sp>
        <p:nvSpPr>
          <p:cNvPr id="16" name="خطوة"/>
          <p:cNvSpPr/>
          <p:nvPr/>
        </p:nvSpPr>
        <p:spPr>
          <a:xfrm>
            <a:off x="9267215"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58655"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L0</a:t>
            </a:r>
          </a:p>
        </p:txBody>
      </p:sp>
      <p:sp>
        <p:nvSpPr>
          <p:cNvPr id="18" name="TextBox 17"/>
          <p:cNvSpPr txBox="1"/>
          <p:nvPr/>
        </p:nvSpPr>
        <p:spPr>
          <a:xfrm>
            <a:off x="9358655"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ثنائية</a:t>
            </a:r>
          </a:p>
        </p:txBody>
      </p:sp>
      <p:sp>
        <p:nvSpPr>
          <p:cNvPr id="19" name="سهم"/>
          <p:cNvSpPr/>
          <p:nvPr/>
        </p:nvSpPr>
        <p:spPr>
          <a:xfrm>
            <a:off x="8736863"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خطوة"/>
          <p:cNvSpPr/>
          <p:nvPr/>
        </p:nvSpPr>
        <p:spPr>
          <a:xfrm>
            <a:off x="6361023"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L1</a:t>
            </a:r>
          </a:p>
        </p:txBody>
      </p:sp>
      <p:sp>
        <p:nvSpPr>
          <p:cNvPr id="22" name="TextBox 21"/>
          <p:cNvSpPr txBox="1"/>
          <p:nvPr/>
        </p:nvSpPr>
        <p:spPr>
          <a:xfrm>
            <a:off x="6452463"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عدد الأيام</a:t>
            </a:r>
          </a:p>
        </p:txBody>
      </p:sp>
      <p:sp>
        <p:nvSpPr>
          <p:cNvPr id="23" name="سهم"/>
          <p:cNvSpPr/>
          <p:nvPr/>
        </p:nvSpPr>
        <p:spPr>
          <a:xfrm>
            <a:off x="5830671"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خطوة"/>
          <p:cNvSpPr/>
          <p:nvPr/>
        </p:nvSpPr>
        <p:spPr>
          <a:xfrm>
            <a:off x="3454831"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6271"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L2</a:t>
            </a:r>
          </a:p>
        </p:txBody>
      </p:sp>
      <p:sp>
        <p:nvSpPr>
          <p:cNvPr id="26" name="TextBox 25"/>
          <p:cNvSpPr txBox="1"/>
          <p:nvPr/>
        </p:nvSpPr>
        <p:spPr>
          <a:xfrm>
            <a:off x="3546271"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الحداثة (τ)</a:t>
            </a:r>
          </a:p>
        </p:txBody>
      </p:sp>
      <p:sp>
        <p:nvSpPr>
          <p:cNvPr id="27" name="سهم"/>
          <p:cNvSpPr/>
          <p:nvPr/>
        </p:nvSpPr>
        <p:spPr>
          <a:xfrm>
            <a:off x="2924479"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خطوة"/>
          <p:cNvSpPr/>
          <p:nvPr/>
        </p:nvSpPr>
        <p:spPr>
          <a:xfrm>
            <a:off x="548640"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L3</a:t>
            </a:r>
          </a:p>
        </p:txBody>
      </p:sp>
      <p:sp>
        <p:nvSpPr>
          <p:cNvPr id="30" name="TextBox 29"/>
          <p:cNvSpPr txBox="1"/>
          <p:nvPr/>
        </p:nvSpPr>
        <p:spPr>
          <a:xfrm>
            <a:off x="640080"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الشدة المطبَّعة بالنوع (β)</a:t>
            </a:r>
          </a:p>
        </p:txBody>
      </p:sp>
      <p:sp>
        <p:nvSpPr>
          <p:cNvPr id="31" name="خلاصة"/>
          <p:cNvSpPr/>
          <p:nvPr/>
        </p:nvSpPr>
        <p:spPr>
          <a:xfrm>
            <a:off x="548640" y="521208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غياب التفاعل ليس إشارة سالبة، بل «غير ملاحظ»</a:t>
            </a:r>
          </a:p>
        </p:txBody>
      </p:sp>
      <p:sp>
        <p:nvSpPr>
          <p:cNvPr id="3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الخوارزميات: خطوط الأساس والهجين وGRU-lite</a:t>
            </a:r>
          </a:p>
        </p:txBody>
      </p:sp>
      <p:sp>
        <p:nvSpPr>
          <p:cNvPr id="3" name="عمود"/>
          <p:cNvSpPr/>
          <p:nvPr/>
        </p:nvSpPr>
        <p:spPr>
          <a:xfrm>
            <a:off x="8127796"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8127796"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10 خطوط أساس بميزانية ضبط متساوية</a:t>
            </a:r>
          </a:p>
        </p:txBody>
      </p:sp>
      <p:sp>
        <p:nvSpPr>
          <p:cNvPr id="5" name="نقطة"/>
          <p:cNvSpPr/>
          <p:nvPr/>
        </p:nvSpPr>
        <p:spPr>
          <a:xfrm>
            <a:off x="11259007"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64956"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عشوائي، شعبية، شعبية آنية</a:t>
            </a:r>
          </a:p>
        </p:txBody>
      </p:sp>
      <p:sp>
        <p:nvSpPr>
          <p:cNvPr id="7" name="نقطة"/>
          <p:cNvSpPr/>
          <p:nvPr/>
        </p:nvSpPr>
        <p:spPr>
          <a:xfrm>
            <a:off x="11259007"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64956"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Item-kNN وSKNN وماركوف</a:t>
            </a:r>
          </a:p>
        </p:txBody>
      </p:sp>
      <p:sp>
        <p:nvSpPr>
          <p:cNvPr id="9" name="نقطة"/>
          <p:cNvSpPr/>
          <p:nvPr/>
        </p:nvSpPr>
        <p:spPr>
          <a:xfrm>
            <a:off x="11259007"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4956"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WRMF وإعادة شخصية وCBF</a:t>
            </a:r>
          </a:p>
        </p:txBody>
      </p:sp>
      <p:sp>
        <p:nvSpPr>
          <p:cNvPr id="11" name="نقطة"/>
          <p:cNvSpPr/>
          <p:nvPr/>
        </p:nvSpPr>
        <p:spPr>
          <a:xfrm>
            <a:off x="11259007"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4956"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EASE مرجعي فقط</a:t>
            </a:r>
          </a:p>
        </p:txBody>
      </p:sp>
      <p:sp>
        <p:nvSpPr>
          <p:cNvPr id="13" name="عمود"/>
          <p:cNvSpPr/>
          <p:nvPr/>
        </p:nvSpPr>
        <p:spPr>
          <a:xfrm>
            <a:off x="4338218"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عنوان العمود"/>
          <p:cNvSpPr/>
          <p:nvPr/>
        </p:nvSpPr>
        <p:spPr>
          <a:xfrm>
            <a:off x="4338218"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الهجين السلوكي المدرك للسياق</a:t>
            </a:r>
          </a:p>
        </p:txBody>
      </p:sp>
      <p:sp>
        <p:nvSpPr>
          <p:cNvPr id="15" name="نقطة"/>
          <p:cNvSpPr/>
          <p:nvPr/>
        </p:nvSpPr>
        <p:spPr>
          <a:xfrm>
            <a:off x="7469428" y="28361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5378" y="228600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دمج رتبي خطي بأربعة مكوّنات على الأكثر</a:t>
            </a:r>
          </a:p>
        </p:txBody>
      </p:sp>
      <p:sp>
        <p:nvSpPr>
          <p:cNvPr id="17" name="نقطة"/>
          <p:cNvSpPr/>
          <p:nvPr/>
        </p:nvSpPr>
        <p:spPr>
          <a:xfrm>
            <a:off x="7469428"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5378" y="355092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قبول جشع بفاصل bootstrap-t على عروض التطوير</a:t>
            </a:r>
          </a:p>
        </p:txBody>
      </p:sp>
      <p:sp>
        <p:nvSpPr>
          <p:cNvPr id="19" name="نقطة"/>
          <p:cNvSpPr/>
          <p:nvPr/>
        </p:nvSpPr>
        <p:spPr>
          <a:xfrm>
            <a:off x="7469428" y="53660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5378" y="481584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أرضية شخصنة وتفسير بمساهمة كل مكوّن</a:t>
            </a:r>
          </a:p>
        </p:txBody>
      </p:sp>
      <p:sp>
        <p:nvSpPr>
          <p:cNvPr id="21" name="عمود"/>
          <p:cNvSpPr/>
          <p:nvPr/>
        </p:nvSpPr>
        <p:spPr>
          <a:xfrm>
            <a:off x="548639"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عنوان العمود"/>
          <p:cNvSpPr/>
          <p:nvPr/>
        </p:nvSpPr>
        <p:spPr>
          <a:xfrm>
            <a:off x="548639"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GRU-lite بـ numpy فقط</a:t>
            </a:r>
          </a:p>
        </p:txBody>
      </p:sp>
      <p:sp>
        <p:nvSpPr>
          <p:cNvPr id="23" name="نقطة"/>
          <p:cNvSpPr/>
          <p:nvPr/>
        </p:nvSpPr>
        <p:spPr>
          <a:xfrm>
            <a:off x="3679850" y="28361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799" y="228600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طبقة GRU واحدة ببُعد 64</a:t>
            </a:r>
          </a:p>
        </p:txBody>
      </p:sp>
      <p:sp>
        <p:nvSpPr>
          <p:cNvPr id="25" name="نقطة"/>
          <p:cNvSpPr/>
          <p:nvPr/>
        </p:nvSpPr>
        <p:spPr>
          <a:xfrm>
            <a:off x="3679850"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355092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مدخلها سلال الأيام</a:t>
            </a:r>
          </a:p>
        </p:txBody>
      </p:sp>
      <p:sp>
        <p:nvSpPr>
          <p:cNvPr id="27" name="نقطة"/>
          <p:cNvSpPr/>
          <p:nvPr/>
        </p:nvSpPr>
        <p:spPr>
          <a:xfrm>
            <a:off x="3679850" y="53660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481584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لا تقييم قبل اجتياز حزمة الصحة S1–S6</a:t>
            </a:r>
          </a:p>
        </p:txBody>
      </p:sp>
      <p:sp>
        <p:nvSpPr>
          <p:cNvPr id="2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بروتوكول التقييم المسجَّل مسبقاً</a:t>
            </a:r>
          </a:p>
        </p:txBody>
      </p:sp>
      <p:sp>
        <p:nvSpPr>
          <p:cNvPr id="3" name="مفتاح"/>
          <p:cNvSpPr/>
          <p:nvPr/>
        </p:nvSpPr>
        <p:spPr>
          <a:xfrm>
            <a:off x="9905695" y="1463040"/>
            <a:ext cx="1737360" cy="329184"/>
          </a:xfrm>
          <a:prstGeom prst="roundRect">
            <a:avLst>
              <a:gd name="adj" fmla="val 30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134E4A"/>
                </a:solidFill>
                <a:latin typeface="Arial"/>
                <a:cs typeface="Arial"/>
              </a:rPr>
              <a:t>تدريب</a:t>
            </a:r>
          </a:p>
        </p:txBody>
      </p:sp>
      <p:sp>
        <p:nvSpPr>
          <p:cNvPr id="4" name="مفتاح"/>
          <p:cNvSpPr/>
          <p:nvPr/>
        </p:nvSpPr>
        <p:spPr>
          <a:xfrm>
            <a:off x="7985455" y="1463040"/>
            <a:ext cx="1737360" cy="329184"/>
          </a:xfrm>
          <a:prstGeom prst="roundRect">
            <a:avLst>
              <a:gd name="adj" fmla="val 3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تحقق (للضبط)</a:t>
            </a:r>
          </a:p>
        </p:txBody>
      </p:sp>
      <p:sp>
        <p:nvSpPr>
          <p:cNvPr id="5" name="مفتاح"/>
          <p:cNvSpPr/>
          <p:nvPr/>
        </p:nvSpPr>
        <p:spPr>
          <a:xfrm>
            <a:off x="6065215" y="1463040"/>
            <a:ext cx="1737360" cy="329184"/>
          </a:xfrm>
          <a:prstGeom prst="roundRect">
            <a:avLst>
              <a:gd name="adj" fmla="val 3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اختبار (14 يوماً)</a:t>
            </a:r>
          </a:p>
        </p:txBody>
      </p:sp>
      <p:sp>
        <p:nvSpPr>
          <p:cNvPr id="6" name="TextBox 5"/>
          <p:cNvSpPr txBox="1"/>
          <p:nvPr/>
        </p:nvSpPr>
        <p:spPr>
          <a:xfrm>
            <a:off x="548640" y="1920240"/>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70 (اليوم من بداية العرض)</a:t>
            </a:r>
          </a:p>
        </p:txBody>
      </p:sp>
      <p:sp>
        <p:nvSpPr>
          <p:cNvPr id="7" name="مقطع"/>
          <p:cNvSpPr/>
          <p:nvPr/>
        </p:nvSpPr>
        <p:spPr>
          <a:xfrm>
            <a:off x="8473222" y="2231136"/>
            <a:ext cx="3169832"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8" name="مقطع"/>
          <p:cNvSpPr/>
          <p:nvPr/>
        </p:nvSpPr>
        <p:spPr>
          <a:xfrm>
            <a:off x="7680764" y="2231136"/>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9" name="مقطع"/>
          <p:cNvSpPr/>
          <p:nvPr/>
        </p:nvSpPr>
        <p:spPr>
          <a:xfrm>
            <a:off x="6888305" y="2231136"/>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0" name="TextBox 9"/>
          <p:cNvSpPr txBox="1"/>
          <p:nvPr/>
        </p:nvSpPr>
        <p:spPr>
          <a:xfrm>
            <a:off x="548640" y="2816352"/>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126 (اليوم من بداية العرض)</a:t>
            </a:r>
          </a:p>
        </p:txBody>
      </p:sp>
      <p:sp>
        <p:nvSpPr>
          <p:cNvPr id="11" name="مقطع"/>
          <p:cNvSpPr/>
          <p:nvPr/>
        </p:nvSpPr>
        <p:spPr>
          <a:xfrm>
            <a:off x="5303389" y="3127248"/>
            <a:ext cx="6339665"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2" name="مقطع"/>
          <p:cNvSpPr/>
          <p:nvPr/>
        </p:nvSpPr>
        <p:spPr>
          <a:xfrm>
            <a:off x="4510931" y="3127248"/>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3" name="مقطع"/>
          <p:cNvSpPr/>
          <p:nvPr/>
        </p:nvSpPr>
        <p:spPr>
          <a:xfrm>
            <a:off x="3718472" y="3127248"/>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4" name="TextBox 13"/>
          <p:cNvSpPr txBox="1"/>
          <p:nvPr/>
        </p:nvSpPr>
        <p:spPr>
          <a:xfrm>
            <a:off x="548640" y="3712464"/>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182 (اليوم من بداية العرض)</a:t>
            </a:r>
          </a:p>
        </p:txBody>
      </p:sp>
      <p:sp>
        <p:nvSpPr>
          <p:cNvPr id="15" name="مقطع"/>
          <p:cNvSpPr/>
          <p:nvPr/>
        </p:nvSpPr>
        <p:spPr>
          <a:xfrm>
            <a:off x="2133556" y="4023360"/>
            <a:ext cx="9509498"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6" name="مقطع"/>
          <p:cNvSpPr/>
          <p:nvPr/>
        </p:nvSpPr>
        <p:spPr>
          <a:xfrm>
            <a:off x="1341098" y="4023360"/>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7" name="مقطع"/>
          <p:cNvSpPr/>
          <p:nvPr/>
        </p:nvSpPr>
        <p:spPr>
          <a:xfrm>
            <a:off x="548639" y="4023360"/>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8" name="بطاقة"/>
          <p:cNvSpPr/>
          <p:nvPr/>
        </p:nvSpPr>
        <p:spPr>
          <a:xfrm>
            <a:off x="9040901"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2341"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الكتالوج كاملاً</a:t>
            </a:r>
          </a:p>
        </p:txBody>
      </p:sp>
      <p:sp>
        <p:nvSpPr>
          <p:cNvPr id="20" name="TextBox 19"/>
          <p:cNvSpPr txBox="1"/>
          <p:nvPr/>
        </p:nvSpPr>
        <p:spPr>
          <a:xfrm>
            <a:off x="9132341"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بلا سوالب معيَّنة</a:t>
            </a:r>
          </a:p>
        </p:txBody>
      </p:sp>
      <p:sp>
        <p:nvSpPr>
          <p:cNvPr id="21" name="بطاقة"/>
          <p:cNvSpPr/>
          <p:nvPr/>
        </p:nvSpPr>
        <p:spPr>
          <a:xfrm>
            <a:off x="6210147"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1587"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المهمة A</a:t>
            </a:r>
          </a:p>
        </p:txBody>
      </p:sp>
      <p:sp>
        <p:nvSpPr>
          <p:cNvPr id="23" name="TextBox 22"/>
          <p:cNvSpPr txBox="1"/>
          <p:nvPr/>
        </p:nvSpPr>
        <p:spPr>
          <a:xfrm>
            <a:off x="6301587"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موارد جديدة لم يزرها المتعلم</a:t>
            </a:r>
          </a:p>
        </p:txBody>
      </p:sp>
      <p:sp>
        <p:nvSpPr>
          <p:cNvPr id="24" name="بطاقة"/>
          <p:cNvSpPr/>
          <p:nvPr/>
        </p:nvSpPr>
        <p:spPr>
          <a:xfrm>
            <a:off x="3379393"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0833"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وحدة التحليل: العرض</a:t>
            </a:r>
          </a:p>
        </p:txBody>
      </p:sp>
      <p:sp>
        <p:nvSpPr>
          <p:cNvPr id="26" name="TextBox 25"/>
          <p:cNvSpPr txBox="1"/>
          <p:nvPr/>
        </p:nvSpPr>
        <p:spPr>
          <a:xfrm>
            <a:off x="3470833"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bootstrap-t عنقودي + هولم</a:t>
            </a:r>
          </a:p>
        </p:txBody>
      </p:sp>
      <p:sp>
        <p:nvSpPr>
          <p:cNvPr id="27" name="بطاقة"/>
          <p:cNvSpPr/>
          <p:nvPr/>
        </p:nvSpPr>
        <p:spPr>
          <a:xfrm>
            <a:off x="548639"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79"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الأثر العملي δ = 0.02</a:t>
            </a:r>
          </a:p>
        </p:txBody>
      </p:sp>
      <p:sp>
        <p:nvSpPr>
          <p:cNvPr id="29" name="TextBox 28"/>
          <p:cNvSpPr txBox="1"/>
          <p:nvPr/>
        </p:nvSpPr>
        <p:spPr>
          <a:xfrm>
            <a:off x="640079"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في NDCG@10، مسجّل قبل 2014</a:t>
            </a:r>
          </a:p>
        </p:txBody>
      </p:sp>
      <p:sp>
        <p:nvSpPr>
          <p:cNvPr id="3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المعمارية: خمس طبقات باتجاه اعتماد واحد</a:t>
            </a:r>
          </a:p>
        </p:txBody>
      </p:sp>
      <p:pic>
        <p:nvPicPr>
          <p:cNvPr id="3" name="صورة" descr="الشكل: المعمارية الطبقية للمكوّنات (إعداد الباحث)"/>
          <p:cNvPicPr>
            <a:picLocks noChangeAspect="1"/>
          </p:cNvPicPr>
          <p:nvPr/>
        </p:nvPicPr>
        <p:blipFill>
          <a:blip r:embed="rId2"/>
          <a:stretch>
            <a:fillRect/>
          </a:stretch>
        </p:blipFill>
        <p:spPr>
          <a:xfrm>
            <a:off x="548640" y="1371600"/>
            <a:ext cx="5551098" cy="4526279"/>
          </a:xfrm>
          <a:prstGeom prst="rect">
            <a:avLst/>
          </a:prstGeom>
          <a:ln w="12700">
            <a:solidFill>
              <a:srgbClr val="CBD5E1"/>
            </a:solidFill>
          </a:ln>
        </p:spPr>
      </p:pic>
      <p:sp>
        <p:nvSpPr>
          <p:cNvPr id="4" name="TextBox 3"/>
          <p:cNvSpPr txBox="1"/>
          <p:nvPr/>
        </p:nvSpPr>
        <p:spPr>
          <a:xfrm>
            <a:off x="548640" y="5943599"/>
            <a:ext cx="5551098"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المعمارية الطبقية للمكوّنات (إعداد الباحث)</a:t>
            </a:r>
          </a:p>
        </p:txBody>
      </p:sp>
      <p:sp>
        <p:nvSpPr>
          <p:cNvPr id="5" name="بطاقة"/>
          <p:cNvSpPr/>
          <p:nvPr/>
        </p:nvSpPr>
        <p:spPr>
          <a:xfrm>
            <a:off x="6465498" y="1371600"/>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6602658" y="14447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خط التجارب</a:t>
            </a:r>
          </a:p>
        </p:txBody>
      </p:sp>
      <p:sp>
        <p:nvSpPr>
          <p:cNvPr id="8" name="TextBox 7"/>
          <p:cNvSpPr txBox="1"/>
          <p:nvPr/>
        </p:nvSpPr>
        <p:spPr>
          <a:xfrm>
            <a:off x="6602658" y="20848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يُنتج النتائج ومخرجات القطوع</a:t>
            </a:r>
          </a:p>
        </p:txBody>
      </p:sp>
      <p:sp>
        <p:nvSpPr>
          <p:cNvPr id="9" name="بطاقة"/>
          <p:cNvSpPr/>
          <p:nvPr/>
        </p:nvSpPr>
        <p:spPr>
          <a:xfrm>
            <a:off x="6465498" y="30479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6602658" y="31211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serving.Engine</a:t>
            </a:r>
          </a:p>
        </p:txBody>
      </p:sp>
      <p:sp>
        <p:nvSpPr>
          <p:cNvPr id="12" name="TextBox 11"/>
          <p:cNvSpPr txBox="1"/>
          <p:nvPr/>
        </p:nvSpPr>
        <p:spPr>
          <a:xfrm>
            <a:off x="6602658" y="37612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المكان الوحيد لحساب التوصية والتفسير</a:t>
            </a:r>
          </a:p>
        </p:txBody>
      </p:sp>
      <p:sp>
        <p:nvSpPr>
          <p:cNvPr id="13" name="بطاقة"/>
          <p:cNvSpPr/>
          <p:nvPr/>
        </p:nvSpPr>
        <p:spPr>
          <a:xfrm>
            <a:off x="6465498" y="47243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6602658" y="4797551"/>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الواجهة</a:t>
            </a:r>
          </a:p>
        </p:txBody>
      </p:sp>
      <p:sp>
        <p:nvSpPr>
          <p:cNvPr id="16" name="TextBox 15"/>
          <p:cNvSpPr txBox="1"/>
          <p:nvPr/>
        </p:nvSpPr>
        <p:spPr>
          <a:xfrm>
            <a:off x="6602658" y="54376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صفحتا المتعلم والمدرّس</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واجهة المتعلم: أفضل 10 موارد جديدة مع تفسير</a:t>
            </a:r>
          </a:p>
        </p:txBody>
      </p:sp>
      <p:pic>
        <p:nvPicPr>
          <p:cNvPr id="3" name="صورة" descr="لقطة صفحة المتعلم (وضع إعادة التشغيل)"/>
          <p:cNvPicPr>
            <a:picLocks noChangeAspect="1"/>
          </p:cNvPicPr>
          <p:nvPr/>
        </p:nvPicPr>
        <p:blipFill>
          <a:blip r:embed="rId2"/>
          <a:srcRect b="50000"/>
          <a:stretch>
            <a:fillRect/>
          </a:stretch>
        </p:blipFill>
        <p:spPr>
          <a:xfrm>
            <a:off x="548640" y="1371600"/>
            <a:ext cx="5946937" cy="4526279"/>
          </a:xfrm>
          <a:prstGeom prst="rect">
            <a:avLst/>
          </a:prstGeom>
          <a:ln w="12700">
            <a:solidFill>
              <a:srgbClr val="CBD5E1"/>
            </a:solidFill>
          </a:ln>
        </p:spPr>
      </p:pic>
      <p:sp>
        <p:nvSpPr>
          <p:cNvPr id="4" name="TextBox 3"/>
          <p:cNvSpPr txBox="1"/>
          <p:nvPr/>
        </p:nvSpPr>
        <p:spPr>
          <a:xfrm>
            <a:off x="548640" y="5943599"/>
            <a:ext cx="5946937"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صفحة المتعلم (وضع إعادة التشغيل)</a:t>
            </a:r>
          </a:p>
        </p:txBody>
      </p:sp>
      <p:sp>
        <p:nvSpPr>
          <p:cNvPr id="5" name="بطاقة"/>
          <p:cNvSpPr/>
          <p:nvPr/>
        </p:nvSpPr>
        <p:spPr>
          <a:xfrm>
            <a:off x="6861337" y="1371600"/>
            <a:ext cx="478171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6998497" y="1444752"/>
            <a:ext cx="386731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شريط اليوم</a:t>
            </a:r>
          </a:p>
        </p:txBody>
      </p:sp>
      <p:sp>
        <p:nvSpPr>
          <p:cNvPr id="8" name="TextBox 7"/>
          <p:cNvSpPr txBox="1"/>
          <p:nvPr/>
        </p:nvSpPr>
        <p:spPr>
          <a:xfrm>
            <a:off x="6998497" y="2084832"/>
            <a:ext cx="450739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إعادة تشغيل تاريخية عند أي يوم وقطع</a:t>
            </a:r>
          </a:p>
        </p:txBody>
      </p:sp>
      <p:sp>
        <p:nvSpPr>
          <p:cNvPr id="9" name="بطاقة"/>
          <p:cNvSpPr/>
          <p:nvPr/>
        </p:nvSpPr>
        <p:spPr>
          <a:xfrm>
            <a:off x="6861337" y="3047999"/>
            <a:ext cx="478171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6998497" y="3121152"/>
            <a:ext cx="386731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بطاقة لكل مورد</a:t>
            </a:r>
          </a:p>
        </p:txBody>
      </p:sp>
      <p:sp>
        <p:nvSpPr>
          <p:cNvPr id="12" name="TextBox 11"/>
          <p:cNvSpPr txBox="1"/>
          <p:nvPr/>
        </p:nvSpPr>
        <p:spPr>
          <a:xfrm>
            <a:off x="6998497" y="3761232"/>
            <a:ext cx="450739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الدرجة وجملة سبب بسيطة</a:t>
            </a:r>
          </a:p>
        </p:txBody>
      </p:sp>
      <p:sp>
        <p:nvSpPr>
          <p:cNvPr id="13" name="بطاقة"/>
          <p:cNvSpPr/>
          <p:nvPr/>
        </p:nvSpPr>
        <p:spPr>
          <a:xfrm>
            <a:off x="6861337" y="4724399"/>
            <a:ext cx="478171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6998497" y="4797551"/>
            <a:ext cx="386731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مساهمة المكوّنات</a:t>
            </a:r>
          </a:p>
        </p:txBody>
      </p:sp>
      <p:sp>
        <p:nvSpPr>
          <p:cNvPr id="16" name="TextBox 15"/>
          <p:cNvSpPr txBox="1"/>
          <p:nvPr/>
        </p:nvSpPr>
        <p:spPr>
          <a:xfrm>
            <a:off x="6998497" y="5437632"/>
            <a:ext cx="450739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شريط ملوّن واسم المكوّن نصاً</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لوحة المدرّس: عناقيد وملامح وخطر</a:t>
            </a:r>
          </a:p>
        </p:txBody>
      </p:sp>
      <p:pic>
        <p:nvPicPr>
          <p:cNvPr id="3" name="صورة" descr="لقطة لوحة المدرّس (الجزء العلوي)"/>
          <p:cNvPicPr>
            <a:picLocks noChangeAspect="1"/>
          </p:cNvPicPr>
          <p:nvPr/>
        </p:nvPicPr>
        <p:blipFill>
          <a:blip r:embed="rId2"/>
          <a:srcRect b="62000"/>
          <a:stretch>
            <a:fillRect/>
          </a:stretch>
        </p:blipFill>
        <p:spPr>
          <a:xfrm>
            <a:off x="548640" y="1371600"/>
            <a:ext cx="3813299" cy="4526279"/>
          </a:xfrm>
          <a:prstGeom prst="rect">
            <a:avLst/>
          </a:prstGeom>
          <a:ln w="12700">
            <a:solidFill>
              <a:srgbClr val="CBD5E1"/>
            </a:solidFill>
          </a:ln>
        </p:spPr>
      </p:pic>
      <p:sp>
        <p:nvSpPr>
          <p:cNvPr id="4" name="TextBox 3"/>
          <p:cNvSpPr txBox="1"/>
          <p:nvPr/>
        </p:nvSpPr>
        <p:spPr>
          <a:xfrm>
            <a:off x="548640" y="5943599"/>
            <a:ext cx="3813299"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لوحة المدرّس (الجزء العلوي)</a:t>
            </a:r>
          </a:p>
        </p:txBody>
      </p:sp>
      <p:sp>
        <p:nvSpPr>
          <p:cNvPr id="5" name="بطاقة"/>
          <p:cNvSpPr/>
          <p:nvPr/>
        </p:nvSpPr>
        <p:spPr>
          <a:xfrm>
            <a:off x="4727699" y="1371600"/>
            <a:ext cx="6915356"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4864859" y="1444752"/>
            <a:ext cx="6000956"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بطاقات مؤشرات</a:t>
            </a:r>
          </a:p>
        </p:txBody>
      </p:sp>
      <p:sp>
        <p:nvSpPr>
          <p:cNvPr id="8" name="TextBox 7"/>
          <p:cNvSpPr txBox="1"/>
          <p:nvPr/>
        </p:nvSpPr>
        <p:spPr>
          <a:xfrm>
            <a:off x="4864859" y="2084832"/>
            <a:ext cx="6641036"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نظرة عامة على العرض عند اليوم المختار</a:t>
            </a:r>
          </a:p>
        </p:txBody>
      </p:sp>
      <p:sp>
        <p:nvSpPr>
          <p:cNvPr id="9" name="بطاقة"/>
          <p:cNvSpPr/>
          <p:nvPr/>
        </p:nvSpPr>
        <p:spPr>
          <a:xfrm>
            <a:off x="4727699" y="3047999"/>
            <a:ext cx="6915356"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4864859" y="3121152"/>
            <a:ext cx="6000956"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عناقيد اليوم 56</a:t>
            </a:r>
          </a:p>
        </p:txBody>
      </p:sp>
      <p:sp>
        <p:nvSpPr>
          <p:cNvPr id="12" name="TextBox 11"/>
          <p:cNvSpPr txBox="1"/>
          <p:nvPr/>
        </p:nvSpPr>
        <p:spPr>
          <a:xfrm>
            <a:off x="4864859" y="3761232"/>
            <a:ext cx="6641036"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أنماط الانخراط بأشكال وألوان</a:t>
            </a:r>
          </a:p>
        </p:txBody>
      </p:sp>
      <p:sp>
        <p:nvSpPr>
          <p:cNvPr id="13" name="بطاقة"/>
          <p:cNvSpPr/>
          <p:nvPr/>
        </p:nvSpPr>
        <p:spPr>
          <a:xfrm>
            <a:off x="4727699" y="4724399"/>
            <a:ext cx="6915356"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4864859" y="4797551"/>
            <a:ext cx="6000956"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درجة الخطر</a:t>
            </a:r>
          </a:p>
        </p:txBody>
      </p:sp>
      <p:sp>
        <p:nvSpPr>
          <p:cNvPr id="16" name="TextBox 15"/>
          <p:cNvSpPr txBox="1"/>
          <p:nvPr/>
        </p:nvSpPr>
        <p:spPr>
          <a:xfrm>
            <a:off x="4864859" y="5437632"/>
            <a:ext cx="6641036"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غير معايَرة وللمدرّس فقط</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التطوير 2013 — وصفية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وصفية: ليست اختباراً للفرضيات</a:t>
            </a:r>
          </a:p>
        </p:txBody>
      </p:sp>
      <p:sp>
        <p:nvSpPr>
          <p:cNvPr id="4" name="عنوان المخطط"/>
          <p:cNvSpPr txBox="1"/>
          <p:nvPr/>
        </p:nvSpPr>
        <p:spPr>
          <a:xfrm>
            <a:off x="4480559" y="1874519"/>
            <a:ext cx="716249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600" b="1" i="0" lang="ar-SA">
                <a:solidFill>
                  <a:srgbClr val="134E4A"/>
                </a:solidFill>
                <a:latin typeface="Arial"/>
                <a:cs typeface="Arial"/>
              </a:rPr>
              <a:t>الموارد الجديدة: متوسط NDCG@10 عبر 9 عروض</a:t>
            </a:r>
          </a:p>
        </p:txBody>
      </p:sp>
      <p:graphicFrame>
        <p:nvGraphicFramePr>
          <p:cNvPr id="5" name="مخطط أعمدة"/>
          <p:cNvGraphicFramePr>
            <a:graphicFrameLocks noGrp="1"/>
          </p:cNvGraphicFramePr>
          <p:nvPr/>
        </p:nvGraphicFramePr>
        <p:xfrm>
          <a:off x="4480559" y="2331720"/>
          <a:ext cx="7162495" cy="3429000"/>
        </p:xfrm>
        <a:graphic>
          <a:graphicData uri="http://schemas.openxmlformats.org/drawingml/2006/chart">
            <c:chart xmlns:c="http://schemas.openxmlformats.org/drawingml/2006/chart" r:id="rId2"/>
          </a:graphicData>
        </a:graphic>
      </p:graphicFrame>
      <p:sp>
        <p:nvSpPr>
          <p:cNvPr id="6" name="بطاقة"/>
          <p:cNvSpPr/>
          <p:nvPr/>
        </p:nvSpPr>
        <p:spPr>
          <a:xfrm>
            <a:off x="548640" y="1874519"/>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B45309"/>
                </a:solidFill>
                <a:latin typeface="Arial"/>
                <a:cs typeface="Arial"/>
              </a:rPr>
              <a:t>‎0.541‎</a:t>
            </a:r>
          </a:p>
        </p:txBody>
      </p:sp>
      <p:sp>
        <p:nvSpPr>
          <p:cNvPr id="8" name="TextBox 7"/>
          <p:cNvSpPr txBox="1"/>
          <p:nvPr/>
        </p:nvSpPr>
        <p:spPr>
          <a:xfrm>
            <a:off x="685800" y="2354579"/>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الشعبية الآنية B3: أعلى خط أساس</a:t>
            </a:r>
          </a:p>
        </p:txBody>
      </p:sp>
      <p:sp>
        <p:nvSpPr>
          <p:cNvPr id="9" name="بطاقة"/>
          <p:cNvSpPr/>
          <p:nvPr/>
        </p:nvSpPr>
        <p:spPr>
          <a:xfrm>
            <a:off x="548640" y="32461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2918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‎0.531‎</a:t>
            </a:r>
          </a:p>
        </p:txBody>
      </p:sp>
      <p:sp>
        <p:nvSpPr>
          <p:cNvPr id="11" name="TextBox 10"/>
          <p:cNvSpPr txBox="1"/>
          <p:nvPr/>
        </p:nvSpPr>
        <p:spPr>
          <a:xfrm>
            <a:off x="685800" y="37261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SKNN: أفضل نموذج شخصي، والفرق عن B3 فاصله يشمل الصفر</a:t>
            </a:r>
          </a:p>
        </p:txBody>
      </p:sp>
      <p:sp>
        <p:nvSpPr>
          <p:cNvPr id="12" name="بطاقة"/>
          <p:cNvSpPr/>
          <p:nvPr/>
        </p:nvSpPr>
        <p:spPr>
          <a:xfrm>
            <a:off x="548640" y="46177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63440"/>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‎0.556‎</a:t>
            </a:r>
          </a:p>
        </p:txBody>
      </p:sp>
      <p:sp>
        <p:nvSpPr>
          <p:cNvPr id="14" name="TextBox 13"/>
          <p:cNvSpPr txBox="1"/>
          <p:nvPr/>
        </p:nvSpPr>
        <p:spPr>
          <a:xfrm>
            <a:off x="685800" y="50977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الهجين المجمَّد: الفرق عن B3 صغير وفاصله يشمل الصفر</a:t>
            </a:r>
          </a:p>
        </p:txBody>
      </p:sp>
      <p:sp>
        <p:nvSpPr>
          <p:cNvPr id="15" name="TextBox 14"/>
          <p:cNvSpPr txBox="1"/>
          <p:nvPr/>
        </p:nvSpPr>
        <p:spPr>
          <a:xfrm>
            <a:off x="548640" y="580644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300" b="0" i="0" lang="ar-SA">
                <a:solidFill>
                  <a:srgbClr val="475569"/>
                </a:solidFill>
                <a:latin typeface="Arial"/>
                <a:cs typeface="Arial"/>
              </a:rPr>
              <a:t>المصدر: results/dev2013/summary.md (الجدولان 1 و5 والقسم الأخير)</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التأكيد 2014: الفرضيات الرئيسية</a:t>
            </a:r>
          </a:p>
        </p:txBody>
      </p:sp>
      <p:sp>
        <p:nvSpPr>
          <p:cNvPr id="3" name="شريط الحالة"/>
          <p:cNvSpPr/>
          <p:nvPr/>
        </p:nvSpPr>
        <p:spPr>
          <a:xfrm>
            <a:off x="548640" y="1261872"/>
            <a:ext cx="11094415" cy="420624"/>
          </a:xfrm>
          <a:prstGeom prst="roundRect">
            <a:avLst>
              <a:gd name="adj" fmla="val 25000"/>
            </a:avLst>
          </a:prstGeom>
          <a:solidFill>
            <a:srgbClr val="FEF3C7"/>
          </a:solidFill>
          <a:ln w="1270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92400E"/>
                </a:solidFill>
                <a:latin typeface="Arial"/>
                <a:cs typeface="Arial"/>
              </a:rPr>
              <a:t>قيد الاستكمال: تُملأ من نتائج التشغيل التأكيدي الوحيد على عروض 2014</a:t>
            </a:r>
          </a:p>
        </p:txBody>
      </p:sp>
      <p:graphicFrame>
        <p:nvGraphicFramePr>
          <p:cNvPr id="4" name="جدول"/>
          <p:cNvGraphicFramePr>
            <a:graphicFrameLocks noGrp="1"/>
          </p:cNvGraphicFramePr>
          <p:nvPr/>
        </p:nvGraphicFramePr>
        <p:xfrm>
          <a:off x="548640" y="1874519"/>
          <a:ext cx="11094413" cy="3794760"/>
        </p:xfrm>
        <a:graphic>
          <a:graphicData uri="http://schemas.openxmlformats.org/drawingml/2006/table">
            <a:tbl>
              <a:tblPr firstRow="1" bandRow="0">
                <a:tableStyleId>{5C22544A-7EE6-4342-B048-85BDC9FD1C3A}</a:tableStyleId>
              </a:tblPr>
              <a:tblGrid>
                <a:gridCol w="1479255"/>
                <a:gridCol w="2126429"/>
                <a:gridCol w="2218883"/>
                <a:gridCol w="3883045"/>
                <a:gridCol w="1386801"/>
              </a:tblGrid>
              <a:tr h="632460">
                <a:tc>
                  <a:txBody>
                    <a:bodyPr wrap="square"/>
                    <a:lstStyle/>
                    <a:p>
                      <a:pPr rtl="1" algn="r"/>
                      <a:r>
                        <a:rPr sz="1600" b="1" i="0" lang="ar-SA">
                          <a:solidFill>
                            <a:srgbClr val="FFFFFF"/>
                          </a:solidFill>
                          <a:latin typeface="Arial"/>
                          <a:cs typeface="Arial"/>
                        </a:rPr>
                        <a:t>الحكم</a:t>
                      </a:r>
                    </a:p>
                  </a:txBody>
                  <a:tcPr anchor="ctr" marL="91440" marR="91440" marT="36576" marB="36576">
                    <a:solidFill>
                      <a:srgbClr val="0F766E"/>
                    </a:solidFill>
                  </a:tcPr>
                </a:tc>
                <a:tc>
                  <a:txBody>
                    <a:bodyPr wrap="square"/>
                    <a:lstStyle/>
                    <a:p>
                      <a:pPr rtl="1" algn="r"/>
                      <a:r>
                        <a:rPr sz="1600" b="1" i="0" lang="ar-SA">
                          <a:solidFill>
                            <a:srgbClr val="FFFFFF"/>
                          </a:solidFill>
                          <a:latin typeface="Arial"/>
                          <a:cs typeface="Arial"/>
                        </a:rPr>
                        <a:t>Δ̄ [فاصل 95%]</a:t>
                      </a:r>
                    </a:p>
                  </a:txBody>
                  <a:tcPr anchor="ctr" marL="91440" marR="91440" marT="36576" marB="36576">
                    <a:solidFill>
                      <a:srgbClr val="0F766E"/>
                    </a:solidFill>
                  </a:tcPr>
                </a:tc>
                <a:tc>
                  <a:txBody>
                    <a:bodyPr wrap="square"/>
                    <a:lstStyle/>
                    <a:p>
                      <a:pPr rtl="1" algn="r"/>
                      <a:r>
                        <a:rPr sz="1600" b="1" i="0" lang="ar-SA">
                          <a:solidFill>
                            <a:srgbClr val="FFFFFF"/>
                          </a:solidFill>
                          <a:latin typeface="Arial"/>
                          <a:cs typeface="Arial"/>
                        </a:rPr>
                        <a:t>المقياس</a:t>
                      </a:r>
                    </a:p>
                  </a:txBody>
                  <a:tcPr anchor="ctr" marL="91440" marR="91440" marT="36576" marB="36576">
                    <a:solidFill>
                      <a:srgbClr val="0F766E"/>
                    </a:solidFill>
                  </a:tcPr>
                </a:tc>
                <a:tc>
                  <a:txBody>
                    <a:bodyPr wrap="square"/>
                    <a:lstStyle/>
                    <a:p>
                      <a:pPr rtl="1" algn="r"/>
                      <a:r>
                        <a:rPr sz="1600" b="1" i="0" lang="ar-SA">
                          <a:solidFill>
                            <a:srgbClr val="FFFFFF"/>
                          </a:solidFill>
                          <a:latin typeface="Arial"/>
                          <a:cs typeface="Arial"/>
                        </a:rPr>
                        <a:t>المقارنة</a:t>
                      </a:r>
                    </a:p>
                  </a:txBody>
                  <a:tcPr anchor="ctr" marL="91440" marR="91440" marT="36576" marB="36576">
                    <a:solidFill>
                      <a:srgbClr val="0F766E"/>
                    </a:solidFill>
                  </a:tcPr>
                </a:tc>
                <a:tc>
                  <a:txBody>
                    <a:bodyPr wrap="square"/>
                    <a:lstStyle/>
                    <a:p>
                      <a:pPr rtl="1" algn="r"/>
                      <a:r>
                        <a:rPr sz="1600" b="1" i="0" lang="ar-SA">
                          <a:solidFill>
                            <a:srgbClr val="FFFFFF"/>
                          </a:solidFill>
                          <a:latin typeface="Arial"/>
                          <a:cs typeface="Arial"/>
                        </a:rPr>
                        <a:t>الفرضية</a:t>
                      </a:r>
                    </a:p>
                  </a:txBody>
                  <a:tcPr anchor="ctr" marL="91440" marR="91440" marT="36576" marB="36576">
                    <a:solidFill>
                      <a:srgbClr val="0F766E"/>
                    </a:solidFill>
                  </a:tcPr>
                </a:tc>
              </a:tr>
              <a:tr h="632460">
                <a:tc>
                  <a:txBody>
                    <a:bodyPr wrap="square"/>
                    <a:lstStyle/>
                    <a:p>
                      <a:pPr rtl="1" algn="ctr"/>
                      <a:r>
                        <a:rPr sz="1600" b="0" i="1" lang="ar-SA">
                          <a:solidFill>
                            <a:srgbClr val="92400E"/>
                          </a:solidFill>
                          <a:latin typeface="Arial"/>
                          <a:cs typeface="Arial"/>
                        </a:rPr>
                        <a:t>[ — ]</a:t>
                      </a:r>
                    </a:p>
                  </a:txBody>
                  <a:tcPr anchor="ctr" marL="91440" marR="91440" marT="36576" marB="36576">
                    <a:solidFill>
                      <a:srgbClr val="FEF3C7"/>
                    </a:solidFill>
                  </a:tcPr>
                </a:tc>
                <a:tc>
                  <a:txBody>
                    <a:bodyPr wrap="square"/>
                    <a:lstStyle/>
                    <a:p>
                      <a:pPr rtl="1" algn="ctr"/>
                      <a:r>
                        <a:rPr sz="1600" b="0" i="1" lang="ar-SA">
                          <a:solidFill>
                            <a:srgbClr val="92400E"/>
                          </a:solidFill>
                          <a:latin typeface="Arial"/>
                          <a:cs typeface="Arial"/>
                        </a:rPr>
                        <a:t>[ — ]</a:t>
                      </a:r>
                    </a:p>
                  </a:txBody>
                  <a:tcPr anchor="ctr" marL="91440" marR="91440" marT="36576" marB="36576">
                    <a:solidFill>
                      <a:srgbClr val="FEF3C7"/>
                    </a:solidFill>
                  </a:tcPr>
                </a:tc>
                <a:tc>
                  <a:txBody>
                    <a:bodyPr wrap="square"/>
                    <a:lstStyle/>
                    <a:p>
                      <a:pPr rtl="1" algn="r"/>
                      <a:r>
                        <a:rPr sz="1600" b="0" i="0" lang="ar-SA">
                          <a:solidFill>
                            <a:srgbClr val="134E4A"/>
                          </a:solidFill>
                          <a:latin typeface="Arial"/>
                          <a:cs typeface="Arial"/>
                        </a:rPr>
                        <a:t>NDCG@10، المهمة A</a:t>
                      </a:r>
                    </a:p>
                  </a:txBody>
                  <a:tcPr anchor="ctr" marL="91440" marR="91440" marT="36576" marB="36576">
                    <a:solidFill>
                      <a:srgbClr val="FFFFFF"/>
                    </a:solidFill>
                  </a:tcPr>
                </a:tc>
                <a:tc>
                  <a:txBody>
                    <a:bodyPr wrap="square"/>
                    <a:lstStyle/>
                    <a:p>
                      <a:pPr rtl="1" algn="r"/>
                      <a:r>
                        <a:rPr sz="1600" b="0" i="0" lang="ar-SA">
                          <a:solidFill>
                            <a:srgbClr val="134E4A"/>
                          </a:solidFill>
                          <a:latin typeface="Arial"/>
                          <a:cs typeface="Arial"/>
                        </a:rPr>
                        <a:t>الهجين المجمَّد مقابل أقوى خط أساس غير شخصي</a:t>
                      </a:r>
                    </a:p>
                  </a:txBody>
                  <a:tcPr anchor="ctr" marL="91440" marR="91440" marT="36576" marB="36576">
                    <a:solidFill>
                      <a:srgbClr val="FFFFFF"/>
                    </a:solidFill>
                  </a:tcPr>
                </a:tc>
                <a:tc>
                  <a:txBody>
                    <a:bodyPr wrap="square"/>
                    <a:lstStyle/>
                    <a:p>
                      <a:pPr rtl="1" algn="r"/>
                      <a:r>
                        <a:rPr sz="1600" b="1" i="0" lang="ar-SA">
                          <a:solidFill>
                            <a:srgbClr val="134E4A"/>
                          </a:solidFill>
                          <a:latin typeface="Arial"/>
                          <a:cs typeface="Arial"/>
                        </a:rPr>
                        <a:t>H1</a:t>
                      </a:r>
                    </a:p>
                  </a:txBody>
                  <a:tcPr anchor="ctr" marL="91440" marR="91440" marT="36576" marB="36576">
                    <a:solidFill>
                      <a:srgbClr val="FFFFFF"/>
                    </a:solidFill>
                  </a:tcPr>
                </a:tc>
              </a:tr>
              <a:tr h="632460">
                <a:tc>
                  <a:txBody>
                    <a:bodyPr wrap="square"/>
                    <a:lstStyle/>
                    <a:p>
                      <a:pPr rtl="1" algn="ctr"/>
                      <a:r>
                        <a:rPr sz="1600" b="0" i="1" lang="ar-SA">
                          <a:solidFill>
                            <a:srgbClr val="92400E"/>
                          </a:solidFill>
                          <a:latin typeface="Arial"/>
                          <a:cs typeface="Arial"/>
                        </a:rPr>
                        <a:t>[ — ]</a:t>
                      </a:r>
                    </a:p>
                  </a:txBody>
                  <a:tcPr anchor="ctr" marL="91440" marR="91440" marT="36576" marB="36576">
                    <a:solidFill>
                      <a:srgbClr val="FEF3C7"/>
                    </a:solidFill>
                  </a:tcPr>
                </a:tc>
                <a:tc>
                  <a:txBody>
                    <a:bodyPr wrap="square"/>
                    <a:lstStyle/>
                    <a:p>
                      <a:pPr rtl="1" algn="ctr"/>
                      <a:r>
                        <a:rPr sz="1600" b="0" i="1" lang="ar-SA">
                          <a:solidFill>
                            <a:srgbClr val="92400E"/>
                          </a:solidFill>
                          <a:latin typeface="Arial"/>
                          <a:cs typeface="Arial"/>
                        </a:rPr>
                        <a:t>[ — ]</a:t>
                      </a:r>
                    </a:p>
                  </a:txBody>
                  <a:tcPr anchor="ctr" marL="91440" marR="91440" marT="36576" marB="36576">
                    <a:solidFill>
                      <a:srgbClr val="FEF3C7"/>
                    </a:solidFill>
                  </a:tcPr>
                </a:tc>
                <a:tc>
                  <a:txBody>
                    <a:bodyPr wrap="square"/>
                    <a:lstStyle/>
                    <a:p>
                      <a:pPr rtl="1" algn="r"/>
                      <a:r>
                        <a:rPr sz="1600" b="0" i="0" lang="ar-SA">
                          <a:solidFill>
                            <a:srgbClr val="134E4A"/>
                          </a:solidFill>
                          <a:latin typeface="Arial"/>
                          <a:cs typeface="Arial"/>
                        </a:rPr>
                        <a:t>NDCG@10، المهمة A</a:t>
                      </a:r>
                    </a:p>
                  </a:txBody>
                  <a:tcPr anchor="ctr" marL="91440" marR="91440" marT="36576" marB="36576">
                    <a:solidFill>
                      <a:srgbClr val="EEF2F6"/>
                    </a:solidFill>
                  </a:tcPr>
                </a:tc>
                <a:tc>
                  <a:txBody>
                    <a:bodyPr wrap="square"/>
                    <a:lstStyle/>
                    <a:p>
                      <a:pPr rtl="1" algn="r"/>
                      <a:r>
                        <a:rPr sz="1600" b="0" i="0" lang="ar-SA">
                          <a:solidFill>
                            <a:srgbClr val="134E4A"/>
                          </a:solidFill>
                          <a:latin typeface="Arial"/>
                          <a:cs typeface="Arial"/>
                        </a:rPr>
                        <a:t>WRMF بأفضل مستوى إشارة مقابل الثنائية</a:t>
                      </a:r>
                    </a:p>
                  </a:txBody>
                  <a:tcPr anchor="ctr" marL="91440" marR="91440" marT="36576" marB="36576">
                    <a:solidFill>
                      <a:srgbClr val="EEF2F6"/>
                    </a:solidFill>
                  </a:tcPr>
                </a:tc>
                <a:tc>
                  <a:txBody>
                    <a:bodyPr wrap="square"/>
                    <a:lstStyle/>
                    <a:p>
                      <a:pPr rtl="1" algn="r"/>
                      <a:r>
                        <a:rPr sz="1600" b="1" i="0" lang="ar-SA">
                          <a:solidFill>
                            <a:srgbClr val="134E4A"/>
                          </a:solidFill>
                          <a:latin typeface="Arial"/>
                          <a:cs typeface="Arial"/>
                        </a:rPr>
                        <a:t>H2-أ</a:t>
                      </a:r>
                    </a:p>
                  </a:txBody>
                  <a:tcPr anchor="ctr" marL="91440" marR="91440" marT="36576" marB="36576">
                    <a:solidFill>
                      <a:srgbClr val="EEF2F6"/>
                    </a:solidFill>
                  </a:tcPr>
                </a:tc>
              </a:tr>
              <a:tr h="632460">
                <a:tc>
                  <a:txBody>
                    <a:bodyPr wrap="square"/>
                    <a:lstStyle/>
                    <a:p>
                      <a:pPr rtl="1" algn="ctr"/>
                      <a:r>
                        <a:rPr sz="1600" b="0" i="1" lang="ar-SA">
                          <a:solidFill>
                            <a:srgbClr val="92400E"/>
                          </a:solidFill>
                          <a:latin typeface="Arial"/>
                          <a:cs typeface="Arial"/>
                        </a:rPr>
                        <a:t>[ — ]</a:t>
                      </a:r>
                    </a:p>
                  </a:txBody>
                  <a:tcPr anchor="ctr" marL="91440" marR="91440" marT="36576" marB="36576">
                    <a:solidFill>
                      <a:srgbClr val="FEF3C7"/>
                    </a:solidFill>
                  </a:tcPr>
                </a:tc>
                <a:tc>
                  <a:txBody>
                    <a:bodyPr wrap="square"/>
                    <a:lstStyle/>
                    <a:p>
                      <a:pPr rtl="1" algn="ctr"/>
                      <a:r>
                        <a:rPr sz="1600" b="0" i="1" lang="ar-SA">
                          <a:solidFill>
                            <a:srgbClr val="92400E"/>
                          </a:solidFill>
                          <a:latin typeface="Arial"/>
                          <a:cs typeface="Arial"/>
                        </a:rPr>
                        <a:t>[ — ]</a:t>
                      </a:r>
                    </a:p>
                  </a:txBody>
                  <a:tcPr anchor="ctr" marL="91440" marR="91440" marT="36576" marB="36576">
                    <a:solidFill>
                      <a:srgbClr val="FEF3C7"/>
                    </a:solidFill>
                  </a:tcPr>
                </a:tc>
                <a:tc>
                  <a:txBody>
                    <a:bodyPr wrap="square"/>
                    <a:lstStyle/>
                    <a:p>
                      <a:pPr rtl="1" algn="r"/>
                      <a:r>
                        <a:rPr sz="1600" b="0" i="0" lang="ar-SA">
                          <a:solidFill>
                            <a:srgbClr val="134E4A"/>
                          </a:solidFill>
                          <a:latin typeface="Arial"/>
                          <a:cs typeface="Arial"/>
                        </a:rPr>
                        <a:t>NDCG@10، المهمة A</a:t>
                      </a:r>
                    </a:p>
                  </a:txBody>
                  <a:tcPr anchor="ctr" marL="91440" marR="91440" marT="36576" marB="36576">
                    <a:solidFill>
                      <a:srgbClr val="FFFFFF"/>
                    </a:solidFill>
                  </a:tcPr>
                </a:tc>
                <a:tc>
                  <a:txBody>
                    <a:bodyPr wrap="square"/>
                    <a:lstStyle/>
                    <a:p>
                      <a:pPr rtl="1" algn="r"/>
                      <a:r>
                        <a:rPr sz="1600" b="0" i="0" lang="ar-SA">
                          <a:solidFill>
                            <a:srgbClr val="134E4A"/>
                          </a:solidFill>
                          <a:latin typeface="Arial"/>
                          <a:cs typeface="Arial"/>
                        </a:rPr>
                        <a:t>GRU-lite مقابل أفضل تسلسلي غير عصبوني</a:t>
                      </a:r>
                    </a:p>
                  </a:txBody>
                  <a:tcPr anchor="ctr" marL="91440" marR="91440" marT="36576" marB="36576">
                    <a:solidFill>
                      <a:srgbClr val="FFFFFF"/>
                    </a:solidFill>
                  </a:tcPr>
                </a:tc>
                <a:tc>
                  <a:txBody>
                    <a:bodyPr wrap="square"/>
                    <a:lstStyle/>
                    <a:p>
                      <a:pPr rtl="1" algn="r"/>
                      <a:r>
                        <a:rPr sz="1600" b="1" i="0" lang="ar-SA">
                          <a:solidFill>
                            <a:srgbClr val="134E4A"/>
                          </a:solidFill>
                          <a:latin typeface="Arial"/>
                          <a:cs typeface="Arial"/>
                        </a:rPr>
                        <a:t>H3</a:t>
                      </a:r>
                    </a:p>
                  </a:txBody>
                  <a:tcPr anchor="ctr" marL="91440" marR="91440" marT="36576" marB="36576">
                    <a:solidFill>
                      <a:srgbClr val="FFFFFF"/>
                    </a:solidFill>
                  </a:tcPr>
                </a:tc>
              </a:tr>
              <a:tr h="632460">
                <a:tc>
                  <a:txBody>
                    <a:bodyPr wrap="square"/>
                    <a:lstStyle/>
                    <a:p>
                      <a:pPr rtl="1" algn="ctr"/>
                      <a:r>
                        <a:rPr sz="1600" b="0" i="1" lang="ar-SA">
                          <a:solidFill>
                            <a:srgbClr val="92400E"/>
                          </a:solidFill>
                          <a:latin typeface="Arial"/>
                          <a:cs typeface="Arial"/>
                        </a:rPr>
                        <a:t>[ — ]</a:t>
                      </a:r>
                    </a:p>
                  </a:txBody>
                  <a:tcPr anchor="ctr" marL="91440" marR="91440" marT="36576" marB="36576">
                    <a:solidFill>
                      <a:srgbClr val="FEF3C7"/>
                    </a:solidFill>
                  </a:tcPr>
                </a:tc>
                <a:tc>
                  <a:txBody>
                    <a:bodyPr wrap="square"/>
                    <a:lstStyle/>
                    <a:p>
                      <a:pPr rtl="1" algn="ctr"/>
                      <a:r>
                        <a:rPr sz="1600" b="0" i="1" lang="ar-SA">
                          <a:solidFill>
                            <a:srgbClr val="92400E"/>
                          </a:solidFill>
                          <a:latin typeface="Arial"/>
                          <a:cs typeface="Arial"/>
                        </a:rPr>
                        <a:t>[ — ]</a:t>
                      </a:r>
                    </a:p>
                  </a:txBody>
                  <a:tcPr anchor="ctr" marL="91440" marR="91440" marT="36576" marB="36576">
                    <a:solidFill>
                      <a:srgbClr val="FEF3C7"/>
                    </a:solidFill>
                  </a:tcPr>
                </a:tc>
                <a:tc>
                  <a:txBody>
                    <a:bodyPr wrap="square"/>
                    <a:lstStyle/>
                    <a:p>
                      <a:pPr rtl="1" algn="r"/>
                      <a:r>
                        <a:rPr sz="1600" b="0" i="0" lang="ar-SA">
                          <a:solidFill>
                            <a:srgbClr val="134E4A"/>
                          </a:solidFill>
                          <a:latin typeface="Arial"/>
                          <a:cs typeface="Arial"/>
                        </a:rPr>
                        <a:t>ROC-AUC عند اليوم 56</a:t>
                      </a:r>
                    </a:p>
                  </a:txBody>
                  <a:tcPr anchor="ctr" marL="91440" marR="91440" marT="36576" marB="36576">
                    <a:solidFill>
                      <a:srgbClr val="EEF2F6"/>
                    </a:solidFill>
                  </a:tcPr>
                </a:tc>
                <a:tc>
                  <a:txBody>
                    <a:bodyPr wrap="square"/>
                    <a:lstStyle/>
                    <a:p>
                      <a:pPr rtl="1" algn="r"/>
                      <a:r>
                        <a:rPr sz="1600" b="0" i="0" lang="ar-SA">
                          <a:solidFill>
                            <a:srgbClr val="134E4A"/>
                          </a:solidFill>
                          <a:latin typeface="Arial"/>
                          <a:cs typeface="Arial"/>
                        </a:rPr>
                        <a:t>ملامح سلوك VLE مقابل مجموع النقرات</a:t>
                      </a:r>
                    </a:p>
                  </a:txBody>
                  <a:tcPr anchor="ctr" marL="91440" marR="91440" marT="36576" marB="36576">
                    <a:solidFill>
                      <a:srgbClr val="EEF2F6"/>
                    </a:solidFill>
                  </a:tcPr>
                </a:tc>
                <a:tc>
                  <a:txBody>
                    <a:bodyPr wrap="square"/>
                    <a:lstStyle/>
                    <a:p>
                      <a:pPr rtl="1" algn="r"/>
                      <a:r>
                        <a:rPr sz="1600" b="1" i="0" lang="ar-SA">
                          <a:solidFill>
                            <a:srgbClr val="134E4A"/>
                          </a:solidFill>
                          <a:latin typeface="Arial"/>
                          <a:cs typeface="Arial"/>
                        </a:rPr>
                        <a:t>H4-أ</a:t>
                      </a:r>
                    </a:p>
                  </a:txBody>
                  <a:tcPr anchor="ctr" marL="91440" marR="91440" marT="36576" marB="36576">
                    <a:solidFill>
                      <a:srgbClr val="EEF2F6"/>
                    </a:solidFill>
                  </a:tcPr>
                </a:tc>
              </a:tr>
              <a:tr h="632460">
                <a:tc>
                  <a:txBody>
                    <a:bodyPr wrap="square"/>
                    <a:lstStyle/>
                    <a:p>
                      <a:pPr rtl="1" algn="ctr"/>
                      <a:r>
                        <a:rPr sz="1600" b="0" i="1" lang="ar-SA">
                          <a:solidFill>
                            <a:srgbClr val="92400E"/>
                          </a:solidFill>
                          <a:latin typeface="Arial"/>
                          <a:cs typeface="Arial"/>
                        </a:rPr>
                        <a:t>[ — ]</a:t>
                      </a:r>
                    </a:p>
                  </a:txBody>
                  <a:tcPr anchor="ctr" marL="91440" marR="91440" marT="36576" marB="36576">
                    <a:solidFill>
                      <a:srgbClr val="FEF3C7"/>
                    </a:solidFill>
                  </a:tcPr>
                </a:tc>
                <a:tc>
                  <a:txBody>
                    <a:bodyPr wrap="square"/>
                    <a:lstStyle/>
                    <a:p>
                      <a:pPr rtl="1" algn="ctr"/>
                      <a:r>
                        <a:rPr sz="1600" b="0" i="1" lang="ar-SA">
                          <a:solidFill>
                            <a:srgbClr val="92400E"/>
                          </a:solidFill>
                          <a:latin typeface="Arial"/>
                          <a:cs typeface="Arial"/>
                        </a:rPr>
                        <a:t>[ — ]</a:t>
                      </a:r>
                    </a:p>
                  </a:txBody>
                  <a:tcPr anchor="ctr" marL="91440" marR="91440" marT="36576" marB="36576">
                    <a:solidFill>
                      <a:srgbClr val="FEF3C7"/>
                    </a:solidFill>
                  </a:tcPr>
                </a:tc>
                <a:tc>
                  <a:txBody>
                    <a:bodyPr wrap="square"/>
                    <a:lstStyle/>
                    <a:p>
                      <a:pPr rtl="1" algn="r"/>
                      <a:r>
                        <a:rPr sz="1600" b="0" i="0" lang="ar-SA">
                          <a:solidFill>
                            <a:srgbClr val="134E4A"/>
                          </a:solidFill>
                          <a:latin typeface="Arial"/>
                          <a:cs typeface="Arial"/>
                        </a:rPr>
                        <a:t>NDCG@10، الربع الأقل تاريخاً</a:t>
                      </a:r>
                    </a:p>
                  </a:txBody>
                  <a:tcPr anchor="ctr" marL="91440" marR="91440" marT="36576" marB="36576">
                    <a:solidFill>
                      <a:srgbClr val="FFFFFF"/>
                    </a:solidFill>
                  </a:tcPr>
                </a:tc>
                <a:tc>
                  <a:txBody>
                    <a:bodyPr wrap="square"/>
                    <a:lstStyle/>
                    <a:p>
                      <a:pPr rtl="1" algn="r"/>
                      <a:r>
                        <a:rPr sz="1600" b="0" i="0" lang="ar-SA">
                          <a:solidFill>
                            <a:srgbClr val="134E4A"/>
                          </a:solidFill>
                          <a:latin typeface="Arial"/>
                          <a:cs typeface="Arial"/>
                        </a:rPr>
                        <a:t>الهجين مع شعبية العنقود مقابل بدونها (استكشافية)</a:t>
                      </a:r>
                    </a:p>
                  </a:txBody>
                  <a:tcPr anchor="ctr" marL="91440" marR="91440" marT="36576" marB="36576">
                    <a:solidFill>
                      <a:srgbClr val="FFFFFF"/>
                    </a:solidFill>
                  </a:tcPr>
                </a:tc>
                <a:tc>
                  <a:txBody>
                    <a:bodyPr wrap="square"/>
                    <a:lstStyle/>
                    <a:p>
                      <a:pPr rtl="1" algn="r"/>
                      <a:r>
                        <a:rPr sz="1600" b="1" i="0" lang="ar-SA">
                          <a:solidFill>
                            <a:srgbClr val="134E4A"/>
                          </a:solidFill>
                          <a:latin typeface="Arial"/>
                          <a:cs typeface="Arial"/>
                        </a:rPr>
                        <a:t>H4-ب</a:t>
                      </a:r>
                    </a:p>
                  </a:txBody>
                  <a:tcPr anchor="ctr" marL="91440" marR="91440" marT="36576" marB="36576">
                    <a:solidFill>
                      <a:srgbClr val="FFFFFF"/>
                    </a:solidFill>
                  </a:tcPr>
                </a:tc>
              </a:tr>
            </a:tbl>
          </a:graphicData>
        </a:graphic>
      </p:graphicFrame>
      <p:sp>
        <p:nvSpPr>
          <p:cNvPr id="5" name="TextBox 4"/>
          <p:cNvSpPr txBox="1"/>
          <p:nvPr/>
        </p:nvSpPr>
        <p:spPr>
          <a:xfrm>
            <a:off x="548640" y="576072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13 عرضاً (2014)؛ p بعد هولم على H1 وH2-أ وH3 وH4-أ؛ العتبة δ = 0.02</a:t>
            </a:r>
          </a:p>
        </p:txBody>
      </p:sp>
      <p:sp>
        <p:nvSpPr>
          <p:cNvPr id="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الاستئصال والحساسيات</a:t>
            </a:r>
          </a:p>
        </p:txBody>
      </p:sp>
      <p:sp>
        <p:nvSpPr>
          <p:cNvPr id="3" name="شريط الحالة"/>
          <p:cNvSpPr/>
          <p:nvPr/>
        </p:nvSpPr>
        <p:spPr>
          <a:xfrm>
            <a:off x="548640" y="1261872"/>
            <a:ext cx="11094415" cy="420624"/>
          </a:xfrm>
          <a:prstGeom prst="roundRect">
            <a:avLst>
              <a:gd name="adj" fmla="val 25000"/>
            </a:avLst>
          </a:prstGeom>
          <a:solidFill>
            <a:srgbClr val="FEF3C7"/>
          </a:solidFill>
          <a:ln w="1270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92400E"/>
                </a:solidFill>
                <a:latin typeface="Arial"/>
                <a:cs typeface="Arial"/>
              </a:rPr>
              <a:t>قيد الاستكمال: تُملأ من نتائج الاستئصال والحساسية على 2014</a:t>
            </a:r>
          </a:p>
        </p:txBody>
      </p:sp>
      <p:sp>
        <p:nvSpPr>
          <p:cNvPr id="4" name="لوحة"/>
          <p:cNvSpPr/>
          <p:nvPr/>
        </p:nvSpPr>
        <p:spPr>
          <a:xfrm>
            <a:off x="8127796" y="1874519"/>
            <a:ext cx="3515258" cy="4297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64956"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استئصال الإشارة</a:t>
            </a:r>
          </a:p>
        </p:txBody>
      </p:sp>
      <p:sp>
        <p:nvSpPr>
          <p:cNvPr id="6" name="TextBox 5"/>
          <p:cNvSpPr txBox="1"/>
          <p:nvPr/>
        </p:nvSpPr>
        <p:spPr>
          <a:xfrm>
            <a:off x="8264956"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L0 ⊂ L1 ⊂ L2 ⊂ L3 في WRMF وItem-kNN والهجين</a:t>
            </a:r>
          </a:p>
        </p:txBody>
      </p:sp>
      <p:sp>
        <p:nvSpPr>
          <p:cNvPr id="7" name="مكان النتيجة"/>
          <p:cNvSpPr/>
          <p:nvPr/>
        </p:nvSpPr>
        <p:spPr>
          <a:xfrm>
            <a:off x="8310676" y="3611879"/>
            <a:ext cx="3149498" cy="2377440"/>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مخطط الأعمدة ]</a:t>
            </a:r>
          </a:p>
        </p:txBody>
      </p:sp>
      <p:sp>
        <p:nvSpPr>
          <p:cNvPr id="8" name="لوحة"/>
          <p:cNvSpPr/>
          <p:nvPr/>
        </p:nvSpPr>
        <p:spPr>
          <a:xfrm>
            <a:off x="4338218" y="1874519"/>
            <a:ext cx="3515258" cy="4297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75378"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استئصال مكوّنات الهجين</a:t>
            </a:r>
          </a:p>
        </p:txBody>
      </p:sp>
      <p:sp>
        <p:nvSpPr>
          <p:cNvPr id="10" name="TextBox 9"/>
          <p:cNvSpPr txBox="1"/>
          <p:nvPr/>
        </p:nvSpPr>
        <p:spPr>
          <a:xfrm>
            <a:off x="4475378"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حذف كل مكوّن مع إعادة ضبط الأوزان</a:t>
            </a:r>
          </a:p>
        </p:txBody>
      </p:sp>
      <p:sp>
        <p:nvSpPr>
          <p:cNvPr id="11" name="مكان النتيجة"/>
          <p:cNvSpPr/>
          <p:nvPr/>
        </p:nvSpPr>
        <p:spPr>
          <a:xfrm>
            <a:off x="4521098" y="3611879"/>
            <a:ext cx="3149498" cy="2377440"/>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مخطط المساهمة ]</a:t>
            </a:r>
          </a:p>
        </p:txBody>
      </p:sp>
      <p:sp>
        <p:nvSpPr>
          <p:cNvPr id="12" name="لوحة"/>
          <p:cNvSpPr/>
          <p:nvPr/>
        </p:nvSpPr>
        <p:spPr>
          <a:xfrm>
            <a:off x="548639" y="1874519"/>
            <a:ext cx="3515258" cy="4297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799"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حساسيات مسجّلة مسبقاً</a:t>
            </a:r>
          </a:p>
        </p:txBody>
      </p:sp>
      <p:sp>
        <p:nvSpPr>
          <p:cNvPr id="14" name="TextBox 13"/>
          <p:cNvSpPr txBox="1"/>
          <p:nvPr/>
        </p:nvSpPr>
        <p:spPr>
          <a:xfrm>
            <a:off x="685799"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الأنواع المستبعدة، نقاط القطع، السوالب المعيَّنة، سعة GRU</a:t>
            </a:r>
          </a:p>
        </p:txBody>
      </p:sp>
      <p:sp>
        <p:nvSpPr>
          <p:cNvPr id="15" name="مكان النتيجة"/>
          <p:cNvSpPr/>
          <p:nvPr/>
        </p:nvSpPr>
        <p:spPr>
          <a:xfrm>
            <a:off x="731519" y="3611879"/>
            <a:ext cx="3149498" cy="2377440"/>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جدول موجز ]</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المناقشة</a:t>
            </a:r>
          </a:p>
        </p:txBody>
      </p:sp>
      <p:sp>
        <p:nvSpPr>
          <p:cNvPr id="3" name="شريط الحالة"/>
          <p:cNvSpPr/>
          <p:nvPr/>
        </p:nvSpPr>
        <p:spPr>
          <a:xfrm>
            <a:off x="548640" y="1261872"/>
            <a:ext cx="11094415" cy="420624"/>
          </a:xfrm>
          <a:prstGeom prst="roundRect">
            <a:avLst>
              <a:gd name="adj" fmla="val 25000"/>
            </a:avLst>
          </a:prstGeom>
          <a:solidFill>
            <a:srgbClr val="FEF3C7"/>
          </a:solidFill>
          <a:ln w="1270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92400E"/>
                </a:solidFill>
                <a:latin typeface="Arial"/>
                <a:cs typeface="Arial"/>
              </a:rPr>
              <a:t>قيد الاستكمال: تُكتب بعد النتائج التأكيدية</a:t>
            </a:r>
          </a:p>
        </p:txBody>
      </p:sp>
      <p:sp>
        <p:nvSpPr>
          <p:cNvPr id="4" name="لوحة"/>
          <p:cNvSpPr/>
          <p:nvPr/>
        </p:nvSpPr>
        <p:spPr>
          <a:xfrm>
            <a:off x="9075191"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212351"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الجدول الدراسي والشعبية الآنية</a:t>
            </a:r>
          </a:p>
        </p:txBody>
      </p:sp>
      <p:sp>
        <p:nvSpPr>
          <p:cNvPr id="6" name="TextBox 5"/>
          <p:cNvSpPr txBox="1"/>
          <p:nvPr/>
        </p:nvSpPr>
        <p:spPr>
          <a:xfrm>
            <a:off x="9212351"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كم يفرض الجدول على الوصول؟</a:t>
            </a:r>
          </a:p>
        </p:txBody>
      </p:sp>
      <p:sp>
        <p:nvSpPr>
          <p:cNvPr id="7" name="مكان النتيجة"/>
          <p:cNvSpPr/>
          <p:nvPr/>
        </p:nvSpPr>
        <p:spPr>
          <a:xfrm>
            <a:off x="9258071"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8" name="لوحة"/>
          <p:cNvSpPr/>
          <p:nvPr/>
        </p:nvSpPr>
        <p:spPr>
          <a:xfrm>
            <a:off x="6233007"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0167"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قيمة ترجيح الإشارات</a:t>
            </a:r>
          </a:p>
        </p:txBody>
      </p:sp>
      <p:sp>
        <p:nvSpPr>
          <p:cNvPr id="10" name="TextBox 9"/>
          <p:cNvSpPr txBox="1"/>
          <p:nvPr/>
        </p:nvSpPr>
        <p:spPr>
          <a:xfrm>
            <a:off x="6370167"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أي مستوى حمل الأثر إن وُجد؟</a:t>
            </a:r>
          </a:p>
        </p:txBody>
      </p:sp>
      <p:sp>
        <p:nvSpPr>
          <p:cNvPr id="11" name="مكان النتيجة"/>
          <p:cNvSpPr/>
          <p:nvPr/>
        </p:nvSpPr>
        <p:spPr>
          <a:xfrm>
            <a:off x="6415887"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12" name="لوحة"/>
          <p:cNvSpPr/>
          <p:nvPr/>
        </p:nvSpPr>
        <p:spPr>
          <a:xfrm>
            <a:off x="3390823"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7983"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التسلسل العصبوني</a:t>
            </a:r>
          </a:p>
        </p:txBody>
      </p:sp>
      <p:sp>
        <p:nvSpPr>
          <p:cNvPr id="14" name="TextBox 13"/>
          <p:cNvSpPr txBox="1"/>
          <p:nvPr/>
        </p:nvSpPr>
        <p:spPr>
          <a:xfrm>
            <a:off x="3527983"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GRU-lite مقابل الجيران على السلال</a:t>
            </a:r>
          </a:p>
        </p:txBody>
      </p:sp>
      <p:sp>
        <p:nvSpPr>
          <p:cNvPr id="15" name="مكان النتيجة"/>
          <p:cNvSpPr/>
          <p:nvPr/>
        </p:nvSpPr>
        <p:spPr>
          <a:xfrm>
            <a:off x="3573703"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16" name="لوحة"/>
          <p:cNvSpPr/>
          <p:nvPr/>
        </p:nvSpPr>
        <p:spPr>
          <a:xfrm>
            <a:off x="548640"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المتعلمون والبدء البارد</a:t>
            </a:r>
          </a:p>
        </p:txBody>
      </p:sp>
      <p:sp>
        <p:nvSpPr>
          <p:cNvPr id="18" name="TextBox 17"/>
          <p:cNvSpPr txBox="1"/>
          <p:nvPr/>
        </p:nvSpPr>
        <p:spPr>
          <a:xfrm>
            <a:off x="685800"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الخطر المبكر وسياق العنقود</a:t>
            </a:r>
          </a:p>
        </p:txBody>
      </p:sp>
      <p:sp>
        <p:nvSpPr>
          <p:cNvPr id="19" name="مكان النتيجة"/>
          <p:cNvSpPr/>
          <p:nvPr/>
        </p:nvSpPr>
        <p:spPr>
          <a:xfrm>
            <a:off x="731520"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20" name="خلاصة"/>
          <p:cNvSpPr/>
          <p:nvPr/>
        </p:nvSpPr>
        <p:spPr>
          <a:xfrm>
            <a:off x="548640" y="525780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سياسة النتيجة السلبية: تفوّق الشعبية الآنية نتيجة رئيسية تُبلَّغ وتُحلَّل أسبابها</a:t>
            </a:r>
          </a:p>
        </p:txBody>
      </p:sp>
      <p:sp>
        <p:nvSpPr>
          <p:cNvPr id="2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القيود والعمل المستقبلي</a:t>
            </a:r>
          </a:p>
        </p:txBody>
      </p:sp>
      <p:sp>
        <p:nvSpPr>
          <p:cNvPr id="3" name="عمود"/>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6233007"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القيود</a:t>
            </a:r>
          </a:p>
        </p:txBody>
      </p:sp>
      <p:sp>
        <p:nvSpPr>
          <p:cNvPr id="5" name="نقطة"/>
          <p:cNvSpPr/>
          <p:nvPr/>
        </p:nvSpPr>
        <p:spPr>
          <a:xfrm>
            <a:off x="11259007"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28600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التعميم من 2013 إلى 2014 فقط</a:t>
            </a:r>
          </a:p>
        </p:txBody>
      </p:sp>
      <p:sp>
        <p:nvSpPr>
          <p:cNvPr id="7" name="نقطة"/>
          <p:cNvSpPr/>
          <p:nvPr/>
        </p:nvSpPr>
        <p:spPr>
          <a:xfrm>
            <a:off x="11259007"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23469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تقييم دون اتصال: لا دراسة مستخدمين ولا ادعاء أثر تعليمي</a:t>
            </a:r>
          </a:p>
        </p:txBody>
      </p:sp>
      <p:sp>
        <p:nvSpPr>
          <p:cNvPr id="9" name="نقطة"/>
          <p:cNvSpPr/>
          <p:nvPr/>
        </p:nvSpPr>
        <p:spPr>
          <a:xfrm>
            <a:off x="11259007"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418338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لا ترتيب داخل اليوم</a:t>
            </a:r>
          </a:p>
        </p:txBody>
      </p:sp>
      <p:sp>
        <p:nvSpPr>
          <p:cNvPr id="11" name="نقطة"/>
          <p:cNvSpPr/>
          <p:nvPr/>
        </p:nvSpPr>
        <p:spPr>
          <a:xfrm>
            <a:off x="11259007"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513207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numpy فقط: GRU بطبقة واحدة</a:t>
            </a:r>
          </a:p>
        </p:txBody>
      </p:sp>
      <p:sp>
        <p:nvSpPr>
          <p:cNvPr id="13" name="عمود"/>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عنوان العمود"/>
          <p:cNvSpPr/>
          <p:nvPr/>
        </p:nvSpPr>
        <p:spPr>
          <a:xfrm>
            <a:off x="548640"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العمل المستقبلي</a:t>
            </a:r>
          </a:p>
        </p:txBody>
      </p:sp>
      <p:sp>
        <p:nvSpPr>
          <p:cNvPr id="15" name="نقطة"/>
          <p:cNvSpPr/>
          <p:nvPr/>
        </p:nvSpPr>
        <p:spPr>
          <a:xfrm>
            <a:off x="5574639"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28600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تجربة حية ودراسة مستخدمين للتفسيرات</a:t>
            </a:r>
          </a:p>
        </p:txBody>
      </p:sp>
      <p:sp>
        <p:nvSpPr>
          <p:cNvPr id="17" name="نقطة"/>
          <p:cNvSpPr/>
          <p:nvPr/>
        </p:nvSpPr>
        <p:spPr>
          <a:xfrm>
            <a:off x="5574639"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23469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إعادة البروتوكول على سجلات الجامعة الافتراضية السورية</a:t>
            </a:r>
          </a:p>
        </p:txBody>
      </p:sp>
      <p:sp>
        <p:nvSpPr>
          <p:cNvPr id="19" name="نقطة"/>
          <p:cNvSpPr/>
          <p:nvPr/>
        </p:nvSpPr>
        <p:spPr>
          <a:xfrm>
            <a:off x="5574639"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18338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بيانات بوصف نصي للموارد لتفعيل المحتوى</a:t>
            </a:r>
          </a:p>
        </p:txBody>
      </p:sp>
      <p:sp>
        <p:nvSpPr>
          <p:cNvPr id="21" name="نقطة"/>
          <p:cNvSpPr/>
          <p:nvPr/>
        </p:nvSpPr>
        <p:spPr>
          <a:xfrm>
            <a:off x="5574639"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207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نماذج تسلسلية أعمق عند توفر المكتبات</a:t>
            </a:r>
          </a:p>
        </p:txBody>
      </p:sp>
      <p:sp>
        <p:nvSpPr>
          <p:cNvPr id="2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FFFFFF"/>
                </a:solidFill>
                <a:latin typeface="Arial"/>
                <a:cs typeface="Arial"/>
              </a:rPr>
              <a:t>الخاتمة والمساهمات</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CCFBF1"/>
                </a:solidFill>
                <a:latin typeface="Arial"/>
                <a:cs typeface="Arial"/>
              </a:rPr>
              <a:t>مساهمة تجريبية ومنهجية، لا خوارزمية جديدة</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6" name="TextBox 5"/>
          <p:cNvSpPr txBox="1"/>
          <p:nvPr/>
        </p:nvSpPr>
        <p:spPr>
          <a:xfrm>
            <a:off x="6370167"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استئصال منضبط</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اختبار قيمة ترجيح الإشارات بعائلة متداخلة من أربعة مستويات</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5272887"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0" name="TextBox 9"/>
          <p:cNvSpPr txBox="1"/>
          <p:nvPr/>
        </p:nvSpPr>
        <p:spPr>
          <a:xfrm>
            <a:off x="685800"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بروتوكول مسجَّل مسبقاً</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تقسيم زمني وكتالوج كامل وعشرة خطوط أساس وإحصاء عنقودي</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957255"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4" name="TextBox 13"/>
          <p:cNvSpPr txBox="1"/>
          <p:nvPr/>
        </p:nvSpPr>
        <p:spPr>
          <a:xfrm>
            <a:off x="6370167"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نظام قابل لإعادة الإنتاج</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وpandas مع اختبار تحقق لكل تنفيذ، وواجهتان للمتعلم والمدرّس</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5272887"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8" name="TextBox 17"/>
          <p:cNvSpPr txBox="1"/>
          <p:nvPr/>
        </p:nvSpPr>
        <p:spPr>
          <a:xfrm>
            <a:off x="685800"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دليل على قوة الشعبية الآنية</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حجم ما يفرضه الجدول الدراسي على الوصول [يُستكمل بنتائج التأكيد]</a:t>
            </a:r>
          </a:p>
        </p:txBody>
      </p:sp>
      <p:sp>
        <p:nvSpPr>
          <p:cNvPr id="20"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عنوان"/>
          <p:cNvSpPr txBox="1"/>
          <p:nvPr/>
        </p:nvSpPr>
        <p:spPr>
          <a:xfrm>
            <a:off x="3474720" y="1554480"/>
            <a:ext cx="8168335" cy="12801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5400" b="1" i="0" lang="ar-SA">
                <a:solidFill>
                  <a:srgbClr val="FFFFFF"/>
                </a:solidFill>
                <a:latin typeface="Arial"/>
                <a:cs typeface="Arial"/>
              </a:rPr>
              <a:t>شكراً لكم</a:t>
            </a:r>
          </a:p>
        </p:txBody>
      </p:sp>
      <p:sp>
        <p:nvSpPr>
          <p:cNvPr id="5" name="أسئلة"/>
          <p:cNvSpPr/>
          <p:nvPr/>
        </p:nvSpPr>
        <p:spPr>
          <a:xfrm>
            <a:off x="8351215" y="3017520"/>
            <a:ext cx="3291840" cy="54864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2400" b="1" i="0" lang="ar-SA">
                <a:solidFill>
                  <a:srgbClr val="FFFFFF"/>
                </a:solidFill>
                <a:latin typeface="Arial"/>
                <a:cs typeface="Arial"/>
              </a:rPr>
              <a:t>الأسئلة والمناقشة</a:t>
            </a:r>
          </a:p>
        </p:txBody>
      </p:sp>
      <p:sp>
        <p:nvSpPr>
          <p:cNvPr id="6" name="TextBox 5"/>
          <p:cNvSpPr txBox="1"/>
          <p:nvPr/>
        </p:nvSpPr>
        <p:spPr>
          <a:xfrm>
            <a:off x="3474720" y="4114800"/>
            <a:ext cx="8168335" cy="128016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p:txBody>
      </p:sp>
      <p:sp>
        <p:nvSpPr>
          <p:cNvPr id="7"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لماذا numpy فقط؟ ولماذا لا CNN؟</a:t>
            </a:r>
          </a:p>
        </p:txBody>
      </p:sp>
      <p:sp>
        <p:nvSpPr>
          <p:cNvPr id="3" name="بطاقة"/>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6233007"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numpy فقط؟</a:t>
            </a:r>
          </a:p>
        </p:txBody>
      </p:sp>
      <p:sp>
        <p:nvSpPr>
          <p:cNvPr id="5" name="نقطة"/>
          <p:cNvSpPr/>
          <p:nvPr/>
        </p:nvSpPr>
        <p:spPr>
          <a:xfrm>
            <a:off x="11259007"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بيئة التنفيذ لا تتيح TensorFlow ولا Keras ولا scikit-learn</a:t>
            </a:r>
          </a:p>
        </p:txBody>
      </p:sp>
      <p:sp>
        <p:nvSpPr>
          <p:cNvPr id="7" name="نقطة"/>
          <p:cNvSpPr/>
          <p:nvPr/>
        </p:nvSpPr>
        <p:spPr>
          <a:xfrm>
            <a:off x="11259007"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كُتبت الخوارزميات يدوياً مع اختبار تحقق لكل تنفيذ</a:t>
            </a:r>
          </a:p>
        </p:txBody>
      </p:sp>
      <p:sp>
        <p:nvSpPr>
          <p:cNvPr id="9" name="نقطة"/>
          <p:cNvSpPr/>
          <p:nvPr/>
        </p:nvSpPr>
        <p:spPr>
          <a:xfrm>
            <a:off x="11259007"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مثال: فحص تدرج GRU-lite بخطأ نسبي 4.3e-06</a:t>
            </a:r>
          </a:p>
        </p:txBody>
      </p:sp>
      <p:sp>
        <p:nvSpPr>
          <p:cNvPr id="11" name="نقطة"/>
          <p:cNvSpPr/>
          <p:nvPr/>
        </p:nvSpPr>
        <p:spPr>
          <a:xfrm>
            <a:off x="11259007"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القيد معلن في الفصل الثالث (3-6-3)</a:t>
            </a:r>
          </a:p>
        </p:txBody>
      </p:sp>
      <p:sp>
        <p:nvSpPr>
          <p:cNvPr id="13" name="بطاقة"/>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السؤال"/>
          <p:cNvSpPr/>
          <p:nvPr/>
        </p:nvSpPr>
        <p:spPr>
          <a:xfrm>
            <a:off x="548640"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لا CNN؟</a:t>
            </a:r>
          </a:p>
        </p:txBody>
      </p:sp>
      <p:sp>
        <p:nvSpPr>
          <p:cNvPr id="15" name="نقطة"/>
          <p:cNvSpPr/>
          <p:nvPr/>
        </p:nvSpPr>
        <p:spPr>
          <a:xfrm>
            <a:off x="5574639"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مرجعه الوحيد في الأدبيات المدروسة غير قابل للتكرار</a:t>
            </a:r>
          </a:p>
        </p:txBody>
      </p:sp>
      <p:sp>
        <p:nvSpPr>
          <p:cNvPr id="17" name="نقطة"/>
          <p:cNvSpPr/>
          <p:nvPr/>
        </p:nvSpPr>
        <p:spPr>
          <a:xfrm>
            <a:off x="5574639"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سلال الأيام غير مرتبة داخلياً: لا بنية محلية تستفيد منها التلافيف</a:t>
            </a:r>
          </a:p>
        </p:txBody>
      </p:sp>
      <p:sp>
        <p:nvSpPr>
          <p:cNvPr id="19" name="نقطة"/>
          <p:cNvSpPr/>
          <p:nvPr/>
        </p:nvSpPr>
        <p:spPr>
          <a:xfrm>
            <a:off x="5574639"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بقي الاتجاه العصبوني ممثلاً بـ GRU-lite</a:t>
            </a:r>
          </a:p>
        </p:txBody>
      </p:sp>
      <p:sp>
        <p:nvSpPr>
          <p:cNvPr id="21" name="نقطة"/>
          <p:cNvSpPr/>
          <p:nvPr/>
        </p:nvSpPr>
        <p:spPr>
          <a:xfrm>
            <a:off x="5574639"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الخطة نفسها تركت اختيار الأنسب أثناء البحث</a:t>
            </a:r>
          </a:p>
        </p:txBody>
      </p:sp>
      <p:sp>
        <p:nvSpPr>
          <p:cNvPr id="2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الدلالة الإحصائية؟</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كيف يُحكم على الفرق بين نموذجين؟</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وحدة التحليل العرض: 13 عرضاً في 2014، ومتوسط الفروق على 3 قطوع</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فاصل ثقة 95% بـ bootstrap-t العنقودي المعيَّر، بعشرة آلاف إعادة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قيمة p بقلب الإشارات الدقيق (8,192 تركيبة)، وتصحيح هولم على 4 فرضيات</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تُؤكَّد الفرضية إن بلغ الأثر 0.02 على الأقل وكان الحد الأدنى للفاصل موجباً وp المصحَّحة أقل من 0.05</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الحد الأدنى للأثر القابل للكشف بقوة 80%: نحو 0.0525 (تقدير تطويري توضيحي)</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حدود التعميم؟</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إلى أي مدى تنطبق النتائج؟</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(الجامعة المفتوحة البريطانية): التعميم من 2013 إلى 2014 فقط</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لا ادعاء حول بيئة الجامعة الافتراضية السورية ولا بيئة عربية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التقييم دون اتصال: الوصول المستقبلي وكيل للملاءمة لا للتعلم</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وكتالوج صغير ومصفوفة نسبياً كثيفة</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المعالجة: نقل البروتوكول إلى سجلات الجامعة الافتراضية السورية</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توصية للتعليم الإلكتروني القائم على تحليل سلوك المستخدم</dc:title>
  <dc:subject>ماجستير علوم الوب — الجامعة الافتراضية السورية</dc:subject>
  <dc:creator>كنان محمد قرحالي</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ar-SA</dc:language>
</cp:coreProperties>
</file>