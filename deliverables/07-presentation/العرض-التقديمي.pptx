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NDCG@10</c:v>
                </c:pt>
              </c:strCache>
            </c:strRef>
          </c:tx>
          <c:spPr>
            <a:solidFill>
              <a:srgbClr val="0F766E"/>
            </a:solidFill>
          </c:spPr>
          <c:dPt>
            <c:idx val="0"/>
            <c:spPr>
              <a:solidFill>
                <a:srgbClr val="B45309"/>
              </a:solidFill>
            </c:spPr>
          </c:dPt>
          <c:cat>
            <c:strRef>
              <c:f>Sheet1!$A$2:$A$11</c:f>
              <c:strCache>
                <c:ptCount val="10"/>
                <c:pt idx="0">
                  <c:v>B3 RecentPop</c:v>
                </c:pt>
                <c:pt idx="1">
                  <c:v>B5 SKNN</c:v>
                </c:pt>
                <c:pt idx="2">
                  <c:v>GRU lite</c:v>
                </c:pt>
                <c:pt idx="3">
                  <c:v>B6 Markov</c:v>
                </c:pt>
                <c:pt idx="4">
                  <c:v>B4 ItemKNN</c:v>
                </c:pt>
                <c:pt idx="5">
                  <c:v>B7 WRMF</c:v>
                </c:pt>
                <c:pt idx="6">
                  <c:v>B10 EASE</c:v>
                </c:pt>
                <c:pt idx="7">
                  <c:v>B2 Pop</c:v>
                </c:pt>
                <c:pt idx="8">
                  <c:v>B9 CBF</c:v>
                </c:pt>
                <c:pt idx="9">
                  <c:v>B1 Random</c:v>
                </c:pt>
              </c:strCache>
            </c:strRef>
          </c:cat>
          <c:val>
            <c:numRef>
              <c:f>Sheet1!$B$2:$B$11</c:f>
              <c:numCache>
                <c:formatCode>General</c:formatCode>
                <c:ptCount val="10"/>
                <c:pt idx="0">
                  <c:v>0.541</c:v>
                </c:pt>
                <c:pt idx="1">
                  <c:v>0.531</c:v>
                </c:pt>
                <c:pt idx="2">
                  <c:v>0.519</c:v>
                </c:pt>
                <c:pt idx="3">
                  <c:v>0.393</c:v>
                </c:pt>
                <c:pt idx="4">
                  <c:v>0.314</c:v>
                </c:pt>
                <c:pt idx="5">
                  <c:v>0.248</c:v>
                </c:pt>
                <c:pt idx="6">
                  <c:v>0.187</c:v>
                </c:pt>
                <c:pt idx="7">
                  <c:v>0.141</c:v>
                </c:pt>
                <c:pt idx="8">
                  <c:v>0.138</c:v>
                </c:pt>
                <c:pt idx="9">
                  <c:v>0.052</c:v>
                </c:pt>
              </c:numCache>
            </c:numRef>
          </c:val>
        </c:ser>
        <c:dLbls>
          <c:numFmt formatCode="0.000" sourceLinked="0"/>
          <c:txPr>
            <a:bodyPr/>
            <a:lstStyle/>
            <a:p>
              <a:pPr>
                <a:defRPr sz="1300" b="1">
                  <a:solidFill>
                    <a:srgbClr val="134E4A"/>
                  </a:solidFill>
                  <a:latin typeface="Aria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CBD5E1"/>
            </a:solidFill>
          </a:ln>
        </c:spPr>
        <c:txPr>
          <a:bodyPr/>
          <a:lstStyle/>
          <a:p>
            <a:pPr>
              <a:defRPr sz="1300"/>
            </a:pPr>
          </a:p>
        </c:txPr>
        <c:crossAx val="-2113994440"/>
        <c:crosses val="autoZero"/>
        <c:auto val="1"/>
        <c:lblAlgn val="ctr"/>
        <c:lblOffset val="100"/>
        <c:noMultiLvlLbl val="0"/>
      </c:catAx>
      <c:valAx>
        <c:axId val="-2113994440"/>
        <c:scaling>
          <c:max val="0.6383800000000001"/>
          <c:min val="0.0"/>
        </c:scaling>
        <c:delete/>
        <c:axPos val="b"/>
        <c:majorTickMark val="out"/>
        <c:minorTickMark val="none"/>
        <c:tickLblPos val="nextTo"/>
        <c:crossAx val="-2068027336"/>
        <c:crosses val="autoZero"/>
      </c:valAx>
    </c:plotArea>
    <c:dispBlanksAs val="gap"/>
  </c:chart>
  <c:txPr>
    <a:bodyPr/>
    <a:lstStyle/>
    <a:p>
      <a:pPr>
        <a:defRPr sz="1300">
          <a:solidFill>
            <a:srgbClr val="134E4A"/>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مرحباً بالسادة أعضاء اللجنة. أقدّم خلاصة رسالتي: نظام توصية للتعليم الإلكتروني يعتمد على تحليل سلوك المتعلم، وأسأل فيه سؤالاً محدداً: ماذا يضيف تحليل السلوك فوق ما يمليه الجدول الدراسي؟ المدة المتوقعة نحو 18 دقيقة، ثم الأسئلة.</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ثمانية محاور: أبدأ بالمشكلة، ثم الأدبيات والفجوة، ثم البيانات وتمثيل السلوك، ثم الخوارزميات وبروتوكول التقييم، ثم النظام، ثم النتائج والمناقشة، وأختم بالقيود والخاتمة.</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في الجامعة الافتراضية السورية يرى المدرّس من سلوك طلابه ما تسجّله المنصة فقط. الاعتراض المنهجي أن معظم الوصول يقوده الجدول الدراسي نفسه، فالسؤال: هل يضيف التخصيص القائم على السلوك شيئاً فوق الشعبية الآنية؟ وتقبل الصياغة صراحةً أن يكون الجواب سلبياً، وتُبلَّغ النتيجة السلبية كما هي.</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الهدف العام قياس ما يضيفه تحليل السلوك. أربعة أسئلة، لكل منها فرضية مسجّلة مسبقاً: H1 للشخصنة، H2-أ لترجيح الإشارات، H3 لـ GRU-lite (ثنائية الاتجاه)، H4-أ للتنبؤ بالخطر عند اليوم 56. H4-ب استكشافية، وH2-ب غير منطبقة بالبناء لأن أي مكوّن في الهجين المجمَّد لا يقرأ الإشارة الموزونة.</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ثمانية وثلاثون مرجعاً حُلّلت بقالب موحّد. ثلاثة استنتاجات: خطوط الأساس البسيطة منافسة (المرجع 31 والمرجع 20)؛ ترجيح الإشارات مقترح في أعمال كالمرجعين 26 و34 لكن دون استئصال مضبوط؛ والأرقام تتبع البروتوكول (المرجع 47). الفجوة محدودة بالمراجع المحللة، ودرجة الثقة بها متوسطة. والمساهمة تجريبية ومنهجية لا خوارزمية جديدة.</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OULAD مجموعة مفتوحة من الجامعة المفتوحة البريطانية بترخيص CC BY 4.0، وكانت الوحيدة التي اجتازت بوابتي التحميل والترخيص وخدمت أهداف الخطة كلها. الأرقام المعروضة من التحليل الاستكشافي على عروض 2013 التسعة حصراً (results/dev2013/eda.md): الكتالوج صغير، والاستعمال متركّز (جيني بين 0.44 و0.79)، وأكثر من نصف أزواج الوصول في نوافذ الاختبار إعادات (متوسط 55.9% إلى 59.2% بحسب نقطة القطع). لذلك عُرّف الهدف الأساسي بالموارد الجديدة، واستُبعدت الأنواع التنقلية.</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دقة السجلات يوم واحد، فلا ترتيب داخل اليوم، ولذلك نتحدث عن تسلسل سلال لا جلسات تصفح. الإشارة الموزونة تجمع على أيام الوصول اضمحلالاً أسّياً للحداثة بثابت τ وشدة نقرات مطبَّعة بوسيط نوع النشاط ومضغوطة باللوغاريتم بمعامل β. المستويات الأربعة متداخلة، فيصبح الاستئصال نظيفاً: النموذج نفسه والبروتوكول نفسه ولا يختلف إلا تمثيل الإشارة.</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عشرة خطوط أساس تمثّل عائلات الأدبيات، تُضبط جميعها بميزانية متساوية (حتى 20 إعداداً) على نافذة تحقق. الهجين يدمج رتب المكوّنات لا درجاتها لأن مقاييسها غير قابلة للمقارنة، ويُقبل المكوّن بقاعدة مكتوبة سلفاً، وتُضاف أرضية للشخصنة كي يسأل H1 دائماً عن قيمة الشخصنة. GRU-lite يُقارَن بأقوى بديل غير عصبوني بعد ضبطه بإنصاف، وقد اجتاز فحص التدرج وبقية البوابات. تركيبة التطوير المجمَّدة: شعبية العنقود مع SKNN، ودخل SKNN بالأرضية لا بالقبول (تطوير — وصفي).</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ثلاث نقاط قطع عامة (اليوم 70 و126 و182)، والاختبار الأربعة عشر يوماً التالية، والتحقق الأربعة عشر يوماً التي تسبق القطع. التقييم على الكتالوج كاملاً لأن السوالب المعيَّنة قد تقلب ترتيب النماذج. التطوير على عروض 2013 التسعة، ثم تجميد التصميم وتشغيل تأكيدي واحد على عروض 2014 الثلاثة عشر. وحدة التحليل العرض، وفاصل bootstrap-t العنقودي، وقيمة p بقلب الإشارات الدقيق، وتصحيح هولم على أربع فرضيات رئيسية، وعتبة الأثر 0.02 نهائية لا تُراجع.</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المسار: تجميد ثم تشغيل واحد. لا يُوسم freeze-03 إلا باجتياز الشروط العشرة في results/frozen/freeze_checklist.md (الحالة الحية تُقرأ من الملف لا من الشريحة). بعد الوسم يُشغَّل المسار التأكيدي مرة واحدة على عروض 2014 بطورين: الطور الأول يولّد الأحكام ويُقفل بـ SHA-256، والثاني يبني الأشكال. الاستئناف مأذون بعد تعطل بيئي فقط، بعد التحقق من أن HEAD هو الوسم ومن البصمات المجمَّدة؛ يُسجَّل ولا يُعدّ تشغيلاً ثانياً. وأي خلل برمجي يُصلح بأصغر تعديل بموافقة المشرف كتابةً ثم وسم جديد وإعادة الطور الأول. قراءة معرّفات الطلاب في 2014 مقصورة على حذف المتداخلين من تدريب مصنِّفات الخطر على 2013، ولا تدخل التوصية ولا العنقدة ولا تحليل 2014.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الحد الفاصل الأهم أن serving.Engine هو المكان الوحيد الذي تُحسب فيه التوصية والتفسير والملف، فتعتمد عليه الواجهة والخدمة دون تكرار منطق. الإطار المتصل في المخطط موجود، والمتقطع مخطط حالياً. كل الشيفرة بـ numpy وpandas مع اختبار تحقق لكل تنفيذ.</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الواجهة تعمل بنمط إعادة التشغيل على بيانات تاريخية، وتنبّه شارة في أعلاها إلى ذلك. لكل بطاقة درجة الهجين وسبب مبسّط وحصص مساهمة المكوّنات، وزر «لماذا؟» يفتح التفسير. لا تُعرض للمتعلم أي درجة خطر. اللقطة توضيحية ولا يدخل الرسالة رقم منها؛ ولا دراسة مستخدمين لهذه الواجهة.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اللوحة تقدّم للمدرّس صورة مبكرة تبدأ من أول لقطة عناقيد عند اليوم 56، والقطوع المعروضة 56 و112. درجة الخطر نسبية غير معايَرة (من نموذج M1) وللمدرّس فقط، ولا تُعرض كاحتمال ولا كنسبة مئوية. تعرض النظرة العامة بطاقة «اتساع التوصيات» وصفاً بلا اسم مقياس، وقسم «تشخيص التجميع» بمؤشرات داخلية بلا تسميات يفسّر شارة عدم الاستقرار. الدرج يعرض عوامل الدرجة والملامح مقابل الوسيط؛ والمتعلم المعروض في اللقطة متوسط الدرجة. اللقطة توضيحية ولا يدخل الرسالة رقم منها.</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هذه أرقام تطوير على عروض 2013 لتثبيت التصميم، وهي وصفية لا اختبار للفرضيات. الشعبية الآنية (0.541) تتقدّم على معظم النماذج الشخصية، وSKNN (0.531) وGRU-lite (0.519) قريبان منها. الفرق بين SKNN والشعبية الآنية −0.010 وفاصله [−0.057، +0.024]. الهجين المجمَّد 0.561 ± 0.078، والفرق عن الشعبية الآنية +0.020 [−0.007، +0.042] وp = 0.12: لا يُستنتج منه شيء قبل التأكيد. وصفياً أيضاً: الربع الأقل تاريخاً Δ = +0.052 [+0.022، +0.133] للهجين مقابل SKNN وحده (استكشافي). B10 EASE مرجعي فقط.</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[2014: يُملأ من verdicts.csv بعد التشغيل التأكيدي.] الأحكام بالأسبقية وفق الجدولين 3-14 و3-15: مؤكَّدة، مدحوضة عكسياً، مدحوضة عملياً، غير حاسمة (وفي H3 أيضاً تكافؤ عملي وتأخر مؤكَّد). قيم MDE80 مجمَّدة قبل التشغيل من results/dev2013/mde80.md ولا قوة ملاحَظة من 2014. النتيجة السلبية نتيجة رئيسية مقبولة. H2-ب غير منطبقة بالبناء ولا تظهر. H4-ب استكشافية: المعالَجة الهجين المجمَّد والمقارِن SKNN وحده على الربع الأدنى تاريخاً؛ بلا حكم تأكيدي. للمرجع فقط (تطوير — وصفي): +0.052 [+0.022، +0.133].</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[2014: تُملأ من results/conf2014/ بصيغة PNG (تُحوَّل SVG عبر scripts/svg2png.py). في JSON: panel.image بمسار PNG فيحلّ محلّ المكان النائب.] التحليلات الثانوية مسجّلة مسبقاً ولا تغيّر حكم الفرضيات.</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[تُكتب بعد النتائج.] المحاور الأربعة مسجّلة سلفاً. سياسة النتيجة السلبية مكتوبة في الفصل الثالث: تفوّق الشعبية الآنية على الهجين، أو الجيران على GRU-lite، نتيجة رئيسية مقبولة.</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حدود الادعاء: الوصول المستقبلي وكيل للملاءمة لا للتعلم، والتعميم داخل المؤسسة نفسها، ولم تُدمج السمات الديموغرافية في أي نموذج. من العمل المستقبلي ما يعالج هذه القيود مباشرة. [يُراجع هذا القسم بعد النتائج التأكيدية إن ظهرت قيود إضافية.]</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الخاتمة: أربع مساهمات تجريبية ومنهجية. لا أدّعي ابتكار خوارزمية، بل اختبار أفكار قائمة اختباراً منضبطاً على سجلات تعليمية عامة. [الجملة الختامية عن نتيجة التأكيد تُستكمل في الجولة التالية.] سواء كانت النتيجة إيجابية أم سلبية، فهي تجيب عن سؤال تحتاجه أي منصة تعليمية: ما الذي يضيفه التخصيص فوق مواد الأسبوع الحالي؟</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أشكر اللجنة والمشرف، وأرحّب بالأسئلة. الشرائح الاحتياطية التالية تغطي الأسئلة المتوقعة: لماذا numpy فقط؟ لماذا لا CNN؟ ما الدلالة الإحصائية؟ ما حدود التعميم؟</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الجواب الموثّق: قرار منهجي مبرَّر بقيد بيئي وبديل معلن. استُبعدت الـCNN لسببين: مرجعها غير قابل للتكرار، وغياب بنية محلية في سلال الأيام. الشبكة العصبونية المتكررة ممثَّلة بـ GRU-lite، وقد اجتازت حزمة صحة قبل أي تقييم.</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القاعدة مسجّلة قبل رؤية نتائج 2014 وتُطبَّق آلياً بالأسبقية. الفواصل على 9 عروض في التطوير وصفية فقط. الفاصل المعيَّر يغطي نحو 95% عند 13 وحدة مقابل نحو 92% للمئيني. أصغر p ممكنة نحو 0.00024. والنماذج العشوائية تُقرَّر بخمس بذور. قيم MDE80 من results/dev2013/mde80.md؛ تُلحق بـ«غير حاسمة» عبارة: لا يكشف التصميم بقوة 80% أثراً أصغر من MDE80.</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الحدود معلنة في الفصل الأول (1-5) وتُناقَش في الفصل السادس. القيمة المنهجية للبروتوكول قابلة للنقل حتى لو لم تنتقل الأرقام.</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4E4A"/>
        </a:solidFill>
        <a:effectLst/>
      </p:bgPr>
    </p:bg>
    <p:spTree>
      <p:nvGrpSpPr>
        <p:cNvPr id="1" name=""/>
        <p:cNvGrpSpPr/>
        <p:nvPr/>
      </p:nvGrpSpPr>
      <p:grpSpPr/>
      <p:sp>
        <p:nvSpPr>
          <p:cNvPr id="2" name="زخرفة"/>
          <p:cNvSpPr/>
          <p:nvPr/>
        </p:nvSpPr>
        <p:spPr>
          <a:xfrm>
            <a:off x="-2011680" y="3108960"/>
            <a:ext cx="5669280" cy="5669280"/>
          </a:xfrm>
          <a:prstGeom prst="ellipse">
            <a:avLst/>
          </a:prstGeom>
          <a:solidFill>
            <a:srgbClr val="115E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زخرفة"/>
          <p:cNvSpPr/>
          <p:nvPr/>
        </p:nvSpPr>
        <p:spPr>
          <a:xfrm>
            <a:off x="274320" y="-1463040"/>
            <a:ext cx="3291840" cy="329184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زخرفة"/>
          <p:cNvSpPr/>
          <p:nvPr/>
        </p:nvSpPr>
        <p:spPr>
          <a:xfrm>
            <a:off x="-548640" y="5120640"/>
            <a:ext cx="2377440" cy="237744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شعار الجامعة"/>
          <p:cNvSpPr/>
          <p:nvPr/>
        </p:nvSpPr>
        <p:spPr>
          <a:xfrm>
            <a:off x="10774375" y="502920"/>
            <a:ext cx="868680" cy="38404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134E4A"/>
                </a:solidFill>
                <a:latin typeface="Arial"/>
                <a:cs typeface="Arial"/>
              </a:rPr>
              <a:t>SVU</a:t>
            </a:r>
          </a:p>
        </p:txBody>
      </p:sp>
      <p:sp>
        <p:nvSpPr>
          <p:cNvPr id="6" name="اسم الجامعة"/>
          <p:cNvSpPr txBox="1"/>
          <p:nvPr/>
        </p:nvSpPr>
        <p:spPr>
          <a:xfrm>
            <a:off x="5653735" y="502920"/>
            <a:ext cx="5029200" cy="384048"/>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2000" b="1" i="0" lang="ar-SA">
                <a:solidFill>
                  <a:srgbClr val="FFFFFF"/>
                </a:solidFill>
                <a:latin typeface="Arial"/>
                <a:cs typeface="Arial"/>
              </a:rPr>
              <a:t>الجامعة الافتراضية السورية</a:t>
            </a:r>
          </a:p>
        </p:txBody>
      </p:sp>
      <p:sp>
        <p:nvSpPr>
          <p:cNvPr id="7" name="نوع الرسالة"/>
          <p:cNvSpPr/>
          <p:nvPr/>
        </p:nvSpPr>
        <p:spPr>
          <a:xfrm>
            <a:off x="8168335" y="1600200"/>
            <a:ext cx="3474720" cy="411480"/>
          </a:xfrm>
          <a:prstGeom prst="roundRect">
            <a:avLst>
              <a:gd name="adj" fmla="val 50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رسالة ماجستير في علوم الوب</a:t>
            </a:r>
          </a:p>
        </p:txBody>
      </p:sp>
      <p:sp>
        <p:nvSpPr>
          <p:cNvPr id="8" name="العنوان"/>
          <p:cNvSpPr txBox="1"/>
          <p:nvPr/>
        </p:nvSpPr>
        <p:spPr>
          <a:xfrm>
            <a:off x="3474720" y="2148840"/>
            <a:ext cx="8168335" cy="210312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4000" b="1" i="0" lang="ar-SA">
                <a:solidFill>
                  <a:srgbClr val="FFFFFF"/>
                </a:solidFill>
                <a:latin typeface="Arial"/>
                <a:cs typeface="Arial"/>
              </a:rPr>
              <a:t>نظام توصية للتعليم الإلكتروني القائم على تحليل سلوك المستخدم</a:t>
            </a:r>
          </a:p>
        </p:txBody>
      </p:sp>
      <p:sp>
        <p:nvSpPr>
          <p:cNvPr id="9" name="بيانات الرسالة"/>
          <p:cNvSpPr txBox="1"/>
          <p:nvPr/>
        </p:nvSpPr>
        <p:spPr>
          <a:xfrm>
            <a:off x="3474720" y="4434840"/>
            <a:ext cx="8168335" cy="1463040"/>
          </a:xfrm>
          <a:prstGeom prst="rect">
            <a:avLst/>
          </a:prstGeom>
          <a:noFill/>
        </p:spPr>
        <p:txBody>
          <a:bodyPr wrap="square" lIns="45720" rIns="45720" tIns="27432" bIns="27432" anchor="t">
            <a:spAutoFit/>
          </a:bodyPr>
          <a:lstStyle/>
          <a:p>
            <a:pPr rtl="1" algn="r">
              <a:lnSpc>
                <a:spcPct val="120000"/>
              </a:lnSpc>
              <a:spcBef>
                <a:spcPts val="0"/>
              </a:spcBef>
              <a:spcAft>
                <a:spcPts val="400"/>
              </a:spcAft>
            </a:pPr>
            <a:r>
              <a:rPr sz="2200" b="0" i="0" lang="ar-SA">
                <a:solidFill>
                  <a:srgbClr val="CCFBF1"/>
                </a:solidFill>
                <a:latin typeface="Arial"/>
                <a:cs typeface="Arial"/>
              </a:rPr>
              <a:t>الطالب: كنان محمد قرحالي</a:t>
            </a:r>
          </a:p>
          <a:p>
            <a:pPr rtl="1" algn="r">
              <a:lnSpc>
                <a:spcPct val="120000"/>
              </a:lnSpc>
              <a:spcBef>
                <a:spcPts val="0"/>
              </a:spcBef>
              <a:spcAft>
                <a:spcPts val="400"/>
              </a:spcAft>
            </a:pPr>
            <a:r>
              <a:rPr sz="2200" b="0" i="0" lang="ar-SA">
                <a:solidFill>
                  <a:srgbClr val="CCFBF1"/>
                </a:solidFill>
                <a:latin typeface="Arial"/>
                <a:cs typeface="Arial"/>
              </a:rPr>
              <a:t>إشراف: د. باسل الخطيب</a:t>
            </a:r>
          </a:p>
          <a:p>
            <a:pPr rtl="1" algn="r">
              <a:lnSpc>
                <a:spcPct val="120000"/>
              </a:lnSpc>
              <a:spcBef>
                <a:spcPts val="0"/>
              </a:spcBef>
              <a:spcAft>
                <a:spcPts val="400"/>
              </a:spcAft>
            </a:pPr>
            <a:r>
              <a:rPr sz="2200" b="0" i="0" lang="ar-SA">
                <a:solidFill>
                  <a:srgbClr val="CCFBF1"/>
                </a:solidFill>
                <a:latin typeface="Arial"/>
                <a:cs typeface="Arial"/>
              </a:rPr>
              <a:t>الجامعة الافتراضية السورية</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جدول الأعمال</a:t>
            </a:r>
          </a:p>
        </p:txBody>
      </p:sp>
      <p:sp>
        <p:nvSpPr>
          <p:cNvPr id="3" name="بطاقة"/>
          <p:cNvSpPr/>
          <p:nvPr/>
        </p:nvSpPr>
        <p:spPr>
          <a:xfrm>
            <a:off x="9075191" y="1463040"/>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رقم"/>
          <p:cNvSpPr/>
          <p:nvPr/>
        </p:nvSpPr>
        <p:spPr>
          <a:xfrm>
            <a:off x="10957255"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5" name="TextBox 4"/>
          <p:cNvSpPr txBox="1"/>
          <p:nvPr/>
        </p:nvSpPr>
        <p:spPr>
          <a:xfrm>
            <a:off x="9212351" y="1572768"/>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المشكلة والهدف</a:t>
            </a:r>
          </a:p>
        </p:txBody>
      </p:sp>
      <p:sp>
        <p:nvSpPr>
          <p:cNvPr id="6" name="TextBox 5"/>
          <p:cNvSpPr txBox="1"/>
          <p:nvPr/>
        </p:nvSpPr>
        <p:spPr>
          <a:xfrm>
            <a:off x="9212351" y="2331720"/>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السؤال وأسئلة البحث</a:t>
            </a:r>
          </a:p>
        </p:txBody>
      </p:sp>
      <p:sp>
        <p:nvSpPr>
          <p:cNvPr id="7" name="بطاقة"/>
          <p:cNvSpPr/>
          <p:nvPr/>
        </p:nvSpPr>
        <p:spPr>
          <a:xfrm>
            <a:off x="6233007" y="1463040"/>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رقم"/>
          <p:cNvSpPr/>
          <p:nvPr/>
        </p:nvSpPr>
        <p:spPr>
          <a:xfrm>
            <a:off x="8115071"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9" name="TextBox 8"/>
          <p:cNvSpPr txBox="1"/>
          <p:nvPr/>
        </p:nvSpPr>
        <p:spPr>
          <a:xfrm>
            <a:off x="6370167" y="1572768"/>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الأدبيات والفجوة</a:t>
            </a:r>
          </a:p>
        </p:txBody>
      </p:sp>
      <p:sp>
        <p:nvSpPr>
          <p:cNvPr id="10" name="TextBox 9"/>
          <p:cNvSpPr txBox="1"/>
          <p:nvPr/>
        </p:nvSpPr>
        <p:spPr>
          <a:xfrm>
            <a:off x="6370167" y="2331720"/>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ما قيل وما لم يُختبر</a:t>
            </a:r>
          </a:p>
        </p:txBody>
      </p:sp>
      <p:sp>
        <p:nvSpPr>
          <p:cNvPr id="11" name="بطاقة"/>
          <p:cNvSpPr/>
          <p:nvPr/>
        </p:nvSpPr>
        <p:spPr>
          <a:xfrm>
            <a:off x="3390823" y="1463040"/>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رقم"/>
          <p:cNvSpPr/>
          <p:nvPr/>
        </p:nvSpPr>
        <p:spPr>
          <a:xfrm>
            <a:off x="5272887"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3" name="TextBox 12"/>
          <p:cNvSpPr txBox="1"/>
          <p:nvPr/>
        </p:nvSpPr>
        <p:spPr>
          <a:xfrm>
            <a:off x="3527983" y="1572768"/>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البيانات والسلوك</a:t>
            </a:r>
          </a:p>
        </p:txBody>
      </p:sp>
      <p:sp>
        <p:nvSpPr>
          <p:cNvPr id="14" name="TextBox 13"/>
          <p:cNvSpPr txBox="1"/>
          <p:nvPr/>
        </p:nvSpPr>
        <p:spPr>
          <a:xfrm>
            <a:off x="3527983" y="2331720"/>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OULAD والإشارات</a:t>
            </a:r>
          </a:p>
        </p:txBody>
      </p:sp>
      <p:sp>
        <p:nvSpPr>
          <p:cNvPr id="15" name="بطاقة"/>
          <p:cNvSpPr/>
          <p:nvPr/>
        </p:nvSpPr>
        <p:spPr>
          <a:xfrm>
            <a:off x="548640" y="1463040"/>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رقم"/>
          <p:cNvSpPr/>
          <p:nvPr/>
        </p:nvSpPr>
        <p:spPr>
          <a:xfrm>
            <a:off x="2430703"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4</a:t>
            </a:r>
          </a:p>
        </p:txBody>
      </p:sp>
      <p:sp>
        <p:nvSpPr>
          <p:cNvPr id="17" name="TextBox 16"/>
          <p:cNvSpPr txBox="1"/>
          <p:nvPr/>
        </p:nvSpPr>
        <p:spPr>
          <a:xfrm>
            <a:off x="685800" y="1572768"/>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الخوارزميات والبروتوكول</a:t>
            </a:r>
          </a:p>
        </p:txBody>
      </p:sp>
      <p:sp>
        <p:nvSpPr>
          <p:cNvPr id="18" name="TextBox 17"/>
          <p:cNvSpPr txBox="1"/>
          <p:nvPr/>
        </p:nvSpPr>
        <p:spPr>
          <a:xfrm>
            <a:off x="685800" y="2331720"/>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النماذج وخطة التقييم</a:t>
            </a:r>
          </a:p>
        </p:txBody>
      </p:sp>
      <p:sp>
        <p:nvSpPr>
          <p:cNvPr id="19" name="بطاقة"/>
          <p:cNvSpPr/>
          <p:nvPr/>
        </p:nvSpPr>
        <p:spPr>
          <a:xfrm>
            <a:off x="9075191" y="3840479"/>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رقم"/>
          <p:cNvSpPr/>
          <p:nvPr/>
        </p:nvSpPr>
        <p:spPr>
          <a:xfrm>
            <a:off x="10957255" y="4023359"/>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5</a:t>
            </a:r>
          </a:p>
        </p:txBody>
      </p:sp>
      <p:sp>
        <p:nvSpPr>
          <p:cNvPr id="21" name="TextBox 20"/>
          <p:cNvSpPr txBox="1"/>
          <p:nvPr/>
        </p:nvSpPr>
        <p:spPr>
          <a:xfrm>
            <a:off x="9212351" y="3950207"/>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النظام والواجهة</a:t>
            </a:r>
          </a:p>
        </p:txBody>
      </p:sp>
      <p:sp>
        <p:nvSpPr>
          <p:cNvPr id="22" name="TextBox 21"/>
          <p:cNvSpPr txBox="1"/>
          <p:nvPr/>
        </p:nvSpPr>
        <p:spPr>
          <a:xfrm>
            <a:off x="9212351" y="4709159"/>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المعمارية والمتعلم والمدرّس</a:t>
            </a:r>
          </a:p>
        </p:txBody>
      </p:sp>
      <p:sp>
        <p:nvSpPr>
          <p:cNvPr id="23" name="بطاقة"/>
          <p:cNvSpPr/>
          <p:nvPr/>
        </p:nvSpPr>
        <p:spPr>
          <a:xfrm>
            <a:off x="6233007" y="3840479"/>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رقم"/>
          <p:cNvSpPr/>
          <p:nvPr/>
        </p:nvSpPr>
        <p:spPr>
          <a:xfrm>
            <a:off x="8115071" y="4023359"/>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6</a:t>
            </a:r>
          </a:p>
        </p:txBody>
      </p:sp>
      <p:sp>
        <p:nvSpPr>
          <p:cNvPr id="25" name="TextBox 24"/>
          <p:cNvSpPr txBox="1"/>
          <p:nvPr/>
        </p:nvSpPr>
        <p:spPr>
          <a:xfrm>
            <a:off x="6370167" y="3950207"/>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النتائج والمناقشة</a:t>
            </a:r>
          </a:p>
        </p:txBody>
      </p:sp>
      <p:sp>
        <p:nvSpPr>
          <p:cNvPr id="26" name="TextBox 25"/>
          <p:cNvSpPr txBox="1"/>
          <p:nvPr/>
        </p:nvSpPr>
        <p:spPr>
          <a:xfrm>
            <a:off x="6370167" y="4709159"/>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التطوير ثم التأكيد</a:t>
            </a:r>
          </a:p>
        </p:txBody>
      </p:sp>
      <p:sp>
        <p:nvSpPr>
          <p:cNvPr id="27" name="بطاقة"/>
          <p:cNvSpPr/>
          <p:nvPr/>
        </p:nvSpPr>
        <p:spPr>
          <a:xfrm>
            <a:off x="3390823" y="3840479"/>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رقم"/>
          <p:cNvSpPr/>
          <p:nvPr/>
        </p:nvSpPr>
        <p:spPr>
          <a:xfrm>
            <a:off x="5272887" y="4023359"/>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7</a:t>
            </a:r>
          </a:p>
        </p:txBody>
      </p:sp>
      <p:sp>
        <p:nvSpPr>
          <p:cNvPr id="29" name="TextBox 28"/>
          <p:cNvSpPr txBox="1"/>
          <p:nvPr/>
        </p:nvSpPr>
        <p:spPr>
          <a:xfrm>
            <a:off x="3527983" y="3950207"/>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القيود والمستقبل</a:t>
            </a:r>
          </a:p>
        </p:txBody>
      </p:sp>
      <p:sp>
        <p:nvSpPr>
          <p:cNvPr id="30" name="TextBox 29"/>
          <p:cNvSpPr txBox="1"/>
          <p:nvPr/>
        </p:nvSpPr>
        <p:spPr>
          <a:xfrm>
            <a:off x="3527983" y="4709159"/>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حدود الادعاء</a:t>
            </a:r>
          </a:p>
        </p:txBody>
      </p:sp>
      <p:sp>
        <p:nvSpPr>
          <p:cNvPr id="31" name="بطاقة"/>
          <p:cNvSpPr/>
          <p:nvPr/>
        </p:nvSpPr>
        <p:spPr>
          <a:xfrm>
            <a:off x="548640" y="3840479"/>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رقم"/>
          <p:cNvSpPr/>
          <p:nvPr/>
        </p:nvSpPr>
        <p:spPr>
          <a:xfrm>
            <a:off x="2430703" y="4023359"/>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8</a:t>
            </a:r>
          </a:p>
        </p:txBody>
      </p:sp>
      <p:sp>
        <p:nvSpPr>
          <p:cNvPr id="33" name="TextBox 32"/>
          <p:cNvSpPr txBox="1"/>
          <p:nvPr/>
        </p:nvSpPr>
        <p:spPr>
          <a:xfrm>
            <a:off x="685800" y="3950207"/>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الخاتمة</a:t>
            </a:r>
          </a:p>
        </p:txBody>
      </p:sp>
      <p:sp>
        <p:nvSpPr>
          <p:cNvPr id="34" name="TextBox 33"/>
          <p:cNvSpPr txBox="1"/>
          <p:nvPr/>
        </p:nvSpPr>
        <p:spPr>
          <a:xfrm>
            <a:off x="685800" y="4709159"/>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المساهمات والأسئلة</a:t>
            </a:r>
          </a:p>
        </p:txBody>
      </p:sp>
      <p:sp>
        <p:nvSpPr>
          <p:cNvPr id="3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3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3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المشكلة: ماذا يضيف تحليل السلوك؟</a:t>
            </a:r>
          </a:p>
        </p:txBody>
      </p:sp>
      <p:sp>
        <p:nvSpPr>
          <p:cNvPr id="3" name="صف"/>
          <p:cNvSpPr/>
          <p:nvPr/>
        </p:nvSpPr>
        <p:spPr>
          <a:xfrm>
            <a:off x="548640" y="1463040"/>
            <a:ext cx="11094415" cy="993648"/>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رقم"/>
          <p:cNvSpPr/>
          <p:nvPr/>
        </p:nvSpPr>
        <p:spPr>
          <a:xfrm>
            <a:off x="10957255" y="1708404"/>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5" name="TextBox 4"/>
          <p:cNvSpPr txBox="1"/>
          <p:nvPr/>
        </p:nvSpPr>
        <p:spPr>
          <a:xfrm>
            <a:off x="777240" y="1463040"/>
            <a:ext cx="9905695" cy="993648"/>
          </a:xfrm>
          <a:prstGeom prst="rect">
            <a:avLst/>
          </a:prstGeom>
          <a:noFill/>
        </p:spPr>
        <p:txBody>
          <a:bodyPr wrap="square" lIns="45720" rIns="45720" tIns="27432" bIns="27432" anchor="ctr">
            <a:spAutoFit/>
          </a:bodyPr>
          <a:lstStyle/>
          <a:p>
            <a:pPr rtl="1" algn="r">
              <a:lnSpc>
                <a:spcPct val="110000"/>
              </a:lnSpc>
              <a:spcBef>
                <a:spcPts val="0"/>
              </a:spcBef>
              <a:spcAft>
                <a:spcPts val="0"/>
              </a:spcAft>
            </a:pPr>
            <a:r>
              <a:rPr sz="2400" b="0" i="0" lang="ar-SA">
                <a:solidFill>
                  <a:srgbClr val="134E4A"/>
                </a:solidFill>
                <a:latin typeface="Arial"/>
                <a:cs typeface="Arial"/>
              </a:rPr>
              <a:t>المتعلم عن بُعد أمام مئات الموارد، وبلا توجيه فوري من المدرّس</a:t>
            </a:r>
          </a:p>
        </p:txBody>
      </p:sp>
      <p:sp>
        <p:nvSpPr>
          <p:cNvPr id="6" name="صف"/>
          <p:cNvSpPr/>
          <p:nvPr/>
        </p:nvSpPr>
        <p:spPr>
          <a:xfrm>
            <a:off x="548640" y="2657856"/>
            <a:ext cx="11094415" cy="993648"/>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رقم"/>
          <p:cNvSpPr/>
          <p:nvPr/>
        </p:nvSpPr>
        <p:spPr>
          <a:xfrm>
            <a:off x="10957255" y="29032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8" name="TextBox 7"/>
          <p:cNvSpPr txBox="1"/>
          <p:nvPr/>
        </p:nvSpPr>
        <p:spPr>
          <a:xfrm>
            <a:off x="777240" y="2657856"/>
            <a:ext cx="9905695" cy="993648"/>
          </a:xfrm>
          <a:prstGeom prst="rect">
            <a:avLst/>
          </a:prstGeom>
          <a:noFill/>
        </p:spPr>
        <p:txBody>
          <a:bodyPr wrap="square" lIns="45720" rIns="45720" tIns="27432" bIns="27432" anchor="ctr">
            <a:spAutoFit/>
          </a:bodyPr>
          <a:lstStyle/>
          <a:p>
            <a:pPr rtl="1" algn="r">
              <a:lnSpc>
                <a:spcPct val="110000"/>
              </a:lnSpc>
              <a:spcBef>
                <a:spcPts val="0"/>
              </a:spcBef>
              <a:spcAft>
                <a:spcPts val="0"/>
              </a:spcAft>
            </a:pPr>
            <a:r>
              <a:rPr sz="2400" b="0" i="0" lang="ar-SA">
                <a:solidFill>
                  <a:srgbClr val="134E4A"/>
                </a:solidFill>
                <a:latin typeface="Arial"/>
                <a:cs typeface="Arial"/>
              </a:rPr>
              <a:t>المنصة تسجّل كل نقرة: الموارد والأيام والتسليمات</a:t>
            </a:r>
          </a:p>
        </p:txBody>
      </p:sp>
      <p:sp>
        <p:nvSpPr>
          <p:cNvPr id="9" name="صف"/>
          <p:cNvSpPr/>
          <p:nvPr/>
        </p:nvSpPr>
        <p:spPr>
          <a:xfrm>
            <a:off x="548640" y="3852672"/>
            <a:ext cx="11094415" cy="993648"/>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رقم"/>
          <p:cNvSpPr/>
          <p:nvPr/>
        </p:nvSpPr>
        <p:spPr>
          <a:xfrm>
            <a:off x="10957255" y="4098036"/>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1" name="TextBox 10"/>
          <p:cNvSpPr txBox="1"/>
          <p:nvPr/>
        </p:nvSpPr>
        <p:spPr>
          <a:xfrm>
            <a:off x="777240" y="3852672"/>
            <a:ext cx="9905695" cy="993648"/>
          </a:xfrm>
          <a:prstGeom prst="rect">
            <a:avLst/>
          </a:prstGeom>
          <a:noFill/>
        </p:spPr>
        <p:txBody>
          <a:bodyPr wrap="square" lIns="45720" rIns="45720" tIns="27432" bIns="27432" anchor="ctr">
            <a:spAutoFit/>
          </a:bodyPr>
          <a:lstStyle/>
          <a:p>
            <a:pPr rtl="1" algn="r">
              <a:lnSpc>
                <a:spcPct val="110000"/>
              </a:lnSpc>
              <a:spcBef>
                <a:spcPts val="0"/>
              </a:spcBef>
              <a:spcAft>
                <a:spcPts val="0"/>
              </a:spcAft>
            </a:pPr>
            <a:r>
              <a:rPr sz="2400" b="0" i="0" lang="ar-SA">
                <a:solidFill>
                  <a:srgbClr val="134E4A"/>
                </a:solidFill>
                <a:latin typeface="Arial"/>
                <a:cs typeface="Arial"/>
              </a:rPr>
              <a:t>الجدول الدراسي والشعبية والإعادات تقود معظم الوصول</a:t>
            </a:r>
          </a:p>
        </p:txBody>
      </p:sp>
      <p:sp>
        <p:nvSpPr>
          <p:cNvPr id="12" name="خلاصة"/>
          <p:cNvSpPr/>
          <p:nvPr/>
        </p:nvSpPr>
        <p:spPr>
          <a:xfrm>
            <a:off x="548640" y="5074920"/>
            <a:ext cx="11094415" cy="1051560"/>
          </a:xfrm>
          <a:prstGeom prst="roundRect">
            <a:avLst>
              <a:gd name="adj" fmla="val 12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 bIns="18288"/>
          <a:lstStyle/>
          <a:p>
            <a:pPr algn="r" rtl="1"/>
            <a:r>
              <a:rPr sz="2200" b="1" i="0" lang="ar-SA">
                <a:solidFill>
                  <a:srgbClr val="FFFFFF"/>
                </a:solidFill>
                <a:latin typeface="Arial"/>
                <a:cs typeface="Arial"/>
              </a:rPr>
              <a:t>هل يقترح نظام قائم على السلوك موارد جديدة بأفضل مما تقترحه الشعبية الآنية؟</a:t>
            </a:r>
          </a:p>
        </p:txBody>
      </p:sp>
      <p:sp>
        <p:nvSpPr>
          <p:cNvPr id="13"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4"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5"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الهدف وأسئلة البحث الأربعة</a:t>
            </a:r>
          </a:p>
        </p:txBody>
      </p:sp>
      <p:sp>
        <p:nvSpPr>
          <p:cNvPr id="3" name="TextBox 2"/>
          <p:cNvSpPr txBox="1"/>
          <p:nvPr/>
        </p:nvSpPr>
        <p:spPr>
          <a:xfrm>
            <a:off x="548640" y="1417320"/>
            <a:ext cx="11094415" cy="45720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2000" b="1" i="0" lang="ar-SA">
                <a:solidFill>
                  <a:srgbClr val="475569"/>
                </a:solidFill>
                <a:latin typeface="Arial"/>
                <a:cs typeface="Arial"/>
              </a:rPr>
              <a:t>الهدف: قياس ما يضيفه تحليل السلوك للتوصية ضمن بروتوكول زمني صارم</a:t>
            </a:r>
          </a:p>
        </p:txBody>
      </p:sp>
      <p:sp>
        <p:nvSpPr>
          <p:cNvPr id="4" name="بطاقة"/>
          <p:cNvSpPr/>
          <p:nvPr/>
        </p:nvSpPr>
        <p:spPr>
          <a:xfrm>
            <a:off x="6233007" y="201168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رقم"/>
          <p:cNvSpPr/>
          <p:nvPr/>
        </p:nvSpPr>
        <p:spPr>
          <a:xfrm>
            <a:off x="10682935" y="219456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RQ1</a:t>
            </a:r>
          </a:p>
        </p:txBody>
      </p:sp>
      <p:sp>
        <p:nvSpPr>
          <p:cNvPr id="6" name="TextBox 5"/>
          <p:cNvSpPr txBox="1"/>
          <p:nvPr/>
        </p:nvSpPr>
        <p:spPr>
          <a:xfrm>
            <a:off x="6370167" y="212140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الشخصنة فوق السياق الزمني</a:t>
            </a:r>
          </a:p>
        </p:txBody>
      </p:sp>
      <p:sp>
        <p:nvSpPr>
          <p:cNvPr id="7" name="TextBox 6"/>
          <p:cNvSpPr txBox="1"/>
          <p:nvPr/>
        </p:nvSpPr>
        <p:spPr>
          <a:xfrm>
            <a:off x="6370167" y="288036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هل يتفوق الهجين السلوكي على الشعبية الآنية في اكتشاف الموارد الجديدة؟</a:t>
            </a:r>
          </a:p>
        </p:txBody>
      </p:sp>
      <p:sp>
        <p:nvSpPr>
          <p:cNvPr id="8" name="بطاقة"/>
          <p:cNvSpPr/>
          <p:nvPr/>
        </p:nvSpPr>
        <p:spPr>
          <a:xfrm>
            <a:off x="548640" y="201168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رقم"/>
          <p:cNvSpPr/>
          <p:nvPr/>
        </p:nvSpPr>
        <p:spPr>
          <a:xfrm>
            <a:off x="4998567" y="219456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RQ2</a:t>
            </a:r>
          </a:p>
        </p:txBody>
      </p:sp>
      <p:sp>
        <p:nvSpPr>
          <p:cNvPr id="10" name="TextBox 9"/>
          <p:cNvSpPr txBox="1"/>
          <p:nvPr/>
        </p:nvSpPr>
        <p:spPr>
          <a:xfrm>
            <a:off x="685800" y="212140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قيمة ترجيح الإشارات</a:t>
            </a:r>
          </a:p>
        </p:txBody>
      </p:sp>
      <p:sp>
        <p:nvSpPr>
          <p:cNvPr id="11" name="TextBox 10"/>
          <p:cNvSpPr txBox="1"/>
          <p:nvPr/>
        </p:nvSpPr>
        <p:spPr>
          <a:xfrm>
            <a:off x="685800" y="288036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هل يحسّن ترجيح الأيام والحداثة والشدة الأداء مقارنة بالإشارة الثنائية؟</a:t>
            </a:r>
          </a:p>
        </p:txBody>
      </p:sp>
      <p:sp>
        <p:nvSpPr>
          <p:cNvPr id="12" name="بطاقة"/>
          <p:cNvSpPr/>
          <p:nvPr/>
        </p:nvSpPr>
        <p:spPr>
          <a:xfrm>
            <a:off x="6233007" y="422910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رقم"/>
          <p:cNvSpPr/>
          <p:nvPr/>
        </p:nvSpPr>
        <p:spPr>
          <a:xfrm>
            <a:off x="10682935" y="441198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RQ3</a:t>
            </a:r>
          </a:p>
        </p:txBody>
      </p:sp>
      <p:sp>
        <p:nvSpPr>
          <p:cNvPr id="14" name="TextBox 13"/>
          <p:cNvSpPr txBox="1"/>
          <p:nvPr/>
        </p:nvSpPr>
        <p:spPr>
          <a:xfrm>
            <a:off x="6370167" y="433882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التسلسل العصبوني</a:t>
            </a:r>
          </a:p>
        </p:txBody>
      </p:sp>
      <p:sp>
        <p:nvSpPr>
          <p:cNvPr id="15" name="TextBox 14"/>
          <p:cNvSpPr txBox="1"/>
          <p:nvPr/>
        </p:nvSpPr>
        <p:spPr>
          <a:xfrm>
            <a:off x="6370167" y="509778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هل يتفوق GRU-lite على أفضل بديل تسلسلي غير عصبوني؟</a:t>
            </a:r>
          </a:p>
        </p:txBody>
      </p:sp>
      <p:sp>
        <p:nvSpPr>
          <p:cNvPr id="16" name="بطاقة"/>
          <p:cNvSpPr/>
          <p:nvPr/>
        </p:nvSpPr>
        <p:spPr>
          <a:xfrm>
            <a:off x="548640" y="422910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رقم"/>
          <p:cNvSpPr/>
          <p:nvPr/>
        </p:nvSpPr>
        <p:spPr>
          <a:xfrm>
            <a:off x="4998567" y="441198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RQ4</a:t>
            </a:r>
          </a:p>
        </p:txBody>
      </p:sp>
      <p:sp>
        <p:nvSpPr>
          <p:cNvPr id="18" name="TextBox 17"/>
          <p:cNvSpPr txBox="1"/>
          <p:nvPr/>
        </p:nvSpPr>
        <p:spPr>
          <a:xfrm>
            <a:off x="685800" y="433882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تحليل المتعلمين</a:t>
            </a:r>
          </a:p>
        </p:txBody>
      </p:sp>
      <p:sp>
        <p:nvSpPr>
          <p:cNvPr id="19" name="TextBox 18"/>
          <p:cNvSpPr txBox="1"/>
          <p:nvPr/>
        </p:nvSpPr>
        <p:spPr>
          <a:xfrm>
            <a:off x="685800" y="509778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هل تتنبأ ملامح السلوك المبكرة بالخطر أفضل من مجموع النقرات؟</a:t>
            </a:r>
          </a:p>
        </p:txBody>
      </p:sp>
      <p:sp>
        <p:nvSpPr>
          <p:cNvPr id="20"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21"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22"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ماذا تقول الأدبيات؟ وأين الفجوة؟</a:t>
            </a:r>
          </a:p>
        </p:txBody>
      </p:sp>
      <p:sp>
        <p:nvSpPr>
          <p:cNvPr id="3" name="بطاقة"/>
          <p:cNvSpPr/>
          <p:nvPr/>
        </p:nvSpPr>
        <p:spPr>
          <a:xfrm>
            <a:off x="8127796" y="1463040"/>
            <a:ext cx="3515258" cy="27432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رقم"/>
          <p:cNvSpPr/>
          <p:nvPr/>
        </p:nvSpPr>
        <p:spPr>
          <a:xfrm>
            <a:off x="10957255"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5" name="TextBox 4"/>
          <p:cNvSpPr txBox="1"/>
          <p:nvPr/>
        </p:nvSpPr>
        <p:spPr>
          <a:xfrm>
            <a:off x="8264956" y="1572768"/>
            <a:ext cx="2600858"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البساطة تنافس</a:t>
            </a:r>
          </a:p>
        </p:txBody>
      </p:sp>
      <p:sp>
        <p:nvSpPr>
          <p:cNvPr id="6" name="TextBox 5"/>
          <p:cNvSpPr txBox="1"/>
          <p:nvPr/>
        </p:nvSpPr>
        <p:spPr>
          <a:xfrm>
            <a:off x="8264956" y="2331720"/>
            <a:ext cx="3240938" cy="17830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الخطوط غير الشخصية قوية، والتعقيد لا يضمن التحسن</a:t>
            </a:r>
          </a:p>
        </p:txBody>
      </p:sp>
      <p:sp>
        <p:nvSpPr>
          <p:cNvPr id="7" name="بطاقة"/>
          <p:cNvSpPr/>
          <p:nvPr/>
        </p:nvSpPr>
        <p:spPr>
          <a:xfrm>
            <a:off x="4338218" y="1463040"/>
            <a:ext cx="3515258" cy="27432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رقم"/>
          <p:cNvSpPr/>
          <p:nvPr/>
        </p:nvSpPr>
        <p:spPr>
          <a:xfrm>
            <a:off x="7167676"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9" name="TextBox 8"/>
          <p:cNvSpPr txBox="1"/>
          <p:nvPr/>
        </p:nvSpPr>
        <p:spPr>
          <a:xfrm>
            <a:off x="4475378" y="1572768"/>
            <a:ext cx="2600858"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الترجيح لم يُختبر</a:t>
            </a:r>
          </a:p>
        </p:txBody>
      </p:sp>
      <p:sp>
        <p:nvSpPr>
          <p:cNvPr id="10" name="TextBox 9"/>
          <p:cNvSpPr txBox="1"/>
          <p:nvPr/>
        </p:nvSpPr>
        <p:spPr>
          <a:xfrm>
            <a:off x="4475378" y="2331720"/>
            <a:ext cx="3240938" cy="17830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ترجيح الإشارات الضمنية مقترح دون استئصال مضبوط</a:t>
            </a:r>
          </a:p>
        </p:txBody>
      </p:sp>
      <p:sp>
        <p:nvSpPr>
          <p:cNvPr id="11" name="بطاقة"/>
          <p:cNvSpPr/>
          <p:nvPr/>
        </p:nvSpPr>
        <p:spPr>
          <a:xfrm>
            <a:off x="548639" y="1463040"/>
            <a:ext cx="3515258" cy="27432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رقم"/>
          <p:cNvSpPr/>
          <p:nvPr/>
        </p:nvSpPr>
        <p:spPr>
          <a:xfrm>
            <a:off x="3378098"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3" name="TextBox 12"/>
          <p:cNvSpPr txBox="1"/>
          <p:nvPr/>
        </p:nvSpPr>
        <p:spPr>
          <a:xfrm>
            <a:off x="685799" y="1572768"/>
            <a:ext cx="2600858"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الأرقام تتبع البروتوكول</a:t>
            </a:r>
          </a:p>
        </p:txBody>
      </p:sp>
      <p:sp>
        <p:nvSpPr>
          <p:cNvPr id="14" name="TextBox 13"/>
          <p:cNvSpPr txBox="1"/>
          <p:nvPr/>
        </p:nvSpPr>
        <p:spPr>
          <a:xfrm>
            <a:off x="685799" y="2331720"/>
            <a:ext cx="3240938" cy="17830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التقسيم العشوائي والسوالب المعيَّنة تضخّم المقاييس</a:t>
            </a:r>
          </a:p>
        </p:txBody>
      </p:sp>
      <p:sp>
        <p:nvSpPr>
          <p:cNvPr id="15" name="خلاصة"/>
          <p:cNvSpPr/>
          <p:nvPr/>
        </p:nvSpPr>
        <p:spPr>
          <a:xfrm>
            <a:off x="548640" y="4572000"/>
            <a:ext cx="11094415" cy="1005840"/>
          </a:xfrm>
          <a:prstGeom prst="roundRect">
            <a:avLst>
              <a:gd name="adj" fmla="val 12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 bIns="18288"/>
          <a:lstStyle/>
          <a:p>
            <a:pPr algn="r" rtl="1"/>
            <a:r>
              <a:rPr sz="2200" b="1" i="0" lang="ar-SA">
                <a:solidFill>
                  <a:srgbClr val="FFFFFF"/>
                </a:solidFill>
                <a:latin typeface="Arial"/>
                <a:cs typeface="Arial"/>
              </a:rPr>
              <a:t>الفجوة: لا اختبار استئصالياً مضبوطاً لترجيح الإشارات السلوكية على سجلات تعليمية عامة، بتقسيم زمني وكتالوج كامل</a:t>
            </a:r>
          </a:p>
        </p:txBody>
      </p:sp>
      <p:sp>
        <p:nvSpPr>
          <p:cNvPr id="16"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7"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8"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البيانات: OULAD، والاستعمال متركّز</a:t>
            </a:r>
          </a:p>
        </p:txBody>
      </p:sp>
      <p:sp>
        <p:nvSpPr>
          <p:cNvPr id="3" name="بطاقة رقم"/>
          <p:cNvSpPr/>
          <p:nvPr/>
        </p:nvSpPr>
        <p:spPr>
          <a:xfrm>
            <a:off x="8127796" y="1463040"/>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رقم كبير"/>
          <p:cNvSpPr txBox="1"/>
          <p:nvPr/>
        </p:nvSpPr>
        <p:spPr>
          <a:xfrm>
            <a:off x="8219236" y="1627632"/>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‎13,529‎</a:t>
            </a:r>
          </a:p>
        </p:txBody>
      </p:sp>
      <p:sp>
        <p:nvSpPr>
          <p:cNvPr id="5" name="TextBox 4"/>
          <p:cNvSpPr txBox="1"/>
          <p:nvPr/>
        </p:nvSpPr>
        <p:spPr>
          <a:xfrm>
            <a:off x="8310676" y="2481453"/>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تسجيلاً في 9 عروض تطوير (2013)</a:t>
            </a:r>
          </a:p>
        </p:txBody>
      </p:sp>
      <p:sp>
        <p:nvSpPr>
          <p:cNvPr id="6" name="بطاقة رقم"/>
          <p:cNvSpPr/>
          <p:nvPr/>
        </p:nvSpPr>
        <p:spPr>
          <a:xfrm>
            <a:off x="4338218" y="1463040"/>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رقم كبير"/>
          <p:cNvSpPr txBox="1"/>
          <p:nvPr/>
        </p:nvSpPr>
        <p:spPr>
          <a:xfrm>
            <a:off x="4429658" y="1627632"/>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‎96–444‎</a:t>
            </a:r>
          </a:p>
        </p:txBody>
      </p:sp>
      <p:sp>
        <p:nvSpPr>
          <p:cNvPr id="8" name="TextBox 7"/>
          <p:cNvSpPr txBox="1"/>
          <p:nvPr/>
        </p:nvSpPr>
        <p:spPr>
          <a:xfrm>
            <a:off x="4521098" y="2481453"/>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مورداً غير تنقلي لكل عرض</a:t>
            </a:r>
          </a:p>
        </p:txBody>
      </p:sp>
      <p:sp>
        <p:nvSpPr>
          <p:cNvPr id="9" name="بطاقة رقم"/>
          <p:cNvSpPr/>
          <p:nvPr/>
        </p:nvSpPr>
        <p:spPr>
          <a:xfrm>
            <a:off x="548639" y="1463040"/>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رقم كبير"/>
          <p:cNvSpPr txBox="1"/>
          <p:nvPr/>
        </p:nvSpPr>
        <p:spPr>
          <a:xfrm>
            <a:off x="640079" y="1627632"/>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‎28%‎</a:t>
            </a:r>
          </a:p>
        </p:txBody>
      </p:sp>
      <p:sp>
        <p:nvSpPr>
          <p:cNvPr id="11" name="TextBox 10"/>
          <p:cNvSpPr txBox="1"/>
          <p:nvPr/>
        </p:nvSpPr>
        <p:spPr>
          <a:xfrm>
            <a:off x="731519" y="2481453"/>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حصة نقرات التنقل (مرجّحة بالنقرات)</a:t>
            </a:r>
          </a:p>
        </p:txBody>
      </p:sp>
      <p:sp>
        <p:nvSpPr>
          <p:cNvPr id="12" name="بطاقة رقم"/>
          <p:cNvSpPr/>
          <p:nvPr/>
        </p:nvSpPr>
        <p:spPr>
          <a:xfrm>
            <a:off x="8127796" y="3634739"/>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رقم كبير"/>
          <p:cNvSpPr txBox="1"/>
          <p:nvPr/>
        </p:nvSpPr>
        <p:spPr>
          <a:xfrm>
            <a:off x="8219236" y="3799331"/>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‎41%–86%‎</a:t>
            </a:r>
          </a:p>
        </p:txBody>
      </p:sp>
      <p:sp>
        <p:nvSpPr>
          <p:cNvPr id="14" name="TextBox 13"/>
          <p:cNvSpPr txBox="1"/>
          <p:nvPr/>
        </p:nvSpPr>
        <p:spPr>
          <a:xfrm>
            <a:off x="8310676" y="4653152"/>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حصة أعلى 20% من الموارد من أزواج الوصول</a:t>
            </a:r>
          </a:p>
        </p:txBody>
      </p:sp>
      <p:sp>
        <p:nvSpPr>
          <p:cNvPr id="15" name="بطاقة رقم"/>
          <p:cNvSpPr/>
          <p:nvPr/>
        </p:nvSpPr>
        <p:spPr>
          <a:xfrm>
            <a:off x="4338218" y="3634739"/>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رقم كبير"/>
          <p:cNvSpPr txBox="1"/>
          <p:nvPr/>
        </p:nvSpPr>
        <p:spPr>
          <a:xfrm>
            <a:off x="4429658" y="3799331"/>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‎56%–59%‎</a:t>
            </a:r>
          </a:p>
        </p:txBody>
      </p:sp>
      <p:sp>
        <p:nvSpPr>
          <p:cNvPr id="17" name="TextBox 16"/>
          <p:cNvSpPr txBox="1"/>
          <p:nvPr/>
        </p:nvSpPr>
        <p:spPr>
          <a:xfrm>
            <a:off x="4521098" y="4653152"/>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حصة الإعادات في نوافذ الاختبار (متوسط العروض)</a:t>
            </a:r>
          </a:p>
        </p:txBody>
      </p:sp>
      <p:sp>
        <p:nvSpPr>
          <p:cNvPr id="18" name="بطاقة رقم"/>
          <p:cNvSpPr/>
          <p:nvPr/>
        </p:nvSpPr>
        <p:spPr>
          <a:xfrm>
            <a:off x="548639" y="3634739"/>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رقم كبير"/>
          <p:cNvSpPr txBox="1"/>
          <p:nvPr/>
        </p:nvSpPr>
        <p:spPr>
          <a:xfrm>
            <a:off x="640079" y="3799331"/>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‎10%–42%‎</a:t>
            </a:r>
          </a:p>
        </p:txBody>
      </p:sp>
      <p:sp>
        <p:nvSpPr>
          <p:cNvPr id="20" name="TextBox 19"/>
          <p:cNvSpPr txBox="1"/>
          <p:nvPr/>
        </p:nvSpPr>
        <p:spPr>
          <a:xfrm>
            <a:off x="731519" y="4653152"/>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كثافة مصفوفة المتعلمين × الموارد</a:t>
            </a:r>
          </a:p>
        </p:txBody>
      </p:sp>
      <p:sp>
        <p:nvSpPr>
          <p:cNvPr id="21" name="TextBox 20"/>
          <p:cNvSpPr txBox="1"/>
          <p:nvPr/>
        </p:nvSpPr>
        <p:spPr>
          <a:xfrm>
            <a:off x="548640" y="5605272"/>
            <a:ext cx="11094415" cy="54864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400" b="0" i="0" lang="ar-SA">
                <a:solidFill>
                  <a:srgbClr val="475569"/>
                </a:solidFill>
                <a:latin typeface="Arial"/>
                <a:cs typeface="Arial"/>
              </a:rPr>
              <a:t>مجموعة OULAD: 7 مقررات و22 عرضاً، 32,593 تسجيلاً، ترخيص CC BY 4.0؛ عروض 2014 (13 عرضاً) محجوزة للتأكيد</a:t>
            </a:r>
          </a:p>
        </p:txBody>
      </p:sp>
      <p:sp>
        <p:nvSpPr>
          <p:cNvPr id="22"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23"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24"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تمثيل السلوك: سلة اليوم وعائلة الإشارات</a:t>
            </a:r>
          </a:p>
        </p:txBody>
      </p:sp>
      <p:sp>
        <p:nvSpPr>
          <p:cNvPr id="3" name="TextBox 2"/>
          <p:cNvSpPr txBox="1"/>
          <p:nvPr/>
        </p:nvSpPr>
        <p:spPr>
          <a:xfrm>
            <a:off x="548640" y="1463040"/>
            <a:ext cx="11094415" cy="36576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700" b="1" i="0" lang="ar-SA">
                <a:solidFill>
                  <a:srgbClr val="92400E"/>
                </a:solidFill>
                <a:latin typeface="Arial"/>
                <a:cs typeface="Arial"/>
              </a:rPr>
              <a:t>من السجل إلى التسلسل</a:t>
            </a:r>
          </a:p>
        </p:txBody>
      </p:sp>
      <p:sp>
        <p:nvSpPr>
          <p:cNvPr id="4" name="خطوة"/>
          <p:cNvSpPr/>
          <p:nvPr/>
        </p:nvSpPr>
        <p:spPr>
          <a:xfrm>
            <a:off x="8298484" y="1828800"/>
            <a:ext cx="3344570"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389924" y="1920240"/>
            <a:ext cx="3161690"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نقرات يومية</a:t>
            </a:r>
          </a:p>
        </p:txBody>
      </p:sp>
      <p:sp>
        <p:nvSpPr>
          <p:cNvPr id="6" name="TextBox 5"/>
          <p:cNvSpPr txBox="1"/>
          <p:nvPr/>
        </p:nvSpPr>
        <p:spPr>
          <a:xfrm>
            <a:off x="8389924" y="2425446"/>
            <a:ext cx="3161690"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متعلم × مورد × يوم</a:t>
            </a:r>
          </a:p>
        </p:txBody>
      </p:sp>
      <p:sp>
        <p:nvSpPr>
          <p:cNvPr id="7" name="سهم"/>
          <p:cNvSpPr/>
          <p:nvPr/>
        </p:nvSpPr>
        <p:spPr>
          <a:xfrm>
            <a:off x="7768132" y="2308859"/>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خطوة"/>
          <p:cNvSpPr/>
          <p:nvPr/>
        </p:nvSpPr>
        <p:spPr>
          <a:xfrm>
            <a:off x="4423562" y="1828800"/>
            <a:ext cx="3344570"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5002" y="1920240"/>
            <a:ext cx="3161690"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سلة اليوم</a:t>
            </a:r>
          </a:p>
        </p:txBody>
      </p:sp>
      <p:sp>
        <p:nvSpPr>
          <p:cNvPr id="10" name="TextBox 9"/>
          <p:cNvSpPr txBox="1"/>
          <p:nvPr/>
        </p:nvSpPr>
        <p:spPr>
          <a:xfrm>
            <a:off x="4515002" y="2425446"/>
            <a:ext cx="3161690"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مجموعة موارد غير مرتبة</a:t>
            </a:r>
          </a:p>
        </p:txBody>
      </p:sp>
      <p:sp>
        <p:nvSpPr>
          <p:cNvPr id="11" name="سهم"/>
          <p:cNvSpPr/>
          <p:nvPr/>
        </p:nvSpPr>
        <p:spPr>
          <a:xfrm>
            <a:off x="3893210" y="2308859"/>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خطوة"/>
          <p:cNvSpPr/>
          <p:nvPr/>
        </p:nvSpPr>
        <p:spPr>
          <a:xfrm>
            <a:off x="548639" y="1828800"/>
            <a:ext cx="3344570"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79" y="1920240"/>
            <a:ext cx="3161690"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تسلسل السلال</a:t>
            </a:r>
          </a:p>
        </p:txBody>
      </p:sp>
      <p:sp>
        <p:nvSpPr>
          <p:cNvPr id="14" name="TextBox 13"/>
          <p:cNvSpPr txBox="1"/>
          <p:nvPr/>
        </p:nvSpPr>
        <p:spPr>
          <a:xfrm>
            <a:off x="640079" y="2425446"/>
            <a:ext cx="3161690"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الأيام النشطة بالترتيب</a:t>
            </a:r>
          </a:p>
        </p:txBody>
      </p:sp>
      <p:sp>
        <p:nvSpPr>
          <p:cNvPr id="15" name="TextBox 14"/>
          <p:cNvSpPr txBox="1"/>
          <p:nvPr/>
        </p:nvSpPr>
        <p:spPr>
          <a:xfrm>
            <a:off x="548640" y="3383279"/>
            <a:ext cx="11094415" cy="36576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700" b="1" i="0" lang="ar-SA">
                <a:solidFill>
                  <a:srgbClr val="92400E"/>
                </a:solidFill>
                <a:latin typeface="Arial"/>
                <a:cs typeface="Arial"/>
              </a:rPr>
              <a:t>الإشارة الضمنية: كل مستوى حالة خاصة من التالي</a:t>
            </a:r>
          </a:p>
        </p:txBody>
      </p:sp>
      <p:sp>
        <p:nvSpPr>
          <p:cNvPr id="16" name="خطوة"/>
          <p:cNvSpPr/>
          <p:nvPr/>
        </p:nvSpPr>
        <p:spPr>
          <a:xfrm>
            <a:off x="9267215" y="3749039"/>
            <a:ext cx="2375839"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58655" y="3840479"/>
            <a:ext cx="2192959"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L0</a:t>
            </a:r>
          </a:p>
        </p:txBody>
      </p:sp>
      <p:sp>
        <p:nvSpPr>
          <p:cNvPr id="18" name="TextBox 17"/>
          <p:cNvSpPr txBox="1"/>
          <p:nvPr/>
        </p:nvSpPr>
        <p:spPr>
          <a:xfrm>
            <a:off x="9358655" y="4345686"/>
            <a:ext cx="2192959"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ثنائية</a:t>
            </a:r>
          </a:p>
        </p:txBody>
      </p:sp>
      <p:sp>
        <p:nvSpPr>
          <p:cNvPr id="19" name="سهم"/>
          <p:cNvSpPr/>
          <p:nvPr/>
        </p:nvSpPr>
        <p:spPr>
          <a:xfrm>
            <a:off x="8736863" y="4229099"/>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خطوة"/>
          <p:cNvSpPr/>
          <p:nvPr/>
        </p:nvSpPr>
        <p:spPr>
          <a:xfrm>
            <a:off x="6361023" y="3749039"/>
            <a:ext cx="2375839"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2463" y="3840479"/>
            <a:ext cx="2192959"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L1</a:t>
            </a:r>
          </a:p>
        </p:txBody>
      </p:sp>
      <p:sp>
        <p:nvSpPr>
          <p:cNvPr id="22" name="TextBox 21"/>
          <p:cNvSpPr txBox="1"/>
          <p:nvPr/>
        </p:nvSpPr>
        <p:spPr>
          <a:xfrm>
            <a:off x="6452463" y="4345686"/>
            <a:ext cx="2192959"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عدد الأيام</a:t>
            </a:r>
          </a:p>
        </p:txBody>
      </p:sp>
      <p:sp>
        <p:nvSpPr>
          <p:cNvPr id="23" name="سهم"/>
          <p:cNvSpPr/>
          <p:nvPr/>
        </p:nvSpPr>
        <p:spPr>
          <a:xfrm>
            <a:off x="5830671" y="4229099"/>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خطوة"/>
          <p:cNvSpPr/>
          <p:nvPr/>
        </p:nvSpPr>
        <p:spPr>
          <a:xfrm>
            <a:off x="3454831" y="3749039"/>
            <a:ext cx="2375839"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46271" y="3840479"/>
            <a:ext cx="2192959"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L2</a:t>
            </a:r>
          </a:p>
        </p:txBody>
      </p:sp>
      <p:sp>
        <p:nvSpPr>
          <p:cNvPr id="26" name="TextBox 25"/>
          <p:cNvSpPr txBox="1"/>
          <p:nvPr/>
        </p:nvSpPr>
        <p:spPr>
          <a:xfrm>
            <a:off x="3546271" y="4345686"/>
            <a:ext cx="2192959"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 الحداثة (τ)</a:t>
            </a:r>
          </a:p>
        </p:txBody>
      </p:sp>
      <p:sp>
        <p:nvSpPr>
          <p:cNvPr id="27" name="سهم"/>
          <p:cNvSpPr/>
          <p:nvPr/>
        </p:nvSpPr>
        <p:spPr>
          <a:xfrm>
            <a:off x="2924479" y="4229099"/>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خطوة"/>
          <p:cNvSpPr/>
          <p:nvPr/>
        </p:nvSpPr>
        <p:spPr>
          <a:xfrm>
            <a:off x="548640" y="3749039"/>
            <a:ext cx="2375839"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3840479"/>
            <a:ext cx="2192959"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L3</a:t>
            </a:r>
          </a:p>
        </p:txBody>
      </p:sp>
      <p:sp>
        <p:nvSpPr>
          <p:cNvPr id="30" name="TextBox 29"/>
          <p:cNvSpPr txBox="1"/>
          <p:nvPr/>
        </p:nvSpPr>
        <p:spPr>
          <a:xfrm>
            <a:off x="640080" y="4345686"/>
            <a:ext cx="2192959"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 الشدة المطبَّعة بالنوع (β)</a:t>
            </a:r>
          </a:p>
        </p:txBody>
      </p:sp>
      <p:sp>
        <p:nvSpPr>
          <p:cNvPr id="31" name="خلاصة"/>
          <p:cNvSpPr/>
          <p:nvPr/>
        </p:nvSpPr>
        <p:spPr>
          <a:xfrm>
            <a:off x="548640" y="5212080"/>
            <a:ext cx="11094415" cy="868680"/>
          </a:xfrm>
          <a:prstGeom prst="roundRect">
            <a:avLst>
              <a:gd name="adj" fmla="val 12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 bIns="18288"/>
          <a:lstStyle/>
          <a:p>
            <a:pPr algn="r" rtl="1"/>
            <a:r>
              <a:rPr sz="2200" b="1" i="0" lang="ar-SA">
                <a:solidFill>
                  <a:srgbClr val="FFFFFF"/>
                </a:solidFill>
                <a:latin typeface="Arial"/>
                <a:cs typeface="Arial"/>
              </a:rPr>
              <a:t>غياب التفاعل ليس إشارة سالبة، بل «غير ملاحظ»</a:t>
            </a:r>
          </a:p>
        </p:txBody>
      </p:sp>
      <p:sp>
        <p:nvSpPr>
          <p:cNvPr id="32"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33"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34"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الخوارزميات: خطوط الأساس والهجين وGRU-lite</a:t>
            </a:r>
          </a:p>
        </p:txBody>
      </p:sp>
      <p:sp>
        <p:nvSpPr>
          <p:cNvPr id="3" name="عمود"/>
          <p:cNvSpPr/>
          <p:nvPr/>
        </p:nvSpPr>
        <p:spPr>
          <a:xfrm>
            <a:off x="8127796" y="1463040"/>
            <a:ext cx="3515258"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عنوان العمود"/>
          <p:cNvSpPr/>
          <p:nvPr/>
        </p:nvSpPr>
        <p:spPr>
          <a:xfrm>
            <a:off x="8127796" y="1463040"/>
            <a:ext cx="3515258" cy="685800"/>
          </a:xfrm>
          <a:prstGeom prst="roundRect">
            <a:avLst>
              <a:gd name="adj" fmla="val 2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182880" tIns="18288" bIns="18288"/>
          <a:lstStyle/>
          <a:p>
            <a:pPr algn="r" rtl="1"/>
            <a:r>
              <a:rPr sz="1800" b="1" i="0" lang="ar-SA">
                <a:solidFill>
                  <a:srgbClr val="FFFFFF"/>
                </a:solidFill>
                <a:latin typeface="Arial"/>
                <a:cs typeface="Arial"/>
              </a:rPr>
              <a:t>10 خطوط أساس بميزانية ضبط متساوية</a:t>
            </a:r>
          </a:p>
        </p:txBody>
      </p:sp>
      <p:sp>
        <p:nvSpPr>
          <p:cNvPr id="5" name="نقطة"/>
          <p:cNvSpPr/>
          <p:nvPr/>
        </p:nvSpPr>
        <p:spPr>
          <a:xfrm>
            <a:off x="11259007" y="267804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64956" y="228600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عشوائي، شعبية، شعبية آنية</a:t>
            </a:r>
          </a:p>
        </p:txBody>
      </p:sp>
      <p:sp>
        <p:nvSpPr>
          <p:cNvPr id="7" name="نقطة"/>
          <p:cNvSpPr/>
          <p:nvPr/>
        </p:nvSpPr>
        <p:spPr>
          <a:xfrm>
            <a:off x="11259007" y="362673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64956" y="323469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Item-kNN وSKNN وماركوف</a:t>
            </a:r>
          </a:p>
        </p:txBody>
      </p:sp>
      <p:sp>
        <p:nvSpPr>
          <p:cNvPr id="9" name="نقطة"/>
          <p:cNvSpPr/>
          <p:nvPr/>
        </p:nvSpPr>
        <p:spPr>
          <a:xfrm>
            <a:off x="11259007" y="457542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64956" y="418338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WRMF وإعادة شخصية وCBF</a:t>
            </a:r>
          </a:p>
        </p:txBody>
      </p:sp>
      <p:sp>
        <p:nvSpPr>
          <p:cNvPr id="11" name="نقطة"/>
          <p:cNvSpPr/>
          <p:nvPr/>
        </p:nvSpPr>
        <p:spPr>
          <a:xfrm>
            <a:off x="11259007" y="552411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64956" y="513207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EASE مرجعي فقط</a:t>
            </a:r>
          </a:p>
        </p:txBody>
      </p:sp>
      <p:sp>
        <p:nvSpPr>
          <p:cNvPr id="13" name="عمود"/>
          <p:cNvSpPr/>
          <p:nvPr/>
        </p:nvSpPr>
        <p:spPr>
          <a:xfrm>
            <a:off x="4338218" y="1463040"/>
            <a:ext cx="3515258"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عنوان العمود"/>
          <p:cNvSpPr/>
          <p:nvPr/>
        </p:nvSpPr>
        <p:spPr>
          <a:xfrm>
            <a:off x="4338218" y="1463040"/>
            <a:ext cx="3515258" cy="685800"/>
          </a:xfrm>
          <a:prstGeom prst="roundRect">
            <a:avLst>
              <a:gd name="adj" fmla="val 2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182880" tIns="18288" bIns="18288"/>
          <a:lstStyle/>
          <a:p>
            <a:pPr algn="r" rtl="1"/>
            <a:r>
              <a:rPr sz="1800" b="1" i="0" lang="ar-SA">
                <a:solidFill>
                  <a:srgbClr val="FFFFFF"/>
                </a:solidFill>
                <a:latin typeface="Arial"/>
                <a:cs typeface="Arial"/>
              </a:rPr>
              <a:t>الهجين السلوكي المدرك للسياق</a:t>
            </a:r>
          </a:p>
        </p:txBody>
      </p:sp>
      <p:sp>
        <p:nvSpPr>
          <p:cNvPr id="15" name="نقطة"/>
          <p:cNvSpPr/>
          <p:nvPr/>
        </p:nvSpPr>
        <p:spPr>
          <a:xfrm>
            <a:off x="7469428" y="267804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75378" y="228600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دمج رتبي خطي بأربعة مكوّنات على الأكثر</a:t>
            </a:r>
          </a:p>
        </p:txBody>
      </p:sp>
      <p:sp>
        <p:nvSpPr>
          <p:cNvPr id="17" name="نقطة"/>
          <p:cNvSpPr/>
          <p:nvPr/>
        </p:nvSpPr>
        <p:spPr>
          <a:xfrm>
            <a:off x="7469428" y="362673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75378" y="323469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قبول جشع بفاصل bootstrap-t على عروض التطوير</a:t>
            </a:r>
          </a:p>
        </p:txBody>
      </p:sp>
      <p:sp>
        <p:nvSpPr>
          <p:cNvPr id="19" name="نقطة"/>
          <p:cNvSpPr/>
          <p:nvPr/>
        </p:nvSpPr>
        <p:spPr>
          <a:xfrm>
            <a:off x="7469428" y="457542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5378" y="418338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أرضية شخصنة: وزن لا يقل عن 0.25</a:t>
            </a:r>
          </a:p>
        </p:txBody>
      </p:sp>
      <p:sp>
        <p:nvSpPr>
          <p:cNvPr id="21" name="نقطة"/>
          <p:cNvSpPr/>
          <p:nvPr/>
        </p:nvSpPr>
        <p:spPr>
          <a:xfrm>
            <a:off x="7469428" y="552411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75378" y="513207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تفسير بمساهمة كل مكوّن</a:t>
            </a:r>
          </a:p>
        </p:txBody>
      </p:sp>
      <p:sp>
        <p:nvSpPr>
          <p:cNvPr id="23" name="عمود"/>
          <p:cNvSpPr/>
          <p:nvPr/>
        </p:nvSpPr>
        <p:spPr>
          <a:xfrm>
            <a:off x="548639" y="1463040"/>
            <a:ext cx="3515258"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عنوان العمود"/>
          <p:cNvSpPr/>
          <p:nvPr/>
        </p:nvSpPr>
        <p:spPr>
          <a:xfrm>
            <a:off x="548639" y="1463040"/>
            <a:ext cx="3515258" cy="685800"/>
          </a:xfrm>
          <a:prstGeom prst="roundRect">
            <a:avLst>
              <a:gd name="adj" fmla="val 2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182880" tIns="18288" bIns="18288"/>
          <a:lstStyle/>
          <a:p>
            <a:pPr algn="r" rtl="1"/>
            <a:r>
              <a:rPr sz="1800" b="1" i="0" lang="ar-SA">
                <a:solidFill>
                  <a:srgbClr val="FFFFFF"/>
                </a:solidFill>
                <a:latin typeface="Arial"/>
                <a:cs typeface="Arial"/>
              </a:rPr>
              <a:t>GRU-lite بـ numpy فقط</a:t>
            </a:r>
          </a:p>
        </p:txBody>
      </p:sp>
      <p:sp>
        <p:nvSpPr>
          <p:cNvPr id="25" name="نقطة"/>
          <p:cNvSpPr/>
          <p:nvPr/>
        </p:nvSpPr>
        <p:spPr>
          <a:xfrm>
            <a:off x="3679850" y="283616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799" y="2286000"/>
            <a:ext cx="2875178" cy="126492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طبقة GRU واحدة ببُعد 64</a:t>
            </a:r>
          </a:p>
        </p:txBody>
      </p:sp>
      <p:sp>
        <p:nvSpPr>
          <p:cNvPr id="27" name="نقطة"/>
          <p:cNvSpPr/>
          <p:nvPr/>
        </p:nvSpPr>
        <p:spPr>
          <a:xfrm>
            <a:off x="3679850" y="410108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799" y="3550920"/>
            <a:ext cx="2875178" cy="126492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مدخلها سلال الأيام</a:t>
            </a:r>
          </a:p>
        </p:txBody>
      </p:sp>
      <p:sp>
        <p:nvSpPr>
          <p:cNvPr id="29" name="نقطة"/>
          <p:cNvSpPr/>
          <p:nvPr/>
        </p:nvSpPr>
        <p:spPr>
          <a:xfrm>
            <a:off x="3679850" y="536600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799" y="4815840"/>
            <a:ext cx="2875178" cy="126492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لا تقييم قبل اجتياز حزمة الصحة S1–S6</a:t>
            </a:r>
          </a:p>
        </p:txBody>
      </p:sp>
      <p:sp>
        <p:nvSpPr>
          <p:cNvPr id="31"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32"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33"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بروتوكول التقييم المسجَّل مسبقاً</a:t>
            </a:r>
          </a:p>
        </p:txBody>
      </p:sp>
      <p:sp>
        <p:nvSpPr>
          <p:cNvPr id="3" name="مفتاح"/>
          <p:cNvSpPr/>
          <p:nvPr/>
        </p:nvSpPr>
        <p:spPr>
          <a:xfrm>
            <a:off x="9905695" y="1463040"/>
            <a:ext cx="1737360" cy="329184"/>
          </a:xfrm>
          <a:prstGeom prst="roundRect">
            <a:avLst>
              <a:gd name="adj" fmla="val 30000"/>
            </a:avLst>
          </a:prstGeom>
          <a:solidFill>
            <a:srgbClr val="CCFBF1"/>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134E4A"/>
                </a:solidFill>
                <a:latin typeface="Arial"/>
                <a:cs typeface="Arial"/>
              </a:rPr>
              <a:t>تدريب</a:t>
            </a:r>
          </a:p>
        </p:txBody>
      </p:sp>
      <p:sp>
        <p:nvSpPr>
          <p:cNvPr id="4" name="مفتاح"/>
          <p:cNvSpPr/>
          <p:nvPr/>
        </p:nvSpPr>
        <p:spPr>
          <a:xfrm>
            <a:off x="7985455" y="1463040"/>
            <a:ext cx="1737360" cy="329184"/>
          </a:xfrm>
          <a:prstGeom prst="roundRect">
            <a:avLst>
              <a:gd name="adj" fmla="val 3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تحقق (للضبط)</a:t>
            </a:r>
          </a:p>
        </p:txBody>
      </p:sp>
      <p:sp>
        <p:nvSpPr>
          <p:cNvPr id="5" name="مفتاح"/>
          <p:cNvSpPr/>
          <p:nvPr/>
        </p:nvSpPr>
        <p:spPr>
          <a:xfrm>
            <a:off x="6065215" y="1463040"/>
            <a:ext cx="1737360" cy="329184"/>
          </a:xfrm>
          <a:prstGeom prst="roundRect">
            <a:avLst>
              <a:gd name="adj" fmla="val 30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اختبار (14 يوماً)</a:t>
            </a:r>
          </a:p>
        </p:txBody>
      </p:sp>
      <p:sp>
        <p:nvSpPr>
          <p:cNvPr id="6" name="TextBox 5"/>
          <p:cNvSpPr txBox="1"/>
          <p:nvPr/>
        </p:nvSpPr>
        <p:spPr>
          <a:xfrm>
            <a:off x="548640" y="1920240"/>
            <a:ext cx="11094415" cy="292608"/>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500" b="1" i="0" lang="ar-SA">
                <a:solidFill>
                  <a:srgbClr val="134E4A"/>
                </a:solidFill>
                <a:latin typeface="Arial"/>
                <a:cs typeface="Arial"/>
              </a:rPr>
              <a:t>نقطة القطع t = 70 (اليوم من بداية العرض)</a:t>
            </a:r>
          </a:p>
        </p:txBody>
      </p:sp>
      <p:sp>
        <p:nvSpPr>
          <p:cNvPr id="7" name="مقطع"/>
          <p:cNvSpPr/>
          <p:nvPr/>
        </p:nvSpPr>
        <p:spPr>
          <a:xfrm>
            <a:off x="8473222" y="2231136"/>
            <a:ext cx="3169832" cy="457200"/>
          </a:xfrm>
          <a:prstGeom prst="rect">
            <a:avLst/>
          </a:prstGeom>
          <a:solidFill>
            <a:srgbClr val="CCFBF1"/>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134E4A"/>
                </a:solidFill>
                <a:latin typeface="Arial"/>
                <a:cs typeface="Arial"/>
              </a:rPr>
              <a:t>تدريب</a:t>
            </a:r>
          </a:p>
        </p:txBody>
      </p:sp>
      <p:sp>
        <p:nvSpPr>
          <p:cNvPr id="8" name="مقطع"/>
          <p:cNvSpPr/>
          <p:nvPr/>
        </p:nvSpPr>
        <p:spPr>
          <a:xfrm>
            <a:off x="7680764" y="2231136"/>
            <a:ext cx="792458" cy="4572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تحقق</a:t>
            </a:r>
          </a:p>
        </p:txBody>
      </p:sp>
      <p:sp>
        <p:nvSpPr>
          <p:cNvPr id="9" name="مقطع"/>
          <p:cNvSpPr/>
          <p:nvPr/>
        </p:nvSpPr>
        <p:spPr>
          <a:xfrm>
            <a:off x="6888305" y="2231136"/>
            <a:ext cx="792458" cy="4572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اختبار</a:t>
            </a:r>
          </a:p>
        </p:txBody>
      </p:sp>
      <p:sp>
        <p:nvSpPr>
          <p:cNvPr id="10" name="TextBox 9"/>
          <p:cNvSpPr txBox="1"/>
          <p:nvPr/>
        </p:nvSpPr>
        <p:spPr>
          <a:xfrm>
            <a:off x="548640" y="2816352"/>
            <a:ext cx="11094415" cy="292608"/>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500" b="1" i="0" lang="ar-SA">
                <a:solidFill>
                  <a:srgbClr val="134E4A"/>
                </a:solidFill>
                <a:latin typeface="Arial"/>
                <a:cs typeface="Arial"/>
              </a:rPr>
              <a:t>نقطة القطع t = 126 (اليوم من بداية العرض)</a:t>
            </a:r>
          </a:p>
        </p:txBody>
      </p:sp>
      <p:sp>
        <p:nvSpPr>
          <p:cNvPr id="11" name="مقطع"/>
          <p:cNvSpPr/>
          <p:nvPr/>
        </p:nvSpPr>
        <p:spPr>
          <a:xfrm>
            <a:off x="5303389" y="3127248"/>
            <a:ext cx="6339665" cy="457200"/>
          </a:xfrm>
          <a:prstGeom prst="rect">
            <a:avLst/>
          </a:prstGeom>
          <a:solidFill>
            <a:srgbClr val="CCFBF1"/>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134E4A"/>
                </a:solidFill>
                <a:latin typeface="Arial"/>
                <a:cs typeface="Arial"/>
              </a:rPr>
              <a:t>تدريب</a:t>
            </a:r>
          </a:p>
        </p:txBody>
      </p:sp>
      <p:sp>
        <p:nvSpPr>
          <p:cNvPr id="12" name="مقطع"/>
          <p:cNvSpPr/>
          <p:nvPr/>
        </p:nvSpPr>
        <p:spPr>
          <a:xfrm>
            <a:off x="4510931" y="3127248"/>
            <a:ext cx="792458" cy="4572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تحقق</a:t>
            </a:r>
          </a:p>
        </p:txBody>
      </p:sp>
      <p:sp>
        <p:nvSpPr>
          <p:cNvPr id="13" name="مقطع"/>
          <p:cNvSpPr/>
          <p:nvPr/>
        </p:nvSpPr>
        <p:spPr>
          <a:xfrm>
            <a:off x="3718472" y="3127248"/>
            <a:ext cx="792458" cy="4572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اختبار</a:t>
            </a:r>
          </a:p>
        </p:txBody>
      </p:sp>
      <p:sp>
        <p:nvSpPr>
          <p:cNvPr id="14" name="TextBox 13"/>
          <p:cNvSpPr txBox="1"/>
          <p:nvPr/>
        </p:nvSpPr>
        <p:spPr>
          <a:xfrm>
            <a:off x="548640" y="3712464"/>
            <a:ext cx="11094415" cy="292608"/>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500" b="1" i="0" lang="ar-SA">
                <a:solidFill>
                  <a:srgbClr val="134E4A"/>
                </a:solidFill>
                <a:latin typeface="Arial"/>
                <a:cs typeface="Arial"/>
              </a:rPr>
              <a:t>نقطة القطع t = 182 (اليوم من بداية العرض)</a:t>
            </a:r>
          </a:p>
        </p:txBody>
      </p:sp>
      <p:sp>
        <p:nvSpPr>
          <p:cNvPr id="15" name="مقطع"/>
          <p:cNvSpPr/>
          <p:nvPr/>
        </p:nvSpPr>
        <p:spPr>
          <a:xfrm>
            <a:off x="2133556" y="4023360"/>
            <a:ext cx="9509498" cy="457200"/>
          </a:xfrm>
          <a:prstGeom prst="rect">
            <a:avLst/>
          </a:prstGeom>
          <a:solidFill>
            <a:srgbClr val="CCFBF1"/>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134E4A"/>
                </a:solidFill>
                <a:latin typeface="Arial"/>
                <a:cs typeface="Arial"/>
              </a:rPr>
              <a:t>تدريب</a:t>
            </a:r>
          </a:p>
        </p:txBody>
      </p:sp>
      <p:sp>
        <p:nvSpPr>
          <p:cNvPr id="16" name="مقطع"/>
          <p:cNvSpPr/>
          <p:nvPr/>
        </p:nvSpPr>
        <p:spPr>
          <a:xfrm>
            <a:off x="1341098" y="4023360"/>
            <a:ext cx="792458" cy="4572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تحقق</a:t>
            </a:r>
          </a:p>
        </p:txBody>
      </p:sp>
      <p:sp>
        <p:nvSpPr>
          <p:cNvPr id="17" name="مقطع"/>
          <p:cNvSpPr/>
          <p:nvPr/>
        </p:nvSpPr>
        <p:spPr>
          <a:xfrm>
            <a:off x="548639" y="4023360"/>
            <a:ext cx="792458" cy="4572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اختبار</a:t>
            </a:r>
          </a:p>
        </p:txBody>
      </p:sp>
      <p:sp>
        <p:nvSpPr>
          <p:cNvPr id="18" name="بطاقة"/>
          <p:cNvSpPr/>
          <p:nvPr/>
        </p:nvSpPr>
        <p:spPr>
          <a:xfrm>
            <a:off x="9040901" y="4745736"/>
            <a:ext cx="2602153" cy="1426463"/>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32341" y="4837176"/>
            <a:ext cx="2419273" cy="713231"/>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1800" b="1" i="0" lang="ar-SA">
                <a:solidFill>
                  <a:srgbClr val="0F766E"/>
                </a:solidFill>
                <a:latin typeface="Arial"/>
                <a:cs typeface="Arial"/>
              </a:rPr>
              <a:t>الكتالوج كاملاً</a:t>
            </a:r>
          </a:p>
        </p:txBody>
      </p:sp>
      <p:sp>
        <p:nvSpPr>
          <p:cNvPr id="20" name="TextBox 19"/>
          <p:cNvSpPr txBox="1"/>
          <p:nvPr/>
        </p:nvSpPr>
        <p:spPr>
          <a:xfrm>
            <a:off x="9132341" y="5487497"/>
            <a:ext cx="2419273" cy="641908"/>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بلا سوالب معيَّنة</a:t>
            </a:r>
          </a:p>
        </p:txBody>
      </p:sp>
      <p:sp>
        <p:nvSpPr>
          <p:cNvPr id="21" name="بطاقة"/>
          <p:cNvSpPr/>
          <p:nvPr/>
        </p:nvSpPr>
        <p:spPr>
          <a:xfrm>
            <a:off x="6210147" y="4745736"/>
            <a:ext cx="2602153" cy="1426463"/>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1587" y="4837176"/>
            <a:ext cx="2419273" cy="713231"/>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1800" b="1" i="0" lang="ar-SA">
                <a:solidFill>
                  <a:srgbClr val="0F766E"/>
                </a:solidFill>
                <a:latin typeface="Arial"/>
                <a:cs typeface="Arial"/>
              </a:rPr>
              <a:t>المهمة A</a:t>
            </a:r>
          </a:p>
        </p:txBody>
      </p:sp>
      <p:sp>
        <p:nvSpPr>
          <p:cNvPr id="23" name="TextBox 22"/>
          <p:cNvSpPr txBox="1"/>
          <p:nvPr/>
        </p:nvSpPr>
        <p:spPr>
          <a:xfrm>
            <a:off x="6301587" y="5487497"/>
            <a:ext cx="2419273" cy="641908"/>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موارد جديدة لم يزرها المتعلم</a:t>
            </a:r>
          </a:p>
        </p:txBody>
      </p:sp>
      <p:sp>
        <p:nvSpPr>
          <p:cNvPr id="24" name="بطاقة"/>
          <p:cNvSpPr/>
          <p:nvPr/>
        </p:nvSpPr>
        <p:spPr>
          <a:xfrm>
            <a:off x="3379393" y="4745736"/>
            <a:ext cx="2602153" cy="1426463"/>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70833" y="4837176"/>
            <a:ext cx="2419273" cy="713231"/>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1800" b="1" i="0" lang="ar-SA">
                <a:solidFill>
                  <a:srgbClr val="0F766E"/>
                </a:solidFill>
                <a:latin typeface="Arial"/>
                <a:cs typeface="Arial"/>
              </a:rPr>
              <a:t>وحدة التحليل: العرض</a:t>
            </a:r>
          </a:p>
        </p:txBody>
      </p:sp>
      <p:sp>
        <p:nvSpPr>
          <p:cNvPr id="26" name="TextBox 25"/>
          <p:cNvSpPr txBox="1"/>
          <p:nvPr/>
        </p:nvSpPr>
        <p:spPr>
          <a:xfrm>
            <a:off x="3470833" y="5487497"/>
            <a:ext cx="2419273" cy="641908"/>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bootstrap-t عنقودي + هولم</a:t>
            </a:r>
          </a:p>
        </p:txBody>
      </p:sp>
      <p:sp>
        <p:nvSpPr>
          <p:cNvPr id="27" name="بطاقة"/>
          <p:cNvSpPr/>
          <p:nvPr/>
        </p:nvSpPr>
        <p:spPr>
          <a:xfrm>
            <a:off x="548639" y="4745736"/>
            <a:ext cx="2602153" cy="1426463"/>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79" y="4837176"/>
            <a:ext cx="2419273" cy="713231"/>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1800" b="1" i="0" lang="ar-SA">
                <a:solidFill>
                  <a:srgbClr val="0F766E"/>
                </a:solidFill>
                <a:latin typeface="Arial"/>
                <a:cs typeface="Arial"/>
              </a:rPr>
              <a:t>الأثر العملي δ = 0.02</a:t>
            </a:r>
          </a:p>
        </p:txBody>
      </p:sp>
      <p:sp>
        <p:nvSpPr>
          <p:cNvPr id="29" name="TextBox 28"/>
          <p:cNvSpPr txBox="1"/>
          <p:nvPr/>
        </p:nvSpPr>
        <p:spPr>
          <a:xfrm>
            <a:off x="640079" y="5487497"/>
            <a:ext cx="2419273" cy="641908"/>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في NDCG@10، مسجّل قبل 2014</a:t>
            </a:r>
          </a:p>
        </p:txBody>
      </p:sp>
      <p:sp>
        <p:nvSpPr>
          <p:cNvPr id="30"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31"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32"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التجميد ثم تشغيل واحد</a:t>
            </a:r>
          </a:p>
        </p:txBody>
      </p:sp>
      <p:sp>
        <p:nvSpPr>
          <p:cNvPr id="3" name="TextBox 2"/>
          <p:cNvSpPr txBox="1"/>
          <p:nvPr/>
        </p:nvSpPr>
        <p:spPr>
          <a:xfrm>
            <a:off x="548640" y="1417320"/>
            <a:ext cx="11094415" cy="45720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2000" b="1" i="0" lang="ar-SA">
                <a:solidFill>
                  <a:srgbClr val="475569"/>
                </a:solidFill>
                <a:latin typeface="Arial"/>
                <a:cs typeface="Arial"/>
              </a:rPr>
              <a:t>عشرة شروط للوسم freeze-03 قبل فتح بيانات 2014</a:t>
            </a:r>
          </a:p>
        </p:txBody>
      </p:sp>
      <p:sp>
        <p:nvSpPr>
          <p:cNvPr id="4" name="بطاقة"/>
          <p:cNvSpPr/>
          <p:nvPr/>
        </p:nvSpPr>
        <p:spPr>
          <a:xfrm>
            <a:off x="9643628" y="201168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رقم"/>
          <p:cNvSpPr/>
          <p:nvPr/>
        </p:nvSpPr>
        <p:spPr>
          <a:xfrm>
            <a:off x="10957255" y="214884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1</a:t>
            </a:r>
          </a:p>
        </p:txBody>
      </p:sp>
      <p:sp>
        <p:nvSpPr>
          <p:cNvPr id="6" name="TextBox 5"/>
          <p:cNvSpPr txBox="1"/>
          <p:nvPr/>
        </p:nvSpPr>
        <p:spPr>
          <a:xfrm>
            <a:off x="9735068" y="274320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الهجين بقاعدة الأرضية</a:t>
            </a:r>
          </a:p>
        </p:txBody>
      </p:sp>
      <p:sp>
        <p:nvSpPr>
          <p:cNvPr id="7" name="بطاقة"/>
          <p:cNvSpPr/>
          <p:nvPr/>
        </p:nvSpPr>
        <p:spPr>
          <a:xfrm>
            <a:off x="7369881" y="201168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رقم"/>
          <p:cNvSpPr/>
          <p:nvPr/>
        </p:nvSpPr>
        <p:spPr>
          <a:xfrm>
            <a:off x="8683508" y="214884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2</a:t>
            </a:r>
          </a:p>
        </p:txBody>
      </p:sp>
      <p:sp>
        <p:nvSpPr>
          <p:cNvPr id="9" name="TextBox 8"/>
          <p:cNvSpPr txBox="1"/>
          <p:nvPr/>
        </p:nvSpPr>
        <p:spPr>
          <a:xfrm>
            <a:off x="7461321" y="274320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MDE80 للفرضية H1</a:t>
            </a:r>
          </a:p>
        </p:txBody>
      </p:sp>
      <p:sp>
        <p:nvSpPr>
          <p:cNvPr id="10" name="بطاقة"/>
          <p:cNvSpPr/>
          <p:nvPr/>
        </p:nvSpPr>
        <p:spPr>
          <a:xfrm>
            <a:off x="5096134" y="201168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رقم"/>
          <p:cNvSpPr/>
          <p:nvPr/>
        </p:nvSpPr>
        <p:spPr>
          <a:xfrm>
            <a:off x="6409761" y="214884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3</a:t>
            </a:r>
          </a:p>
        </p:txBody>
      </p:sp>
      <p:sp>
        <p:nvSpPr>
          <p:cNvPr id="12" name="TextBox 11"/>
          <p:cNvSpPr txBox="1"/>
          <p:nvPr/>
        </p:nvSpPr>
        <p:spPr>
          <a:xfrm>
            <a:off x="5187574" y="274320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الهجين على المهمة B</a:t>
            </a:r>
          </a:p>
        </p:txBody>
      </p:sp>
      <p:sp>
        <p:nvSpPr>
          <p:cNvPr id="13" name="بطاقة"/>
          <p:cNvSpPr/>
          <p:nvPr/>
        </p:nvSpPr>
        <p:spPr>
          <a:xfrm>
            <a:off x="2822387" y="201168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رقم"/>
          <p:cNvSpPr/>
          <p:nvPr/>
        </p:nvSpPr>
        <p:spPr>
          <a:xfrm>
            <a:off x="4136014" y="214884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4</a:t>
            </a:r>
          </a:p>
        </p:txBody>
      </p:sp>
      <p:sp>
        <p:nvSpPr>
          <p:cNvPr id="15" name="TextBox 14"/>
          <p:cNvSpPr txBox="1"/>
          <p:nvPr/>
        </p:nvSpPr>
        <p:spPr>
          <a:xfrm>
            <a:off x="2913827" y="274320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نماذج الخطر النهائية</a:t>
            </a:r>
          </a:p>
        </p:txBody>
      </p:sp>
      <p:sp>
        <p:nvSpPr>
          <p:cNvPr id="16" name="بطاقة"/>
          <p:cNvSpPr/>
          <p:nvPr/>
        </p:nvSpPr>
        <p:spPr>
          <a:xfrm>
            <a:off x="548639" y="201168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رقم"/>
          <p:cNvSpPr/>
          <p:nvPr/>
        </p:nvSpPr>
        <p:spPr>
          <a:xfrm>
            <a:off x="1862267" y="214884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5</a:t>
            </a:r>
          </a:p>
        </p:txBody>
      </p:sp>
      <p:sp>
        <p:nvSpPr>
          <p:cNvPr id="18" name="TextBox 17"/>
          <p:cNvSpPr txBox="1"/>
          <p:nvPr/>
        </p:nvSpPr>
        <p:spPr>
          <a:xfrm>
            <a:off x="640079" y="274320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إعادة إنتاج التطوير</a:t>
            </a:r>
          </a:p>
        </p:txBody>
      </p:sp>
      <p:sp>
        <p:nvSpPr>
          <p:cNvPr id="19" name="بطاقة"/>
          <p:cNvSpPr/>
          <p:nvPr/>
        </p:nvSpPr>
        <p:spPr>
          <a:xfrm>
            <a:off x="9643628" y="363474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رقم"/>
          <p:cNvSpPr/>
          <p:nvPr/>
        </p:nvSpPr>
        <p:spPr>
          <a:xfrm>
            <a:off x="10957255" y="377190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6</a:t>
            </a:r>
          </a:p>
        </p:txBody>
      </p:sp>
      <p:sp>
        <p:nvSpPr>
          <p:cNvPr id="21" name="TextBox 20"/>
          <p:cNvSpPr txBox="1"/>
          <p:nvPr/>
        </p:nvSpPr>
        <p:spPr>
          <a:xfrm>
            <a:off x="9735068" y="436626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ملف التهيئة + SHA-256</a:t>
            </a:r>
          </a:p>
        </p:txBody>
      </p:sp>
      <p:sp>
        <p:nvSpPr>
          <p:cNvPr id="22" name="بطاقة"/>
          <p:cNvSpPr/>
          <p:nvPr/>
        </p:nvSpPr>
        <p:spPr>
          <a:xfrm>
            <a:off x="7369881" y="363474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رقم"/>
          <p:cNvSpPr/>
          <p:nvPr/>
        </p:nvSpPr>
        <p:spPr>
          <a:xfrm>
            <a:off x="8683508" y="377190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7</a:t>
            </a:r>
          </a:p>
        </p:txBody>
      </p:sp>
      <p:sp>
        <p:nvSpPr>
          <p:cNvPr id="24" name="TextBox 23"/>
          <p:cNvSpPr txBox="1"/>
          <p:nvPr/>
        </p:nvSpPr>
        <p:spPr>
          <a:xfrm>
            <a:off x="7461321" y="436626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تشغيل جاف كامل على 2013</a:t>
            </a:r>
          </a:p>
        </p:txBody>
      </p:sp>
      <p:sp>
        <p:nvSpPr>
          <p:cNvPr id="25" name="بطاقة"/>
          <p:cNvSpPr/>
          <p:nvPr/>
        </p:nvSpPr>
        <p:spPr>
          <a:xfrm>
            <a:off x="5096134" y="363474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رقم"/>
          <p:cNvSpPr/>
          <p:nvPr/>
        </p:nvSpPr>
        <p:spPr>
          <a:xfrm>
            <a:off x="6409761" y="377190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8</a:t>
            </a:r>
          </a:p>
        </p:txBody>
      </p:sp>
      <p:sp>
        <p:nvSpPr>
          <p:cNvPr id="27" name="TextBox 26"/>
          <p:cNvSpPr txBox="1"/>
          <p:nvPr/>
        </p:nvSpPr>
        <p:spPr>
          <a:xfrm>
            <a:off x="5187574" y="436626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مراجعة الزميل وتوقيعه</a:t>
            </a:r>
          </a:p>
        </p:txBody>
      </p:sp>
      <p:sp>
        <p:nvSpPr>
          <p:cNvPr id="28" name="بطاقة"/>
          <p:cNvSpPr/>
          <p:nvPr/>
        </p:nvSpPr>
        <p:spPr>
          <a:xfrm>
            <a:off x="2822387" y="363474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رقم"/>
          <p:cNvSpPr/>
          <p:nvPr/>
        </p:nvSpPr>
        <p:spPr>
          <a:xfrm>
            <a:off x="4136014" y="377190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9</a:t>
            </a:r>
          </a:p>
        </p:txBody>
      </p:sp>
      <p:sp>
        <p:nvSpPr>
          <p:cNvPr id="30" name="TextBox 29"/>
          <p:cNvSpPr txBox="1"/>
          <p:nvPr/>
        </p:nvSpPr>
        <p:spPr>
          <a:xfrm>
            <a:off x="2913827" y="436626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تحديث الوثيقة 02 وREADME</a:t>
            </a:r>
          </a:p>
        </p:txBody>
      </p:sp>
      <p:sp>
        <p:nvSpPr>
          <p:cNvPr id="31" name="بطاقة"/>
          <p:cNvSpPr/>
          <p:nvPr/>
        </p:nvSpPr>
        <p:spPr>
          <a:xfrm>
            <a:off x="548639" y="363474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رقم"/>
          <p:cNvSpPr/>
          <p:nvPr/>
        </p:nvSpPr>
        <p:spPr>
          <a:xfrm>
            <a:off x="1862267" y="377190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10</a:t>
            </a:r>
          </a:p>
        </p:txBody>
      </p:sp>
      <p:sp>
        <p:nvSpPr>
          <p:cNvPr id="33" name="TextBox 32"/>
          <p:cNvSpPr txBox="1"/>
          <p:nvPr/>
        </p:nvSpPr>
        <p:spPr>
          <a:xfrm>
            <a:off x="640079" y="436626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توقيع المشرف ثم الوسم</a:t>
            </a:r>
          </a:p>
        </p:txBody>
      </p:sp>
      <p:sp>
        <p:nvSpPr>
          <p:cNvPr id="34" name="خلاصة"/>
          <p:cNvSpPr/>
          <p:nvPr/>
        </p:nvSpPr>
        <p:spPr>
          <a:xfrm>
            <a:off x="548640" y="5120640"/>
            <a:ext cx="11094415" cy="1005840"/>
          </a:xfrm>
          <a:prstGeom prst="roundRect">
            <a:avLst>
              <a:gd name="adj" fmla="val 12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 bIns="18288"/>
          <a:lstStyle/>
          <a:p>
            <a:pPr algn="r" rtl="1"/>
            <a:r>
              <a:rPr sz="2200" b="1" i="0" lang="ar-SA">
                <a:solidFill>
                  <a:srgbClr val="FFFFFF"/>
                </a:solidFill>
                <a:latin typeface="Arial"/>
                <a:cs typeface="Arial"/>
              </a:rPr>
              <a:t>بعد الوسم: تشغيل تأكيدي واحد بطورين وقفل SHA-256 للأحكام بينهما؛ والاستئناف بعد تعطل بيئي مأذون ومسجَّل</a:t>
            </a:r>
          </a:p>
        </p:txBody>
      </p:sp>
      <p:sp>
        <p:nvSpPr>
          <p:cNvPr id="3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3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3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المعمارية: خمس طبقات باتجاه اعتماد واحد</a:t>
            </a:r>
          </a:p>
        </p:txBody>
      </p:sp>
      <p:pic>
        <p:nvPicPr>
          <p:cNvPr id="3" name="صورة" descr="الشكل: المعمارية الطبقية للمكوّنات (إعداد الباحث)"/>
          <p:cNvPicPr>
            <a:picLocks noChangeAspect="1"/>
          </p:cNvPicPr>
          <p:nvPr/>
        </p:nvPicPr>
        <p:blipFill>
          <a:blip r:embed="rId2"/>
          <a:stretch>
            <a:fillRect/>
          </a:stretch>
        </p:blipFill>
        <p:spPr>
          <a:xfrm>
            <a:off x="548640" y="1371600"/>
            <a:ext cx="5551098" cy="4526279"/>
          </a:xfrm>
          <a:prstGeom prst="rect">
            <a:avLst/>
          </a:prstGeom>
          <a:ln w="12700">
            <a:solidFill>
              <a:srgbClr val="CBD5E1"/>
            </a:solidFill>
          </a:ln>
        </p:spPr>
      </p:pic>
      <p:sp>
        <p:nvSpPr>
          <p:cNvPr id="4" name="TextBox 3"/>
          <p:cNvSpPr txBox="1"/>
          <p:nvPr/>
        </p:nvSpPr>
        <p:spPr>
          <a:xfrm>
            <a:off x="548640" y="5943599"/>
            <a:ext cx="5551098" cy="36576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1300" b="0" i="0" lang="ar-SA">
                <a:solidFill>
                  <a:srgbClr val="475569"/>
                </a:solidFill>
                <a:latin typeface="Arial"/>
                <a:cs typeface="Arial"/>
              </a:rPr>
              <a:t>الشكل: المعمارية الطبقية للمكوّنات (إعداد الباحث)</a:t>
            </a:r>
          </a:p>
        </p:txBody>
      </p:sp>
      <p:sp>
        <p:nvSpPr>
          <p:cNvPr id="5" name="بطاقة"/>
          <p:cNvSpPr/>
          <p:nvPr/>
        </p:nvSpPr>
        <p:spPr>
          <a:xfrm>
            <a:off x="6465498" y="1371600"/>
            <a:ext cx="5177557"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رقم"/>
          <p:cNvSpPr/>
          <p:nvPr/>
        </p:nvSpPr>
        <p:spPr>
          <a:xfrm>
            <a:off x="10957255" y="15544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7" name="TextBox 6"/>
          <p:cNvSpPr txBox="1"/>
          <p:nvPr/>
        </p:nvSpPr>
        <p:spPr>
          <a:xfrm>
            <a:off x="6602658" y="1444752"/>
            <a:ext cx="4263157"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خط التجارب</a:t>
            </a:r>
          </a:p>
        </p:txBody>
      </p:sp>
      <p:sp>
        <p:nvSpPr>
          <p:cNvPr id="8" name="TextBox 7"/>
          <p:cNvSpPr txBox="1"/>
          <p:nvPr/>
        </p:nvSpPr>
        <p:spPr>
          <a:xfrm>
            <a:off x="6602658" y="2084832"/>
            <a:ext cx="4903237"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يُنتج النتائج ومخرجات القطوع</a:t>
            </a:r>
          </a:p>
        </p:txBody>
      </p:sp>
      <p:sp>
        <p:nvSpPr>
          <p:cNvPr id="9" name="بطاقة"/>
          <p:cNvSpPr/>
          <p:nvPr/>
        </p:nvSpPr>
        <p:spPr>
          <a:xfrm>
            <a:off x="6465498" y="3047999"/>
            <a:ext cx="5177557"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رقم"/>
          <p:cNvSpPr/>
          <p:nvPr/>
        </p:nvSpPr>
        <p:spPr>
          <a:xfrm>
            <a:off x="10957255" y="32308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11" name="TextBox 10"/>
          <p:cNvSpPr txBox="1"/>
          <p:nvPr/>
        </p:nvSpPr>
        <p:spPr>
          <a:xfrm>
            <a:off x="6602658" y="3121152"/>
            <a:ext cx="4263157"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serving.Engine</a:t>
            </a:r>
          </a:p>
        </p:txBody>
      </p:sp>
      <p:sp>
        <p:nvSpPr>
          <p:cNvPr id="12" name="TextBox 11"/>
          <p:cNvSpPr txBox="1"/>
          <p:nvPr/>
        </p:nvSpPr>
        <p:spPr>
          <a:xfrm>
            <a:off x="6602658" y="3761232"/>
            <a:ext cx="4903237"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المكان الوحيد لحساب التوصية والتفسير</a:t>
            </a:r>
          </a:p>
        </p:txBody>
      </p:sp>
      <p:sp>
        <p:nvSpPr>
          <p:cNvPr id="13" name="بطاقة"/>
          <p:cNvSpPr/>
          <p:nvPr/>
        </p:nvSpPr>
        <p:spPr>
          <a:xfrm>
            <a:off x="6465498" y="4724399"/>
            <a:ext cx="5177557"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رقم"/>
          <p:cNvSpPr/>
          <p:nvPr/>
        </p:nvSpPr>
        <p:spPr>
          <a:xfrm>
            <a:off x="10957255" y="49072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5" name="TextBox 14"/>
          <p:cNvSpPr txBox="1"/>
          <p:nvPr/>
        </p:nvSpPr>
        <p:spPr>
          <a:xfrm>
            <a:off x="6602658" y="4797551"/>
            <a:ext cx="4263157"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الواجهة</a:t>
            </a:r>
          </a:p>
        </p:txBody>
      </p:sp>
      <p:sp>
        <p:nvSpPr>
          <p:cNvPr id="16" name="TextBox 15"/>
          <p:cNvSpPr txBox="1"/>
          <p:nvPr/>
        </p:nvSpPr>
        <p:spPr>
          <a:xfrm>
            <a:off x="6602658" y="5437632"/>
            <a:ext cx="4903237"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صفحتا المتعلم والمدرّس</a:t>
            </a:r>
          </a:p>
        </p:txBody>
      </p:sp>
      <p:sp>
        <p:nvSpPr>
          <p:cNvPr id="17"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8"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9"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واجهة المتعلم: أفضل 10 موارد جديدة مع تفسير</a:t>
            </a:r>
          </a:p>
        </p:txBody>
      </p:sp>
      <p:pic>
        <p:nvPicPr>
          <p:cNvPr id="3" name="صورة" descr="لقطة توضيحية لصفحة المتعلم (إعادة تشغيل تاريخية)"/>
          <p:cNvPicPr>
            <a:picLocks noChangeAspect="1"/>
          </p:cNvPicPr>
          <p:nvPr/>
        </p:nvPicPr>
        <p:blipFill>
          <a:blip r:embed="rId2"/>
          <a:srcRect b="50000"/>
          <a:stretch>
            <a:fillRect/>
          </a:stretch>
        </p:blipFill>
        <p:spPr>
          <a:xfrm>
            <a:off x="548640" y="1371600"/>
            <a:ext cx="6018322" cy="4526279"/>
          </a:xfrm>
          <a:prstGeom prst="rect">
            <a:avLst/>
          </a:prstGeom>
          <a:ln w="12700">
            <a:solidFill>
              <a:srgbClr val="CBD5E1"/>
            </a:solidFill>
          </a:ln>
        </p:spPr>
      </p:pic>
      <p:sp>
        <p:nvSpPr>
          <p:cNvPr id="4" name="TextBox 3"/>
          <p:cNvSpPr txBox="1"/>
          <p:nvPr/>
        </p:nvSpPr>
        <p:spPr>
          <a:xfrm>
            <a:off x="548640" y="5943599"/>
            <a:ext cx="6018322" cy="36576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1300" b="0" i="0" lang="ar-SA">
                <a:solidFill>
                  <a:srgbClr val="475569"/>
                </a:solidFill>
                <a:latin typeface="Arial"/>
                <a:cs typeface="Arial"/>
              </a:rPr>
              <a:t>لقطة توضيحية لصفحة المتعلم (إعادة تشغيل تاريخية)</a:t>
            </a:r>
          </a:p>
        </p:txBody>
      </p:sp>
      <p:sp>
        <p:nvSpPr>
          <p:cNvPr id="5" name="بطاقة"/>
          <p:cNvSpPr/>
          <p:nvPr/>
        </p:nvSpPr>
        <p:spPr>
          <a:xfrm>
            <a:off x="6932722" y="1371600"/>
            <a:ext cx="4710332"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رقم"/>
          <p:cNvSpPr/>
          <p:nvPr/>
        </p:nvSpPr>
        <p:spPr>
          <a:xfrm>
            <a:off x="10957255" y="15544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7" name="TextBox 6"/>
          <p:cNvSpPr txBox="1"/>
          <p:nvPr/>
        </p:nvSpPr>
        <p:spPr>
          <a:xfrm>
            <a:off x="7069882" y="1444752"/>
            <a:ext cx="3795932"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شريط اليوم</a:t>
            </a:r>
          </a:p>
        </p:txBody>
      </p:sp>
      <p:sp>
        <p:nvSpPr>
          <p:cNvPr id="8" name="TextBox 7"/>
          <p:cNvSpPr txBox="1"/>
          <p:nvPr/>
        </p:nvSpPr>
        <p:spPr>
          <a:xfrm>
            <a:off x="7069882" y="2084832"/>
            <a:ext cx="4436012"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إعادة تشغيل تاريخية عند أي يوم وقطع</a:t>
            </a:r>
          </a:p>
        </p:txBody>
      </p:sp>
      <p:sp>
        <p:nvSpPr>
          <p:cNvPr id="9" name="بطاقة"/>
          <p:cNvSpPr/>
          <p:nvPr/>
        </p:nvSpPr>
        <p:spPr>
          <a:xfrm>
            <a:off x="6932722" y="3047999"/>
            <a:ext cx="4710332"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رقم"/>
          <p:cNvSpPr/>
          <p:nvPr/>
        </p:nvSpPr>
        <p:spPr>
          <a:xfrm>
            <a:off x="10957255" y="32308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11" name="TextBox 10"/>
          <p:cNvSpPr txBox="1"/>
          <p:nvPr/>
        </p:nvSpPr>
        <p:spPr>
          <a:xfrm>
            <a:off x="7069882" y="3121152"/>
            <a:ext cx="3795932"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بطاقة لكل مورد</a:t>
            </a:r>
          </a:p>
        </p:txBody>
      </p:sp>
      <p:sp>
        <p:nvSpPr>
          <p:cNvPr id="12" name="TextBox 11"/>
          <p:cNvSpPr txBox="1"/>
          <p:nvPr/>
        </p:nvSpPr>
        <p:spPr>
          <a:xfrm>
            <a:off x="7069882" y="3761232"/>
            <a:ext cx="4436012"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الدرجة وجملة سبب بسيطة</a:t>
            </a:r>
          </a:p>
        </p:txBody>
      </p:sp>
      <p:sp>
        <p:nvSpPr>
          <p:cNvPr id="13" name="بطاقة"/>
          <p:cNvSpPr/>
          <p:nvPr/>
        </p:nvSpPr>
        <p:spPr>
          <a:xfrm>
            <a:off x="6932722" y="4724399"/>
            <a:ext cx="4710332"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رقم"/>
          <p:cNvSpPr/>
          <p:nvPr/>
        </p:nvSpPr>
        <p:spPr>
          <a:xfrm>
            <a:off x="10957255" y="49072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5" name="TextBox 14"/>
          <p:cNvSpPr txBox="1"/>
          <p:nvPr/>
        </p:nvSpPr>
        <p:spPr>
          <a:xfrm>
            <a:off x="7069882" y="4797551"/>
            <a:ext cx="3795932"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مساهمة المكوّنات</a:t>
            </a:r>
          </a:p>
        </p:txBody>
      </p:sp>
      <p:sp>
        <p:nvSpPr>
          <p:cNvPr id="16" name="TextBox 15"/>
          <p:cNvSpPr txBox="1"/>
          <p:nvPr/>
        </p:nvSpPr>
        <p:spPr>
          <a:xfrm>
            <a:off x="7069882" y="5437632"/>
            <a:ext cx="4436012"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شريط ملوّن واسم المكوّن نصاً</a:t>
            </a:r>
          </a:p>
        </p:txBody>
      </p:sp>
      <p:sp>
        <p:nvSpPr>
          <p:cNvPr id="17"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8"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9"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لوحة المدرّس: درجة خطر نسبية وملف المتعلم</a:t>
            </a:r>
          </a:p>
        </p:txBody>
      </p:sp>
      <p:pic>
        <p:nvPicPr>
          <p:cNvPr id="3" name="صورة" descr="لقطة توضيحية: درج ملف المتعلم"/>
          <p:cNvPicPr>
            <a:picLocks noChangeAspect="1"/>
          </p:cNvPicPr>
          <p:nvPr/>
        </p:nvPicPr>
        <p:blipFill>
          <a:blip r:embed="rId2"/>
          <a:stretch>
            <a:fillRect/>
          </a:stretch>
        </p:blipFill>
        <p:spPr>
          <a:xfrm>
            <a:off x="548640" y="1405889"/>
            <a:ext cx="7132320" cy="4457700"/>
          </a:xfrm>
          <a:prstGeom prst="rect">
            <a:avLst/>
          </a:prstGeom>
          <a:ln w="12700">
            <a:solidFill>
              <a:srgbClr val="CBD5E1"/>
            </a:solidFill>
          </a:ln>
        </p:spPr>
      </p:pic>
      <p:sp>
        <p:nvSpPr>
          <p:cNvPr id="4" name="TextBox 3"/>
          <p:cNvSpPr txBox="1"/>
          <p:nvPr/>
        </p:nvSpPr>
        <p:spPr>
          <a:xfrm>
            <a:off x="548640" y="5909309"/>
            <a:ext cx="7132320" cy="36576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1300" b="0" i="0" lang="ar-SA">
                <a:solidFill>
                  <a:srgbClr val="475569"/>
                </a:solidFill>
                <a:latin typeface="Arial"/>
                <a:cs typeface="Arial"/>
              </a:rPr>
              <a:t>لقطة توضيحية: درج ملف المتعلم</a:t>
            </a:r>
          </a:p>
        </p:txBody>
      </p:sp>
      <p:sp>
        <p:nvSpPr>
          <p:cNvPr id="5" name="بطاقة"/>
          <p:cNvSpPr/>
          <p:nvPr/>
        </p:nvSpPr>
        <p:spPr>
          <a:xfrm>
            <a:off x="8046719" y="1371600"/>
            <a:ext cx="3596335"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رقم"/>
          <p:cNvSpPr/>
          <p:nvPr/>
        </p:nvSpPr>
        <p:spPr>
          <a:xfrm>
            <a:off x="10957255" y="15544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7" name="TextBox 6"/>
          <p:cNvSpPr txBox="1"/>
          <p:nvPr/>
        </p:nvSpPr>
        <p:spPr>
          <a:xfrm>
            <a:off x="8183879" y="1444752"/>
            <a:ext cx="2681935"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اللوحة من اليوم 56</a:t>
            </a:r>
          </a:p>
        </p:txBody>
      </p:sp>
      <p:sp>
        <p:nvSpPr>
          <p:cNvPr id="8" name="TextBox 7"/>
          <p:cNvSpPr txBox="1"/>
          <p:nvPr/>
        </p:nvSpPr>
        <p:spPr>
          <a:xfrm>
            <a:off x="8183879" y="2084832"/>
            <a:ext cx="3322015"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أول لقطة عناقيد؛ القطوع 56 و112</a:t>
            </a:r>
          </a:p>
        </p:txBody>
      </p:sp>
      <p:sp>
        <p:nvSpPr>
          <p:cNvPr id="9" name="بطاقة"/>
          <p:cNvSpPr/>
          <p:nvPr/>
        </p:nvSpPr>
        <p:spPr>
          <a:xfrm>
            <a:off x="8046719" y="3047999"/>
            <a:ext cx="3596335"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رقم"/>
          <p:cNvSpPr/>
          <p:nvPr/>
        </p:nvSpPr>
        <p:spPr>
          <a:xfrm>
            <a:off x="10957255" y="32308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11" name="TextBox 10"/>
          <p:cNvSpPr txBox="1"/>
          <p:nvPr/>
        </p:nvSpPr>
        <p:spPr>
          <a:xfrm>
            <a:off x="8183879" y="3121152"/>
            <a:ext cx="2681935"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درجة خطر نسبية (غير معايَرة)</a:t>
            </a:r>
          </a:p>
        </p:txBody>
      </p:sp>
      <p:sp>
        <p:nvSpPr>
          <p:cNvPr id="12" name="TextBox 11"/>
          <p:cNvSpPr txBox="1"/>
          <p:nvPr/>
        </p:nvSpPr>
        <p:spPr>
          <a:xfrm>
            <a:off x="8183879" y="3761232"/>
            <a:ext cx="3322015"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للمدرّس فقط، لا احتمال ولا نسبة</a:t>
            </a:r>
          </a:p>
        </p:txBody>
      </p:sp>
      <p:sp>
        <p:nvSpPr>
          <p:cNvPr id="13" name="بطاقة"/>
          <p:cNvSpPr/>
          <p:nvPr/>
        </p:nvSpPr>
        <p:spPr>
          <a:xfrm>
            <a:off x="8046719" y="4724399"/>
            <a:ext cx="3596335"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رقم"/>
          <p:cNvSpPr/>
          <p:nvPr/>
        </p:nvSpPr>
        <p:spPr>
          <a:xfrm>
            <a:off x="10957255" y="49072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5" name="TextBox 14"/>
          <p:cNvSpPr txBox="1"/>
          <p:nvPr/>
        </p:nvSpPr>
        <p:spPr>
          <a:xfrm>
            <a:off x="8183879" y="4797551"/>
            <a:ext cx="2681935"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اتساع التوصيات والتشخيص</a:t>
            </a:r>
          </a:p>
        </p:txBody>
      </p:sp>
      <p:sp>
        <p:nvSpPr>
          <p:cNvPr id="16" name="TextBox 15"/>
          <p:cNvSpPr txBox="1"/>
          <p:nvPr/>
        </p:nvSpPr>
        <p:spPr>
          <a:xfrm>
            <a:off x="8183879" y="5437632"/>
            <a:ext cx="3322015"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بطاقة اتساع وتشخيص التجميع الداخلي</a:t>
            </a:r>
          </a:p>
        </p:txBody>
      </p:sp>
      <p:sp>
        <p:nvSpPr>
          <p:cNvPr id="17"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8"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9"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نتائج التطوير 2013 — وصفية</a:t>
            </a:r>
          </a:p>
        </p:txBody>
      </p:sp>
      <p:sp>
        <p:nvSpPr>
          <p:cNvPr id="3" name="شريط الحالة"/>
          <p:cNvSpPr/>
          <p:nvPr/>
        </p:nvSpPr>
        <p:spPr>
          <a:xfrm>
            <a:off x="548640" y="1261872"/>
            <a:ext cx="11094415" cy="420624"/>
          </a:xfrm>
          <a:prstGeom prst="roundRect">
            <a:avLst>
              <a:gd name="adj" fmla="val 25000"/>
            </a:avLst>
          </a:prstGeom>
          <a:solidFill>
            <a:srgbClr val="CCFBF1"/>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1500" b="1" i="0" lang="ar-SA">
                <a:solidFill>
                  <a:srgbClr val="134E4A"/>
                </a:solidFill>
                <a:latin typeface="Arial"/>
                <a:cs typeface="Arial"/>
              </a:rPr>
              <a:t>تطوير — وصفي: ليست اختباراً للفرضيات</a:t>
            </a:r>
          </a:p>
        </p:txBody>
      </p:sp>
      <p:sp>
        <p:nvSpPr>
          <p:cNvPr id="4" name="عنوان المخطط"/>
          <p:cNvSpPr txBox="1"/>
          <p:nvPr/>
        </p:nvSpPr>
        <p:spPr>
          <a:xfrm>
            <a:off x="4480559" y="1874519"/>
            <a:ext cx="7162495" cy="4114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600" b="1" i="0" lang="ar-SA">
                <a:solidFill>
                  <a:srgbClr val="134E4A"/>
                </a:solidFill>
                <a:latin typeface="Arial"/>
                <a:cs typeface="Arial"/>
              </a:rPr>
              <a:t>الموارد الجديدة: متوسط NDCG@10 عبر 9 عروض</a:t>
            </a:r>
          </a:p>
        </p:txBody>
      </p:sp>
      <p:graphicFrame>
        <p:nvGraphicFramePr>
          <p:cNvPr id="5" name="مخطط أعمدة"/>
          <p:cNvGraphicFramePr>
            <a:graphicFrameLocks noGrp="1"/>
          </p:cNvGraphicFramePr>
          <p:nvPr/>
        </p:nvGraphicFramePr>
        <p:xfrm>
          <a:off x="4480559" y="2331720"/>
          <a:ext cx="7162495" cy="3429000"/>
        </p:xfrm>
        <a:graphic>
          <a:graphicData uri="http://schemas.openxmlformats.org/drawingml/2006/chart">
            <c:chart xmlns:c="http://schemas.openxmlformats.org/drawingml/2006/chart" r:id="rId2"/>
          </a:graphicData>
        </a:graphic>
      </p:graphicFrame>
      <p:sp>
        <p:nvSpPr>
          <p:cNvPr id="6" name="بطاقة"/>
          <p:cNvSpPr/>
          <p:nvPr/>
        </p:nvSpPr>
        <p:spPr>
          <a:xfrm>
            <a:off x="548640" y="1874519"/>
            <a:ext cx="3657600" cy="11430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920239"/>
            <a:ext cx="3474720" cy="43434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3200" b="1" i="0" lang="ar-SA">
                <a:solidFill>
                  <a:srgbClr val="B45309"/>
                </a:solidFill>
                <a:latin typeface="Arial"/>
                <a:cs typeface="Arial"/>
              </a:rPr>
              <a:t>‎0.541‎</a:t>
            </a:r>
          </a:p>
        </p:txBody>
      </p:sp>
      <p:sp>
        <p:nvSpPr>
          <p:cNvPr id="8" name="TextBox 7"/>
          <p:cNvSpPr txBox="1"/>
          <p:nvPr/>
        </p:nvSpPr>
        <p:spPr>
          <a:xfrm>
            <a:off x="685800" y="2354579"/>
            <a:ext cx="3383280" cy="640080"/>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الشعبية الآنية B3: أعلى خط أساس</a:t>
            </a:r>
          </a:p>
        </p:txBody>
      </p:sp>
      <p:sp>
        <p:nvSpPr>
          <p:cNvPr id="9" name="بطاقة"/>
          <p:cNvSpPr/>
          <p:nvPr/>
        </p:nvSpPr>
        <p:spPr>
          <a:xfrm>
            <a:off x="548640" y="3246120"/>
            <a:ext cx="3657600" cy="11430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291839"/>
            <a:ext cx="3474720" cy="43434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3200" b="1" i="0" lang="ar-SA">
                <a:solidFill>
                  <a:srgbClr val="0F766E"/>
                </a:solidFill>
                <a:latin typeface="Arial"/>
                <a:cs typeface="Arial"/>
              </a:rPr>
              <a:t>‎0.531‎</a:t>
            </a:r>
          </a:p>
        </p:txBody>
      </p:sp>
      <p:sp>
        <p:nvSpPr>
          <p:cNvPr id="11" name="TextBox 10"/>
          <p:cNvSpPr txBox="1"/>
          <p:nvPr/>
        </p:nvSpPr>
        <p:spPr>
          <a:xfrm>
            <a:off x="685800" y="3726180"/>
            <a:ext cx="3383280" cy="640080"/>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SKNN: أفضل نموذج شخصي، والفرق عن B3 فاصله يشمل الصفر</a:t>
            </a:r>
          </a:p>
        </p:txBody>
      </p:sp>
      <p:sp>
        <p:nvSpPr>
          <p:cNvPr id="12" name="بطاقة"/>
          <p:cNvSpPr/>
          <p:nvPr/>
        </p:nvSpPr>
        <p:spPr>
          <a:xfrm>
            <a:off x="548640" y="4617720"/>
            <a:ext cx="3657600" cy="11430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663440"/>
            <a:ext cx="3474720" cy="43434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3200" b="1" i="0" lang="ar-SA">
                <a:solidFill>
                  <a:srgbClr val="0F766E"/>
                </a:solidFill>
                <a:latin typeface="Arial"/>
                <a:cs typeface="Arial"/>
              </a:rPr>
              <a:t>‎0.561‎</a:t>
            </a:r>
          </a:p>
        </p:txBody>
      </p:sp>
      <p:sp>
        <p:nvSpPr>
          <p:cNvPr id="14" name="TextBox 13"/>
          <p:cNvSpPr txBox="1"/>
          <p:nvPr/>
        </p:nvSpPr>
        <p:spPr>
          <a:xfrm>
            <a:off x="685800" y="5097780"/>
            <a:ext cx="3383280" cy="640080"/>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الهجين المجمَّد: الفرق عن B3 صغير وفاصله يشمل الصفر</a:t>
            </a:r>
          </a:p>
        </p:txBody>
      </p:sp>
      <p:sp>
        <p:nvSpPr>
          <p:cNvPr id="15" name="TextBox 14"/>
          <p:cNvSpPr txBox="1"/>
          <p:nvPr/>
        </p:nvSpPr>
        <p:spPr>
          <a:xfrm>
            <a:off x="548640" y="5806440"/>
            <a:ext cx="11094415" cy="4114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300" b="0" i="0" lang="ar-SA">
                <a:solidFill>
                  <a:srgbClr val="475569"/>
                </a:solidFill>
                <a:latin typeface="Arial"/>
                <a:cs typeface="Arial"/>
              </a:rPr>
              <a:t>المصدر: results/dev2013/summary.md وhybrid_acceptance.md؛ تطوير — وصفي</a:t>
            </a:r>
          </a:p>
        </p:txBody>
      </p:sp>
      <p:sp>
        <p:nvSpPr>
          <p:cNvPr id="16"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7"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8"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نتائج التأكيد 2014: الفرضيات الأربع والاستكشافية</a:t>
            </a:r>
          </a:p>
        </p:txBody>
      </p:sp>
      <p:sp>
        <p:nvSpPr>
          <p:cNvPr id="3" name="شريط الحالة"/>
          <p:cNvSpPr/>
          <p:nvPr/>
        </p:nvSpPr>
        <p:spPr>
          <a:xfrm>
            <a:off x="548640" y="1261872"/>
            <a:ext cx="11094415" cy="420624"/>
          </a:xfrm>
          <a:prstGeom prst="roundRect">
            <a:avLst>
              <a:gd name="adj" fmla="val 25000"/>
            </a:avLst>
          </a:prstGeom>
          <a:solidFill>
            <a:srgbClr val="FEF3C7"/>
          </a:solidFill>
          <a:ln w="12700">
            <a:solidFill>
              <a:srgbClr val="B4530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1500" b="1" i="0" lang="ar-SA">
                <a:solidFill>
                  <a:srgbClr val="92400E"/>
                </a:solidFill>
                <a:latin typeface="Arial"/>
                <a:cs typeface="Arial"/>
              </a:rPr>
              <a:t>[2014] قيد الاستكمال: تُملأ من نتائج التشغيل التأكيدي الوحيد</a:t>
            </a:r>
          </a:p>
        </p:txBody>
      </p:sp>
      <p:graphicFrame>
        <p:nvGraphicFramePr>
          <p:cNvPr id="4" name="جدول"/>
          <p:cNvGraphicFramePr>
            <a:graphicFrameLocks noGrp="1"/>
          </p:cNvGraphicFramePr>
          <p:nvPr/>
        </p:nvGraphicFramePr>
        <p:xfrm>
          <a:off x="548640" y="1874519"/>
          <a:ext cx="11094412" cy="3794760"/>
        </p:xfrm>
        <a:graphic>
          <a:graphicData uri="http://schemas.openxmlformats.org/drawingml/2006/table">
            <a:tbl>
              <a:tblPr firstRow="1" bandRow="0">
                <a:tableStyleId>{5C22544A-7EE6-4342-B048-85BDC9FD1C3A}</a:tableStyleId>
              </a:tblPr>
              <a:tblGrid>
                <a:gridCol w="1636880"/>
                <a:gridCol w="1545943"/>
                <a:gridCol w="1455005"/>
                <a:gridCol w="1818756"/>
                <a:gridCol w="1364067"/>
                <a:gridCol w="3273761"/>
              </a:tblGrid>
              <a:tr h="632460">
                <a:tc>
                  <a:txBody>
                    <a:bodyPr wrap="square"/>
                    <a:lstStyle/>
                    <a:p>
                      <a:pPr rtl="1" algn="r"/>
                      <a:r>
                        <a:rPr sz="1500" b="1" i="0" lang="ar-SA">
                          <a:solidFill>
                            <a:srgbClr val="FFFFFF"/>
                          </a:solidFill>
                          <a:latin typeface="Arial"/>
                          <a:cs typeface="Arial"/>
                        </a:rPr>
                        <a:t>الحكم</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MDE80 المجمَّد</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p المصحَّحة</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فاصل الثقة 95%</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الفرق Δ̄</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الفرضية</a:t>
                      </a:r>
                    </a:p>
                  </a:txBody>
                  <a:tcPr anchor="ctr" marL="91440" marR="91440" marT="36576" marB="36576">
                    <a:solidFill>
                      <a:srgbClr val="0F766E"/>
                    </a:solidFill>
                  </a:tcPr>
                </a:tc>
              </a:tr>
              <a:tr h="632460">
                <a:tc>
                  <a:txBody>
                    <a:bodyPr wrap="square"/>
                    <a:lstStyle/>
                    <a:p>
                      <a:pPr rtl="1" algn="ctr"/>
                      <a:r>
                        <a:rPr sz="1500" b="0" i="1" lang="ar-SA">
                          <a:solidFill>
                            <a:srgbClr val="92400E"/>
                          </a:solidFill>
                          <a:latin typeface="Arial"/>
                          <a:cs typeface="Arial"/>
                        </a:rPr>
                        <a:t>[2014]</a:t>
                      </a:r>
                    </a:p>
                  </a:txBody>
                  <a:tcPr anchor="ctr" marL="91440" marR="91440" marT="36576" marB="36576">
                    <a:solidFill>
                      <a:srgbClr val="FEF3C7"/>
                    </a:solidFill>
                  </a:tcPr>
                </a:tc>
                <a:tc>
                  <a:txBody>
                    <a:bodyPr wrap="square"/>
                    <a:lstStyle/>
                    <a:p>
                      <a:pPr rtl="1" algn="r"/>
                      <a:r>
                        <a:rPr sz="1500" b="0" i="0" lang="ar-SA">
                          <a:solidFill>
                            <a:srgbClr val="134E4A"/>
                          </a:solidFill>
                          <a:latin typeface="Arial"/>
                          <a:cs typeface="Arial"/>
                        </a:rPr>
                        <a:t>0.0375</a:t>
                      </a:r>
                    </a:p>
                  </a:txBody>
                  <a:tcPr anchor="ctr" marL="91440" marR="91440" marT="36576" marB="36576">
                    <a:solidFill>
                      <a:srgbClr val="FFFFFF"/>
                    </a:solidFill>
                  </a:tcPr>
                </a:tc>
                <a:tc>
                  <a:txBody>
                    <a:bodyPr wrap="square"/>
                    <a:lstStyle/>
                    <a:p>
                      <a:pPr rtl="1" algn="ctr"/>
                      <a:r>
                        <a:rPr sz="1500" b="0" i="1" lang="ar-SA">
                          <a:solidFill>
                            <a:srgbClr val="92400E"/>
                          </a:solidFill>
                          <a:latin typeface="Arial"/>
                          <a:cs typeface="Arial"/>
                        </a:rPr>
                        <a:t>[2014]</a:t>
                      </a:r>
                    </a:p>
                  </a:txBody>
                  <a:tcPr anchor="ctr" marL="91440" marR="91440" marT="36576" marB="36576">
                    <a:solidFill>
                      <a:srgbClr val="FEF3C7"/>
                    </a:solidFill>
                  </a:tcPr>
                </a:tc>
                <a:tc>
                  <a:txBody>
                    <a:bodyPr wrap="square"/>
                    <a:lstStyle/>
                    <a:p>
                      <a:pPr rtl="1" algn="ctr"/>
                      <a:r>
                        <a:rPr sz="1500" b="0" i="1" lang="ar-SA">
                          <a:solidFill>
                            <a:srgbClr val="92400E"/>
                          </a:solidFill>
                          <a:latin typeface="Arial"/>
                          <a:cs typeface="Arial"/>
                        </a:rPr>
                        <a:t>[2014]</a:t>
                      </a:r>
                    </a:p>
                  </a:txBody>
                  <a:tcPr anchor="ctr" marL="91440" marR="91440" marT="36576" marB="36576">
                    <a:solidFill>
                      <a:srgbClr val="FEF3C7"/>
                    </a:solidFill>
                  </a:tcPr>
                </a:tc>
                <a:tc>
                  <a:txBody>
                    <a:bodyPr wrap="square"/>
                    <a:lstStyle/>
                    <a:p>
                      <a:pPr rtl="1" algn="ctr"/>
                      <a:r>
                        <a:rPr sz="1500" b="0" i="1" lang="ar-SA">
                          <a:solidFill>
                            <a:srgbClr val="92400E"/>
                          </a:solidFill>
                          <a:latin typeface="Arial"/>
                          <a:cs typeface="Arial"/>
                        </a:rPr>
                        <a:t>[2014]</a:t>
                      </a:r>
                    </a:p>
                  </a:txBody>
                  <a:tcPr anchor="ctr" marL="91440" marR="91440" marT="36576" marB="36576">
                    <a:solidFill>
                      <a:srgbClr val="FEF3C7"/>
                    </a:solidFill>
                  </a:tcPr>
                </a:tc>
                <a:tc>
                  <a:txBody>
                    <a:bodyPr wrap="square"/>
                    <a:lstStyle/>
                    <a:p>
                      <a:pPr rtl="1" algn="r"/>
                      <a:r>
                        <a:rPr sz="1500" b="1" i="0" lang="ar-SA">
                          <a:solidFill>
                            <a:srgbClr val="134E4A"/>
                          </a:solidFill>
                          <a:latin typeface="Arial"/>
                          <a:cs typeface="Arial"/>
                        </a:rPr>
                        <a:t>H1 · الهجين مقابل أقوى خط أساس غير شخصي</a:t>
                      </a:r>
                    </a:p>
                  </a:txBody>
                  <a:tcPr anchor="ctr" marL="91440" marR="91440" marT="36576" marB="36576">
                    <a:solidFill>
                      <a:srgbClr val="FFFFFF"/>
                    </a:solidFill>
                  </a:tcPr>
                </a:tc>
              </a:tr>
              <a:tr h="632460">
                <a:tc>
                  <a:txBody>
                    <a:bodyPr wrap="square"/>
                    <a:lstStyle/>
                    <a:p>
                      <a:pPr rtl="1" algn="ctr"/>
                      <a:r>
                        <a:rPr sz="1500" b="0" i="1" lang="ar-SA">
                          <a:solidFill>
                            <a:srgbClr val="92400E"/>
                          </a:solidFill>
                          <a:latin typeface="Arial"/>
                          <a:cs typeface="Arial"/>
                        </a:rPr>
                        <a:t>[2014]</a:t>
                      </a:r>
                    </a:p>
                  </a:txBody>
                  <a:tcPr anchor="ctr" marL="91440" marR="91440" marT="36576" marB="36576">
                    <a:solidFill>
                      <a:srgbClr val="FEF3C7"/>
                    </a:solidFill>
                  </a:tcPr>
                </a:tc>
                <a:tc>
                  <a:txBody>
                    <a:bodyPr wrap="square"/>
                    <a:lstStyle/>
                    <a:p>
                      <a:pPr rtl="1" algn="r"/>
                      <a:r>
                        <a:rPr sz="1500" b="0" i="0" lang="ar-SA">
                          <a:solidFill>
                            <a:srgbClr val="134E4A"/>
                          </a:solidFill>
                          <a:latin typeface="Arial"/>
                          <a:cs typeface="Arial"/>
                        </a:rPr>
                        <a:t>0.045</a:t>
                      </a:r>
                    </a:p>
                  </a:txBody>
                  <a:tcPr anchor="ctr" marL="91440" marR="91440" marT="36576" marB="36576">
                    <a:solidFill>
                      <a:srgbClr val="EEF2F6"/>
                    </a:solidFill>
                  </a:tcPr>
                </a:tc>
                <a:tc>
                  <a:txBody>
                    <a:bodyPr wrap="square"/>
                    <a:lstStyle/>
                    <a:p>
                      <a:pPr rtl="1" algn="ctr"/>
                      <a:r>
                        <a:rPr sz="1500" b="0" i="1" lang="ar-SA">
                          <a:solidFill>
                            <a:srgbClr val="92400E"/>
                          </a:solidFill>
                          <a:latin typeface="Arial"/>
                          <a:cs typeface="Arial"/>
                        </a:rPr>
                        <a:t>[2014]</a:t>
                      </a:r>
                    </a:p>
                  </a:txBody>
                  <a:tcPr anchor="ctr" marL="91440" marR="91440" marT="36576" marB="36576">
                    <a:solidFill>
                      <a:srgbClr val="FEF3C7"/>
                    </a:solidFill>
                  </a:tcPr>
                </a:tc>
                <a:tc>
                  <a:txBody>
                    <a:bodyPr wrap="square"/>
                    <a:lstStyle/>
                    <a:p>
                      <a:pPr rtl="1" algn="ctr"/>
                      <a:r>
                        <a:rPr sz="1500" b="0" i="1" lang="ar-SA">
                          <a:solidFill>
                            <a:srgbClr val="92400E"/>
                          </a:solidFill>
                          <a:latin typeface="Arial"/>
                          <a:cs typeface="Arial"/>
                        </a:rPr>
                        <a:t>[2014]</a:t>
                      </a:r>
                    </a:p>
                  </a:txBody>
                  <a:tcPr anchor="ctr" marL="91440" marR="91440" marT="36576" marB="36576">
                    <a:solidFill>
                      <a:srgbClr val="FEF3C7"/>
                    </a:solidFill>
                  </a:tcPr>
                </a:tc>
                <a:tc>
                  <a:txBody>
                    <a:bodyPr wrap="square"/>
                    <a:lstStyle/>
                    <a:p>
                      <a:pPr rtl="1" algn="ctr"/>
                      <a:r>
                        <a:rPr sz="1500" b="0" i="1" lang="ar-SA">
                          <a:solidFill>
                            <a:srgbClr val="92400E"/>
                          </a:solidFill>
                          <a:latin typeface="Arial"/>
                          <a:cs typeface="Arial"/>
                        </a:rPr>
                        <a:t>[2014]</a:t>
                      </a:r>
                    </a:p>
                  </a:txBody>
                  <a:tcPr anchor="ctr" marL="91440" marR="91440" marT="36576" marB="36576">
                    <a:solidFill>
                      <a:srgbClr val="FEF3C7"/>
                    </a:solidFill>
                  </a:tcPr>
                </a:tc>
                <a:tc>
                  <a:txBody>
                    <a:bodyPr wrap="square"/>
                    <a:lstStyle/>
                    <a:p>
                      <a:pPr rtl="1" algn="r"/>
                      <a:r>
                        <a:rPr sz="1500" b="1" i="0" lang="ar-SA">
                          <a:solidFill>
                            <a:srgbClr val="134E4A"/>
                          </a:solidFill>
                          <a:latin typeface="Arial"/>
                          <a:cs typeface="Arial"/>
                        </a:rPr>
                        <a:t>H2-أ · WRMF بالإشارة الموزونة مقابل الثنائية</a:t>
                      </a:r>
                    </a:p>
                  </a:txBody>
                  <a:tcPr anchor="ctr" marL="91440" marR="91440" marT="36576" marB="36576">
                    <a:solidFill>
                      <a:srgbClr val="EEF2F6"/>
                    </a:solidFill>
                  </a:tcPr>
                </a:tc>
              </a:tr>
              <a:tr h="632460">
                <a:tc>
                  <a:txBody>
                    <a:bodyPr wrap="square"/>
                    <a:lstStyle/>
                    <a:p>
                      <a:pPr rtl="1" algn="ctr"/>
                      <a:r>
                        <a:rPr sz="1500" b="0" i="1" lang="ar-SA">
                          <a:solidFill>
                            <a:srgbClr val="92400E"/>
                          </a:solidFill>
                          <a:latin typeface="Arial"/>
                          <a:cs typeface="Arial"/>
                        </a:rPr>
                        <a:t>[2014]</a:t>
                      </a:r>
                    </a:p>
                  </a:txBody>
                  <a:tcPr anchor="ctr" marL="91440" marR="91440" marT="36576" marB="36576">
                    <a:solidFill>
                      <a:srgbClr val="FEF3C7"/>
                    </a:solidFill>
                  </a:tcPr>
                </a:tc>
                <a:tc>
                  <a:txBody>
                    <a:bodyPr wrap="square"/>
                    <a:lstStyle/>
                    <a:p>
                      <a:pPr rtl="1" algn="r"/>
                      <a:r>
                        <a:rPr sz="1500" b="0" i="0" lang="ar-SA">
                          <a:solidFill>
                            <a:srgbClr val="134E4A"/>
                          </a:solidFill>
                          <a:latin typeface="Arial"/>
                          <a:cs typeface="Arial"/>
                        </a:rPr>
                        <a:t>0.050</a:t>
                      </a:r>
                    </a:p>
                  </a:txBody>
                  <a:tcPr anchor="ctr" marL="91440" marR="91440" marT="36576" marB="36576">
                    <a:solidFill>
                      <a:srgbClr val="FFFFFF"/>
                    </a:solidFill>
                  </a:tcPr>
                </a:tc>
                <a:tc>
                  <a:txBody>
                    <a:bodyPr wrap="square"/>
                    <a:lstStyle/>
                    <a:p>
                      <a:pPr rtl="1" algn="ctr"/>
                      <a:r>
                        <a:rPr sz="1500" b="0" i="1" lang="ar-SA">
                          <a:solidFill>
                            <a:srgbClr val="92400E"/>
                          </a:solidFill>
                          <a:latin typeface="Arial"/>
                          <a:cs typeface="Arial"/>
                        </a:rPr>
                        <a:t>[2014]</a:t>
                      </a:r>
                    </a:p>
                  </a:txBody>
                  <a:tcPr anchor="ctr" marL="91440" marR="91440" marT="36576" marB="36576">
                    <a:solidFill>
                      <a:srgbClr val="FEF3C7"/>
                    </a:solidFill>
                  </a:tcPr>
                </a:tc>
                <a:tc>
                  <a:txBody>
                    <a:bodyPr wrap="square"/>
                    <a:lstStyle/>
                    <a:p>
                      <a:pPr rtl="1" algn="ctr"/>
                      <a:r>
                        <a:rPr sz="1500" b="0" i="1" lang="ar-SA">
                          <a:solidFill>
                            <a:srgbClr val="92400E"/>
                          </a:solidFill>
                          <a:latin typeface="Arial"/>
                          <a:cs typeface="Arial"/>
                        </a:rPr>
                        <a:t>[2014]</a:t>
                      </a:r>
                    </a:p>
                  </a:txBody>
                  <a:tcPr anchor="ctr" marL="91440" marR="91440" marT="36576" marB="36576">
                    <a:solidFill>
                      <a:srgbClr val="FEF3C7"/>
                    </a:solidFill>
                  </a:tcPr>
                </a:tc>
                <a:tc>
                  <a:txBody>
                    <a:bodyPr wrap="square"/>
                    <a:lstStyle/>
                    <a:p>
                      <a:pPr rtl="1" algn="ctr"/>
                      <a:r>
                        <a:rPr sz="1500" b="0" i="1" lang="ar-SA">
                          <a:solidFill>
                            <a:srgbClr val="92400E"/>
                          </a:solidFill>
                          <a:latin typeface="Arial"/>
                          <a:cs typeface="Arial"/>
                        </a:rPr>
                        <a:t>[2014]</a:t>
                      </a:r>
                    </a:p>
                  </a:txBody>
                  <a:tcPr anchor="ctr" marL="91440" marR="91440" marT="36576" marB="36576">
                    <a:solidFill>
                      <a:srgbClr val="FEF3C7"/>
                    </a:solidFill>
                  </a:tcPr>
                </a:tc>
                <a:tc>
                  <a:txBody>
                    <a:bodyPr wrap="square"/>
                    <a:lstStyle/>
                    <a:p>
                      <a:pPr rtl="1" algn="r"/>
                      <a:r>
                        <a:rPr sz="1500" b="1" i="0" lang="ar-SA">
                          <a:solidFill>
                            <a:srgbClr val="134E4A"/>
                          </a:solidFill>
                          <a:latin typeface="Arial"/>
                          <a:cs typeface="Arial"/>
                        </a:rPr>
                        <a:t>H3 · GRU-lite مقابل أفضل تسلسلي غير عصبوني</a:t>
                      </a:r>
                    </a:p>
                  </a:txBody>
                  <a:tcPr anchor="ctr" marL="91440" marR="91440" marT="36576" marB="36576">
                    <a:solidFill>
                      <a:srgbClr val="FFFFFF"/>
                    </a:solidFill>
                  </a:tcPr>
                </a:tc>
              </a:tr>
              <a:tr h="632460">
                <a:tc>
                  <a:txBody>
                    <a:bodyPr wrap="square"/>
                    <a:lstStyle/>
                    <a:p>
                      <a:pPr rtl="1" algn="ctr"/>
                      <a:r>
                        <a:rPr sz="1500" b="0" i="1" lang="ar-SA">
                          <a:solidFill>
                            <a:srgbClr val="92400E"/>
                          </a:solidFill>
                          <a:latin typeface="Arial"/>
                          <a:cs typeface="Arial"/>
                        </a:rPr>
                        <a:t>[2014]</a:t>
                      </a:r>
                    </a:p>
                  </a:txBody>
                  <a:tcPr anchor="ctr" marL="91440" marR="91440" marT="36576" marB="36576">
                    <a:solidFill>
                      <a:srgbClr val="FEF3C7"/>
                    </a:solidFill>
                  </a:tcPr>
                </a:tc>
                <a:tc>
                  <a:txBody>
                    <a:bodyPr wrap="square"/>
                    <a:lstStyle/>
                    <a:p>
                      <a:pPr rtl="1" algn="r"/>
                      <a:r>
                        <a:rPr sz="1500" b="0" i="0" lang="ar-SA">
                          <a:solidFill>
                            <a:srgbClr val="134E4A"/>
                          </a:solidFill>
                          <a:latin typeface="Arial"/>
                          <a:cs typeface="Arial"/>
                        </a:rPr>
                        <a:t>0.0225</a:t>
                      </a:r>
                    </a:p>
                  </a:txBody>
                  <a:tcPr anchor="ctr" marL="91440" marR="91440" marT="36576" marB="36576">
                    <a:solidFill>
                      <a:srgbClr val="EEF2F6"/>
                    </a:solidFill>
                  </a:tcPr>
                </a:tc>
                <a:tc>
                  <a:txBody>
                    <a:bodyPr wrap="square"/>
                    <a:lstStyle/>
                    <a:p>
                      <a:pPr rtl="1" algn="ctr"/>
                      <a:r>
                        <a:rPr sz="1500" b="0" i="1" lang="ar-SA">
                          <a:solidFill>
                            <a:srgbClr val="92400E"/>
                          </a:solidFill>
                          <a:latin typeface="Arial"/>
                          <a:cs typeface="Arial"/>
                        </a:rPr>
                        <a:t>[2014]</a:t>
                      </a:r>
                    </a:p>
                  </a:txBody>
                  <a:tcPr anchor="ctr" marL="91440" marR="91440" marT="36576" marB="36576">
                    <a:solidFill>
                      <a:srgbClr val="FEF3C7"/>
                    </a:solidFill>
                  </a:tcPr>
                </a:tc>
                <a:tc>
                  <a:txBody>
                    <a:bodyPr wrap="square"/>
                    <a:lstStyle/>
                    <a:p>
                      <a:pPr rtl="1" algn="ctr"/>
                      <a:r>
                        <a:rPr sz="1500" b="0" i="1" lang="ar-SA">
                          <a:solidFill>
                            <a:srgbClr val="92400E"/>
                          </a:solidFill>
                          <a:latin typeface="Arial"/>
                          <a:cs typeface="Arial"/>
                        </a:rPr>
                        <a:t>[2014]</a:t>
                      </a:r>
                    </a:p>
                  </a:txBody>
                  <a:tcPr anchor="ctr" marL="91440" marR="91440" marT="36576" marB="36576">
                    <a:solidFill>
                      <a:srgbClr val="FEF3C7"/>
                    </a:solidFill>
                  </a:tcPr>
                </a:tc>
                <a:tc>
                  <a:txBody>
                    <a:bodyPr wrap="square"/>
                    <a:lstStyle/>
                    <a:p>
                      <a:pPr rtl="1" algn="ctr"/>
                      <a:r>
                        <a:rPr sz="1500" b="0" i="1" lang="ar-SA">
                          <a:solidFill>
                            <a:srgbClr val="92400E"/>
                          </a:solidFill>
                          <a:latin typeface="Arial"/>
                          <a:cs typeface="Arial"/>
                        </a:rPr>
                        <a:t>[2014]</a:t>
                      </a:r>
                    </a:p>
                  </a:txBody>
                  <a:tcPr anchor="ctr" marL="91440" marR="91440" marT="36576" marB="36576">
                    <a:solidFill>
                      <a:srgbClr val="FEF3C7"/>
                    </a:solidFill>
                  </a:tcPr>
                </a:tc>
                <a:tc>
                  <a:txBody>
                    <a:bodyPr wrap="square"/>
                    <a:lstStyle/>
                    <a:p>
                      <a:pPr rtl="1" algn="r"/>
                      <a:r>
                        <a:rPr sz="1500" b="1" i="0" lang="ar-SA">
                          <a:solidFill>
                            <a:srgbClr val="134E4A"/>
                          </a:solidFill>
                          <a:latin typeface="Arial"/>
                          <a:cs typeface="Arial"/>
                        </a:rPr>
                        <a:t>H4-أ · ملامح VLE مقابل مجموع النقرات (AUC)</a:t>
                      </a:r>
                    </a:p>
                  </a:txBody>
                  <a:tcPr anchor="ctr" marL="91440" marR="91440" marT="36576" marB="36576">
                    <a:solidFill>
                      <a:srgbClr val="EEF2F6"/>
                    </a:solidFill>
                  </a:tcPr>
                </a:tc>
              </a:tr>
              <a:tr h="632460">
                <a:tc>
                  <a:txBody>
                    <a:bodyPr wrap="square"/>
                    <a:lstStyle/>
                    <a:p>
                      <a:pPr rtl="1" algn="r"/>
                      <a:r>
                        <a:rPr sz="1500" b="1" i="0" lang="ar-SA">
                          <a:solidFill>
                            <a:srgbClr val="134E4A"/>
                          </a:solidFill>
                          <a:latin typeface="Arial"/>
                          <a:cs typeface="Arial"/>
                        </a:rPr>
                        <a:t>استكشافي — لا حكم</a:t>
                      </a:r>
                    </a:p>
                  </a:txBody>
                  <a:tcPr anchor="ctr" marL="91440" marR="91440" marT="36576" marB="36576">
                    <a:solidFill>
                      <a:srgbClr val="CCFBF1"/>
                    </a:solidFill>
                  </a:tcPr>
                </a:tc>
                <a:tc>
                  <a:txBody>
                    <a:bodyPr wrap="square"/>
                    <a:lstStyle/>
                    <a:p>
                      <a:pPr rtl="1" algn="r"/>
                      <a:r>
                        <a:rPr sz="1500" b="0" i="0" lang="ar-SA">
                          <a:solidFill>
                            <a:srgbClr val="134E4A"/>
                          </a:solidFill>
                          <a:latin typeface="Arial"/>
                          <a:cs typeface="Arial"/>
                        </a:rPr>
                        <a:t>—</a:t>
                      </a:r>
                    </a:p>
                  </a:txBody>
                  <a:tcPr anchor="ctr" marL="91440" marR="91440" marT="36576" marB="36576">
                    <a:solidFill>
                      <a:srgbClr val="CCFBF1"/>
                    </a:solidFill>
                  </a:tcPr>
                </a:tc>
                <a:tc>
                  <a:txBody>
                    <a:bodyPr wrap="square"/>
                    <a:lstStyle/>
                    <a:p>
                      <a:pPr rtl="1" algn="ctr"/>
                      <a:r>
                        <a:rPr sz="1500" b="0" i="1" lang="ar-SA">
                          <a:solidFill>
                            <a:srgbClr val="92400E"/>
                          </a:solidFill>
                          <a:latin typeface="Arial"/>
                          <a:cs typeface="Arial"/>
                        </a:rPr>
                        <a:t>[2014] غير مصحَّحة</a:t>
                      </a:r>
                    </a:p>
                  </a:txBody>
                  <a:tcPr anchor="ctr" marL="91440" marR="91440" marT="36576" marB="36576">
                    <a:solidFill>
                      <a:srgbClr val="FEF3C7"/>
                    </a:solidFill>
                  </a:tcPr>
                </a:tc>
                <a:tc>
                  <a:txBody>
                    <a:bodyPr wrap="square"/>
                    <a:lstStyle/>
                    <a:p>
                      <a:pPr rtl="1" algn="ctr"/>
                      <a:r>
                        <a:rPr sz="1500" b="0" i="1" lang="ar-SA">
                          <a:solidFill>
                            <a:srgbClr val="92400E"/>
                          </a:solidFill>
                          <a:latin typeface="Arial"/>
                          <a:cs typeface="Arial"/>
                        </a:rPr>
                        <a:t>[2014]</a:t>
                      </a:r>
                    </a:p>
                  </a:txBody>
                  <a:tcPr anchor="ctr" marL="91440" marR="91440" marT="36576" marB="36576">
                    <a:solidFill>
                      <a:srgbClr val="FEF3C7"/>
                    </a:solidFill>
                  </a:tcPr>
                </a:tc>
                <a:tc>
                  <a:txBody>
                    <a:bodyPr wrap="square"/>
                    <a:lstStyle/>
                    <a:p>
                      <a:pPr rtl="1" algn="ctr"/>
                      <a:r>
                        <a:rPr sz="1500" b="0" i="1" lang="ar-SA">
                          <a:solidFill>
                            <a:srgbClr val="92400E"/>
                          </a:solidFill>
                          <a:latin typeface="Arial"/>
                          <a:cs typeface="Arial"/>
                        </a:rPr>
                        <a:t>[2014]</a:t>
                      </a:r>
                    </a:p>
                  </a:txBody>
                  <a:tcPr anchor="ctr" marL="91440" marR="91440" marT="36576" marB="36576">
                    <a:solidFill>
                      <a:srgbClr val="FEF3C7"/>
                    </a:solidFill>
                  </a:tcPr>
                </a:tc>
                <a:tc>
                  <a:txBody>
                    <a:bodyPr wrap="square"/>
                    <a:lstStyle/>
                    <a:p>
                      <a:pPr rtl="1" algn="ctr"/>
                      <a:r>
                        <a:rPr sz="1500" b="1" i="0" lang="ar-SA">
                          <a:solidFill>
                            <a:srgbClr val="134E4A"/>
                          </a:solidFill>
                          <a:latin typeface="Arial"/>
                          <a:cs typeface="Arial"/>
                        </a:rPr>
                        <a:t>H4-ب · الهجين مع شعبية العنقود مقابل SKNN وحده (الربع الأقل تاريخاً)</a:t>
                      </a:r>
                    </a:p>
                  </a:txBody>
                  <a:tcPr anchor="ctr" marL="91440" marR="91440" marT="36576" marB="36576">
                    <a:solidFill>
                      <a:srgbClr val="CCFBF1"/>
                    </a:solidFill>
                  </a:tcPr>
                </a:tc>
              </a:tr>
            </a:tbl>
          </a:graphicData>
        </a:graphic>
      </p:graphicFrame>
      <p:sp>
        <p:nvSpPr>
          <p:cNvPr id="5" name="TextBox 4"/>
          <p:cNvSpPr txBox="1"/>
          <p:nvPr/>
        </p:nvSpPr>
        <p:spPr>
          <a:xfrm>
            <a:off x="548640" y="5760720"/>
            <a:ext cx="11094415" cy="50292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400" b="0" i="0" lang="ar-SA">
                <a:solidFill>
                  <a:srgbClr val="475569"/>
                </a:solidFill>
                <a:latin typeface="Arial"/>
                <a:cs typeface="Arial"/>
              </a:rPr>
              <a:t>13 عرضاً؛ δ = 0.02؛ هولم على الأربع. «غير حاسمة: لا يكشف التصميم بقوة 80% أثراً أصغر من MDE80 = x»؛ ويُكتب صراحةً حين يتجاوز MDE80 ضعف δ (H2-أ وH3). الصف الأخير استكشافي: فاصل وp غير مصحَّحة ولا يدخل عائلة هولم.</a:t>
            </a:r>
          </a:p>
        </p:txBody>
      </p:sp>
      <p:sp>
        <p:nvSpPr>
          <p:cNvPr id="6"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7"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8"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الأشكال: الاستئصال والحساسيات</a:t>
            </a:r>
          </a:p>
        </p:txBody>
      </p:sp>
      <p:sp>
        <p:nvSpPr>
          <p:cNvPr id="3" name="شريط الحالة"/>
          <p:cNvSpPr/>
          <p:nvPr/>
        </p:nvSpPr>
        <p:spPr>
          <a:xfrm>
            <a:off x="548640" y="1261872"/>
            <a:ext cx="11094415" cy="420624"/>
          </a:xfrm>
          <a:prstGeom prst="roundRect">
            <a:avLst>
              <a:gd name="adj" fmla="val 25000"/>
            </a:avLst>
          </a:prstGeom>
          <a:solidFill>
            <a:srgbClr val="FEF3C7"/>
          </a:solidFill>
          <a:ln w="12700">
            <a:solidFill>
              <a:srgbClr val="B4530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1500" b="1" i="0" lang="ar-SA">
                <a:solidFill>
                  <a:srgbClr val="92400E"/>
                </a:solidFill>
                <a:latin typeface="Arial"/>
                <a:cs typeface="Arial"/>
              </a:rPr>
              <a:t>[2014] قيد الاستكمال: تُملأ بأشكال PNG من results/conf2014/</a:t>
            </a:r>
          </a:p>
        </p:txBody>
      </p:sp>
      <p:sp>
        <p:nvSpPr>
          <p:cNvPr id="4" name="لوحة"/>
          <p:cNvSpPr/>
          <p:nvPr/>
        </p:nvSpPr>
        <p:spPr>
          <a:xfrm>
            <a:off x="8127796" y="1874519"/>
            <a:ext cx="3515258" cy="429768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64956" y="1965960"/>
            <a:ext cx="3240938"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استئصال الإشارة</a:t>
            </a:r>
          </a:p>
        </p:txBody>
      </p:sp>
      <p:sp>
        <p:nvSpPr>
          <p:cNvPr id="6" name="TextBox 5"/>
          <p:cNvSpPr txBox="1"/>
          <p:nvPr/>
        </p:nvSpPr>
        <p:spPr>
          <a:xfrm>
            <a:off x="8264956" y="2697479"/>
            <a:ext cx="3240938" cy="82296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500" b="0" i="0" lang="ar-SA">
                <a:solidFill>
                  <a:srgbClr val="475569"/>
                </a:solidFill>
                <a:latin typeface="Arial"/>
                <a:cs typeface="Arial"/>
              </a:rPr>
              <a:t>L0 ⊂ L1 ⊂ L2 ⊂ L3 في WRMF وItem-kNN</a:t>
            </a:r>
          </a:p>
        </p:txBody>
      </p:sp>
      <p:sp>
        <p:nvSpPr>
          <p:cNvPr id="7" name="مكان النتيجة"/>
          <p:cNvSpPr/>
          <p:nvPr/>
        </p:nvSpPr>
        <p:spPr>
          <a:xfrm>
            <a:off x="8310676" y="3611879"/>
            <a:ext cx="3149498" cy="2377440"/>
          </a:xfrm>
          <a:prstGeom prst="roundRect">
            <a:avLst>
              <a:gd name="adj" fmla="val 8000"/>
            </a:avLst>
          </a:prstGeom>
          <a:solidFill>
            <a:srgbClr val="FEF3C7"/>
          </a:solidFill>
          <a:ln w="19050">
            <a:solidFill>
              <a:srgbClr val="B4530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800" b="1" i="1" lang="ar-SA">
                <a:solidFill>
                  <a:srgbClr val="92400E"/>
                </a:solidFill>
                <a:latin typeface="Arial"/>
                <a:cs typeface="Arial"/>
              </a:rPr>
              <a:t>[2014] شكل</a:t>
            </a:r>
          </a:p>
        </p:txBody>
      </p:sp>
      <p:sp>
        <p:nvSpPr>
          <p:cNvPr id="8" name="لوحة"/>
          <p:cNvSpPr/>
          <p:nvPr/>
        </p:nvSpPr>
        <p:spPr>
          <a:xfrm>
            <a:off x="4338218" y="1874519"/>
            <a:ext cx="3515258" cy="429768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75378" y="1965960"/>
            <a:ext cx="3240938"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استئصال مكوّنات الهجين</a:t>
            </a:r>
          </a:p>
        </p:txBody>
      </p:sp>
      <p:sp>
        <p:nvSpPr>
          <p:cNvPr id="10" name="TextBox 9"/>
          <p:cNvSpPr txBox="1"/>
          <p:nvPr/>
        </p:nvSpPr>
        <p:spPr>
          <a:xfrm>
            <a:off x="4475378" y="2697479"/>
            <a:ext cx="3240938" cy="82296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500" b="0" i="0" lang="ar-SA">
                <a:solidFill>
                  <a:srgbClr val="475569"/>
                </a:solidFill>
                <a:latin typeface="Arial"/>
                <a:cs typeface="Arial"/>
              </a:rPr>
              <a:t>حذف كل مكوّن مع إعادة ضبط الأوزان</a:t>
            </a:r>
          </a:p>
        </p:txBody>
      </p:sp>
      <p:sp>
        <p:nvSpPr>
          <p:cNvPr id="11" name="مكان النتيجة"/>
          <p:cNvSpPr/>
          <p:nvPr/>
        </p:nvSpPr>
        <p:spPr>
          <a:xfrm>
            <a:off x="4521098" y="3611879"/>
            <a:ext cx="3149498" cy="2377440"/>
          </a:xfrm>
          <a:prstGeom prst="roundRect">
            <a:avLst>
              <a:gd name="adj" fmla="val 8000"/>
            </a:avLst>
          </a:prstGeom>
          <a:solidFill>
            <a:srgbClr val="FEF3C7"/>
          </a:solidFill>
          <a:ln w="19050">
            <a:solidFill>
              <a:srgbClr val="B4530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800" b="1" i="1" lang="ar-SA">
                <a:solidFill>
                  <a:srgbClr val="92400E"/>
                </a:solidFill>
                <a:latin typeface="Arial"/>
                <a:cs typeface="Arial"/>
              </a:rPr>
              <a:t>[2014] شكل</a:t>
            </a:r>
          </a:p>
        </p:txBody>
      </p:sp>
      <p:sp>
        <p:nvSpPr>
          <p:cNvPr id="12" name="لوحة"/>
          <p:cNvSpPr/>
          <p:nvPr/>
        </p:nvSpPr>
        <p:spPr>
          <a:xfrm>
            <a:off x="548639" y="1874519"/>
            <a:ext cx="3515258" cy="429768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799" y="1965960"/>
            <a:ext cx="3240938"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حساسيات مسجّلة مسبقاً</a:t>
            </a:r>
          </a:p>
        </p:txBody>
      </p:sp>
      <p:sp>
        <p:nvSpPr>
          <p:cNvPr id="14" name="TextBox 13"/>
          <p:cNvSpPr txBox="1"/>
          <p:nvPr/>
        </p:nvSpPr>
        <p:spPr>
          <a:xfrm>
            <a:off x="685799" y="2697479"/>
            <a:ext cx="3240938" cy="82296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500" b="0" i="0" lang="ar-SA">
                <a:solidFill>
                  <a:srgbClr val="475569"/>
                </a:solidFill>
                <a:latin typeface="Arial"/>
                <a:cs typeface="Arial"/>
              </a:rPr>
              <a:t>الأنواع المستبعدة، نقاط القطع، السوالب المعيَّنة، سعة GRU</a:t>
            </a:r>
          </a:p>
        </p:txBody>
      </p:sp>
      <p:sp>
        <p:nvSpPr>
          <p:cNvPr id="15" name="مكان النتيجة"/>
          <p:cNvSpPr/>
          <p:nvPr/>
        </p:nvSpPr>
        <p:spPr>
          <a:xfrm>
            <a:off x="731519" y="3611879"/>
            <a:ext cx="3149498" cy="2377440"/>
          </a:xfrm>
          <a:prstGeom prst="roundRect">
            <a:avLst>
              <a:gd name="adj" fmla="val 8000"/>
            </a:avLst>
          </a:prstGeom>
          <a:solidFill>
            <a:srgbClr val="FEF3C7"/>
          </a:solidFill>
          <a:ln w="19050">
            <a:solidFill>
              <a:srgbClr val="B4530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800" b="1" i="1" lang="ar-SA">
                <a:solidFill>
                  <a:srgbClr val="92400E"/>
                </a:solidFill>
                <a:latin typeface="Arial"/>
                <a:cs typeface="Arial"/>
              </a:rPr>
              <a:t>[2014] شكل</a:t>
            </a:r>
          </a:p>
        </p:txBody>
      </p:sp>
      <p:sp>
        <p:nvSpPr>
          <p:cNvPr id="16"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7"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8"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المناقشة</a:t>
            </a:r>
          </a:p>
        </p:txBody>
      </p:sp>
      <p:sp>
        <p:nvSpPr>
          <p:cNvPr id="3" name="شريط الحالة"/>
          <p:cNvSpPr/>
          <p:nvPr/>
        </p:nvSpPr>
        <p:spPr>
          <a:xfrm>
            <a:off x="548640" y="1261872"/>
            <a:ext cx="11094415" cy="420624"/>
          </a:xfrm>
          <a:prstGeom prst="roundRect">
            <a:avLst>
              <a:gd name="adj" fmla="val 25000"/>
            </a:avLst>
          </a:prstGeom>
          <a:solidFill>
            <a:srgbClr val="FEF3C7"/>
          </a:solidFill>
          <a:ln w="12700">
            <a:solidFill>
              <a:srgbClr val="B4530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1500" b="1" i="0" lang="ar-SA">
                <a:solidFill>
                  <a:srgbClr val="92400E"/>
                </a:solidFill>
                <a:latin typeface="Arial"/>
                <a:cs typeface="Arial"/>
              </a:rPr>
              <a:t>قيد الاستكمال: تُكتب بعد النتائج التأكيدية</a:t>
            </a:r>
          </a:p>
        </p:txBody>
      </p:sp>
      <p:sp>
        <p:nvSpPr>
          <p:cNvPr id="4" name="لوحة"/>
          <p:cNvSpPr/>
          <p:nvPr/>
        </p:nvSpPr>
        <p:spPr>
          <a:xfrm>
            <a:off x="9075191" y="1874519"/>
            <a:ext cx="2567863" cy="3246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212351" y="1965960"/>
            <a:ext cx="229354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1800" b="1" i="0" lang="ar-SA">
                <a:solidFill>
                  <a:srgbClr val="134E4A"/>
                </a:solidFill>
                <a:latin typeface="Arial"/>
                <a:cs typeface="Arial"/>
              </a:rPr>
              <a:t>الجدول الدراسي والشعبية الآنية</a:t>
            </a:r>
          </a:p>
        </p:txBody>
      </p:sp>
      <p:sp>
        <p:nvSpPr>
          <p:cNvPr id="6" name="TextBox 5"/>
          <p:cNvSpPr txBox="1"/>
          <p:nvPr/>
        </p:nvSpPr>
        <p:spPr>
          <a:xfrm>
            <a:off x="9212351" y="2697479"/>
            <a:ext cx="2293543" cy="82296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500" b="0" i="0" lang="ar-SA">
                <a:solidFill>
                  <a:srgbClr val="475569"/>
                </a:solidFill>
                <a:latin typeface="Arial"/>
                <a:cs typeface="Arial"/>
              </a:rPr>
              <a:t>كم يفرض الجدول على الوصول؟</a:t>
            </a:r>
          </a:p>
        </p:txBody>
      </p:sp>
      <p:sp>
        <p:nvSpPr>
          <p:cNvPr id="7" name="مكان النتيجة"/>
          <p:cNvSpPr/>
          <p:nvPr/>
        </p:nvSpPr>
        <p:spPr>
          <a:xfrm>
            <a:off x="9258071" y="3611879"/>
            <a:ext cx="2202103" cy="1325879"/>
          </a:xfrm>
          <a:prstGeom prst="roundRect">
            <a:avLst>
              <a:gd name="adj" fmla="val 8000"/>
            </a:avLst>
          </a:prstGeom>
          <a:solidFill>
            <a:srgbClr val="FEF3C7"/>
          </a:solidFill>
          <a:ln w="19050">
            <a:solidFill>
              <a:srgbClr val="B4530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800" b="1" i="1" lang="ar-SA">
                <a:solidFill>
                  <a:srgbClr val="92400E"/>
                </a:solidFill>
                <a:latin typeface="Arial"/>
                <a:cs typeface="Arial"/>
              </a:rPr>
              <a:t>[ تُكتب بعد النتائج ]</a:t>
            </a:r>
          </a:p>
        </p:txBody>
      </p:sp>
      <p:sp>
        <p:nvSpPr>
          <p:cNvPr id="8" name="لوحة"/>
          <p:cNvSpPr/>
          <p:nvPr/>
        </p:nvSpPr>
        <p:spPr>
          <a:xfrm>
            <a:off x="6233007" y="1874519"/>
            <a:ext cx="2567863" cy="3246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70167" y="1965960"/>
            <a:ext cx="229354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1800" b="1" i="0" lang="ar-SA">
                <a:solidFill>
                  <a:srgbClr val="134E4A"/>
                </a:solidFill>
                <a:latin typeface="Arial"/>
                <a:cs typeface="Arial"/>
              </a:rPr>
              <a:t>قيمة ترجيح الإشارات</a:t>
            </a:r>
          </a:p>
        </p:txBody>
      </p:sp>
      <p:sp>
        <p:nvSpPr>
          <p:cNvPr id="10" name="TextBox 9"/>
          <p:cNvSpPr txBox="1"/>
          <p:nvPr/>
        </p:nvSpPr>
        <p:spPr>
          <a:xfrm>
            <a:off x="6370167" y="2697479"/>
            <a:ext cx="2293543" cy="82296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500" b="0" i="0" lang="ar-SA">
                <a:solidFill>
                  <a:srgbClr val="475569"/>
                </a:solidFill>
                <a:latin typeface="Arial"/>
                <a:cs typeface="Arial"/>
              </a:rPr>
              <a:t>أي مستوى حمل الأثر إن وُجد؟</a:t>
            </a:r>
          </a:p>
        </p:txBody>
      </p:sp>
      <p:sp>
        <p:nvSpPr>
          <p:cNvPr id="11" name="مكان النتيجة"/>
          <p:cNvSpPr/>
          <p:nvPr/>
        </p:nvSpPr>
        <p:spPr>
          <a:xfrm>
            <a:off x="6415887" y="3611879"/>
            <a:ext cx="2202103" cy="1325879"/>
          </a:xfrm>
          <a:prstGeom prst="roundRect">
            <a:avLst>
              <a:gd name="adj" fmla="val 8000"/>
            </a:avLst>
          </a:prstGeom>
          <a:solidFill>
            <a:srgbClr val="FEF3C7"/>
          </a:solidFill>
          <a:ln w="19050">
            <a:solidFill>
              <a:srgbClr val="B4530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800" b="1" i="1" lang="ar-SA">
                <a:solidFill>
                  <a:srgbClr val="92400E"/>
                </a:solidFill>
                <a:latin typeface="Arial"/>
                <a:cs typeface="Arial"/>
              </a:rPr>
              <a:t>[ تُكتب بعد النتائج ]</a:t>
            </a:r>
          </a:p>
        </p:txBody>
      </p:sp>
      <p:sp>
        <p:nvSpPr>
          <p:cNvPr id="12" name="لوحة"/>
          <p:cNvSpPr/>
          <p:nvPr/>
        </p:nvSpPr>
        <p:spPr>
          <a:xfrm>
            <a:off x="3390823" y="1874519"/>
            <a:ext cx="2567863" cy="3246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27983" y="1965960"/>
            <a:ext cx="229354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1800" b="1" i="0" lang="ar-SA">
                <a:solidFill>
                  <a:srgbClr val="134E4A"/>
                </a:solidFill>
                <a:latin typeface="Arial"/>
                <a:cs typeface="Arial"/>
              </a:rPr>
              <a:t>التسلسل العصبوني</a:t>
            </a:r>
          </a:p>
        </p:txBody>
      </p:sp>
      <p:sp>
        <p:nvSpPr>
          <p:cNvPr id="14" name="TextBox 13"/>
          <p:cNvSpPr txBox="1"/>
          <p:nvPr/>
        </p:nvSpPr>
        <p:spPr>
          <a:xfrm>
            <a:off x="3527983" y="2697479"/>
            <a:ext cx="2293543" cy="82296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500" b="0" i="0" lang="ar-SA">
                <a:solidFill>
                  <a:srgbClr val="475569"/>
                </a:solidFill>
                <a:latin typeface="Arial"/>
                <a:cs typeface="Arial"/>
              </a:rPr>
              <a:t>GRU-lite مقابل الجيران على السلال</a:t>
            </a:r>
          </a:p>
        </p:txBody>
      </p:sp>
      <p:sp>
        <p:nvSpPr>
          <p:cNvPr id="15" name="مكان النتيجة"/>
          <p:cNvSpPr/>
          <p:nvPr/>
        </p:nvSpPr>
        <p:spPr>
          <a:xfrm>
            <a:off x="3573703" y="3611879"/>
            <a:ext cx="2202103" cy="1325879"/>
          </a:xfrm>
          <a:prstGeom prst="roundRect">
            <a:avLst>
              <a:gd name="adj" fmla="val 8000"/>
            </a:avLst>
          </a:prstGeom>
          <a:solidFill>
            <a:srgbClr val="FEF3C7"/>
          </a:solidFill>
          <a:ln w="19050">
            <a:solidFill>
              <a:srgbClr val="B4530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800" b="1" i="1" lang="ar-SA">
                <a:solidFill>
                  <a:srgbClr val="92400E"/>
                </a:solidFill>
                <a:latin typeface="Arial"/>
                <a:cs typeface="Arial"/>
              </a:rPr>
              <a:t>[ تُكتب بعد النتائج ]</a:t>
            </a:r>
          </a:p>
        </p:txBody>
      </p:sp>
      <p:sp>
        <p:nvSpPr>
          <p:cNvPr id="16" name="لوحة"/>
          <p:cNvSpPr/>
          <p:nvPr/>
        </p:nvSpPr>
        <p:spPr>
          <a:xfrm>
            <a:off x="548640" y="1874519"/>
            <a:ext cx="2567863" cy="3246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1965960"/>
            <a:ext cx="229354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1800" b="1" i="0" lang="ar-SA">
                <a:solidFill>
                  <a:srgbClr val="134E4A"/>
                </a:solidFill>
                <a:latin typeface="Arial"/>
                <a:cs typeface="Arial"/>
              </a:rPr>
              <a:t>المتعلمون والبدء البارد</a:t>
            </a:r>
          </a:p>
        </p:txBody>
      </p:sp>
      <p:sp>
        <p:nvSpPr>
          <p:cNvPr id="18" name="TextBox 17"/>
          <p:cNvSpPr txBox="1"/>
          <p:nvPr/>
        </p:nvSpPr>
        <p:spPr>
          <a:xfrm>
            <a:off x="685800" y="2697479"/>
            <a:ext cx="2293543" cy="82296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500" b="0" i="0" lang="ar-SA">
                <a:solidFill>
                  <a:srgbClr val="475569"/>
                </a:solidFill>
                <a:latin typeface="Arial"/>
                <a:cs typeface="Arial"/>
              </a:rPr>
              <a:t>الخطر المبكر وسياق العنقود</a:t>
            </a:r>
          </a:p>
        </p:txBody>
      </p:sp>
      <p:sp>
        <p:nvSpPr>
          <p:cNvPr id="19" name="مكان النتيجة"/>
          <p:cNvSpPr/>
          <p:nvPr/>
        </p:nvSpPr>
        <p:spPr>
          <a:xfrm>
            <a:off x="731520" y="3611879"/>
            <a:ext cx="2202103" cy="1325879"/>
          </a:xfrm>
          <a:prstGeom prst="roundRect">
            <a:avLst>
              <a:gd name="adj" fmla="val 8000"/>
            </a:avLst>
          </a:prstGeom>
          <a:solidFill>
            <a:srgbClr val="FEF3C7"/>
          </a:solidFill>
          <a:ln w="19050">
            <a:solidFill>
              <a:srgbClr val="B4530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800" b="1" i="1" lang="ar-SA">
                <a:solidFill>
                  <a:srgbClr val="92400E"/>
                </a:solidFill>
                <a:latin typeface="Arial"/>
                <a:cs typeface="Arial"/>
              </a:rPr>
              <a:t>[ تُكتب بعد النتائج ]</a:t>
            </a:r>
          </a:p>
        </p:txBody>
      </p:sp>
      <p:sp>
        <p:nvSpPr>
          <p:cNvPr id="20" name="خلاصة"/>
          <p:cNvSpPr/>
          <p:nvPr/>
        </p:nvSpPr>
        <p:spPr>
          <a:xfrm>
            <a:off x="548640" y="5257800"/>
            <a:ext cx="11094415" cy="868680"/>
          </a:xfrm>
          <a:prstGeom prst="roundRect">
            <a:avLst>
              <a:gd name="adj" fmla="val 12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 bIns="18288"/>
          <a:lstStyle/>
          <a:p>
            <a:pPr algn="r" rtl="1"/>
            <a:r>
              <a:rPr sz="2200" b="1" i="0" lang="ar-SA">
                <a:solidFill>
                  <a:srgbClr val="FFFFFF"/>
                </a:solidFill>
                <a:latin typeface="Arial"/>
                <a:cs typeface="Arial"/>
              </a:rPr>
              <a:t>سياسة النتيجة السلبية: تفوّق الشعبية الآنية نتيجة رئيسية تُبلَّغ وتُحلَّل أسبابها</a:t>
            </a:r>
          </a:p>
        </p:txBody>
      </p:sp>
      <p:sp>
        <p:nvSpPr>
          <p:cNvPr id="21"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22"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23"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القيود والعمل المستقبلي</a:t>
            </a:r>
          </a:p>
        </p:txBody>
      </p:sp>
      <p:sp>
        <p:nvSpPr>
          <p:cNvPr id="3" name="عمود"/>
          <p:cNvSpPr/>
          <p:nvPr/>
        </p:nvSpPr>
        <p:spPr>
          <a:xfrm>
            <a:off x="6233007" y="1463040"/>
            <a:ext cx="5410047"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عنوان العمود"/>
          <p:cNvSpPr/>
          <p:nvPr/>
        </p:nvSpPr>
        <p:spPr>
          <a:xfrm>
            <a:off x="6233007" y="1463040"/>
            <a:ext cx="5410047" cy="685800"/>
          </a:xfrm>
          <a:prstGeom prst="roundRect">
            <a:avLst>
              <a:gd name="adj" fmla="val 2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182880" tIns="18288" bIns="18288"/>
          <a:lstStyle/>
          <a:p>
            <a:pPr algn="r" rtl="1"/>
            <a:r>
              <a:rPr sz="2000" b="1" i="0" lang="ar-SA">
                <a:solidFill>
                  <a:srgbClr val="FFFFFF"/>
                </a:solidFill>
                <a:latin typeface="Arial"/>
                <a:cs typeface="Arial"/>
              </a:rPr>
              <a:t>القيود</a:t>
            </a:r>
          </a:p>
        </p:txBody>
      </p:sp>
      <p:sp>
        <p:nvSpPr>
          <p:cNvPr id="5" name="نقطة"/>
          <p:cNvSpPr/>
          <p:nvPr/>
        </p:nvSpPr>
        <p:spPr>
          <a:xfrm>
            <a:off x="11259007" y="2583180"/>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70167" y="2286000"/>
            <a:ext cx="4769967" cy="758952"/>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مؤسسة واحدة: التعميم من 2013 إلى 2014 فقط</a:t>
            </a:r>
          </a:p>
        </p:txBody>
      </p:sp>
      <p:sp>
        <p:nvSpPr>
          <p:cNvPr id="7" name="نقطة"/>
          <p:cNvSpPr/>
          <p:nvPr/>
        </p:nvSpPr>
        <p:spPr>
          <a:xfrm>
            <a:off x="11259007" y="3342132"/>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0167" y="3044952"/>
            <a:ext cx="4769967" cy="758952"/>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تقييم دون اتصال: لا دراسة مستخدمين ولا ادعاء أثر تعليمي</a:t>
            </a:r>
          </a:p>
        </p:txBody>
      </p:sp>
      <p:sp>
        <p:nvSpPr>
          <p:cNvPr id="9" name="نقطة"/>
          <p:cNvSpPr/>
          <p:nvPr/>
        </p:nvSpPr>
        <p:spPr>
          <a:xfrm>
            <a:off x="11259007" y="410108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70167" y="3803904"/>
            <a:ext cx="4769967" cy="758952"/>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سجلات بدقة يوم: لا ترتيب داخل اليوم</a:t>
            </a:r>
          </a:p>
        </p:txBody>
      </p:sp>
      <p:sp>
        <p:nvSpPr>
          <p:cNvPr id="11" name="نقطة"/>
          <p:cNvSpPr/>
          <p:nvPr/>
        </p:nvSpPr>
        <p:spPr>
          <a:xfrm>
            <a:off x="11259007" y="4860036"/>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0167" y="4562856"/>
            <a:ext cx="4769967" cy="758952"/>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numpy فقط: GRU بطبقة واحدة</a:t>
            </a:r>
          </a:p>
        </p:txBody>
      </p:sp>
      <p:sp>
        <p:nvSpPr>
          <p:cNvPr id="13" name="نقطة"/>
          <p:cNvSpPr/>
          <p:nvPr/>
        </p:nvSpPr>
        <p:spPr>
          <a:xfrm>
            <a:off x="11259007" y="5618988"/>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70167" y="5321808"/>
            <a:ext cx="4769967" cy="758952"/>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قراءة معرّفات 2014 مقصورة على ترشيح تدريب مصنِّفات الخطر (2013)</a:t>
            </a:r>
          </a:p>
        </p:txBody>
      </p:sp>
      <p:sp>
        <p:nvSpPr>
          <p:cNvPr id="15" name="عمود"/>
          <p:cNvSpPr/>
          <p:nvPr/>
        </p:nvSpPr>
        <p:spPr>
          <a:xfrm>
            <a:off x="548640" y="1463040"/>
            <a:ext cx="5410047"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عنوان العمود"/>
          <p:cNvSpPr/>
          <p:nvPr/>
        </p:nvSpPr>
        <p:spPr>
          <a:xfrm>
            <a:off x="548640" y="1463040"/>
            <a:ext cx="5410047" cy="685800"/>
          </a:xfrm>
          <a:prstGeom prst="roundRect">
            <a:avLst>
              <a:gd name="adj" fmla="val 2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182880" tIns="18288" bIns="18288"/>
          <a:lstStyle/>
          <a:p>
            <a:pPr algn="r" rtl="1"/>
            <a:r>
              <a:rPr sz="2000" b="1" i="0" lang="ar-SA">
                <a:solidFill>
                  <a:srgbClr val="FFFFFF"/>
                </a:solidFill>
                <a:latin typeface="Arial"/>
                <a:cs typeface="Arial"/>
              </a:rPr>
              <a:t>العمل المستقبلي</a:t>
            </a:r>
          </a:p>
        </p:txBody>
      </p:sp>
      <p:sp>
        <p:nvSpPr>
          <p:cNvPr id="17" name="نقطة"/>
          <p:cNvSpPr/>
          <p:nvPr/>
        </p:nvSpPr>
        <p:spPr>
          <a:xfrm>
            <a:off x="5574639" y="267804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286000"/>
            <a:ext cx="4769967"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تجربة حية ودراسة مستخدمين للتفسيرات</a:t>
            </a:r>
          </a:p>
        </p:txBody>
      </p:sp>
      <p:sp>
        <p:nvSpPr>
          <p:cNvPr id="19" name="نقطة"/>
          <p:cNvSpPr/>
          <p:nvPr/>
        </p:nvSpPr>
        <p:spPr>
          <a:xfrm>
            <a:off x="5574639" y="362673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234690"/>
            <a:ext cx="4769967"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إعادة البروتوكول على سجلات الجامعة الافتراضية السورية</a:t>
            </a:r>
          </a:p>
        </p:txBody>
      </p:sp>
      <p:sp>
        <p:nvSpPr>
          <p:cNvPr id="21" name="نقطة"/>
          <p:cNvSpPr/>
          <p:nvPr/>
        </p:nvSpPr>
        <p:spPr>
          <a:xfrm>
            <a:off x="5574639" y="457542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4183380"/>
            <a:ext cx="4769967"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بيانات بوصف نصي للموارد لتفعيل المحتوى</a:t>
            </a:r>
          </a:p>
        </p:txBody>
      </p:sp>
      <p:sp>
        <p:nvSpPr>
          <p:cNvPr id="23" name="نقطة"/>
          <p:cNvSpPr/>
          <p:nvPr/>
        </p:nvSpPr>
        <p:spPr>
          <a:xfrm>
            <a:off x="5574639" y="552411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5132070"/>
            <a:ext cx="4769967"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نماذج تسلسلية أعمق عند توفر المكتبات</a:t>
            </a:r>
          </a:p>
        </p:txBody>
      </p:sp>
      <p:sp>
        <p:nvSpPr>
          <p:cNvPr id="2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2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2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34E4A"/>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FFFFFF"/>
                </a:solidFill>
                <a:latin typeface="Arial"/>
                <a:cs typeface="Arial"/>
              </a:rPr>
              <a:t>الخاتمة والمساهمات</a:t>
            </a:r>
          </a:p>
        </p:txBody>
      </p:sp>
      <p:sp>
        <p:nvSpPr>
          <p:cNvPr id="3" name="TextBox 2"/>
          <p:cNvSpPr txBox="1"/>
          <p:nvPr/>
        </p:nvSpPr>
        <p:spPr>
          <a:xfrm>
            <a:off x="548640" y="1417320"/>
            <a:ext cx="11094415" cy="45720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2000" b="1" i="0" lang="ar-SA">
                <a:solidFill>
                  <a:srgbClr val="CCFBF1"/>
                </a:solidFill>
                <a:latin typeface="Arial"/>
                <a:cs typeface="Arial"/>
              </a:rPr>
              <a:t>مساهمة تجريبية ومنهجية، لا خوارزمية جديدة</a:t>
            </a:r>
          </a:p>
        </p:txBody>
      </p:sp>
      <p:sp>
        <p:nvSpPr>
          <p:cNvPr id="4" name="بطاقة"/>
          <p:cNvSpPr/>
          <p:nvPr/>
        </p:nvSpPr>
        <p:spPr>
          <a:xfrm>
            <a:off x="6233007" y="201168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رقم"/>
          <p:cNvSpPr/>
          <p:nvPr/>
        </p:nvSpPr>
        <p:spPr>
          <a:xfrm>
            <a:off x="10957255" y="219456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6" name="TextBox 5"/>
          <p:cNvSpPr txBox="1"/>
          <p:nvPr/>
        </p:nvSpPr>
        <p:spPr>
          <a:xfrm>
            <a:off x="6370167" y="2121408"/>
            <a:ext cx="449564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استئصال منضبط</a:t>
            </a:r>
          </a:p>
        </p:txBody>
      </p:sp>
      <p:sp>
        <p:nvSpPr>
          <p:cNvPr id="7" name="TextBox 6"/>
          <p:cNvSpPr txBox="1"/>
          <p:nvPr/>
        </p:nvSpPr>
        <p:spPr>
          <a:xfrm>
            <a:off x="6370167" y="288036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اختبار قيمة ترجيح الإشارات بعائلة متداخلة من أربعة مستويات</a:t>
            </a:r>
          </a:p>
        </p:txBody>
      </p:sp>
      <p:sp>
        <p:nvSpPr>
          <p:cNvPr id="8" name="بطاقة"/>
          <p:cNvSpPr/>
          <p:nvPr/>
        </p:nvSpPr>
        <p:spPr>
          <a:xfrm>
            <a:off x="548640" y="201168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رقم"/>
          <p:cNvSpPr/>
          <p:nvPr/>
        </p:nvSpPr>
        <p:spPr>
          <a:xfrm>
            <a:off x="5272887" y="219456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10" name="TextBox 9"/>
          <p:cNvSpPr txBox="1"/>
          <p:nvPr/>
        </p:nvSpPr>
        <p:spPr>
          <a:xfrm>
            <a:off x="685800" y="2121408"/>
            <a:ext cx="449564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بروتوكول مسجَّل مسبقاً</a:t>
            </a:r>
          </a:p>
        </p:txBody>
      </p:sp>
      <p:sp>
        <p:nvSpPr>
          <p:cNvPr id="11" name="TextBox 10"/>
          <p:cNvSpPr txBox="1"/>
          <p:nvPr/>
        </p:nvSpPr>
        <p:spPr>
          <a:xfrm>
            <a:off x="685800" y="288036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تقسيم زمني وكتالوج كامل وعشرة خطوط أساس وإحصاء عنقودي</a:t>
            </a:r>
          </a:p>
        </p:txBody>
      </p:sp>
      <p:sp>
        <p:nvSpPr>
          <p:cNvPr id="12" name="بطاقة"/>
          <p:cNvSpPr/>
          <p:nvPr/>
        </p:nvSpPr>
        <p:spPr>
          <a:xfrm>
            <a:off x="6233007" y="422910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رقم"/>
          <p:cNvSpPr/>
          <p:nvPr/>
        </p:nvSpPr>
        <p:spPr>
          <a:xfrm>
            <a:off x="10957255" y="44119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4" name="TextBox 13"/>
          <p:cNvSpPr txBox="1"/>
          <p:nvPr/>
        </p:nvSpPr>
        <p:spPr>
          <a:xfrm>
            <a:off x="6370167" y="4338828"/>
            <a:ext cx="449564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نظام قابل لإعادة الإنتاج</a:t>
            </a:r>
          </a:p>
        </p:txBody>
      </p:sp>
      <p:sp>
        <p:nvSpPr>
          <p:cNvPr id="15" name="TextBox 14"/>
          <p:cNvSpPr txBox="1"/>
          <p:nvPr/>
        </p:nvSpPr>
        <p:spPr>
          <a:xfrm>
            <a:off x="6370167" y="509778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numpy وpandas مع اختبار تحقق لكل تنفيذ، وواجهتان للمتعلم والمدرّس</a:t>
            </a:r>
          </a:p>
        </p:txBody>
      </p:sp>
      <p:sp>
        <p:nvSpPr>
          <p:cNvPr id="16" name="بطاقة"/>
          <p:cNvSpPr/>
          <p:nvPr/>
        </p:nvSpPr>
        <p:spPr>
          <a:xfrm>
            <a:off x="548640" y="422910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رقم"/>
          <p:cNvSpPr/>
          <p:nvPr/>
        </p:nvSpPr>
        <p:spPr>
          <a:xfrm>
            <a:off x="5272887" y="44119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4</a:t>
            </a:r>
          </a:p>
        </p:txBody>
      </p:sp>
      <p:sp>
        <p:nvSpPr>
          <p:cNvPr id="18" name="TextBox 17"/>
          <p:cNvSpPr txBox="1"/>
          <p:nvPr/>
        </p:nvSpPr>
        <p:spPr>
          <a:xfrm>
            <a:off x="685800" y="4338828"/>
            <a:ext cx="449564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دليل على قوة الشعبية الآنية</a:t>
            </a:r>
          </a:p>
        </p:txBody>
      </p:sp>
      <p:sp>
        <p:nvSpPr>
          <p:cNvPr id="19" name="TextBox 18"/>
          <p:cNvSpPr txBox="1"/>
          <p:nvPr/>
        </p:nvSpPr>
        <p:spPr>
          <a:xfrm>
            <a:off x="685800" y="509778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حجم ما يفرضه الجدول الدراسي على الوصول [يُستكمل بنتائج التأكيد]</a:t>
            </a:r>
          </a:p>
        </p:txBody>
      </p:sp>
      <p:sp>
        <p:nvSpPr>
          <p:cNvPr id="20" name="شعار الجامعة"/>
          <p:cNvSpPr/>
          <p:nvPr/>
        </p:nvSpPr>
        <p:spPr>
          <a:xfrm>
            <a:off x="10957255" y="6382512"/>
            <a:ext cx="68580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134E4A"/>
                </a:solidFill>
                <a:latin typeface="Arial"/>
                <a:cs typeface="Arial"/>
              </a:rPr>
              <a:t>SVU</a:t>
            </a:r>
          </a:p>
        </p:txBody>
      </p:sp>
      <p:sp>
        <p:nvSpPr>
          <p:cNvPr id="21"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A7F3D0"/>
                </a:solidFill>
                <a:latin typeface="Arial"/>
                <a:cs typeface="Arial"/>
              </a:rPr>
              <a:t>الجامعة الافتراضية السورية  |  ماجستير علوم الوب</a:t>
            </a:r>
          </a:p>
        </p:txBody>
      </p:sp>
      <p:sp>
        <p:nvSpPr>
          <p:cNvPr id="22"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A7F3D0"/>
                </a:solidFill>
                <a:latin typeface="Arial"/>
              </a:rPr>
              <a:t>‹#›</a:t>
            </a:fld>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34E4A"/>
        </a:solidFill>
        <a:effectLst/>
      </p:bgPr>
    </p:bg>
    <p:spTree>
      <p:nvGrpSpPr>
        <p:cNvPr id="1" name=""/>
        <p:cNvGrpSpPr/>
        <p:nvPr/>
      </p:nvGrpSpPr>
      <p:grpSpPr/>
      <p:sp>
        <p:nvSpPr>
          <p:cNvPr id="2" name="زخرفة"/>
          <p:cNvSpPr/>
          <p:nvPr/>
        </p:nvSpPr>
        <p:spPr>
          <a:xfrm>
            <a:off x="-2011680" y="3108960"/>
            <a:ext cx="5669280" cy="5669280"/>
          </a:xfrm>
          <a:prstGeom prst="ellipse">
            <a:avLst/>
          </a:prstGeom>
          <a:solidFill>
            <a:srgbClr val="115E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زخرفة"/>
          <p:cNvSpPr/>
          <p:nvPr/>
        </p:nvSpPr>
        <p:spPr>
          <a:xfrm>
            <a:off x="274320" y="-1463040"/>
            <a:ext cx="3291840" cy="329184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العنوان"/>
          <p:cNvSpPr txBox="1"/>
          <p:nvPr/>
        </p:nvSpPr>
        <p:spPr>
          <a:xfrm>
            <a:off x="3474720" y="1554480"/>
            <a:ext cx="8168335" cy="128016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5400" b="1" i="0" lang="ar-SA">
                <a:solidFill>
                  <a:srgbClr val="FFFFFF"/>
                </a:solidFill>
                <a:latin typeface="Arial"/>
                <a:cs typeface="Arial"/>
              </a:rPr>
              <a:t>شكراً لكم</a:t>
            </a:r>
          </a:p>
        </p:txBody>
      </p:sp>
      <p:sp>
        <p:nvSpPr>
          <p:cNvPr id="5" name="أسئلة"/>
          <p:cNvSpPr/>
          <p:nvPr/>
        </p:nvSpPr>
        <p:spPr>
          <a:xfrm>
            <a:off x="8351215" y="3017520"/>
            <a:ext cx="3291840" cy="548640"/>
          </a:xfrm>
          <a:prstGeom prst="roundRect">
            <a:avLst>
              <a:gd name="adj" fmla="val 50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2400" b="1" i="0" lang="ar-SA">
                <a:solidFill>
                  <a:srgbClr val="FFFFFF"/>
                </a:solidFill>
                <a:latin typeface="Arial"/>
                <a:cs typeface="Arial"/>
              </a:rPr>
              <a:t>الأسئلة والمناقشة</a:t>
            </a:r>
          </a:p>
        </p:txBody>
      </p:sp>
      <p:sp>
        <p:nvSpPr>
          <p:cNvPr id="6" name="TextBox 5"/>
          <p:cNvSpPr txBox="1"/>
          <p:nvPr/>
        </p:nvSpPr>
        <p:spPr>
          <a:xfrm>
            <a:off x="3474720" y="4114800"/>
            <a:ext cx="8168335" cy="1280160"/>
          </a:xfrm>
          <a:prstGeom prst="rect">
            <a:avLst/>
          </a:prstGeom>
          <a:noFill/>
        </p:spPr>
        <p:txBody>
          <a:bodyPr wrap="square" lIns="45720" rIns="45720" tIns="27432" bIns="27432" anchor="t">
            <a:spAutoFit/>
          </a:bodyPr>
          <a:lstStyle/>
          <a:p>
            <a:pPr rtl="1" algn="r">
              <a:lnSpc>
                <a:spcPct val="120000"/>
              </a:lnSpc>
              <a:spcBef>
                <a:spcPts val="0"/>
              </a:spcBef>
              <a:spcAft>
                <a:spcPts val="400"/>
              </a:spcAft>
            </a:pPr>
            <a:r>
              <a:rPr sz="2200" b="0" i="0" lang="ar-SA">
                <a:solidFill>
                  <a:srgbClr val="CCFBF1"/>
                </a:solidFill>
                <a:latin typeface="Arial"/>
                <a:cs typeface="Arial"/>
              </a:rPr>
              <a:t>كنان محمد قرحالي</a:t>
            </a:r>
          </a:p>
          <a:p>
            <a:pPr rtl="1" algn="r">
              <a:lnSpc>
                <a:spcPct val="120000"/>
              </a:lnSpc>
              <a:spcBef>
                <a:spcPts val="0"/>
              </a:spcBef>
              <a:spcAft>
                <a:spcPts val="400"/>
              </a:spcAft>
            </a:pPr>
            <a:r>
              <a:rPr sz="2200" b="0" i="0" lang="ar-SA">
                <a:solidFill>
                  <a:srgbClr val="CCFBF1"/>
                </a:solidFill>
                <a:latin typeface="Arial"/>
                <a:cs typeface="Arial"/>
              </a:rPr>
              <a:t>إشراف: د. باسل الخطيب</a:t>
            </a:r>
          </a:p>
        </p:txBody>
      </p:sp>
      <p:sp>
        <p:nvSpPr>
          <p:cNvPr id="7" name="شعار الجامعة"/>
          <p:cNvSpPr/>
          <p:nvPr/>
        </p:nvSpPr>
        <p:spPr>
          <a:xfrm>
            <a:off x="10957255" y="6382512"/>
            <a:ext cx="68580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134E4A"/>
                </a:solidFill>
                <a:latin typeface="Arial"/>
                <a:cs typeface="Arial"/>
              </a:rPr>
              <a:t>SVU</a:t>
            </a:r>
          </a:p>
        </p:txBody>
      </p:sp>
      <p:sp>
        <p:nvSpPr>
          <p:cNvPr id="8"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A7F3D0"/>
                </a:solidFill>
                <a:latin typeface="Arial"/>
                <a:cs typeface="Arial"/>
              </a:rPr>
              <a:t>الجامعة الافتراضية السورية  |  ماجستير علوم الوب</a:t>
            </a:r>
          </a:p>
        </p:txBody>
      </p:sp>
      <p:sp>
        <p:nvSpPr>
          <p:cNvPr id="9"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A7F3D0"/>
                </a:solidFill>
                <a:latin typeface="Arial"/>
              </a:rPr>
              <a:t>‹#›</a:t>
            </a:fld>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احتياطي: لماذا numpy فقط؟ ولماذا لا CNN؟</a:t>
            </a:r>
          </a:p>
        </p:txBody>
      </p:sp>
      <p:sp>
        <p:nvSpPr>
          <p:cNvPr id="3" name="بطاقة"/>
          <p:cNvSpPr/>
          <p:nvPr/>
        </p:nvSpPr>
        <p:spPr>
          <a:xfrm>
            <a:off x="6233007" y="1463040"/>
            <a:ext cx="5410047"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السؤال"/>
          <p:cNvSpPr/>
          <p:nvPr/>
        </p:nvSpPr>
        <p:spPr>
          <a:xfrm>
            <a:off x="6233007" y="1463040"/>
            <a:ext cx="5410047" cy="822960"/>
          </a:xfrm>
          <a:prstGeom prst="roundRect">
            <a:avLst>
              <a:gd name="adj" fmla="val 2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2400" b="1" i="0" lang="ar-SA">
                <a:solidFill>
                  <a:srgbClr val="134E4A"/>
                </a:solidFill>
                <a:latin typeface="Arial"/>
                <a:cs typeface="Arial"/>
              </a:rPr>
              <a:t>س: لماذا numpy فقط؟</a:t>
            </a:r>
          </a:p>
        </p:txBody>
      </p:sp>
      <p:sp>
        <p:nvSpPr>
          <p:cNvPr id="5" name="نقطة"/>
          <p:cNvSpPr/>
          <p:nvPr/>
        </p:nvSpPr>
        <p:spPr>
          <a:xfrm>
            <a:off x="11259007" y="279234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70167" y="242316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بيئة التنفيذ لا تتيح TensorFlow ولا Keras ولا scikit-learn</a:t>
            </a:r>
          </a:p>
        </p:txBody>
      </p:sp>
      <p:sp>
        <p:nvSpPr>
          <p:cNvPr id="7" name="نقطة"/>
          <p:cNvSpPr/>
          <p:nvPr/>
        </p:nvSpPr>
        <p:spPr>
          <a:xfrm>
            <a:off x="11259007" y="369531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0167" y="332613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كُتبت الخوارزميات يدوياً مع اختبار تحقق لكل تنفيذ</a:t>
            </a:r>
          </a:p>
        </p:txBody>
      </p:sp>
      <p:sp>
        <p:nvSpPr>
          <p:cNvPr id="9" name="نقطة"/>
          <p:cNvSpPr/>
          <p:nvPr/>
        </p:nvSpPr>
        <p:spPr>
          <a:xfrm>
            <a:off x="11259007" y="459828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70167" y="422910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مثال: فحص تدرج GRU-lite بخطأ نسبي 4.3e-06</a:t>
            </a:r>
          </a:p>
        </p:txBody>
      </p:sp>
      <p:sp>
        <p:nvSpPr>
          <p:cNvPr id="11" name="نقطة"/>
          <p:cNvSpPr/>
          <p:nvPr/>
        </p:nvSpPr>
        <p:spPr>
          <a:xfrm>
            <a:off x="11259007" y="550125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0167" y="513207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القيد معلن في الفصل الثالث (3-6-3)</a:t>
            </a:r>
          </a:p>
        </p:txBody>
      </p:sp>
      <p:sp>
        <p:nvSpPr>
          <p:cNvPr id="13" name="بطاقة"/>
          <p:cNvSpPr/>
          <p:nvPr/>
        </p:nvSpPr>
        <p:spPr>
          <a:xfrm>
            <a:off x="548640" y="1463040"/>
            <a:ext cx="5410047"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السؤال"/>
          <p:cNvSpPr/>
          <p:nvPr/>
        </p:nvSpPr>
        <p:spPr>
          <a:xfrm>
            <a:off x="548640" y="1463040"/>
            <a:ext cx="5410047" cy="822960"/>
          </a:xfrm>
          <a:prstGeom prst="roundRect">
            <a:avLst>
              <a:gd name="adj" fmla="val 2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2400" b="1" i="0" lang="ar-SA">
                <a:solidFill>
                  <a:srgbClr val="134E4A"/>
                </a:solidFill>
                <a:latin typeface="Arial"/>
                <a:cs typeface="Arial"/>
              </a:rPr>
              <a:t>س: لماذا لا CNN؟</a:t>
            </a:r>
          </a:p>
        </p:txBody>
      </p:sp>
      <p:sp>
        <p:nvSpPr>
          <p:cNvPr id="15" name="نقطة"/>
          <p:cNvSpPr/>
          <p:nvPr/>
        </p:nvSpPr>
        <p:spPr>
          <a:xfrm>
            <a:off x="5574639" y="279234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42316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مرجعه الوحيد في الأدبيات المدروسة غير قابل للتكرار</a:t>
            </a:r>
          </a:p>
        </p:txBody>
      </p:sp>
      <p:sp>
        <p:nvSpPr>
          <p:cNvPr id="17" name="نقطة"/>
          <p:cNvSpPr/>
          <p:nvPr/>
        </p:nvSpPr>
        <p:spPr>
          <a:xfrm>
            <a:off x="5574639" y="369531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332613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سلال الأيام غير مرتبة داخلياً: لا بنية محلية تستفيد منها التلافيف</a:t>
            </a:r>
          </a:p>
        </p:txBody>
      </p:sp>
      <p:sp>
        <p:nvSpPr>
          <p:cNvPr id="19" name="نقطة"/>
          <p:cNvSpPr/>
          <p:nvPr/>
        </p:nvSpPr>
        <p:spPr>
          <a:xfrm>
            <a:off x="5574639" y="459828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22910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بقي الاتجاه العصبوني ممثلاً بـ GRU-lite</a:t>
            </a:r>
          </a:p>
        </p:txBody>
      </p:sp>
      <p:sp>
        <p:nvSpPr>
          <p:cNvPr id="21" name="نقطة"/>
          <p:cNvSpPr/>
          <p:nvPr/>
        </p:nvSpPr>
        <p:spPr>
          <a:xfrm>
            <a:off x="5574639" y="550125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13207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الخطة نفسها تركت اختيار الأنسب أثناء البحث</a:t>
            </a:r>
          </a:p>
        </p:txBody>
      </p:sp>
      <p:sp>
        <p:nvSpPr>
          <p:cNvPr id="23"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24"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25"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احتياطي: ما الدلالة الإحصائية؟</a:t>
            </a:r>
          </a:p>
        </p:txBody>
      </p:sp>
      <p:sp>
        <p:nvSpPr>
          <p:cNvPr id="3" name="بطاقة"/>
          <p:cNvSpPr/>
          <p:nvPr/>
        </p:nvSpPr>
        <p:spPr>
          <a:xfrm>
            <a:off x="548639" y="1463040"/>
            <a:ext cx="11094415"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السؤال"/>
          <p:cNvSpPr/>
          <p:nvPr/>
        </p:nvSpPr>
        <p:spPr>
          <a:xfrm>
            <a:off x="548639" y="1463040"/>
            <a:ext cx="11094415" cy="822960"/>
          </a:xfrm>
          <a:prstGeom prst="roundRect">
            <a:avLst>
              <a:gd name="adj" fmla="val 2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2400" b="1" i="0" lang="ar-SA">
                <a:solidFill>
                  <a:srgbClr val="134E4A"/>
                </a:solidFill>
                <a:latin typeface="Arial"/>
                <a:cs typeface="Arial"/>
              </a:rPr>
              <a:t>س: كيف يُحكم على الفرق بين نموذجين؟</a:t>
            </a:r>
          </a:p>
        </p:txBody>
      </p:sp>
      <p:sp>
        <p:nvSpPr>
          <p:cNvPr id="5" name="نقطة"/>
          <p:cNvSpPr/>
          <p:nvPr/>
        </p:nvSpPr>
        <p:spPr>
          <a:xfrm>
            <a:off x="11259007" y="2702052"/>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799" y="2423160"/>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وحدة التحليل العرض: 13 عرضاً في 2014، ومتوسط الفروق على 3 قطوع</a:t>
            </a:r>
          </a:p>
        </p:txBody>
      </p:sp>
      <p:sp>
        <p:nvSpPr>
          <p:cNvPr id="7" name="نقطة"/>
          <p:cNvSpPr/>
          <p:nvPr/>
        </p:nvSpPr>
        <p:spPr>
          <a:xfrm>
            <a:off x="11259007" y="3424428"/>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799" y="3145536"/>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فاصل ثقة 95% بـ bootstrap-t العنقودي المعيَّر، بعشرة آلاف إعادة</a:t>
            </a:r>
          </a:p>
        </p:txBody>
      </p:sp>
      <p:sp>
        <p:nvSpPr>
          <p:cNvPr id="9" name="نقطة"/>
          <p:cNvSpPr/>
          <p:nvPr/>
        </p:nvSpPr>
        <p:spPr>
          <a:xfrm>
            <a:off x="11259007" y="414680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799" y="3867912"/>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قيمة p بقلب الإشارات الدقيق (8,192 تركيبة)، وتصحيح هولم على 4 فرضيات</a:t>
            </a:r>
          </a:p>
        </p:txBody>
      </p:sp>
      <p:sp>
        <p:nvSpPr>
          <p:cNvPr id="11" name="نقطة"/>
          <p:cNvSpPr/>
          <p:nvPr/>
        </p:nvSpPr>
        <p:spPr>
          <a:xfrm>
            <a:off x="11259007" y="486917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799" y="4590288"/>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تُؤكَّد الفرضية إن بلغ الأثر 0.02 على الأقل وكان الحد الأدنى للفاصل موجباً وp المصحَّحة أقل من 0.05</a:t>
            </a:r>
          </a:p>
        </p:txBody>
      </p:sp>
      <p:sp>
        <p:nvSpPr>
          <p:cNvPr id="13" name="نقطة"/>
          <p:cNvSpPr/>
          <p:nvPr/>
        </p:nvSpPr>
        <p:spPr>
          <a:xfrm>
            <a:off x="11259007" y="5591556"/>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799" y="5312664"/>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MDE80 المجمَّد: H1 0.0375، H2-أ 0.045، H3 0.050، H4-أ 0.0225</a:t>
            </a:r>
          </a:p>
        </p:txBody>
      </p:sp>
      <p:sp>
        <p:nvSpPr>
          <p:cNvPr id="1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احتياطي: ما حدود التعميم؟</a:t>
            </a:r>
          </a:p>
        </p:txBody>
      </p:sp>
      <p:sp>
        <p:nvSpPr>
          <p:cNvPr id="3" name="بطاقة"/>
          <p:cNvSpPr/>
          <p:nvPr/>
        </p:nvSpPr>
        <p:spPr>
          <a:xfrm>
            <a:off x="548639" y="1463040"/>
            <a:ext cx="11094415"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السؤال"/>
          <p:cNvSpPr/>
          <p:nvPr/>
        </p:nvSpPr>
        <p:spPr>
          <a:xfrm>
            <a:off x="548639" y="1463040"/>
            <a:ext cx="11094415" cy="822960"/>
          </a:xfrm>
          <a:prstGeom prst="roundRect">
            <a:avLst>
              <a:gd name="adj" fmla="val 2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2400" b="1" i="0" lang="ar-SA">
                <a:solidFill>
                  <a:srgbClr val="134E4A"/>
                </a:solidFill>
                <a:latin typeface="Arial"/>
                <a:cs typeface="Arial"/>
              </a:rPr>
              <a:t>س: إلى أي مدى تنطبق النتائج؟</a:t>
            </a:r>
          </a:p>
        </p:txBody>
      </p:sp>
      <p:sp>
        <p:nvSpPr>
          <p:cNvPr id="5" name="نقطة"/>
          <p:cNvSpPr/>
          <p:nvPr/>
        </p:nvSpPr>
        <p:spPr>
          <a:xfrm>
            <a:off x="11259007" y="2702052"/>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799" y="2423160"/>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مؤسسة واحدة (الجامعة المفتوحة البريطانية): التعميم من 2013 إلى 2014 فقط</a:t>
            </a:r>
          </a:p>
        </p:txBody>
      </p:sp>
      <p:sp>
        <p:nvSpPr>
          <p:cNvPr id="7" name="نقطة"/>
          <p:cNvSpPr/>
          <p:nvPr/>
        </p:nvSpPr>
        <p:spPr>
          <a:xfrm>
            <a:off x="11259007" y="3424428"/>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799" y="3145536"/>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لا ادعاء حول بيئة الجامعة الافتراضية السورية ولا بيئة عربية</a:t>
            </a:r>
          </a:p>
        </p:txBody>
      </p:sp>
      <p:sp>
        <p:nvSpPr>
          <p:cNvPr id="9" name="نقطة"/>
          <p:cNvSpPr/>
          <p:nvPr/>
        </p:nvSpPr>
        <p:spPr>
          <a:xfrm>
            <a:off x="11259007" y="414680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799" y="3867912"/>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التقييم دون اتصال: الوصول المستقبلي وكيل للملاءمة لا للتعلم</a:t>
            </a:r>
          </a:p>
        </p:txBody>
      </p:sp>
      <p:sp>
        <p:nvSpPr>
          <p:cNvPr id="11" name="نقطة"/>
          <p:cNvSpPr/>
          <p:nvPr/>
        </p:nvSpPr>
        <p:spPr>
          <a:xfrm>
            <a:off x="11259007" y="486917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799" y="4590288"/>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سجلات بدقة يوم، وكتالوج صغير ومصفوفة نسبياً كثيفة</a:t>
            </a:r>
          </a:p>
        </p:txBody>
      </p:sp>
      <p:sp>
        <p:nvSpPr>
          <p:cNvPr id="13" name="نقطة"/>
          <p:cNvSpPr/>
          <p:nvPr/>
        </p:nvSpPr>
        <p:spPr>
          <a:xfrm>
            <a:off x="11259007" y="5591556"/>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799" y="5312664"/>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المعالجة: نقل البروتوكول إلى سجلات الجامعة الافتراضية السورية</a:t>
            </a:r>
          </a:p>
        </p:txBody>
      </p:sp>
      <p:sp>
        <p:nvSpPr>
          <p:cNvPr id="1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نظام توصية للتعليم الإلكتروني القائم على تحليل سلوك المستخدم</dc:title>
  <dc:subject>ماجستير علوم الوب — الجامعة الافتراضية السورية</dc:subject>
  <dc:creator>كنان محمد قرحالي</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dc:language>ar-SA</dc:language>
</cp:coreProperties>
</file>