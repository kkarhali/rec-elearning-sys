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(جاء أعلى وصفاً):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الفرق موجب في 13 من 13 عرضاً (وعرضان منها دون 0.02)، ومؤكَّدة بهامش على المتوسط.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(أ) الدلالة تجيب هل الأثر غير صفري، والعتبة تجيب هل هو بحجم يستحق. (ب) H1: لم يتفوق الهجين؛ غير حاسمة، فلا دليل على إضافة بهذا الحجم ولا على غيابها؛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مدحوضة للتفوق، وH4-أ مدحوضة عملياً (وهي دالة إحصائياً). والجواب عن السؤال التطبيقي: ما الذي يضيفه التخصيص فوق مواد الأسبوع الحالي؟ أثر مؤكَّد لترجيح الإشارات داخل WRMF، وفي H1 لم يتفوق الهجين على الشعبية الآنية؛ غير حاسمة: لا يكشف التصميم بقوة 80% أثراً أصغر من 0.0375، فلا دليل على إضافة بهذا الحجم ولا على غيابها.</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 H4-ب: الربع الأقل تاريخاً جاء أعلى وصفاً (استكشافي)، ولا تُقرأ تفوقاً مؤكَّداً. أثر M2 يتسق مع أن الملامح الأكاديمية أقوى المنبئات.</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044099"/>
            <a:ext cx="8138160" cy="3181280"/>
          </a:xfrm>
          <a:prstGeom prst="rect">
            <a:avLst/>
          </a:prstGeom>
          <a:ln w="12700">
            <a:solidFill>
              <a:srgbClr val="CBD5E1"/>
            </a:solidFill>
          </a:ln>
        </p:spPr>
      </p:pic>
      <p:sp>
        <p:nvSpPr>
          <p:cNvPr id="4" name="TextBox 3"/>
          <p:cNvSpPr txBox="1"/>
          <p:nvPr/>
        </p:nvSpPr>
        <p:spPr>
          <a:xfrm>
            <a:off x="548640" y="5271100"/>
            <a:ext cx="813816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9052560" y="1371600"/>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9189720" y="14447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a:t>
            </a:r>
          </a:p>
        </p:txBody>
      </p:sp>
      <p:sp>
        <p:nvSpPr>
          <p:cNvPr id="8" name="TextBox 7"/>
          <p:cNvSpPr txBox="1"/>
          <p:nvPr/>
        </p:nvSpPr>
        <p:spPr>
          <a:xfrm>
            <a:off x="9189720" y="20848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0.02</a:t>
            </a:r>
          </a:p>
        </p:txBody>
      </p:sp>
      <p:sp>
        <p:nvSpPr>
          <p:cNvPr id="9" name="بطاقة"/>
          <p:cNvSpPr/>
          <p:nvPr/>
        </p:nvSpPr>
        <p:spPr>
          <a:xfrm>
            <a:off x="9052560" y="30479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9189720" y="31211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9189720" y="37612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فاصل المتوسط كله فوق العتبة</a:t>
            </a:r>
          </a:p>
        </p:txBody>
      </p:sp>
      <p:sp>
        <p:nvSpPr>
          <p:cNvPr id="13" name="بطاقة"/>
          <p:cNvSpPr/>
          <p:nvPr/>
        </p:nvSpPr>
        <p:spPr>
          <a:xfrm>
            <a:off x="9052560" y="47243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9189720" y="4797551"/>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البقية</a:t>
            </a:r>
          </a:p>
        </p:txBody>
      </p:sp>
      <p:sp>
        <p:nvSpPr>
          <p:cNvPr id="16" name="TextBox 15"/>
          <p:cNvSpPr txBox="1"/>
          <p:nvPr/>
        </p:nvSpPr>
        <p:spPr>
          <a:xfrm>
            <a:off x="9189720" y="54376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غير حاسمة: لا يكشف التصميم بقوة 80% أثراً أصغر من 0.0375، فلا دليل على إضافة بهذا الحجم ولا على غيابها.</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الفرق موجب في 13 من 13 عرضاً، ومؤكَّدة بهامش على المتوسط، داخل WRMF وبيانات 2014 فقط دون تعميم.</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بفرق موجب في 13 من 13 عرضاً، داخله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ما يكشفه التصميم في H1</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لم يتفوق الهجين على الشعبية الآنية في 2014؛ غير حاسمة: لا يكشف التصميم بقوة 80% أثراً أصغر من 0.0375</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65760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73152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EEF2F6"/>
                    </a:solidFill>
                  </a:tcPr>
                </a:tc>
              </a:tr>
            </a:tbl>
          </a:graphicData>
        </a:graphic>
      </p:graphicFrame>
      <p:sp>
        <p:nvSpPr>
          <p:cNvPr id="5" name="TextBox 4"/>
          <p:cNvSpPr txBox="1"/>
          <p:nvPr/>
        </p:nvSpPr>
        <p:spPr>
          <a:xfrm>
            <a:off x="548640" y="562355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من هذه الصفوف الثانوية عائلة هولم؛ H4-أ الرئيسي في الشريحة 15.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