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lsx" ContentType="application/vnd.openxmlformats-officedocument.spreadsheetml.sheet"/>
  <Default Extension="xml" ContentType="application/xml"/>
  <Override PartName="/docProps/app.xml" ContentType="application/vnd.openxmlformats-officedocument.extended-properties+xml"/>
  <Override PartName="/docProps/core.xml" ContentType="application/vnd.openxmlformats-package.core-properties+xml"/>
  <Override PartName="/ppt/charts/chart1.xml" ContentType="application/vnd.openxmlformats-officedocument.drawingml.chart+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Sheet1.xlsx"/></Relationships>
</file>

<file path=ppt/charts/chart1.xml><?xml version="1.0" encoding="utf-8"?>
<c:chartSpace xmlns:c="http://schemas.openxmlformats.org/drawingml/2006/chart" xmlns:a="http://schemas.openxmlformats.org/drawingml/2006/main" xmlns:r="http://schemas.openxmlformats.org/officeDocument/2006/relationships">
  <c:date1904 val="0"/>
  <c:chart>
    <c:autoTitleDeleted val="1"/>
    <c:plotArea>
      <c:barChart>
        <c:barDir val="bar"/>
        <c:grouping val="clustered"/>
        <c:varyColors val="0"/>
        <c:ser>
          <c:idx val="0"/>
          <c:order val="0"/>
          <c:tx>
            <c:strRef>
              <c:f>Sheet1!$B$1</c:f>
              <c:strCache>
                <c:ptCount val="1"/>
                <c:pt idx="0">
                  <c:v>NDCG@10</c:v>
                </c:pt>
              </c:strCache>
            </c:strRef>
          </c:tx>
          <c:spPr>
            <a:solidFill>
              <a:srgbClr val="0F766E"/>
            </a:solidFill>
          </c:spPr>
          <c:dPt>
            <c:idx val="0"/>
            <c:spPr>
              <a:solidFill>
                <a:srgbClr val="B45309"/>
              </a:solidFill>
            </c:spPr>
          </c:dPt>
          <c:cat>
            <c:strRef>
              <c:f>Sheet1!$A$2:$A$11</c:f>
              <c:strCache>
                <c:ptCount val="10"/>
                <c:pt idx="0">
                  <c:v>B3 RecentPop</c:v>
                </c:pt>
                <c:pt idx="1">
                  <c:v>B5 SKNN</c:v>
                </c:pt>
                <c:pt idx="2">
                  <c:v>GRU lite</c:v>
                </c:pt>
                <c:pt idx="3">
                  <c:v>B6 Markov</c:v>
                </c:pt>
                <c:pt idx="4">
                  <c:v>B4 ItemKNN</c:v>
                </c:pt>
                <c:pt idx="5">
                  <c:v>B7 WRMF</c:v>
                </c:pt>
                <c:pt idx="6">
                  <c:v>B10 EASE</c:v>
                </c:pt>
                <c:pt idx="7">
                  <c:v>B2 Pop</c:v>
                </c:pt>
                <c:pt idx="8">
                  <c:v>B9 CBF</c:v>
                </c:pt>
                <c:pt idx="9">
                  <c:v>B1 Random</c:v>
                </c:pt>
              </c:strCache>
            </c:strRef>
          </c:cat>
          <c:val>
            <c:numRef>
              <c:f>Sheet1!$B$2:$B$11</c:f>
              <c:numCache>
                <c:formatCode>General</c:formatCode>
                <c:ptCount val="10"/>
                <c:pt idx="0">
                  <c:v>0.541</c:v>
                </c:pt>
                <c:pt idx="1">
                  <c:v>0.531</c:v>
                </c:pt>
                <c:pt idx="2">
                  <c:v>0.519</c:v>
                </c:pt>
                <c:pt idx="3">
                  <c:v>0.393</c:v>
                </c:pt>
                <c:pt idx="4">
                  <c:v>0.314</c:v>
                </c:pt>
                <c:pt idx="5">
                  <c:v>0.248</c:v>
                </c:pt>
                <c:pt idx="6">
                  <c:v>0.187</c:v>
                </c:pt>
                <c:pt idx="7">
                  <c:v>0.141</c:v>
                </c:pt>
                <c:pt idx="8">
                  <c:v>0.138</c:v>
                </c:pt>
                <c:pt idx="9">
                  <c:v>0.052</c:v>
                </c:pt>
              </c:numCache>
            </c:numRef>
          </c:val>
        </c:ser>
        <c:dLbls>
          <c:numFmt formatCode="0.000" sourceLinked="0"/>
          <c:txPr>
            <a:bodyPr/>
            <a:lstStyle/>
            <a:p>
              <a:pPr>
                <a:defRPr sz="1300" b="1">
                  <a:solidFill>
                    <a:srgbClr val="134E4A"/>
                  </a:solidFill>
                  <a:latin typeface="Arial"/>
                </a:defRPr>
              </a:pPr>
            </a:p>
          </c:txPr>
          <c:dLblPos val="outEnd"/>
          <c:showLegendKey val="0"/>
          <c:showVal val="1"/>
          <c:showCatName val="0"/>
          <c:showSerName val="0"/>
          <c:showPercent val="0"/>
          <c:showBubbleSize val="0"/>
          <c:showLeaderLines val="1"/>
        </c:dLbls>
        <c:gapWidth val="45"/>
        <c:axId val="-2068027336"/>
        <c:axId val="-2113994440"/>
      </c:barChart>
      <c:catAx>
        <c:axId val="-2068027336"/>
        <c:scaling>
          <c:orientation val="maxMin"/>
        </c:scaling>
        <c:delete val="0"/>
        <c:axPos val="l"/>
        <c:majorTickMark val="out"/>
        <c:minorTickMark val="none"/>
        <c:tickLblPos val="nextTo"/>
        <c:spPr>
          <a:ln>
            <a:solidFill>
              <a:srgbClr val="CBD5E1"/>
            </a:solidFill>
          </a:ln>
        </c:spPr>
        <c:txPr>
          <a:bodyPr/>
          <a:lstStyle/>
          <a:p>
            <a:pPr>
              <a:defRPr sz="1300"/>
            </a:pPr>
          </a:p>
        </c:txPr>
        <c:crossAx val="-2113994440"/>
        <c:crosses val="autoZero"/>
        <c:auto val="1"/>
        <c:lblAlgn val="ctr"/>
        <c:lblOffset val="100"/>
        <c:noMultiLvlLbl val="0"/>
      </c:catAx>
      <c:valAx>
        <c:axId val="-2113994440"/>
        <c:scaling>
          <c:max val="0.6383800000000001"/>
          <c:min val="0.0"/>
        </c:scaling>
        <c:delete/>
        <c:axPos val="b"/>
        <c:majorTickMark val="out"/>
        <c:minorTickMark val="none"/>
        <c:tickLblPos val="nextTo"/>
        <c:crossAx val="-2068027336"/>
        <c:crosses val="autoZero"/>
      </c:valAx>
    </c:plotArea>
    <c:dispBlanksAs val="gap"/>
  </c:chart>
  <c:txPr>
    <a:bodyPr/>
    <a:lstStyle/>
    <a:p>
      <a:pPr>
        <a:defRPr sz="1300">
          <a:solidFill>
            <a:srgbClr val="134E4A"/>
          </a:solidFill>
          <a:latin typeface="Arial"/>
        </a:defRPr>
      </a:pPr>
      <a:endParaRPr lang="en-US"/>
    </a:p>
  </c:txPr>
  <c:externalData r:id="rId1">
    <c:autoUpdate val="0"/>
  </c:externalData>
</c:chartSpace>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pPr rtl="1" algn="r"/>
            <a:r>
              <a:rPr lang="ar-SA"/>
              <a:t>مرحباً بالسادة أعضاء اللجنة. أقدّم خلاصة رسالتي: نظام توصية للتعليم الإلكتروني يعتمد على تحليل سلوك المتعلم، وأسأل فيه سؤالاً محدداً: ماذا يضيف تحليل السلوك فوق ما يمليه الجدول الدراسي؟ المدة المتوقعة نحو 18 دقيقة، ثم الأسئلة.</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pPr rtl="1" algn="r"/>
            <a:r>
              <a:rPr lang="ar-SA"/>
              <a:t>ثمانية محاور: أبدأ بالمشكلة، ثم الأدبيات والفجوة، ثم البيانات وتمثيل السلوك، ثم الخوارزميات وبروتوكول التقييم، ثم النظام، ثم النتائج والمناقشة، وأختم بالقيود والخاتمة.</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pPr rtl="1" algn="r"/>
            <a:r>
              <a:rPr lang="ar-SA"/>
              <a:t>في الجامعة الافتراضية السورية يرى المدرّس من سلوك طلابه ما تسجّله المنصة فقط. الاعتراض المنهجي أن معظم الوصول يقوده الجدول الدراسي نفسه، فالسؤال: هل يضيف التخصيص القائم على السلوك شيئاً فوق الشعبية الآنية؟ وتقبل الصياغة صراحةً أن يكون الجواب سلبياً، وتُبلَّغ النتيجة السلبية كما هي.</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pPr rtl="1" algn="r"/>
            <a:r>
              <a:rPr lang="ar-SA"/>
              <a:t>الهدف العام قياس ما يضيفه تحليل السلوك. أربعة أسئلة، لكل منها فرضية مسجّلة مسبقاً: H1 للشخصنة، H2-أ لترجيح الإشارات، H3 لـ GRU-lite (ثنائية الاتجاه)، H4-أ للتنبؤ بالخطر عند اليوم 56. H4-ب استكشافية، وH2-ب غير منطبقة بالبناء لأن أي مكوّن في الهجين المجمَّد لا يقرأ الإشارة الموزونة.</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pPr rtl="1" algn="r"/>
            <a:r>
              <a:rPr lang="ar-SA"/>
              <a:t>ثمانية وثلاثون مرجعاً حُلّلت بقالب موحّد. ثلاثة استنتاجات: خطوط الأساس البسيطة منافسة (المرجع 31 والمرجع 20)؛ ترجيح الإشارات مقترح في أعمال كالمرجعين 26 و34 لكن دون استئصال مضبوط؛ والأرقام تتبع البروتوكول (المرجع 47). الفجوة محدودة بالمراجع المحللة، ودرجة الثقة بها متوسطة. والمساهمة تجريبية ومنهجية لا خوارزمية جديدة.</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pPr rtl="1" algn="r"/>
            <a:r>
              <a:rPr lang="ar-SA"/>
              <a:t>OULAD مجموعة مفتوحة من الجامعة المفتوحة البريطانية بترخيص CC BY 4.0، وكانت الوحيدة التي اجتازت بوابتي التحميل والترخيص وخدمت أهداف الخطة كلها. الأرقام المعروضة من التحليل الاستكشافي على عروض 2013 التسعة حصراً (results/dev2013/eda.md): الكتالوج صغير، والاستعمال متركّز (جيني بين 0.44 و0.79)، وأكثر من نصف أزواج الوصول في نوافذ الاختبار إعادات (متوسط 55.9% إلى 59.2% بحسب نقطة القطع). لذلك عُرّف الهدف الأساسي بالموارد الجديدة، واستُبعدت الأنواع التنقلية.</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pPr rtl="1" algn="r"/>
            <a:r>
              <a:rPr lang="ar-SA"/>
              <a:t>دقة السجلات يوم واحد، فلا ترتيب داخل اليوم، ولذلك نتحدث عن تسلسل سلال لا جلسات تصفح. الإشارة الموزونة تجمع على أيام الوصول اضمحلالاً أسّياً للحداثة بثابت τ وشدة نقرات مطبَّعة بوسيط نوع النشاط ومضغوطة باللوغاريتم بمعامل β. المستويات الأربعة متداخلة، فيصبح الاستئصال نظيفاً: النموذج نفسه والبروتوكول نفسه ولا يختلف إلا تمثيل الإشارة.</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pPr rtl="1" algn="r"/>
            <a:r>
              <a:rPr lang="ar-SA"/>
              <a:t>عشرة خطوط أساس تمثّل عائلات الأدبيات، تُضبط جميعها بميزانية متساوية (حتى 20 إعداداً) على نافذة تحقق. الهجين يدمج رتب المكوّنات لا درجاتها لأن مقاييسها غير قابلة للمقارنة، ويُقبل المكوّن بقاعدة مكتوبة سلفاً، وتُضاف أرضية للشخصنة كي يسأل H1 دائماً عن قيمة الشخصنة. GRU-lite يُقارَن بأقوى بديل غير عصبوني بعد ضبطه بإنصاف، وقد اجتاز فحص التدرج وبقية البوابات. تركيبة التطوير المجمَّدة: شعبية العنقود مع SKNN، ودخل SKNN بالأرضية لا بالقبول (تطوير — وصفي).</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pPr rtl="1" algn="r"/>
            <a:r>
              <a:rPr lang="ar-SA"/>
              <a:t>ثلاث نقاط قطع عامة (اليوم 70 و126 و182)، والاختبار الأربعة عشر يوماً التالية، والتحقق الأربعة عشر يوماً التي تسبق القطع. التقييم على الكتالوج كاملاً لأن السوالب المعيَّنة قد تقلب ترتيب النماذج. التطوير على عروض 2013 التسعة، ثم تجميد التصميم وتشغيل تأكيدي واحد على عروض 2014 الثلاثة عشر. وحدة التحليل العرض، وفاصل bootstrap-t العنقودي، وقيمة p بقلب الإشارات الدقيق، وتصحيح هولم على أربع فرضيات رئيسية، وعتبة الأثر 0.02 نهائية لا تُراجع.</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pPr rtl="1" algn="r"/>
            <a:r>
              <a:rPr lang="ar-SA"/>
              <a:t>المسار: تجميد ثم تشغيل واحد. لا يُوسم freeze-03 إلا باجتياز الشروط العشرة في results/frozen/freeze_checklist.md (الحالة الحية تُقرأ من الملف لا من الشريحة). بعد الوسم يُشغَّل المسار التأكيدي مرة واحدة على عروض 2014 بطورين: الطور الأول يولّد الأحكام ويُقفل بـ SHA-256، والثاني يبني الأشكال. الاستئناف مأذون بعد تعطل بيئي فقط، بعد التحقق من أن HEAD هو الوسم ومن البصمات المجمَّدة؛ يُسجَّل ولا يُعدّ تشغيلاً ثانياً. وأي خلل برمجي يُصلح بأصغر تعديل بموافقة المشرف كتابةً ثم وسم جديد وإعادة الطور الأول. قراءة معرّفات الطلاب في 2014 مقصورة على حذف المتداخلين من تدريب مصنِّفات الخطر على 2013، ولا تدخل التوصية ولا العنقدة ولا تحليل 2014.</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pPr rtl="1" algn="r"/>
            <a:r>
              <a:rPr lang="ar-SA"/>
              <a:t>الحد الفاصل الأهم أن serving.Engine هو المكان الوحيد الذي تُحسب فيه التوصية والتفسير والملف، فتعتمد عليه الواجهة والخدمة دون تكرار منطق. الإطار المتصل في المخطط موجود، والمتقطع مخطط حالياً. كل الشيفرة بـ numpy وpandas مع اختبار تحقق لكل تنفيذ.</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pPr rtl="1" algn="r"/>
            <a:r>
              <a:rPr lang="ar-SA"/>
              <a:t>الواجهة تعمل بنمط إعادة التشغيل على بيانات تاريخية، وتنبّه شارة في أعلاها إلى ذلك. لكل بطاقة درجة الهجين وسبب مبسّط وحصص مساهمة المكوّنات، وزر «لماذا؟» يفتح التفسير. لا تُعرض للمتعلم أي درجة خطر. اللقطة توضيحية ولا يدخل الرسالة رقم منها؛ ولا دراسة مستخدمين لهذه الواجهة.</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pPr rtl="1" algn="r"/>
            <a:r>
              <a:rPr lang="ar-SA"/>
              <a:t>اللوحة تقدّم للمدرّس صورة مبكرة تبدأ من أول لقطة عناقيد عند اليوم 56، والقطوع المعروضة 56 و112. درجة الخطر نسبية غير معايَرة (من نموذج M1) وللمدرّس فقط، ولا تُعرض كاحتمال ولا كنسبة مئوية. تعرض النظرة العامة بطاقة «اتساع التوصيات» وصفاً بلا اسم مقياس، وقسم «تشخيص التجميع» بمؤشرات داخلية بلا تسميات يفسّر شارة عدم الاستقرار. الدرج يعرض عوامل الدرجة والملامح مقابل الوسيط؛ والمتعلم المعروض في اللقطة متوسط الدرجة. اللقطة توضيحية ولا يدخل الرسالة رقم منها.</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pPr rtl="1" algn="r"/>
            <a:r>
              <a:rPr lang="ar-SA"/>
              <a:t>هذه أرقام تطوير على عروض 2013 لتثبيت التصميم، وهي وصفية لا اختبار للفرضيات. الشعبية الآنية (0.541) تتقدّم على معظم النماذج الشخصية، وSKNN (0.531) وGRU-lite (0.519) قريبان منها. الفرق بين SKNN والشعبية الآنية −0.010 وفاصله [−0.057، +0.024]. الهجين المجمَّد 0.561 ± 0.078، والفرق عن الشعبية الآنية +0.020 [−0.007، +0.042] وp = 0.12: لا يُستنتج منه شيء قبل التأكيد. وصفياً أيضاً: الربع الأقل تاريخاً Δ = +0.052 [+0.022، +0.133] للهجين مقابل SKNN وحده (استكشافي). B10 EASE مرجعي فقط.</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pPr rtl="1" algn="r"/>
            <a:r>
              <a:rPr lang="ar-SA"/>
              <a:t>[2014: يُملأ من verdicts.csv بعد التشغيل التأكيدي.] الأحكام بالأسبقية وفق الجدولين 3-14 و3-15: مؤكَّدة، مدحوضة عكسياً، مدحوضة عملياً، غير حاسمة (وفي H3 أيضاً تكافؤ عملي وتأخر مؤكَّد). قيم MDE80 مجمَّدة قبل التشغيل من results/dev2013/mde80.md ولا قوة ملاحَظة من 2014. النتيجة السلبية نتيجة رئيسية مقبولة. H2-ب غير منطبقة بالبناء ولا تظهر.</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pPr rtl="1" algn="r"/>
            <a:r>
              <a:rPr lang="ar-SA"/>
              <a:t>[2014: تُملأ بعد التشغيل التأكيدي.] الفرضية استكشافية: المعالَجة الهجين المجمَّد، والمقارِن SKNN وحده، على الربع الأدنى من عدد الموارد المختلفة التي زارها المتعلم. للمرجع فقط (تطوير — وصفي): الربع الأدنى +0.052 [+0.022، +0.133].</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pPr rtl="1" algn="r"/>
            <a:r>
              <a:rPr lang="ar-SA"/>
              <a:t>[2014: تُملأ من results/conf2014/ بصيغة PNG (تُحوَّل SVG عبر scripts/svg2png.py). في JSON: panel.image بمسار PNG فيحلّ محلّ المكان النائب.] التحليلات الثانوية مسجّلة مسبقاً ولا تغيّر حكم الفرضيات.</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pPr rtl="1" algn="r"/>
            <a:r>
              <a:rPr lang="ar-SA"/>
              <a:t>[تُكتب بعد النتائج.] المحاور الأربعة مسجّلة سلفاً. سياسة النتيجة السلبية مكتوبة في الفصل الثالث: تفوّق الشعبية الآنية على الهجين، أو الجيران على GRU-lite، نتيجة رئيسية مقبولة.</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pPr rtl="1" algn="r"/>
            <a:r>
              <a:rPr lang="ar-SA"/>
              <a:t>حدود الادعاء: الوصول المستقبلي وكيل للملاءمة لا للتعلم، والتعميم داخل المؤسسة نفسها، ولم تُدمج السمات الديموغرافية في أي نموذج. من العمل المستقبلي ما يعالج هذه القيود مباشرة. [يُراجع هذا القسم بعد النتائج التأكيدية إن ظهرت قيود إضافية.]</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pPr rtl="1" algn="r"/>
            <a:r>
              <a:rPr lang="ar-SA"/>
              <a:t>الخاتمة: أربع مساهمات تجريبية ومنهجية. لا أدّعي ابتكار خوارزمية، بل اختبار أفكار قائمة اختباراً منضبطاً على سجلات تعليمية عامة. [الجملة الختامية عن نتيجة التأكيد تُستكمل في الجولة التالية.] سواء كانت النتيجة إيجابية أم سلبية، فهي تجيب عن سؤال تحتاجه أي منصة تعليمية: ما الذي يضيفه التخصيص فوق مواد الأسبوع الحالي؟</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pPr rtl="1" algn="r"/>
            <a:r>
              <a:rPr lang="ar-SA"/>
              <a:t>أشكر اللجنة والمشرف، وأرحّب بالأسئلة. الشرائح الاحتياطية التالية تغطي الأسئلة المتوقعة: لماذا numpy فقط؟ لماذا لا CNN؟ ما الدلالة الإحصائية؟ ما حدود التعميم؟</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pPr rtl="1" algn="r"/>
            <a:r>
              <a:rPr lang="ar-SA"/>
              <a:t>الجواب الموثّق: قرار منهجي مبرَّر بقيد بيئي وبديل معلن. استُبعدت الـCNN لسببين: مرجعها غير قابل للتكرار، وغياب بنية محلية في سلال الأيام. الشبكة العصبونية المتكررة ممثَّلة بـ GRU-lite، وقد اجتازت حزمة صحة قبل أي تقييم.</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pPr rtl="1" algn="r"/>
            <a:r>
              <a:rPr lang="ar-SA"/>
              <a:t>القاعدة مسجّلة قبل رؤية نتائج 2014 وتُطبَّق آلياً بالأسبقية. الفواصل على 9 عروض في التطوير وصفية فقط. الفاصل المعيَّر يغطي نحو 95% عند 13 وحدة مقابل نحو 92% للمئيني. أصغر p ممكنة نحو 0.00024. والنماذج العشوائية تُقرَّر بخمس بذور. قيم MDE80 من results/dev2013/mde80.md؛ تُلحق بـ«غير حاسمة» عبارة: لا يكشف التصميم بقوة 80% أثراً أصغر من MDE80.</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pPr rtl="1" algn="r"/>
            <a:r>
              <a:rPr lang="ar-SA"/>
              <a:t>الحدود معلنة في الفصل الأول (1-5) وتُناقَش في الفصل السادس. القيمة المنهجية للبروتوكول قابلة للنقل حتى لو لم تنتقل الأرقام.</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1.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134E4A"/>
        </a:solidFill>
        <a:effectLst/>
      </p:bgPr>
    </p:bg>
    <p:spTree>
      <p:nvGrpSpPr>
        <p:cNvPr id="1" name=""/>
        <p:cNvGrpSpPr/>
        <p:nvPr/>
      </p:nvGrpSpPr>
      <p:grpSpPr/>
      <p:sp>
        <p:nvSpPr>
          <p:cNvPr id="2" name="زخرفة"/>
          <p:cNvSpPr/>
          <p:nvPr/>
        </p:nvSpPr>
        <p:spPr>
          <a:xfrm>
            <a:off x="-2011680" y="3108960"/>
            <a:ext cx="5669280" cy="5669280"/>
          </a:xfrm>
          <a:prstGeom prst="ellipse">
            <a:avLst/>
          </a:prstGeom>
          <a:solidFill>
            <a:srgbClr val="115E5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زخرفة"/>
          <p:cNvSpPr/>
          <p:nvPr/>
        </p:nvSpPr>
        <p:spPr>
          <a:xfrm>
            <a:off x="274320" y="-1463040"/>
            <a:ext cx="3291840" cy="3291840"/>
          </a:xfrm>
          <a:prstGeom prst="ellipse">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زخرفة"/>
          <p:cNvSpPr/>
          <p:nvPr/>
        </p:nvSpPr>
        <p:spPr>
          <a:xfrm>
            <a:off x="-548640" y="5120640"/>
            <a:ext cx="2377440" cy="2377440"/>
          </a:xfrm>
          <a:prstGeom prst="ellipse">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شعار الجامعة"/>
          <p:cNvSpPr/>
          <p:nvPr/>
        </p:nvSpPr>
        <p:spPr>
          <a:xfrm>
            <a:off x="10774375" y="502920"/>
            <a:ext cx="868680" cy="384048"/>
          </a:xfrm>
          <a:prstGeom prst="roundRect">
            <a:avLst>
              <a:gd name="adj" fmla="val 50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rtl="1"/>
            <a:r>
              <a:rPr sz="1600" b="1" i="0" lang="ar-SA">
                <a:solidFill>
                  <a:srgbClr val="134E4A"/>
                </a:solidFill>
                <a:latin typeface="Arial"/>
                <a:cs typeface="Arial"/>
              </a:rPr>
              <a:t>SVU</a:t>
            </a:r>
          </a:p>
        </p:txBody>
      </p:sp>
      <p:sp>
        <p:nvSpPr>
          <p:cNvPr id="6" name="اسم الجامعة"/>
          <p:cNvSpPr txBox="1"/>
          <p:nvPr/>
        </p:nvSpPr>
        <p:spPr>
          <a:xfrm>
            <a:off x="5653735" y="502920"/>
            <a:ext cx="5029200" cy="384048"/>
          </a:xfrm>
          <a:prstGeom prst="rect">
            <a:avLst/>
          </a:prstGeom>
          <a:noFill/>
        </p:spPr>
        <p:txBody>
          <a:bodyPr wrap="square" lIns="45720" rIns="45720" tIns="27432" bIns="27432" anchor="ctr">
            <a:spAutoFit/>
          </a:bodyPr>
          <a:lstStyle/>
          <a:p>
            <a:pPr rtl="1" algn="r">
              <a:lnSpc>
                <a:spcPct val="115000"/>
              </a:lnSpc>
              <a:spcBef>
                <a:spcPts val="0"/>
              </a:spcBef>
              <a:spcAft>
                <a:spcPts val="0"/>
              </a:spcAft>
            </a:pPr>
            <a:r>
              <a:rPr sz="2000" b="1" i="0" lang="ar-SA">
                <a:solidFill>
                  <a:srgbClr val="FFFFFF"/>
                </a:solidFill>
                <a:latin typeface="Arial"/>
                <a:cs typeface="Arial"/>
              </a:rPr>
              <a:t>الجامعة الافتراضية السورية</a:t>
            </a:r>
          </a:p>
        </p:txBody>
      </p:sp>
      <p:sp>
        <p:nvSpPr>
          <p:cNvPr id="7" name="نوع الرسالة"/>
          <p:cNvSpPr/>
          <p:nvPr/>
        </p:nvSpPr>
        <p:spPr>
          <a:xfrm>
            <a:off x="8168335" y="1600200"/>
            <a:ext cx="3474720" cy="411480"/>
          </a:xfrm>
          <a:prstGeom prst="roundRect">
            <a:avLst>
              <a:gd name="adj" fmla="val 50000"/>
            </a:avLst>
          </a:prstGeom>
          <a:solidFill>
            <a:srgbClr val="B4530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rtl="1"/>
            <a:r>
              <a:rPr sz="1600" b="1" i="0" lang="ar-SA">
                <a:solidFill>
                  <a:srgbClr val="FFFFFF"/>
                </a:solidFill>
                <a:latin typeface="Arial"/>
                <a:cs typeface="Arial"/>
              </a:rPr>
              <a:t>رسالة ماجستير في علوم الوب</a:t>
            </a:r>
          </a:p>
        </p:txBody>
      </p:sp>
      <p:sp>
        <p:nvSpPr>
          <p:cNvPr id="8" name="العنوان"/>
          <p:cNvSpPr txBox="1"/>
          <p:nvPr/>
        </p:nvSpPr>
        <p:spPr>
          <a:xfrm>
            <a:off x="3474720" y="2148840"/>
            <a:ext cx="8168335" cy="2103120"/>
          </a:xfrm>
          <a:prstGeom prst="rect">
            <a:avLst/>
          </a:prstGeom>
          <a:noFill/>
        </p:spPr>
        <p:txBody>
          <a:bodyPr wrap="square" lIns="45720" rIns="45720" tIns="27432" bIns="27432" anchor="t">
            <a:spAutoFit/>
          </a:bodyPr>
          <a:lstStyle/>
          <a:p>
            <a:pPr rtl="1" algn="r">
              <a:lnSpc>
                <a:spcPct val="110000"/>
              </a:lnSpc>
              <a:spcBef>
                <a:spcPts val="0"/>
              </a:spcBef>
              <a:spcAft>
                <a:spcPts val="0"/>
              </a:spcAft>
            </a:pPr>
            <a:r>
              <a:rPr sz="4000" b="1" i="0" lang="ar-SA">
                <a:solidFill>
                  <a:srgbClr val="FFFFFF"/>
                </a:solidFill>
                <a:latin typeface="Arial"/>
                <a:cs typeface="Arial"/>
              </a:rPr>
              <a:t>نظام توصية للتعليم الإلكتروني القائم على تحليل سلوك المستخدم</a:t>
            </a:r>
          </a:p>
        </p:txBody>
      </p:sp>
      <p:sp>
        <p:nvSpPr>
          <p:cNvPr id="9" name="بيانات الرسالة"/>
          <p:cNvSpPr txBox="1"/>
          <p:nvPr/>
        </p:nvSpPr>
        <p:spPr>
          <a:xfrm>
            <a:off x="3474720" y="4434840"/>
            <a:ext cx="8168335" cy="1463040"/>
          </a:xfrm>
          <a:prstGeom prst="rect">
            <a:avLst/>
          </a:prstGeom>
          <a:noFill/>
        </p:spPr>
        <p:txBody>
          <a:bodyPr wrap="square" lIns="45720" rIns="45720" tIns="27432" bIns="27432" anchor="t">
            <a:spAutoFit/>
          </a:bodyPr>
          <a:lstStyle/>
          <a:p>
            <a:pPr rtl="1" algn="r">
              <a:lnSpc>
                <a:spcPct val="120000"/>
              </a:lnSpc>
              <a:spcBef>
                <a:spcPts val="0"/>
              </a:spcBef>
              <a:spcAft>
                <a:spcPts val="400"/>
              </a:spcAft>
            </a:pPr>
            <a:r>
              <a:rPr sz="2200" b="0" i="0" lang="ar-SA">
                <a:solidFill>
                  <a:srgbClr val="CCFBF1"/>
                </a:solidFill>
                <a:latin typeface="Arial"/>
                <a:cs typeface="Arial"/>
              </a:rPr>
              <a:t>الطالب: كنان محمد قرحالي</a:t>
            </a:r>
          </a:p>
          <a:p>
            <a:pPr rtl="1" algn="r">
              <a:lnSpc>
                <a:spcPct val="120000"/>
              </a:lnSpc>
              <a:spcBef>
                <a:spcPts val="0"/>
              </a:spcBef>
              <a:spcAft>
                <a:spcPts val="400"/>
              </a:spcAft>
            </a:pPr>
            <a:r>
              <a:rPr sz="2200" b="0" i="0" lang="ar-SA">
                <a:solidFill>
                  <a:srgbClr val="CCFBF1"/>
                </a:solidFill>
                <a:latin typeface="Arial"/>
                <a:cs typeface="Arial"/>
              </a:rPr>
              <a:t>إشراف: د. باسل الخطيب</a:t>
            </a:r>
          </a:p>
          <a:p>
            <a:pPr rtl="1" algn="r">
              <a:lnSpc>
                <a:spcPct val="120000"/>
              </a:lnSpc>
              <a:spcBef>
                <a:spcPts val="0"/>
              </a:spcBef>
              <a:spcAft>
                <a:spcPts val="400"/>
              </a:spcAft>
            </a:pPr>
            <a:r>
              <a:rPr sz="2200" b="0" i="0" lang="ar-SA">
                <a:solidFill>
                  <a:srgbClr val="CCFBF1"/>
                </a:solidFill>
                <a:latin typeface="Arial"/>
                <a:cs typeface="Arial"/>
              </a:rPr>
              <a:t>الجامعة الافتراضية السورية</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العنوان"/>
          <p:cNvSpPr txBox="1"/>
          <p:nvPr/>
        </p:nvSpPr>
        <p:spPr>
          <a:xfrm>
            <a:off x="548640" y="347472"/>
            <a:ext cx="11094415" cy="868680"/>
          </a:xfrm>
          <a:prstGeom prst="rect">
            <a:avLst/>
          </a:prstGeom>
          <a:noFill/>
        </p:spPr>
        <p:txBody>
          <a:bodyPr wrap="square" lIns="45720" rIns="45720" tIns="27432" bIns="27432" anchor="ctr">
            <a:spAutoFit/>
          </a:bodyPr>
          <a:lstStyle/>
          <a:p>
            <a:pPr rtl="1" algn="r">
              <a:lnSpc>
                <a:spcPct val="115000"/>
              </a:lnSpc>
              <a:spcBef>
                <a:spcPts val="0"/>
              </a:spcBef>
              <a:spcAft>
                <a:spcPts val="0"/>
              </a:spcAft>
            </a:pPr>
            <a:r>
              <a:rPr sz="3000" b="1" i="0" lang="ar-SA">
                <a:solidFill>
                  <a:srgbClr val="134E4A"/>
                </a:solidFill>
                <a:latin typeface="Arial"/>
                <a:cs typeface="Arial"/>
              </a:rPr>
              <a:t>جدول الأعمال</a:t>
            </a:r>
          </a:p>
        </p:txBody>
      </p:sp>
      <p:sp>
        <p:nvSpPr>
          <p:cNvPr id="3" name="بطاقة"/>
          <p:cNvSpPr/>
          <p:nvPr/>
        </p:nvSpPr>
        <p:spPr>
          <a:xfrm>
            <a:off x="9075191" y="1463040"/>
            <a:ext cx="2567863" cy="2103120"/>
          </a:xfrm>
          <a:prstGeom prst="roundRect">
            <a:avLst>
              <a:gd name="adj" fmla="val 6000"/>
            </a:avLst>
          </a:prstGeom>
          <a:solidFill>
            <a:srgbClr val="FFFFFF"/>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رقم"/>
          <p:cNvSpPr/>
          <p:nvPr/>
        </p:nvSpPr>
        <p:spPr>
          <a:xfrm>
            <a:off x="10957255" y="1645920"/>
            <a:ext cx="502920" cy="502920"/>
          </a:xfrm>
          <a:prstGeom prst="roundRect">
            <a:avLst>
              <a:gd name="adj" fmla="val 50000"/>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rtl="1"/>
            <a:r>
              <a:rPr sz="1600" b="1" i="0" lang="ar-SA">
                <a:solidFill>
                  <a:srgbClr val="FFFFFF"/>
                </a:solidFill>
                <a:latin typeface="Arial"/>
                <a:cs typeface="Arial"/>
              </a:rPr>
              <a:t>1</a:t>
            </a:r>
          </a:p>
        </p:txBody>
      </p:sp>
      <p:sp>
        <p:nvSpPr>
          <p:cNvPr id="5" name="TextBox 4"/>
          <p:cNvSpPr txBox="1"/>
          <p:nvPr/>
        </p:nvSpPr>
        <p:spPr>
          <a:xfrm>
            <a:off x="9212351" y="1572768"/>
            <a:ext cx="1653463" cy="685800"/>
          </a:xfrm>
          <a:prstGeom prst="rect">
            <a:avLst/>
          </a:prstGeom>
          <a:noFill/>
        </p:spPr>
        <p:txBody>
          <a:bodyPr wrap="square" lIns="45720" rIns="45720" tIns="27432" bIns="27432" anchor="ctr">
            <a:spAutoFit/>
          </a:bodyPr>
          <a:lstStyle/>
          <a:p>
            <a:pPr rtl="1" algn="r">
              <a:lnSpc>
                <a:spcPct val="100000"/>
              </a:lnSpc>
              <a:spcBef>
                <a:spcPts val="0"/>
              </a:spcBef>
              <a:spcAft>
                <a:spcPts val="0"/>
              </a:spcAft>
            </a:pPr>
            <a:r>
              <a:rPr sz="2000" b="1" i="0" lang="ar-SA">
                <a:solidFill>
                  <a:srgbClr val="134E4A"/>
                </a:solidFill>
                <a:latin typeface="Arial"/>
                <a:cs typeface="Arial"/>
              </a:rPr>
              <a:t>المشكلة والهدف</a:t>
            </a:r>
          </a:p>
        </p:txBody>
      </p:sp>
      <p:sp>
        <p:nvSpPr>
          <p:cNvPr id="6" name="TextBox 5"/>
          <p:cNvSpPr txBox="1"/>
          <p:nvPr/>
        </p:nvSpPr>
        <p:spPr>
          <a:xfrm>
            <a:off x="9212351" y="2331720"/>
            <a:ext cx="2293543" cy="1142999"/>
          </a:xfrm>
          <a:prstGeom prst="rect">
            <a:avLst/>
          </a:prstGeom>
          <a:noFill/>
        </p:spPr>
        <p:txBody>
          <a:bodyPr wrap="square" lIns="45720" rIns="45720" tIns="27432" bIns="27432" anchor="t">
            <a:spAutoFit/>
          </a:bodyPr>
          <a:lstStyle/>
          <a:p>
            <a:pPr rtl="1" algn="r">
              <a:lnSpc>
                <a:spcPct val="115000"/>
              </a:lnSpc>
              <a:spcBef>
                <a:spcPts val="0"/>
              </a:spcBef>
              <a:spcAft>
                <a:spcPts val="0"/>
              </a:spcAft>
            </a:pPr>
            <a:r>
              <a:rPr sz="1600" b="0" i="0" lang="ar-SA">
                <a:solidFill>
                  <a:srgbClr val="475569"/>
                </a:solidFill>
                <a:latin typeface="Arial"/>
                <a:cs typeface="Arial"/>
              </a:rPr>
              <a:t>السؤال وأسئلة البحث</a:t>
            </a:r>
          </a:p>
        </p:txBody>
      </p:sp>
      <p:sp>
        <p:nvSpPr>
          <p:cNvPr id="7" name="بطاقة"/>
          <p:cNvSpPr/>
          <p:nvPr/>
        </p:nvSpPr>
        <p:spPr>
          <a:xfrm>
            <a:off x="6233007" y="1463040"/>
            <a:ext cx="2567863" cy="2103120"/>
          </a:xfrm>
          <a:prstGeom prst="roundRect">
            <a:avLst>
              <a:gd name="adj" fmla="val 6000"/>
            </a:avLst>
          </a:prstGeom>
          <a:solidFill>
            <a:srgbClr val="FFFFFF"/>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رقم"/>
          <p:cNvSpPr/>
          <p:nvPr/>
        </p:nvSpPr>
        <p:spPr>
          <a:xfrm>
            <a:off x="8115071" y="1645920"/>
            <a:ext cx="502920" cy="502920"/>
          </a:xfrm>
          <a:prstGeom prst="roundRect">
            <a:avLst>
              <a:gd name="adj" fmla="val 50000"/>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rtl="1"/>
            <a:r>
              <a:rPr sz="1600" b="1" i="0" lang="ar-SA">
                <a:solidFill>
                  <a:srgbClr val="FFFFFF"/>
                </a:solidFill>
                <a:latin typeface="Arial"/>
                <a:cs typeface="Arial"/>
              </a:rPr>
              <a:t>2</a:t>
            </a:r>
          </a:p>
        </p:txBody>
      </p:sp>
      <p:sp>
        <p:nvSpPr>
          <p:cNvPr id="9" name="TextBox 8"/>
          <p:cNvSpPr txBox="1"/>
          <p:nvPr/>
        </p:nvSpPr>
        <p:spPr>
          <a:xfrm>
            <a:off x="6370167" y="1572768"/>
            <a:ext cx="1653463" cy="685800"/>
          </a:xfrm>
          <a:prstGeom prst="rect">
            <a:avLst/>
          </a:prstGeom>
          <a:noFill/>
        </p:spPr>
        <p:txBody>
          <a:bodyPr wrap="square" lIns="45720" rIns="45720" tIns="27432" bIns="27432" anchor="ctr">
            <a:spAutoFit/>
          </a:bodyPr>
          <a:lstStyle/>
          <a:p>
            <a:pPr rtl="1" algn="r">
              <a:lnSpc>
                <a:spcPct val="100000"/>
              </a:lnSpc>
              <a:spcBef>
                <a:spcPts val="0"/>
              </a:spcBef>
              <a:spcAft>
                <a:spcPts val="0"/>
              </a:spcAft>
            </a:pPr>
            <a:r>
              <a:rPr sz="2000" b="1" i="0" lang="ar-SA">
                <a:solidFill>
                  <a:srgbClr val="134E4A"/>
                </a:solidFill>
                <a:latin typeface="Arial"/>
                <a:cs typeface="Arial"/>
              </a:rPr>
              <a:t>الأدبيات والفجوة</a:t>
            </a:r>
          </a:p>
        </p:txBody>
      </p:sp>
      <p:sp>
        <p:nvSpPr>
          <p:cNvPr id="10" name="TextBox 9"/>
          <p:cNvSpPr txBox="1"/>
          <p:nvPr/>
        </p:nvSpPr>
        <p:spPr>
          <a:xfrm>
            <a:off x="6370167" y="2331720"/>
            <a:ext cx="2293543" cy="1142999"/>
          </a:xfrm>
          <a:prstGeom prst="rect">
            <a:avLst/>
          </a:prstGeom>
          <a:noFill/>
        </p:spPr>
        <p:txBody>
          <a:bodyPr wrap="square" lIns="45720" rIns="45720" tIns="27432" bIns="27432" anchor="t">
            <a:spAutoFit/>
          </a:bodyPr>
          <a:lstStyle/>
          <a:p>
            <a:pPr rtl="1" algn="r">
              <a:lnSpc>
                <a:spcPct val="115000"/>
              </a:lnSpc>
              <a:spcBef>
                <a:spcPts val="0"/>
              </a:spcBef>
              <a:spcAft>
                <a:spcPts val="0"/>
              </a:spcAft>
            </a:pPr>
            <a:r>
              <a:rPr sz="1600" b="0" i="0" lang="ar-SA">
                <a:solidFill>
                  <a:srgbClr val="475569"/>
                </a:solidFill>
                <a:latin typeface="Arial"/>
                <a:cs typeface="Arial"/>
              </a:rPr>
              <a:t>ما قيل وما لم يُختبر</a:t>
            </a:r>
          </a:p>
        </p:txBody>
      </p:sp>
      <p:sp>
        <p:nvSpPr>
          <p:cNvPr id="11" name="بطاقة"/>
          <p:cNvSpPr/>
          <p:nvPr/>
        </p:nvSpPr>
        <p:spPr>
          <a:xfrm>
            <a:off x="3390823" y="1463040"/>
            <a:ext cx="2567863" cy="2103120"/>
          </a:xfrm>
          <a:prstGeom prst="roundRect">
            <a:avLst>
              <a:gd name="adj" fmla="val 6000"/>
            </a:avLst>
          </a:prstGeom>
          <a:solidFill>
            <a:srgbClr val="FFFFFF"/>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رقم"/>
          <p:cNvSpPr/>
          <p:nvPr/>
        </p:nvSpPr>
        <p:spPr>
          <a:xfrm>
            <a:off x="5272887" y="1645920"/>
            <a:ext cx="502920" cy="502920"/>
          </a:xfrm>
          <a:prstGeom prst="roundRect">
            <a:avLst>
              <a:gd name="adj" fmla="val 50000"/>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rtl="1"/>
            <a:r>
              <a:rPr sz="1600" b="1" i="0" lang="ar-SA">
                <a:solidFill>
                  <a:srgbClr val="FFFFFF"/>
                </a:solidFill>
                <a:latin typeface="Arial"/>
                <a:cs typeface="Arial"/>
              </a:rPr>
              <a:t>3</a:t>
            </a:r>
          </a:p>
        </p:txBody>
      </p:sp>
      <p:sp>
        <p:nvSpPr>
          <p:cNvPr id="13" name="TextBox 12"/>
          <p:cNvSpPr txBox="1"/>
          <p:nvPr/>
        </p:nvSpPr>
        <p:spPr>
          <a:xfrm>
            <a:off x="3527983" y="1572768"/>
            <a:ext cx="1653463" cy="685800"/>
          </a:xfrm>
          <a:prstGeom prst="rect">
            <a:avLst/>
          </a:prstGeom>
          <a:noFill/>
        </p:spPr>
        <p:txBody>
          <a:bodyPr wrap="square" lIns="45720" rIns="45720" tIns="27432" bIns="27432" anchor="ctr">
            <a:spAutoFit/>
          </a:bodyPr>
          <a:lstStyle/>
          <a:p>
            <a:pPr rtl="1" algn="r">
              <a:lnSpc>
                <a:spcPct val="100000"/>
              </a:lnSpc>
              <a:spcBef>
                <a:spcPts val="0"/>
              </a:spcBef>
              <a:spcAft>
                <a:spcPts val="0"/>
              </a:spcAft>
            </a:pPr>
            <a:r>
              <a:rPr sz="2000" b="1" i="0" lang="ar-SA">
                <a:solidFill>
                  <a:srgbClr val="134E4A"/>
                </a:solidFill>
                <a:latin typeface="Arial"/>
                <a:cs typeface="Arial"/>
              </a:rPr>
              <a:t>البيانات والسلوك</a:t>
            </a:r>
          </a:p>
        </p:txBody>
      </p:sp>
      <p:sp>
        <p:nvSpPr>
          <p:cNvPr id="14" name="TextBox 13"/>
          <p:cNvSpPr txBox="1"/>
          <p:nvPr/>
        </p:nvSpPr>
        <p:spPr>
          <a:xfrm>
            <a:off x="3527983" y="2331720"/>
            <a:ext cx="2293543" cy="1142999"/>
          </a:xfrm>
          <a:prstGeom prst="rect">
            <a:avLst/>
          </a:prstGeom>
          <a:noFill/>
        </p:spPr>
        <p:txBody>
          <a:bodyPr wrap="square" lIns="45720" rIns="45720" tIns="27432" bIns="27432" anchor="t">
            <a:spAutoFit/>
          </a:bodyPr>
          <a:lstStyle/>
          <a:p>
            <a:pPr rtl="1" algn="r">
              <a:lnSpc>
                <a:spcPct val="115000"/>
              </a:lnSpc>
              <a:spcBef>
                <a:spcPts val="0"/>
              </a:spcBef>
              <a:spcAft>
                <a:spcPts val="0"/>
              </a:spcAft>
            </a:pPr>
            <a:r>
              <a:rPr sz="1600" b="0" i="0" lang="ar-SA">
                <a:solidFill>
                  <a:srgbClr val="475569"/>
                </a:solidFill>
                <a:latin typeface="Arial"/>
                <a:cs typeface="Arial"/>
              </a:rPr>
              <a:t>OULAD والإشارات</a:t>
            </a:r>
          </a:p>
        </p:txBody>
      </p:sp>
      <p:sp>
        <p:nvSpPr>
          <p:cNvPr id="15" name="بطاقة"/>
          <p:cNvSpPr/>
          <p:nvPr/>
        </p:nvSpPr>
        <p:spPr>
          <a:xfrm>
            <a:off x="548640" y="1463040"/>
            <a:ext cx="2567863" cy="2103120"/>
          </a:xfrm>
          <a:prstGeom prst="roundRect">
            <a:avLst>
              <a:gd name="adj" fmla="val 6000"/>
            </a:avLst>
          </a:prstGeom>
          <a:solidFill>
            <a:srgbClr val="FFFFFF"/>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رقم"/>
          <p:cNvSpPr/>
          <p:nvPr/>
        </p:nvSpPr>
        <p:spPr>
          <a:xfrm>
            <a:off x="2430703" y="1645920"/>
            <a:ext cx="502920" cy="502920"/>
          </a:xfrm>
          <a:prstGeom prst="roundRect">
            <a:avLst>
              <a:gd name="adj" fmla="val 50000"/>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rtl="1"/>
            <a:r>
              <a:rPr sz="1600" b="1" i="0" lang="ar-SA">
                <a:solidFill>
                  <a:srgbClr val="FFFFFF"/>
                </a:solidFill>
                <a:latin typeface="Arial"/>
                <a:cs typeface="Arial"/>
              </a:rPr>
              <a:t>4</a:t>
            </a:r>
          </a:p>
        </p:txBody>
      </p:sp>
      <p:sp>
        <p:nvSpPr>
          <p:cNvPr id="17" name="TextBox 16"/>
          <p:cNvSpPr txBox="1"/>
          <p:nvPr/>
        </p:nvSpPr>
        <p:spPr>
          <a:xfrm>
            <a:off x="685800" y="1572768"/>
            <a:ext cx="1653463" cy="685800"/>
          </a:xfrm>
          <a:prstGeom prst="rect">
            <a:avLst/>
          </a:prstGeom>
          <a:noFill/>
        </p:spPr>
        <p:txBody>
          <a:bodyPr wrap="square" lIns="45720" rIns="45720" tIns="27432" bIns="27432" anchor="ctr">
            <a:spAutoFit/>
          </a:bodyPr>
          <a:lstStyle/>
          <a:p>
            <a:pPr rtl="1" algn="r">
              <a:lnSpc>
                <a:spcPct val="100000"/>
              </a:lnSpc>
              <a:spcBef>
                <a:spcPts val="0"/>
              </a:spcBef>
              <a:spcAft>
                <a:spcPts val="0"/>
              </a:spcAft>
            </a:pPr>
            <a:r>
              <a:rPr sz="2000" b="1" i="0" lang="ar-SA">
                <a:solidFill>
                  <a:srgbClr val="134E4A"/>
                </a:solidFill>
                <a:latin typeface="Arial"/>
                <a:cs typeface="Arial"/>
              </a:rPr>
              <a:t>الخوارزميات والبروتوكول</a:t>
            </a:r>
          </a:p>
        </p:txBody>
      </p:sp>
      <p:sp>
        <p:nvSpPr>
          <p:cNvPr id="18" name="TextBox 17"/>
          <p:cNvSpPr txBox="1"/>
          <p:nvPr/>
        </p:nvSpPr>
        <p:spPr>
          <a:xfrm>
            <a:off x="685800" y="2331720"/>
            <a:ext cx="2293543" cy="1142999"/>
          </a:xfrm>
          <a:prstGeom prst="rect">
            <a:avLst/>
          </a:prstGeom>
          <a:noFill/>
        </p:spPr>
        <p:txBody>
          <a:bodyPr wrap="square" lIns="45720" rIns="45720" tIns="27432" bIns="27432" anchor="t">
            <a:spAutoFit/>
          </a:bodyPr>
          <a:lstStyle/>
          <a:p>
            <a:pPr rtl="1" algn="r">
              <a:lnSpc>
                <a:spcPct val="115000"/>
              </a:lnSpc>
              <a:spcBef>
                <a:spcPts val="0"/>
              </a:spcBef>
              <a:spcAft>
                <a:spcPts val="0"/>
              </a:spcAft>
            </a:pPr>
            <a:r>
              <a:rPr sz="1600" b="0" i="0" lang="ar-SA">
                <a:solidFill>
                  <a:srgbClr val="475569"/>
                </a:solidFill>
                <a:latin typeface="Arial"/>
                <a:cs typeface="Arial"/>
              </a:rPr>
              <a:t>النماذج وخطة التقييم</a:t>
            </a:r>
          </a:p>
        </p:txBody>
      </p:sp>
      <p:sp>
        <p:nvSpPr>
          <p:cNvPr id="19" name="بطاقة"/>
          <p:cNvSpPr/>
          <p:nvPr/>
        </p:nvSpPr>
        <p:spPr>
          <a:xfrm>
            <a:off x="9075191" y="3840479"/>
            <a:ext cx="2567863" cy="2103120"/>
          </a:xfrm>
          <a:prstGeom prst="roundRect">
            <a:avLst>
              <a:gd name="adj" fmla="val 6000"/>
            </a:avLst>
          </a:prstGeom>
          <a:solidFill>
            <a:srgbClr val="FFFFFF"/>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رقم"/>
          <p:cNvSpPr/>
          <p:nvPr/>
        </p:nvSpPr>
        <p:spPr>
          <a:xfrm>
            <a:off x="10957255" y="4023359"/>
            <a:ext cx="502920" cy="502920"/>
          </a:xfrm>
          <a:prstGeom prst="roundRect">
            <a:avLst>
              <a:gd name="adj" fmla="val 50000"/>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rtl="1"/>
            <a:r>
              <a:rPr sz="1600" b="1" i="0" lang="ar-SA">
                <a:solidFill>
                  <a:srgbClr val="FFFFFF"/>
                </a:solidFill>
                <a:latin typeface="Arial"/>
                <a:cs typeface="Arial"/>
              </a:rPr>
              <a:t>5</a:t>
            </a:r>
          </a:p>
        </p:txBody>
      </p:sp>
      <p:sp>
        <p:nvSpPr>
          <p:cNvPr id="21" name="TextBox 20"/>
          <p:cNvSpPr txBox="1"/>
          <p:nvPr/>
        </p:nvSpPr>
        <p:spPr>
          <a:xfrm>
            <a:off x="9212351" y="3950207"/>
            <a:ext cx="1653463" cy="685800"/>
          </a:xfrm>
          <a:prstGeom prst="rect">
            <a:avLst/>
          </a:prstGeom>
          <a:noFill/>
        </p:spPr>
        <p:txBody>
          <a:bodyPr wrap="square" lIns="45720" rIns="45720" tIns="27432" bIns="27432" anchor="ctr">
            <a:spAutoFit/>
          </a:bodyPr>
          <a:lstStyle/>
          <a:p>
            <a:pPr rtl="1" algn="r">
              <a:lnSpc>
                <a:spcPct val="100000"/>
              </a:lnSpc>
              <a:spcBef>
                <a:spcPts val="0"/>
              </a:spcBef>
              <a:spcAft>
                <a:spcPts val="0"/>
              </a:spcAft>
            </a:pPr>
            <a:r>
              <a:rPr sz="2000" b="1" i="0" lang="ar-SA">
                <a:solidFill>
                  <a:srgbClr val="134E4A"/>
                </a:solidFill>
                <a:latin typeface="Arial"/>
                <a:cs typeface="Arial"/>
              </a:rPr>
              <a:t>النظام والواجهة</a:t>
            </a:r>
          </a:p>
        </p:txBody>
      </p:sp>
      <p:sp>
        <p:nvSpPr>
          <p:cNvPr id="22" name="TextBox 21"/>
          <p:cNvSpPr txBox="1"/>
          <p:nvPr/>
        </p:nvSpPr>
        <p:spPr>
          <a:xfrm>
            <a:off x="9212351" y="4709159"/>
            <a:ext cx="2293543" cy="1142999"/>
          </a:xfrm>
          <a:prstGeom prst="rect">
            <a:avLst/>
          </a:prstGeom>
          <a:noFill/>
        </p:spPr>
        <p:txBody>
          <a:bodyPr wrap="square" lIns="45720" rIns="45720" tIns="27432" bIns="27432" anchor="t">
            <a:spAutoFit/>
          </a:bodyPr>
          <a:lstStyle/>
          <a:p>
            <a:pPr rtl="1" algn="r">
              <a:lnSpc>
                <a:spcPct val="115000"/>
              </a:lnSpc>
              <a:spcBef>
                <a:spcPts val="0"/>
              </a:spcBef>
              <a:spcAft>
                <a:spcPts val="0"/>
              </a:spcAft>
            </a:pPr>
            <a:r>
              <a:rPr sz="1600" b="0" i="0" lang="ar-SA">
                <a:solidFill>
                  <a:srgbClr val="475569"/>
                </a:solidFill>
                <a:latin typeface="Arial"/>
                <a:cs typeface="Arial"/>
              </a:rPr>
              <a:t>المعمارية والمتعلم والمدرّس</a:t>
            </a:r>
          </a:p>
        </p:txBody>
      </p:sp>
      <p:sp>
        <p:nvSpPr>
          <p:cNvPr id="23" name="بطاقة"/>
          <p:cNvSpPr/>
          <p:nvPr/>
        </p:nvSpPr>
        <p:spPr>
          <a:xfrm>
            <a:off x="6233007" y="3840479"/>
            <a:ext cx="2567863" cy="2103120"/>
          </a:xfrm>
          <a:prstGeom prst="roundRect">
            <a:avLst>
              <a:gd name="adj" fmla="val 6000"/>
            </a:avLst>
          </a:prstGeom>
          <a:solidFill>
            <a:srgbClr val="FFFFFF"/>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رقم"/>
          <p:cNvSpPr/>
          <p:nvPr/>
        </p:nvSpPr>
        <p:spPr>
          <a:xfrm>
            <a:off x="8115071" y="4023359"/>
            <a:ext cx="502920" cy="502920"/>
          </a:xfrm>
          <a:prstGeom prst="roundRect">
            <a:avLst>
              <a:gd name="adj" fmla="val 50000"/>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rtl="1"/>
            <a:r>
              <a:rPr sz="1600" b="1" i="0" lang="ar-SA">
                <a:solidFill>
                  <a:srgbClr val="FFFFFF"/>
                </a:solidFill>
                <a:latin typeface="Arial"/>
                <a:cs typeface="Arial"/>
              </a:rPr>
              <a:t>6</a:t>
            </a:r>
          </a:p>
        </p:txBody>
      </p:sp>
      <p:sp>
        <p:nvSpPr>
          <p:cNvPr id="25" name="TextBox 24"/>
          <p:cNvSpPr txBox="1"/>
          <p:nvPr/>
        </p:nvSpPr>
        <p:spPr>
          <a:xfrm>
            <a:off x="6370167" y="3950207"/>
            <a:ext cx="1653463" cy="685800"/>
          </a:xfrm>
          <a:prstGeom prst="rect">
            <a:avLst/>
          </a:prstGeom>
          <a:noFill/>
        </p:spPr>
        <p:txBody>
          <a:bodyPr wrap="square" lIns="45720" rIns="45720" tIns="27432" bIns="27432" anchor="ctr">
            <a:spAutoFit/>
          </a:bodyPr>
          <a:lstStyle/>
          <a:p>
            <a:pPr rtl="1" algn="r">
              <a:lnSpc>
                <a:spcPct val="100000"/>
              </a:lnSpc>
              <a:spcBef>
                <a:spcPts val="0"/>
              </a:spcBef>
              <a:spcAft>
                <a:spcPts val="0"/>
              </a:spcAft>
            </a:pPr>
            <a:r>
              <a:rPr sz="2000" b="1" i="0" lang="ar-SA">
                <a:solidFill>
                  <a:srgbClr val="134E4A"/>
                </a:solidFill>
                <a:latin typeface="Arial"/>
                <a:cs typeface="Arial"/>
              </a:rPr>
              <a:t>النتائج والمناقشة</a:t>
            </a:r>
          </a:p>
        </p:txBody>
      </p:sp>
      <p:sp>
        <p:nvSpPr>
          <p:cNvPr id="26" name="TextBox 25"/>
          <p:cNvSpPr txBox="1"/>
          <p:nvPr/>
        </p:nvSpPr>
        <p:spPr>
          <a:xfrm>
            <a:off x="6370167" y="4709159"/>
            <a:ext cx="2293543" cy="1142999"/>
          </a:xfrm>
          <a:prstGeom prst="rect">
            <a:avLst/>
          </a:prstGeom>
          <a:noFill/>
        </p:spPr>
        <p:txBody>
          <a:bodyPr wrap="square" lIns="45720" rIns="45720" tIns="27432" bIns="27432" anchor="t">
            <a:spAutoFit/>
          </a:bodyPr>
          <a:lstStyle/>
          <a:p>
            <a:pPr rtl="1" algn="r">
              <a:lnSpc>
                <a:spcPct val="115000"/>
              </a:lnSpc>
              <a:spcBef>
                <a:spcPts val="0"/>
              </a:spcBef>
              <a:spcAft>
                <a:spcPts val="0"/>
              </a:spcAft>
            </a:pPr>
            <a:r>
              <a:rPr sz="1600" b="0" i="0" lang="ar-SA">
                <a:solidFill>
                  <a:srgbClr val="475569"/>
                </a:solidFill>
                <a:latin typeface="Arial"/>
                <a:cs typeface="Arial"/>
              </a:rPr>
              <a:t>التطوير ثم التأكيد</a:t>
            </a:r>
          </a:p>
        </p:txBody>
      </p:sp>
      <p:sp>
        <p:nvSpPr>
          <p:cNvPr id="27" name="بطاقة"/>
          <p:cNvSpPr/>
          <p:nvPr/>
        </p:nvSpPr>
        <p:spPr>
          <a:xfrm>
            <a:off x="3390823" y="3840479"/>
            <a:ext cx="2567863" cy="2103120"/>
          </a:xfrm>
          <a:prstGeom prst="roundRect">
            <a:avLst>
              <a:gd name="adj" fmla="val 6000"/>
            </a:avLst>
          </a:prstGeom>
          <a:solidFill>
            <a:srgbClr val="FFFFFF"/>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رقم"/>
          <p:cNvSpPr/>
          <p:nvPr/>
        </p:nvSpPr>
        <p:spPr>
          <a:xfrm>
            <a:off x="5272887" y="4023359"/>
            <a:ext cx="502920" cy="502920"/>
          </a:xfrm>
          <a:prstGeom prst="roundRect">
            <a:avLst>
              <a:gd name="adj" fmla="val 50000"/>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rtl="1"/>
            <a:r>
              <a:rPr sz="1600" b="1" i="0" lang="ar-SA">
                <a:solidFill>
                  <a:srgbClr val="FFFFFF"/>
                </a:solidFill>
                <a:latin typeface="Arial"/>
                <a:cs typeface="Arial"/>
              </a:rPr>
              <a:t>7</a:t>
            </a:r>
          </a:p>
        </p:txBody>
      </p:sp>
      <p:sp>
        <p:nvSpPr>
          <p:cNvPr id="29" name="TextBox 28"/>
          <p:cNvSpPr txBox="1"/>
          <p:nvPr/>
        </p:nvSpPr>
        <p:spPr>
          <a:xfrm>
            <a:off x="3527983" y="3950207"/>
            <a:ext cx="1653463" cy="685800"/>
          </a:xfrm>
          <a:prstGeom prst="rect">
            <a:avLst/>
          </a:prstGeom>
          <a:noFill/>
        </p:spPr>
        <p:txBody>
          <a:bodyPr wrap="square" lIns="45720" rIns="45720" tIns="27432" bIns="27432" anchor="ctr">
            <a:spAutoFit/>
          </a:bodyPr>
          <a:lstStyle/>
          <a:p>
            <a:pPr rtl="1" algn="r">
              <a:lnSpc>
                <a:spcPct val="100000"/>
              </a:lnSpc>
              <a:spcBef>
                <a:spcPts val="0"/>
              </a:spcBef>
              <a:spcAft>
                <a:spcPts val="0"/>
              </a:spcAft>
            </a:pPr>
            <a:r>
              <a:rPr sz="2000" b="1" i="0" lang="ar-SA">
                <a:solidFill>
                  <a:srgbClr val="134E4A"/>
                </a:solidFill>
                <a:latin typeface="Arial"/>
                <a:cs typeface="Arial"/>
              </a:rPr>
              <a:t>القيود والمستقبل</a:t>
            </a:r>
          </a:p>
        </p:txBody>
      </p:sp>
      <p:sp>
        <p:nvSpPr>
          <p:cNvPr id="30" name="TextBox 29"/>
          <p:cNvSpPr txBox="1"/>
          <p:nvPr/>
        </p:nvSpPr>
        <p:spPr>
          <a:xfrm>
            <a:off x="3527983" y="4709159"/>
            <a:ext cx="2293543" cy="1142999"/>
          </a:xfrm>
          <a:prstGeom prst="rect">
            <a:avLst/>
          </a:prstGeom>
          <a:noFill/>
        </p:spPr>
        <p:txBody>
          <a:bodyPr wrap="square" lIns="45720" rIns="45720" tIns="27432" bIns="27432" anchor="t">
            <a:spAutoFit/>
          </a:bodyPr>
          <a:lstStyle/>
          <a:p>
            <a:pPr rtl="1" algn="r">
              <a:lnSpc>
                <a:spcPct val="115000"/>
              </a:lnSpc>
              <a:spcBef>
                <a:spcPts val="0"/>
              </a:spcBef>
              <a:spcAft>
                <a:spcPts val="0"/>
              </a:spcAft>
            </a:pPr>
            <a:r>
              <a:rPr sz="1600" b="0" i="0" lang="ar-SA">
                <a:solidFill>
                  <a:srgbClr val="475569"/>
                </a:solidFill>
                <a:latin typeface="Arial"/>
                <a:cs typeface="Arial"/>
              </a:rPr>
              <a:t>حدود الادعاء</a:t>
            </a:r>
          </a:p>
        </p:txBody>
      </p:sp>
      <p:sp>
        <p:nvSpPr>
          <p:cNvPr id="31" name="بطاقة"/>
          <p:cNvSpPr/>
          <p:nvPr/>
        </p:nvSpPr>
        <p:spPr>
          <a:xfrm>
            <a:off x="548640" y="3840479"/>
            <a:ext cx="2567863" cy="2103120"/>
          </a:xfrm>
          <a:prstGeom prst="roundRect">
            <a:avLst>
              <a:gd name="adj" fmla="val 6000"/>
            </a:avLst>
          </a:prstGeom>
          <a:solidFill>
            <a:srgbClr val="FFFFFF"/>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رقم"/>
          <p:cNvSpPr/>
          <p:nvPr/>
        </p:nvSpPr>
        <p:spPr>
          <a:xfrm>
            <a:off x="2430703" y="4023359"/>
            <a:ext cx="502920" cy="502920"/>
          </a:xfrm>
          <a:prstGeom prst="roundRect">
            <a:avLst>
              <a:gd name="adj" fmla="val 50000"/>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rtl="1"/>
            <a:r>
              <a:rPr sz="1600" b="1" i="0" lang="ar-SA">
                <a:solidFill>
                  <a:srgbClr val="FFFFFF"/>
                </a:solidFill>
                <a:latin typeface="Arial"/>
                <a:cs typeface="Arial"/>
              </a:rPr>
              <a:t>8</a:t>
            </a:r>
          </a:p>
        </p:txBody>
      </p:sp>
      <p:sp>
        <p:nvSpPr>
          <p:cNvPr id="33" name="TextBox 32"/>
          <p:cNvSpPr txBox="1"/>
          <p:nvPr/>
        </p:nvSpPr>
        <p:spPr>
          <a:xfrm>
            <a:off x="685800" y="3950207"/>
            <a:ext cx="1653463" cy="685800"/>
          </a:xfrm>
          <a:prstGeom prst="rect">
            <a:avLst/>
          </a:prstGeom>
          <a:noFill/>
        </p:spPr>
        <p:txBody>
          <a:bodyPr wrap="square" lIns="45720" rIns="45720" tIns="27432" bIns="27432" anchor="ctr">
            <a:spAutoFit/>
          </a:bodyPr>
          <a:lstStyle/>
          <a:p>
            <a:pPr rtl="1" algn="r">
              <a:lnSpc>
                <a:spcPct val="100000"/>
              </a:lnSpc>
              <a:spcBef>
                <a:spcPts val="0"/>
              </a:spcBef>
              <a:spcAft>
                <a:spcPts val="0"/>
              </a:spcAft>
            </a:pPr>
            <a:r>
              <a:rPr sz="2000" b="1" i="0" lang="ar-SA">
                <a:solidFill>
                  <a:srgbClr val="134E4A"/>
                </a:solidFill>
                <a:latin typeface="Arial"/>
                <a:cs typeface="Arial"/>
              </a:rPr>
              <a:t>الخاتمة</a:t>
            </a:r>
          </a:p>
        </p:txBody>
      </p:sp>
      <p:sp>
        <p:nvSpPr>
          <p:cNvPr id="34" name="TextBox 33"/>
          <p:cNvSpPr txBox="1"/>
          <p:nvPr/>
        </p:nvSpPr>
        <p:spPr>
          <a:xfrm>
            <a:off x="685800" y="4709159"/>
            <a:ext cx="2293543" cy="1142999"/>
          </a:xfrm>
          <a:prstGeom prst="rect">
            <a:avLst/>
          </a:prstGeom>
          <a:noFill/>
        </p:spPr>
        <p:txBody>
          <a:bodyPr wrap="square" lIns="45720" rIns="45720" tIns="27432" bIns="27432" anchor="t">
            <a:spAutoFit/>
          </a:bodyPr>
          <a:lstStyle/>
          <a:p>
            <a:pPr rtl="1" algn="r">
              <a:lnSpc>
                <a:spcPct val="115000"/>
              </a:lnSpc>
              <a:spcBef>
                <a:spcPts val="0"/>
              </a:spcBef>
              <a:spcAft>
                <a:spcPts val="0"/>
              </a:spcAft>
            </a:pPr>
            <a:r>
              <a:rPr sz="1600" b="0" i="0" lang="ar-SA">
                <a:solidFill>
                  <a:srgbClr val="475569"/>
                </a:solidFill>
                <a:latin typeface="Arial"/>
                <a:cs typeface="Arial"/>
              </a:rPr>
              <a:t>المساهمات والأسئلة</a:t>
            </a:r>
          </a:p>
        </p:txBody>
      </p:sp>
      <p:sp>
        <p:nvSpPr>
          <p:cNvPr id="35" name="شعار الجامعة"/>
          <p:cNvSpPr/>
          <p:nvPr/>
        </p:nvSpPr>
        <p:spPr>
          <a:xfrm>
            <a:off x="10957255" y="6382512"/>
            <a:ext cx="685800" cy="292608"/>
          </a:xfrm>
          <a:prstGeom prst="roundRect">
            <a:avLst>
              <a:gd name="adj" fmla="val 50000"/>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rtl="1"/>
            <a:r>
              <a:rPr sz="1200" b="1" i="0" lang="ar-SA">
                <a:solidFill>
                  <a:srgbClr val="FFFFFF"/>
                </a:solidFill>
                <a:latin typeface="Arial"/>
                <a:cs typeface="Arial"/>
              </a:rPr>
              <a:t>SVU</a:t>
            </a:r>
          </a:p>
        </p:txBody>
      </p:sp>
      <p:sp>
        <p:nvSpPr>
          <p:cNvPr id="36" name="تذييل"/>
          <p:cNvSpPr txBox="1"/>
          <p:nvPr/>
        </p:nvSpPr>
        <p:spPr>
          <a:xfrm>
            <a:off x="5287975" y="6373368"/>
            <a:ext cx="5577840" cy="310896"/>
          </a:xfrm>
          <a:prstGeom prst="rect">
            <a:avLst/>
          </a:prstGeom>
          <a:noFill/>
        </p:spPr>
        <p:txBody>
          <a:bodyPr wrap="square" lIns="45720" rIns="45720" tIns="27432" bIns="27432" anchor="ctr">
            <a:spAutoFit/>
          </a:bodyPr>
          <a:lstStyle/>
          <a:p>
            <a:pPr rtl="1" algn="r">
              <a:lnSpc>
                <a:spcPct val="115000"/>
              </a:lnSpc>
              <a:spcBef>
                <a:spcPts val="0"/>
              </a:spcBef>
              <a:spcAft>
                <a:spcPts val="0"/>
              </a:spcAft>
            </a:pPr>
            <a:r>
              <a:rPr sz="1200" b="0" i="0" lang="ar-SA">
                <a:solidFill>
                  <a:srgbClr val="475569"/>
                </a:solidFill>
                <a:latin typeface="Arial"/>
                <a:cs typeface="Arial"/>
              </a:rPr>
              <a:t>الجامعة الافتراضية السورية  |  ماجستير علوم الوب</a:t>
            </a:r>
          </a:p>
        </p:txBody>
      </p:sp>
      <p:sp>
        <p:nvSpPr>
          <p:cNvPr id="37" name="رقم الشريحة"/>
          <p:cNvSpPr txBox="1"/>
          <p:nvPr/>
        </p:nvSpPr>
        <p:spPr>
          <a:xfrm>
            <a:off x="548640" y="6373368"/>
            <a:ext cx="914400" cy="310896"/>
          </a:xfrm>
          <a:prstGeom prst="rect">
            <a:avLst/>
          </a:prstGeom>
          <a:noFill/>
        </p:spPr>
        <p:txBody>
          <a:bodyPr wrap="none">
            <a:spAutoFit/>
          </a:bodyPr>
          <a:lstStyle/>
          <a:p>
            <a:pPr rtl="1" algn="l"/>
            <a:fld id="{B6F15528-21DE-4FAA-801E-634DDDAF4B2B}" type="slidenum">
              <a:rPr lang="en-US" sz="1200">
                <a:solidFill>
                  <a:srgbClr val="475569"/>
                </a:solidFill>
                <a:latin typeface="Arial"/>
              </a:rPr>
              <a:t>‹#›</a:t>
            </a:fld>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العنوان"/>
          <p:cNvSpPr txBox="1"/>
          <p:nvPr/>
        </p:nvSpPr>
        <p:spPr>
          <a:xfrm>
            <a:off x="548640" y="347472"/>
            <a:ext cx="11094415" cy="868680"/>
          </a:xfrm>
          <a:prstGeom prst="rect">
            <a:avLst/>
          </a:prstGeom>
          <a:noFill/>
        </p:spPr>
        <p:txBody>
          <a:bodyPr wrap="square" lIns="45720" rIns="45720" tIns="27432" bIns="27432" anchor="ctr">
            <a:spAutoFit/>
          </a:bodyPr>
          <a:lstStyle/>
          <a:p>
            <a:pPr rtl="1" algn="r">
              <a:lnSpc>
                <a:spcPct val="115000"/>
              </a:lnSpc>
              <a:spcBef>
                <a:spcPts val="0"/>
              </a:spcBef>
              <a:spcAft>
                <a:spcPts val="0"/>
              </a:spcAft>
            </a:pPr>
            <a:r>
              <a:rPr sz="3000" b="1" i="0" lang="ar-SA">
                <a:solidFill>
                  <a:srgbClr val="134E4A"/>
                </a:solidFill>
                <a:latin typeface="Arial"/>
                <a:cs typeface="Arial"/>
              </a:rPr>
              <a:t>المشكلة: ماذا يضيف تحليل السلوك؟</a:t>
            </a:r>
          </a:p>
        </p:txBody>
      </p:sp>
      <p:sp>
        <p:nvSpPr>
          <p:cNvPr id="3" name="صف"/>
          <p:cNvSpPr/>
          <p:nvPr/>
        </p:nvSpPr>
        <p:spPr>
          <a:xfrm>
            <a:off x="548640" y="1463040"/>
            <a:ext cx="11094415" cy="993648"/>
          </a:xfrm>
          <a:prstGeom prst="roundRect">
            <a:avLst>
              <a:gd name="adj" fmla="val 6000"/>
            </a:avLst>
          </a:prstGeom>
          <a:solidFill>
            <a:srgbClr val="FFFFFF"/>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رقم"/>
          <p:cNvSpPr/>
          <p:nvPr/>
        </p:nvSpPr>
        <p:spPr>
          <a:xfrm>
            <a:off x="10957255" y="1708404"/>
            <a:ext cx="502920" cy="502920"/>
          </a:xfrm>
          <a:prstGeom prst="roundRect">
            <a:avLst>
              <a:gd name="adj" fmla="val 50000"/>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rtl="1"/>
            <a:r>
              <a:rPr sz="1600" b="1" i="0" lang="ar-SA">
                <a:solidFill>
                  <a:srgbClr val="FFFFFF"/>
                </a:solidFill>
                <a:latin typeface="Arial"/>
                <a:cs typeface="Arial"/>
              </a:rPr>
              <a:t>1</a:t>
            </a:r>
          </a:p>
        </p:txBody>
      </p:sp>
      <p:sp>
        <p:nvSpPr>
          <p:cNvPr id="5" name="TextBox 4"/>
          <p:cNvSpPr txBox="1"/>
          <p:nvPr/>
        </p:nvSpPr>
        <p:spPr>
          <a:xfrm>
            <a:off x="777240" y="1463040"/>
            <a:ext cx="9905695" cy="993648"/>
          </a:xfrm>
          <a:prstGeom prst="rect">
            <a:avLst/>
          </a:prstGeom>
          <a:noFill/>
        </p:spPr>
        <p:txBody>
          <a:bodyPr wrap="square" lIns="45720" rIns="45720" tIns="27432" bIns="27432" anchor="ctr">
            <a:spAutoFit/>
          </a:bodyPr>
          <a:lstStyle/>
          <a:p>
            <a:pPr rtl="1" algn="r">
              <a:lnSpc>
                <a:spcPct val="110000"/>
              </a:lnSpc>
              <a:spcBef>
                <a:spcPts val="0"/>
              </a:spcBef>
              <a:spcAft>
                <a:spcPts val="0"/>
              </a:spcAft>
            </a:pPr>
            <a:r>
              <a:rPr sz="2400" b="0" i="0" lang="ar-SA">
                <a:solidFill>
                  <a:srgbClr val="134E4A"/>
                </a:solidFill>
                <a:latin typeface="Arial"/>
                <a:cs typeface="Arial"/>
              </a:rPr>
              <a:t>المتعلم عن بُعد أمام مئات الموارد، وبلا توجيه فوري من المدرّس</a:t>
            </a:r>
          </a:p>
        </p:txBody>
      </p:sp>
      <p:sp>
        <p:nvSpPr>
          <p:cNvPr id="6" name="صف"/>
          <p:cNvSpPr/>
          <p:nvPr/>
        </p:nvSpPr>
        <p:spPr>
          <a:xfrm>
            <a:off x="548640" y="2657856"/>
            <a:ext cx="11094415" cy="993648"/>
          </a:xfrm>
          <a:prstGeom prst="roundRect">
            <a:avLst>
              <a:gd name="adj" fmla="val 6000"/>
            </a:avLst>
          </a:prstGeom>
          <a:solidFill>
            <a:srgbClr val="FFFFFF"/>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رقم"/>
          <p:cNvSpPr/>
          <p:nvPr/>
        </p:nvSpPr>
        <p:spPr>
          <a:xfrm>
            <a:off x="10957255" y="2903220"/>
            <a:ext cx="502920" cy="502920"/>
          </a:xfrm>
          <a:prstGeom prst="roundRect">
            <a:avLst>
              <a:gd name="adj" fmla="val 50000"/>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rtl="1"/>
            <a:r>
              <a:rPr sz="1600" b="1" i="0" lang="ar-SA">
                <a:solidFill>
                  <a:srgbClr val="FFFFFF"/>
                </a:solidFill>
                <a:latin typeface="Arial"/>
                <a:cs typeface="Arial"/>
              </a:rPr>
              <a:t>2</a:t>
            </a:r>
          </a:p>
        </p:txBody>
      </p:sp>
      <p:sp>
        <p:nvSpPr>
          <p:cNvPr id="8" name="TextBox 7"/>
          <p:cNvSpPr txBox="1"/>
          <p:nvPr/>
        </p:nvSpPr>
        <p:spPr>
          <a:xfrm>
            <a:off x="777240" y="2657856"/>
            <a:ext cx="9905695" cy="993648"/>
          </a:xfrm>
          <a:prstGeom prst="rect">
            <a:avLst/>
          </a:prstGeom>
          <a:noFill/>
        </p:spPr>
        <p:txBody>
          <a:bodyPr wrap="square" lIns="45720" rIns="45720" tIns="27432" bIns="27432" anchor="ctr">
            <a:spAutoFit/>
          </a:bodyPr>
          <a:lstStyle/>
          <a:p>
            <a:pPr rtl="1" algn="r">
              <a:lnSpc>
                <a:spcPct val="110000"/>
              </a:lnSpc>
              <a:spcBef>
                <a:spcPts val="0"/>
              </a:spcBef>
              <a:spcAft>
                <a:spcPts val="0"/>
              </a:spcAft>
            </a:pPr>
            <a:r>
              <a:rPr sz="2400" b="0" i="0" lang="ar-SA">
                <a:solidFill>
                  <a:srgbClr val="134E4A"/>
                </a:solidFill>
                <a:latin typeface="Arial"/>
                <a:cs typeface="Arial"/>
              </a:rPr>
              <a:t>المنصة تسجّل كل نقرة: الموارد والأيام والتسليمات</a:t>
            </a:r>
          </a:p>
        </p:txBody>
      </p:sp>
      <p:sp>
        <p:nvSpPr>
          <p:cNvPr id="9" name="صف"/>
          <p:cNvSpPr/>
          <p:nvPr/>
        </p:nvSpPr>
        <p:spPr>
          <a:xfrm>
            <a:off x="548640" y="3852672"/>
            <a:ext cx="11094415" cy="993648"/>
          </a:xfrm>
          <a:prstGeom prst="roundRect">
            <a:avLst>
              <a:gd name="adj" fmla="val 6000"/>
            </a:avLst>
          </a:prstGeom>
          <a:solidFill>
            <a:srgbClr val="FFFFFF"/>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رقم"/>
          <p:cNvSpPr/>
          <p:nvPr/>
        </p:nvSpPr>
        <p:spPr>
          <a:xfrm>
            <a:off x="10957255" y="4098036"/>
            <a:ext cx="502920" cy="502920"/>
          </a:xfrm>
          <a:prstGeom prst="roundRect">
            <a:avLst>
              <a:gd name="adj" fmla="val 50000"/>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rtl="1"/>
            <a:r>
              <a:rPr sz="1600" b="1" i="0" lang="ar-SA">
                <a:solidFill>
                  <a:srgbClr val="FFFFFF"/>
                </a:solidFill>
                <a:latin typeface="Arial"/>
                <a:cs typeface="Arial"/>
              </a:rPr>
              <a:t>3</a:t>
            </a:r>
          </a:p>
        </p:txBody>
      </p:sp>
      <p:sp>
        <p:nvSpPr>
          <p:cNvPr id="11" name="TextBox 10"/>
          <p:cNvSpPr txBox="1"/>
          <p:nvPr/>
        </p:nvSpPr>
        <p:spPr>
          <a:xfrm>
            <a:off x="777240" y="3852672"/>
            <a:ext cx="9905695" cy="993648"/>
          </a:xfrm>
          <a:prstGeom prst="rect">
            <a:avLst/>
          </a:prstGeom>
          <a:noFill/>
        </p:spPr>
        <p:txBody>
          <a:bodyPr wrap="square" lIns="45720" rIns="45720" tIns="27432" bIns="27432" anchor="ctr">
            <a:spAutoFit/>
          </a:bodyPr>
          <a:lstStyle/>
          <a:p>
            <a:pPr rtl="1" algn="r">
              <a:lnSpc>
                <a:spcPct val="110000"/>
              </a:lnSpc>
              <a:spcBef>
                <a:spcPts val="0"/>
              </a:spcBef>
              <a:spcAft>
                <a:spcPts val="0"/>
              </a:spcAft>
            </a:pPr>
            <a:r>
              <a:rPr sz="2400" b="0" i="0" lang="ar-SA">
                <a:solidFill>
                  <a:srgbClr val="134E4A"/>
                </a:solidFill>
                <a:latin typeface="Arial"/>
                <a:cs typeface="Arial"/>
              </a:rPr>
              <a:t>الجدول الدراسي والشعبية والإعادات تقود معظم الوصول</a:t>
            </a:r>
          </a:p>
        </p:txBody>
      </p:sp>
      <p:sp>
        <p:nvSpPr>
          <p:cNvPr id="12" name="خلاصة"/>
          <p:cNvSpPr/>
          <p:nvPr/>
        </p:nvSpPr>
        <p:spPr>
          <a:xfrm>
            <a:off x="548640" y="5074920"/>
            <a:ext cx="11094415" cy="1051560"/>
          </a:xfrm>
          <a:prstGeom prst="roundRect">
            <a:avLst>
              <a:gd name="adj" fmla="val 12000"/>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74320" tIns="18288" bIns="18288"/>
          <a:lstStyle/>
          <a:p>
            <a:pPr algn="r" rtl="1"/>
            <a:r>
              <a:rPr sz="2200" b="1" i="0" lang="ar-SA">
                <a:solidFill>
                  <a:srgbClr val="FFFFFF"/>
                </a:solidFill>
                <a:latin typeface="Arial"/>
                <a:cs typeface="Arial"/>
              </a:rPr>
              <a:t>هل يقترح نظام قائم على السلوك موارد جديدة بأفضل مما تقترحه الشعبية الآنية؟</a:t>
            </a:r>
          </a:p>
        </p:txBody>
      </p:sp>
      <p:sp>
        <p:nvSpPr>
          <p:cNvPr id="13" name="شعار الجامعة"/>
          <p:cNvSpPr/>
          <p:nvPr/>
        </p:nvSpPr>
        <p:spPr>
          <a:xfrm>
            <a:off x="10957255" y="6382512"/>
            <a:ext cx="685800" cy="292608"/>
          </a:xfrm>
          <a:prstGeom prst="roundRect">
            <a:avLst>
              <a:gd name="adj" fmla="val 50000"/>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rtl="1"/>
            <a:r>
              <a:rPr sz="1200" b="1" i="0" lang="ar-SA">
                <a:solidFill>
                  <a:srgbClr val="FFFFFF"/>
                </a:solidFill>
                <a:latin typeface="Arial"/>
                <a:cs typeface="Arial"/>
              </a:rPr>
              <a:t>SVU</a:t>
            </a:r>
          </a:p>
        </p:txBody>
      </p:sp>
      <p:sp>
        <p:nvSpPr>
          <p:cNvPr id="14" name="تذييل"/>
          <p:cNvSpPr txBox="1"/>
          <p:nvPr/>
        </p:nvSpPr>
        <p:spPr>
          <a:xfrm>
            <a:off x="5287975" y="6373368"/>
            <a:ext cx="5577840" cy="310896"/>
          </a:xfrm>
          <a:prstGeom prst="rect">
            <a:avLst/>
          </a:prstGeom>
          <a:noFill/>
        </p:spPr>
        <p:txBody>
          <a:bodyPr wrap="square" lIns="45720" rIns="45720" tIns="27432" bIns="27432" anchor="ctr">
            <a:spAutoFit/>
          </a:bodyPr>
          <a:lstStyle/>
          <a:p>
            <a:pPr rtl="1" algn="r">
              <a:lnSpc>
                <a:spcPct val="115000"/>
              </a:lnSpc>
              <a:spcBef>
                <a:spcPts val="0"/>
              </a:spcBef>
              <a:spcAft>
                <a:spcPts val="0"/>
              </a:spcAft>
            </a:pPr>
            <a:r>
              <a:rPr sz="1200" b="0" i="0" lang="ar-SA">
                <a:solidFill>
                  <a:srgbClr val="475569"/>
                </a:solidFill>
                <a:latin typeface="Arial"/>
                <a:cs typeface="Arial"/>
              </a:rPr>
              <a:t>الجامعة الافتراضية السورية  |  ماجستير علوم الوب</a:t>
            </a:r>
          </a:p>
        </p:txBody>
      </p:sp>
      <p:sp>
        <p:nvSpPr>
          <p:cNvPr id="15" name="رقم الشريحة"/>
          <p:cNvSpPr txBox="1"/>
          <p:nvPr/>
        </p:nvSpPr>
        <p:spPr>
          <a:xfrm>
            <a:off x="548640" y="6373368"/>
            <a:ext cx="914400" cy="310896"/>
          </a:xfrm>
          <a:prstGeom prst="rect">
            <a:avLst/>
          </a:prstGeom>
          <a:noFill/>
        </p:spPr>
        <p:txBody>
          <a:bodyPr wrap="none">
            <a:spAutoFit/>
          </a:bodyPr>
          <a:lstStyle/>
          <a:p>
            <a:pPr rtl="1" algn="l"/>
            <a:fld id="{B6F15528-21DE-4FAA-801E-634DDDAF4B2B}" type="slidenum">
              <a:rPr lang="en-US" sz="1200">
                <a:solidFill>
                  <a:srgbClr val="475569"/>
                </a:solidFill>
                <a:latin typeface="Arial"/>
              </a:rPr>
              <a:t>‹#›</a:t>
            </a:fld>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العنوان"/>
          <p:cNvSpPr txBox="1"/>
          <p:nvPr/>
        </p:nvSpPr>
        <p:spPr>
          <a:xfrm>
            <a:off x="548640" y="347472"/>
            <a:ext cx="11094415" cy="868680"/>
          </a:xfrm>
          <a:prstGeom prst="rect">
            <a:avLst/>
          </a:prstGeom>
          <a:noFill/>
        </p:spPr>
        <p:txBody>
          <a:bodyPr wrap="square" lIns="45720" rIns="45720" tIns="27432" bIns="27432" anchor="ctr">
            <a:spAutoFit/>
          </a:bodyPr>
          <a:lstStyle/>
          <a:p>
            <a:pPr rtl="1" algn="r">
              <a:lnSpc>
                <a:spcPct val="115000"/>
              </a:lnSpc>
              <a:spcBef>
                <a:spcPts val="0"/>
              </a:spcBef>
              <a:spcAft>
                <a:spcPts val="0"/>
              </a:spcAft>
            </a:pPr>
            <a:r>
              <a:rPr sz="3000" b="1" i="0" lang="ar-SA">
                <a:solidFill>
                  <a:srgbClr val="134E4A"/>
                </a:solidFill>
                <a:latin typeface="Arial"/>
                <a:cs typeface="Arial"/>
              </a:rPr>
              <a:t>الهدف وأسئلة البحث الأربعة</a:t>
            </a:r>
          </a:p>
        </p:txBody>
      </p:sp>
      <p:sp>
        <p:nvSpPr>
          <p:cNvPr id="3" name="TextBox 2"/>
          <p:cNvSpPr txBox="1"/>
          <p:nvPr/>
        </p:nvSpPr>
        <p:spPr>
          <a:xfrm>
            <a:off x="548640" y="1417320"/>
            <a:ext cx="11094415" cy="457200"/>
          </a:xfrm>
          <a:prstGeom prst="rect">
            <a:avLst/>
          </a:prstGeom>
          <a:noFill/>
        </p:spPr>
        <p:txBody>
          <a:bodyPr wrap="square" lIns="45720" rIns="45720" tIns="27432" bIns="27432" anchor="ctr">
            <a:spAutoFit/>
          </a:bodyPr>
          <a:lstStyle/>
          <a:p>
            <a:pPr rtl="1" algn="r">
              <a:lnSpc>
                <a:spcPct val="115000"/>
              </a:lnSpc>
              <a:spcBef>
                <a:spcPts val="0"/>
              </a:spcBef>
              <a:spcAft>
                <a:spcPts val="0"/>
              </a:spcAft>
            </a:pPr>
            <a:r>
              <a:rPr sz="2000" b="1" i="0" lang="ar-SA">
                <a:solidFill>
                  <a:srgbClr val="475569"/>
                </a:solidFill>
                <a:latin typeface="Arial"/>
                <a:cs typeface="Arial"/>
              </a:rPr>
              <a:t>الهدف: قياس ما يضيفه تحليل السلوك للتوصية ضمن بروتوكول زمني صارم</a:t>
            </a:r>
          </a:p>
        </p:txBody>
      </p:sp>
      <p:sp>
        <p:nvSpPr>
          <p:cNvPr id="4" name="بطاقة"/>
          <p:cNvSpPr/>
          <p:nvPr/>
        </p:nvSpPr>
        <p:spPr>
          <a:xfrm>
            <a:off x="6233007" y="2011680"/>
            <a:ext cx="5410047" cy="1943100"/>
          </a:xfrm>
          <a:prstGeom prst="roundRect">
            <a:avLst>
              <a:gd name="adj" fmla="val 6000"/>
            </a:avLst>
          </a:prstGeom>
          <a:solidFill>
            <a:srgbClr val="FFFFFF"/>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رقم"/>
          <p:cNvSpPr/>
          <p:nvPr/>
        </p:nvSpPr>
        <p:spPr>
          <a:xfrm>
            <a:off x="10682935" y="2194560"/>
            <a:ext cx="777240" cy="502920"/>
          </a:xfrm>
          <a:prstGeom prst="roundRect">
            <a:avLst>
              <a:gd name="adj" fmla="val 50000"/>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rtl="1"/>
            <a:r>
              <a:rPr sz="1400" b="1" i="0" lang="ar-SA">
                <a:solidFill>
                  <a:srgbClr val="FFFFFF"/>
                </a:solidFill>
                <a:latin typeface="Arial"/>
                <a:cs typeface="Arial"/>
              </a:rPr>
              <a:t>RQ1</a:t>
            </a:r>
          </a:p>
        </p:txBody>
      </p:sp>
      <p:sp>
        <p:nvSpPr>
          <p:cNvPr id="6" name="TextBox 5"/>
          <p:cNvSpPr txBox="1"/>
          <p:nvPr/>
        </p:nvSpPr>
        <p:spPr>
          <a:xfrm>
            <a:off x="6370167" y="2121408"/>
            <a:ext cx="4221327" cy="685800"/>
          </a:xfrm>
          <a:prstGeom prst="rect">
            <a:avLst/>
          </a:prstGeom>
          <a:noFill/>
        </p:spPr>
        <p:txBody>
          <a:bodyPr wrap="square" lIns="45720" rIns="45720" tIns="27432" bIns="27432" anchor="ctr">
            <a:spAutoFit/>
          </a:bodyPr>
          <a:lstStyle/>
          <a:p>
            <a:pPr rtl="1" algn="r">
              <a:lnSpc>
                <a:spcPct val="100000"/>
              </a:lnSpc>
              <a:spcBef>
                <a:spcPts val="0"/>
              </a:spcBef>
              <a:spcAft>
                <a:spcPts val="0"/>
              </a:spcAft>
            </a:pPr>
            <a:r>
              <a:rPr sz="2400" b="1" i="0" lang="ar-SA">
                <a:solidFill>
                  <a:srgbClr val="134E4A"/>
                </a:solidFill>
                <a:latin typeface="Arial"/>
                <a:cs typeface="Arial"/>
              </a:rPr>
              <a:t>الشخصنة فوق السياق الزمني</a:t>
            </a:r>
          </a:p>
        </p:txBody>
      </p:sp>
      <p:sp>
        <p:nvSpPr>
          <p:cNvPr id="7" name="TextBox 6"/>
          <p:cNvSpPr txBox="1"/>
          <p:nvPr/>
        </p:nvSpPr>
        <p:spPr>
          <a:xfrm>
            <a:off x="6370167" y="2880360"/>
            <a:ext cx="5135727" cy="982980"/>
          </a:xfrm>
          <a:prstGeom prst="rect">
            <a:avLst/>
          </a:prstGeom>
          <a:noFill/>
        </p:spPr>
        <p:txBody>
          <a:bodyPr wrap="square" lIns="45720" rIns="45720" tIns="27432" bIns="27432" anchor="t">
            <a:spAutoFit/>
          </a:bodyPr>
          <a:lstStyle/>
          <a:p>
            <a:pPr rtl="1" algn="r">
              <a:lnSpc>
                <a:spcPct val="115000"/>
              </a:lnSpc>
              <a:spcBef>
                <a:spcPts val="0"/>
              </a:spcBef>
              <a:spcAft>
                <a:spcPts val="0"/>
              </a:spcAft>
            </a:pPr>
            <a:r>
              <a:rPr sz="2000" b="0" i="0" lang="ar-SA">
                <a:solidFill>
                  <a:srgbClr val="475569"/>
                </a:solidFill>
                <a:latin typeface="Arial"/>
                <a:cs typeface="Arial"/>
              </a:rPr>
              <a:t>هل يتفوق الهجين السلوكي على الشعبية الآنية في اكتشاف الموارد الجديدة؟</a:t>
            </a:r>
          </a:p>
        </p:txBody>
      </p:sp>
      <p:sp>
        <p:nvSpPr>
          <p:cNvPr id="8" name="بطاقة"/>
          <p:cNvSpPr/>
          <p:nvPr/>
        </p:nvSpPr>
        <p:spPr>
          <a:xfrm>
            <a:off x="548640" y="2011680"/>
            <a:ext cx="5410047" cy="1943100"/>
          </a:xfrm>
          <a:prstGeom prst="roundRect">
            <a:avLst>
              <a:gd name="adj" fmla="val 6000"/>
            </a:avLst>
          </a:prstGeom>
          <a:solidFill>
            <a:srgbClr val="FFFFFF"/>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رقم"/>
          <p:cNvSpPr/>
          <p:nvPr/>
        </p:nvSpPr>
        <p:spPr>
          <a:xfrm>
            <a:off x="4998567" y="2194560"/>
            <a:ext cx="777240" cy="502920"/>
          </a:xfrm>
          <a:prstGeom prst="roundRect">
            <a:avLst>
              <a:gd name="adj" fmla="val 50000"/>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rtl="1"/>
            <a:r>
              <a:rPr sz="1400" b="1" i="0" lang="ar-SA">
                <a:solidFill>
                  <a:srgbClr val="FFFFFF"/>
                </a:solidFill>
                <a:latin typeface="Arial"/>
                <a:cs typeface="Arial"/>
              </a:rPr>
              <a:t>RQ2</a:t>
            </a:r>
          </a:p>
        </p:txBody>
      </p:sp>
      <p:sp>
        <p:nvSpPr>
          <p:cNvPr id="10" name="TextBox 9"/>
          <p:cNvSpPr txBox="1"/>
          <p:nvPr/>
        </p:nvSpPr>
        <p:spPr>
          <a:xfrm>
            <a:off x="685800" y="2121408"/>
            <a:ext cx="4221327" cy="685800"/>
          </a:xfrm>
          <a:prstGeom prst="rect">
            <a:avLst/>
          </a:prstGeom>
          <a:noFill/>
        </p:spPr>
        <p:txBody>
          <a:bodyPr wrap="square" lIns="45720" rIns="45720" tIns="27432" bIns="27432" anchor="ctr">
            <a:spAutoFit/>
          </a:bodyPr>
          <a:lstStyle/>
          <a:p>
            <a:pPr rtl="1" algn="r">
              <a:lnSpc>
                <a:spcPct val="100000"/>
              </a:lnSpc>
              <a:spcBef>
                <a:spcPts val="0"/>
              </a:spcBef>
              <a:spcAft>
                <a:spcPts val="0"/>
              </a:spcAft>
            </a:pPr>
            <a:r>
              <a:rPr sz="2400" b="1" i="0" lang="ar-SA">
                <a:solidFill>
                  <a:srgbClr val="134E4A"/>
                </a:solidFill>
                <a:latin typeface="Arial"/>
                <a:cs typeface="Arial"/>
              </a:rPr>
              <a:t>قيمة ترجيح الإشارات</a:t>
            </a:r>
          </a:p>
        </p:txBody>
      </p:sp>
      <p:sp>
        <p:nvSpPr>
          <p:cNvPr id="11" name="TextBox 10"/>
          <p:cNvSpPr txBox="1"/>
          <p:nvPr/>
        </p:nvSpPr>
        <p:spPr>
          <a:xfrm>
            <a:off x="685800" y="2880360"/>
            <a:ext cx="5135727" cy="982980"/>
          </a:xfrm>
          <a:prstGeom prst="rect">
            <a:avLst/>
          </a:prstGeom>
          <a:noFill/>
        </p:spPr>
        <p:txBody>
          <a:bodyPr wrap="square" lIns="45720" rIns="45720" tIns="27432" bIns="27432" anchor="t">
            <a:spAutoFit/>
          </a:bodyPr>
          <a:lstStyle/>
          <a:p>
            <a:pPr rtl="1" algn="r">
              <a:lnSpc>
                <a:spcPct val="115000"/>
              </a:lnSpc>
              <a:spcBef>
                <a:spcPts val="0"/>
              </a:spcBef>
              <a:spcAft>
                <a:spcPts val="0"/>
              </a:spcAft>
            </a:pPr>
            <a:r>
              <a:rPr sz="2000" b="0" i="0" lang="ar-SA">
                <a:solidFill>
                  <a:srgbClr val="475569"/>
                </a:solidFill>
                <a:latin typeface="Arial"/>
                <a:cs typeface="Arial"/>
              </a:rPr>
              <a:t>هل يحسّن ترجيح الأيام والحداثة والشدة الأداء مقارنة بالإشارة الثنائية؟</a:t>
            </a:r>
          </a:p>
        </p:txBody>
      </p:sp>
      <p:sp>
        <p:nvSpPr>
          <p:cNvPr id="12" name="بطاقة"/>
          <p:cNvSpPr/>
          <p:nvPr/>
        </p:nvSpPr>
        <p:spPr>
          <a:xfrm>
            <a:off x="6233007" y="4229100"/>
            <a:ext cx="5410047" cy="1943100"/>
          </a:xfrm>
          <a:prstGeom prst="roundRect">
            <a:avLst>
              <a:gd name="adj" fmla="val 6000"/>
            </a:avLst>
          </a:prstGeom>
          <a:solidFill>
            <a:srgbClr val="FFFFFF"/>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رقم"/>
          <p:cNvSpPr/>
          <p:nvPr/>
        </p:nvSpPr>
        <p:spPr>
          <a:xfrm>
            <a:off x="10682935" y="4411980"/>
            <a:ext cx="777240" cy="502920"/>
          </a:xfrm>
          <a:prstGeom prst="roundRect">
            <a:avLst>
              <a:gd name="adj" fmla="val 50000"/>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rtl="1"/>
            <a:r>
              <a:rPr sz="1400" b="1" i="0" lang="ar-SA">
                <a:solidFill>
                  <a:srgbClr val="FFFFFF"/>
                </a:solidFill>
                <a:latin typeface="Arial"/>
                <a:cs typeface="Arial"/>
              </a:rPr>
              <a:t>RQ3</a:t>
            </a:r>
          </a:p>
        </p:txBody>
      </p:sp>
      <p:sp>
        <p:nvSpPr>
          <p:cNvPr id="14" name="TextBox 13"/>
          <p:cNvSpPr txBox="1"/>
          <p:nvPr/>
        </p:nvSpPr>
        <p:spPr>
          <a:xfrm>
            <a:off x="6370167" y="4338828"/>
            <a:ext cx="4221327" cy="685800"/>
          </a:xfrm>
          <a:prstGeom prst="rect">
            <a:avLst/>
          </a:prstGeom>
          <a:noFill/>
        </p:spPr>
        <p:txBody>
          <a:bodyPr wrap="square" lIns="45720" rIns="45720" tIns="27432" bIns="27432" anchor="ctr">
            <a:spAutoFit/>
          </a:bodyPr>
          <a:lstStyle/>
          <a:p>
            <a:pPr rtl="1" algn="r">
              <a:lnSpc>
                <a:spcPct val="100000"/>
              </a:lnSpc>
              <a:spcBef>
                <a:spcPts val="0"/>
              </a:spcBef>
              <a:spcAft>
                <a:spcPts val="0"/>
              </a:spcAft>
            </a:pPr>
            <a:r>
              <a:rPr sz="2400" b="1" i="0" lang="ar-SA">
                <a:solidFill>
                  <a:srgbClr val="134E4A"/>
                </a:solidFill>
                <a:latin typeface="Arial"/>
                <a:cs typeface="Arial"/>
              </a:rPr>
              <a:t>التسلسل العصبوني</a:t>
            </a:r>
          </a:p>
        </p:txBody>
      </p:sp>
      <p:sp>
        <p:nvSpPr>
          <p:cNvPr id="15" name="TextBox 14"/>
          <p:cNvSpPr txBox="1"/>
          <p:nvPr/>
        </p:nvSpPr>
        <p:spPr>
          <a:xfrm>
            <a:off x="6370167" y="5097780"/>
            <a:ext cx="5135727" cy="982980"/>
          </a:xfrm>
          <a:prstGeom prst="rect">
            <a:avLst/>
          </a:prstGeom>
          <a:noFill/>
        </p:spPr>
        <p:txBody>
          <a:bodyPr wrap="square" lIns="45720" rIns="45720" tIns="27432" bIns="27432" anchor="t">
            <a:spAutoFit/>
          </a:bodyPr>
          <a:lstStyle/>
          <a:p>
            <a:pPr rtl="1" algn="r">
              <a:lnSpc>
                <a:spcPct val="115000"/>
              </a:lnSpc>
              <a:spcBef>
                <a:spcPts val="0"/>
              </a:spcBef>
              <a:spcAft>
                <a:spcPts val="0"/>
              </a:spcAft>
            </a:pPr>
            <a:r>
              <a:rPr sz="2000" b="0" i="0" lang="ar-SA">
                <a:solidFill>
                  <a:srgbClr val="475569"/>
                </a:solidFill>
                <a:latin typeface="Arial"/>
                <a:cs typeface="Arial"/>
              </a:rPr>
              <a:t>هل يتفوق GRU-lite على أفضل بديل تسلسلي غير عصبوني؟</a:t>
            </a:r>
          </a:p>
        </p:txBody>
      </p:sp>
      <p:sp>
        <p:nvSpPr>
          <p:cNvPr id="16" name="بطاقة"/>
          <p:cNvSpPr/>
          <p:nvPr/>
        </p:nvSpPr>
        <p:spPr>
          <a:xfrm>
            <a:off x="548640" y="4229100"/>
            <a:ext cx="5410047" cy="1943100"/>
          </a:xfrm>
          <a:prstGeom prst="roundRect">
            <a:avLst>
              <a:gd name="adj" fmla="val 6000"/>
            </a:avLst>
          </a:prstGeom>
          <a:solidFill>
            <a:srgbClr val="FFFFFF"/>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رقم"/>
          <p:cNvSpPr/>
          <p:nvPr/>
        </p:nvSpPr>
        <p:spPr>
          <a:xfrm>
            <a:off x="4998567" y="4411980"/>
            <a:ext cx="777240" cy="502920"/>
          </a:xfrm>
          <a:prstGeom prst="roundRect">
            <a:avLst>
              <a:gd name="adj" fmla="val 50000"/>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rtl="1"/>
            <a:r>
              <a:rPr sz="1400" b="1" i="0" lang="ar-SA">
                <a:solidFill>
                  <a:srgbClr val="FFFFFF"/>
                </a:solidFill>
                <a:latin typeface="Arial"/>
                <a:cs typeface="Arial"/>
              </a:rPr>
              <a:t>RQ4</a:t>
            </a:r>
          </a:p>
        </p:txBody>
      </p:sp>
      <p:sp>
        <p:nvSpPr>
          <p:cNvPr id="18" name="TextBox 17"/>
          <p:cNvSpPr txBox="1"/>
          <p:nvPr/>
        </p:nvSpPr>
        <p:spPr>
          <a:xfrm>
            <a:off x="685800" y="4338828"/>
            <a:ext cx="4221327" cy="685800"/>
          </a:xfrm>
          <a:prstGeom prst="rect">
            <a:avLst/>
          </a:prstGeom>
          <a:noFill/>
        </p:spPr>
        <p:txBody>
          <a:bodyPr wrap="square" lIns="45720" rIns="45720" tIns="27432" bIns="27432" anchor="ctr">
            <a:spAutoFit/>
          </a:bodyPr>
          <a:lstStyle/>
          <a:p>
            <a:pPr rtl="1" algn="r">
              <a:lnSpc>
                <a:spcPct val="100000"/>
              </a:lnSpc>
              <a:spcBef>
                <a:spcPts val="0"/>
              </a:spcBef>
              <a:spcAft>
                <a:spcPts val="0"/>
              </a:spcAft>
            </a:pPr>
            <a:r>
              <a:rPr sz="2400" b="1" i="0" lang="ar-SA">
                <a:solidFill>
                  <a:srgbClr val="134E4A"/>
                </a:solidFill>
                <a:latin typeface="Arial"/>
                <a:cs typeface="Arial"/>
              </a:rPr>
              <a:t>تحليل المتعلمين</a:t>
            </a:r>
          </a:p>
        </p:txBody>
      </p:sp>
      <p:sp>
        <p:nvSpPr>
          <p:cNvPr id="19" name="TextBox 18"/>
          <p:cNvSpPr txBox="1"/>
          <p:nvPr/>
        </p:nvSpPr>
        <p:spPr>
          <a:xfrm>
            <a:off x="685800" y="5097780"/>
            <a:ext cx="5135727" cy="982980"/>
          </a:xfrm>
          <a:prstGeom prst="rect">
            <a:avLst/>
          </a:prstGeom>
          <a:noFill/>
        </p:spPr>
        <p:txBody>
          <a:bodyPr wrap="square" lIns="45720" rIns="45720" tIns="27432" bIns="27432" anchor="t">
            <a:spAutoFit/>
          </a:bodyPr>
          <a:lstStyle/>
          <a:p>
            <a:pPr rtl="1" algn="r">
              <a:lnSpc>
                <a:spcPct val="115000"/>
              </a:lnSpc>
              <a:spcBef>
                <a:spcPts val="0"/>
              </a:spcBef>
              <a:spcAft>
                <a:spcPts val="0"/>
              </a:spcAft>
            </a:pPr>
            <a:r>
              <a:rPr sz="2000" b="0" i="0" lang="ar-SA">
                <a:solidFill>
                  <a:srgbClr val="475569"/>
                </a:solidFill>
                <a:latin typeface="Arial"/>
                <a:cs typeface="Arial"/>
              </a:rPr>
              <a:t>هل تتنبأ ملامح السلوك المبكرة بالخطر أفضل من مجموع النقرات؟</a:t>
            </a:r>
          </a:p>
        </p:txBody>
      </p:sp>
      <p:sp>
        <p:nvSpPr>
          <p:cNvPr id="20" name="شعار الجامعة"/>
          <p:cNvSpPr/>
          <p:nvPr/>
        </p:nvSpPr>
        <p:spPr>
          <a:xfrm>
            <a:off x="10957255" y="6382512"/>
            <a:ext cx="685800" cy="292608"/>
          </a:xfrm>
          <a:prstGeom prst="roundRect">
            <a:avLst>
              <a:gd name="adj" fmla="val 50000"/>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rtl="1"/>
            <a:r>
              <a:rPr sz="1200" b="1" i="0" lang="ar-SA">
                <a:solidFill>
                  <a:srgbClr val="FFFFFF"/>
                </a:solidFill>
                <a:latin typeface="Arial"/>
                <a:cs typeface="Arial"/>
              </a:rPr>
              <a:t>SVU</a:t>
            </a:r>
          </a:p>
        </p:txBody>
      </p:sp>
      <p:sp>
        <p:nvSpPr>
          <p:cNvPr id="21" name="تذييل"/>
          <p:cNvSpPr txBox="1"/>
          <p:nvPr/>
        </p:nvSpPr>
        <p:spPr>
          <a:xfrm>
            <a:off x="5287975" y="6373368"/>
            <a:ext cx="5577840" cy="310896"/>
          </a:xfrm>
          <a:prstGeom prst="rect">
            <a:avLst/>
          </a:prstGeom>
          <a:noFill/>
        </p:spPr>
        <p:txBody>
          <a:bodyPr wrap="square" lIns="45720" rIns="45720" tIns="27432" bIns="27432" anchor="ctr">
            <a:spAutoFit/>
          </a:bodyPr>
          <a:lstStyle/>
          <a:p>
            <a:pPr rtl="1" algn="r">
              <a:lnSpc>
                <a:spcPct val="115000"/>
              </a:lnSpc>
              <a:spcBef>
                <a:spcPts val="0"/>
              </a:spcBef>
              <a:spcAft>
                <a:spcPts val="0"/>
              </a:spcAft>
            </a:pPr>
            <a:r>
              <a:rPr sz="1200" b="0" i="0" lang="ar-SA">
                <a:solidFill>
                  <a:srgbClr val="475569"/>
                </a:solidFill>
                <a:latin typeface="Arial"/>
                <a:cs typeface="Arial"/>
              </a:rPr>
              <a:t>الجامعة الافتراضية السورية  |  ماجستير علوم الوب</a:t>
            </a:r>
          </a:p>
        </p:txBody>
      </p:sp>
      <p:sp>
        <p:nvSpPr>
          <p:cNvPr id="22" name="رقم الشريحة"/>
          <p:cNvSpPr txBox="1"/>
          <p:nvPr/>
        </p:nvSpPr>
        <p:spPr>
          <a:xfrm>
            <a:off x="548640" y="6373368"/>
            <a:ext cx="914400" cy="310896"/>
          </a:xfrm>
          <a:prstGeom prst="rect">
            <a:avLst/>
          </a:prstGeom>
          <a:noFill/>
        </p:spPr>
        <p:txBody>
          <a:bodyPr wrap="none">
            <a:spAutoFit/>
          </a:bodyPr>
          <a:lstStyle/>
          <a:p>
            <a:pPr rtl="1" algn="l"/>
            <a:fld id="{B6F15528-21DE-4FAA-801E-634DDDAF4B2B}" type="slidenum">
              <a:rPr lang="en-US" sz="1200">
                <a:solidFill>
                  <a:srgbClr val="475569"/>
                </a:solidFill>
                <a:latin typeface="Arial"/>
              </a:rPr>
              <a:t>‹#›</a:t>
            </a:fld>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العنوان"/>
          <p:cNvSpPr txBox="1"/>
          <p:nvPr/>
        </p:nvSpPr>
        <p:spPr>
          <a:xfrm>
            <a:off x="548640" y="347472"/>
            <a:ext cx="11094415" cy="868680"/>
          </a:xfrm>
          <a:prstGeom prst="rect">
            <a:avLst/>
          </a:prstGeom>
          <a:noFill/>
        </p:spPr>
        <p:txBody>
          <a:bodyPr wrap="square" lIns="45720" rIns="45720" tIns="27432" bIns="27432" anchor="ctr">
            <a:spAutoFit/>
          </a:bodyPr>
          <a:lstStyle/>
          <a:p>
            <a:pPr rtl="1" algn="r">
              <a:lnSpc>
                <a:spcPct val="115000"/>
              </a:lnSpc>
              <a:spcBef>
                <a:spcPts val="0"/>
              </a:spcBef>
              <a:spcAft>
                <a:spcPts val="0"/>
              </a:spcAft>
            </a:pPr>
            <a:r>
              <a:rPr sz="3000" b="1" i="0" lang="ar-SA">
                <a:solidFill>
                  <a:srgbClr val="134E4A"/>
                </a:solidFill>
                <a:latin typeface="Arial"/>
                <a:cs typeface="Arial"/>
              </a:rPr>
              <a:t>ماذا تقول الأدبيات؟ وأين الفجوة؟</a:t>
            </a:r>
          </a:p>
        </p:txBody>
      </p:sp>
      <p:sp>
        <p:nvSpPr>
          <p:cNvPr id="3" name="بطاقة"/>
          <p:cNvSpPr/>
          <p:nvPr/>
        </p:nvSpPr>
        <p:spPr>
          <a:xfrm>
            <a:off x="8127796" y="1463040"/>
            <a:ext cx="3515258" cy="2743200"/>
          </a:xfrm>
          <a:prstGeom prst="roundRect">
            <a:avLst>
              <a:gd name="adj" fmla="val 6000"/>
            </a:avLst>
          </a:prstGeom>
          <a:solidFill>
            <a:srgbClr val="FFFFFF"/>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رقم"/>
          <p:cNvSpPr/>
          <p:nvPr/>
        </p:nvSpPr>
        <p:spPr>
          <a:xfrm>
            <a:off x="10957255" y="1645920"/>
            <a:ext cx="502920" cy="502920"/>
          </a:xfrm>
          <a:prstGeom prst="roundRect">
            <a:avLst>
              <a:gd name="adj" fmla="val 50000"/>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rtl="1"/>
            <a:r>
              <a:rPr sz="1600" b="1" i="0" lang="ar-SA">
                <a:solidFill>
                  <a:srgbClr val="FFFFFF"/>
                </a:solidFill>
                <a:latin typeface="Arial"/>
                <a:cs typeface="Arial"/>
              </a:rPr>
              <a:t>1</a:t>
            </a:r>
          </a:p>
        </p:txBody>
      </p:sp>
      <p:sp>
        <p:nvSpPr>
          <p:cNvPr id="5" name="TextBox 4"/>
          <p:cNvSpPr txBox="1"/>
          <p:nvPr/>
        </p:nvSpPr>
        <p:spPr>
          <a:xfrm>
            <a:off x="8264956" y="1572768"/>
            <a:ext cx="2600858" cy="685800"/>
          </a:xfrm>
          <a:prstGeom prst="rect">
            <a:avLst/>
          </a:prstGeom>
          <a:noFill/>
        </p:spPr>
        <p:txBody>
          <a:bodyPr wrap="square" lIns="45720" rIns="45720" tIns="27432" bIns="27432" anchor="ctr">
            <a:spAutoFit/>
          </a:bodyPr>
          <a:lstStyle/>
          <a:p>
            <a:pPr rtl="1" algn="r">
              <a:lnSpc>
                <a:spcPct val="100000"/>
              </a:lnSpc>
              <a:spcBef>
                <a:spcPts val="0"/>
              </a:spcBef>
              <a:spcAft>
                <a:spcPts val="0"/>
              </a:spcAft>
            </a:pPr>
            <a:r>
              <a:rPr sz="2400" b="1" i="0" lang="ar-SA">
                <a:solidFill>
                  <a:srgbClr val="134E4A"/>
                </a:solidFill>
                <a:latin typeface="Arial"/>
                <a:cs typeface="Arial"/>
              </a:rPr>
              <a:t>البساطة تنافس</a:t>
            </a:r>
          </a:p>
        </p:txBody>
      </p:sp>
      <p:sp>
        <p:nvSpPr>
          <p:cNvPr id="6" name="TextBox 5"/>
          <p:cNvSpPr txBox="1"/>
          <p:nvPr/>
        </p:nvSpPr>
        <p:spPr>
          <a:xfrm>
            <a:off x="8264956" y="2331720"/>
            <a:ext cx="3240938" cy="1783080"/>
          </a:xfrm>
          <a:prstGeom prst="rect">
            <a:avLst/>
          </a:prstGeom>
          <a:noFill/>
        </p:spPr>
        <p:txBody>
          <a:bodyPr wrap="square" lIns="45720" rIns="45720" tIns="27432" bIns="27432" anchor="t">
            <a:spAutoFit/>
          </a:bodyPr>
          <a:lstStyle/>
          <a:p>
            <a:pPr rtl="1" algn="r">
              <a:lnSpc>
                <a:spcPct val="115000"/>
              </a:lnSpc>
              <a:spcBef>
                <a:spcPts val="0"/>
              </a:spcBef>
              <a:spcAft>
                <a:spcPts val="0"/>
              </a:spcAft>
            </a:pPr>
            <a:r>
              <a:rPr sz="2000" b="0" i="0" lang="ar-SA">
                <a:solidFill>
                  <a:srgbClr val="475569"/>
                </a:solidFill>
                <a:latin typeface="Arial"/>
                <a:cs typeface="Arial"/>
              </a:rPr>
              <a:t>الخطوط غير الشخصية قوية، والتعقيد لا يضمن التحسن</a:t>
            </a:r>
          </a:p>
        </p:txBody>
      </p:sp>
      <p:sp>
        <p:nvSpPr>
          <p:cNvPr id="7" name="بطاقة"/>
          <p:cNvSpPr/>
          <p:nvPr/>
        </p:nvSpPr>
        <p:spPr>
          <a:xfrm>
            <a:off x="4338218" y="1463040"/>
            <a:ext cx="3515258" cy="2743200"/>
          </a:xfrm>
          <a:prstGeom prst="roundRect">
            <a:avLst>
              <a:gd name="adj" fmla="val 6000"/>
            </a:avLst>
          </a:prstGeom>
          <a:solidFill>
            <a:srgbClr val="FFFFFF"/>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رقم"/>
          <p:cNvSpPr/>
          <p:nvPr/>
        </p:nvSpPr>
        <p:spPr>
          <a:xfrm>
            <a:off x="7167676" y="1645920"/>
            <a:ext cx="502920" cy="502920"/>
          </a:xfrm>
          <a:prstGeom prst="roundRect">
            <a:avLst>
              <a:gd name="adj" fmla="val 50000"/>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rtl="1"/>
            <a:r>
              <a:rPr sz="1600" b="1" i="0" lang="ar-SA">
                <a:solidFill>
                  <a:srgbClr val="FFFFFF"/>
                </a:solidFill>
                <a:latin typeface="Arial"/>
                <a:cs typeface="Arial"/>
              </a:rPr>
              <a:t>2</a:t>
            </a:r>
          </a:p>
        </p:txBody>
      </p:sp>
      <p:sp>
        <p:nvSpPr>
          <p:cNvPr id="9" name="TextBox 8"/>
          <p:cNvSpPr txBox="1"/>
          <p:nvPr/>
        </p:nvSpPr>
        <p:spPr>
          <a:xfrm>
            <a:off x="4475378" y="1572768"/>
            <a:ext cx="2600858" cy="685800"/>
          </a:xfrm>
          <a:prstGeom prst="rect">
            <a:avLst/>
          </a:prstGeom>
          <a:noFill/>
        </p:spPr>
        <p:txBody>
          <a:bodyPr wrap="square" lIns="45720" rIns="45720" tIns="27432" bIns="27432" anchor="ctr">
            <a:spAutoFit/>
          </a:bodyPr>
          <a:lstStyle/>
          <a:p>
            <a:pPr rtl="1" algn="r">
              <a:lnSpc>
                <a:spcPct val="100000"/>
              </a:lnSpc>
              <a:spcBef>
                <a:spcPts val="0"/>
              </a:spcBef>
              <a:spcAft>
                <a:spcPts val="0"/>
              </a:spcAft>
            </a:pPr>
            <a:r>
              <a:rPr sz="2400" b="1" i="0" lang="ar-SA">
                <a:solidFill>
                  <a:srgbClr val="134E4A"/>
                </a:solidFill>
                <a:latin typeface="Arial"/>
                <a:cs typeface="Arial"/>
              </a:rPr>
              <a:t>الترجيح لم يُختبر</a:t>
            </a:r>
          </a:p>
        </p:txBody>
      </p:sp>
      <p:sp>
        <p:nvSpPr>
          <p:cNvPr id="10" name="TextBox 9"/>
          <p:cNvSpPr txBox="1"/>
          <p:nvPr/>
        </p:nvSpPr>
        <p:spPr>
          <a:xfrm>
            <a:off x="4475378" y="2331720"/>
            <a:ext cx="3240938" cy="1783080"/>
          </a:xfrm>
          <a:prstGeom prst="rect">
            <a:avLst/>
          </a:prstGeom>
          <a:noFill/>
        </p:spPr>
        <p:txBody>
          <a:bodyPr wrap="square" lIns="45720" rIns="45720" tIns="27432" bIns="27432" anchor="t">
            <a:spAutoFit/>
          </a:bodyPr>
          <a:lstStyle/>
          <a:p>
            <a:pPr rtl="1" algn="r">
              <a:lnSpc>
                <a:spcPct val="115000"/>
              </a:lnSpc>
              <a:spcBef>
                <a:spcPts val="0"/>
              </a:spcBef>
              <a:spcAft>
                <a:spcPts val="0"/>
              </a:spcAft>
            </a:pPr>
            <a:r>
              <a:rPr sz="2000" b="0" i="0" lang="ar-SA">
                <a:solidFill>
                  <a:srgbClr val="475569"/>
                </a:solidFill>
                <a:latin typeface="Arial"/>
                <a:cs typeface="Arial"/>
              </a:rPr>
              <a:t>ترجيح الإشارات الضمنية مقترح دون استئصال مضبوط</a:t>
            </a:r>
          </a:p>
        </p:txBody>
      </p:sp>
      <p:sp>
        <p:nvSpPr>
          <p:cNvPr id="11" name="بطاقة"/>
          <p:cNvSpPr/>
          <p:nvPr/>
        </p:nvSpPr>
        <p:spPr>
          <a:xfrm>
            <a:off x="548639" y="1463040"/>
            <a:ext cx="3515258" cy="2743200"/>
          </a:xfrm>
          <a:prstGeom prst="roundRect">
            <a:avLst>
              <a:gd name="adj" fmla="val 6000"/>
            </a:avLst>
          </a:prstGeom>
          <a:solidFill>
            <a:srgbClr val="FFFFFF"/>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رقم"/>
          <p:cNvSpPr/>
          <p:nvPr/>
        </p:nvSpPr>
        <p:spPr>
          <a:xfrm>
            <a:off x="3378098" y="1645920"/>
            <a:ext cx="502920" cy="502920"/>
          </a:xfrm>
          <a:prstGeom prst="roundRect">
            <a:avLst>
              <a:gd name="adj" fmla="val 50000"/>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rtl="1"/>
            <a:r>
              <a:rPr sz="1600" b="1" i="0" lang="ar-SA">
                <a:solidFill>
                  <a:srgbClr val="FFFFFF"/>
                </a:solidFill>
                <a:latin typeface="Arial"/>
                <a:cs typeface="Arial"/>
              </a:rPr>
              <a:t>3</a:t>
            </a:r>
          </a:p>
        </p:txBody>
      </p:sp>
      <p:sp>
        <p:nvSpPr>
          <p:cNvPr id="13" name="TextBox 12"/>
          <p:cNvSpPr txBox="1"/>
          <p:nvPr/>
        </p:nvSpPr>
        <p:spPr>
          <a:xfrm>
            <a:off x="685799" y="1572768"/>
            <a:ext cx="2600858" cy="685800"/>
          </a:xfrm>
          <a:prstGeom prst="rect">
            <a:avLst/>
          </a:prstGeom>
          <a:noFill/>
        </p:spPr>
        <p:txBody>
          <a:bodyPr wrap="square" lIns="45720" rIns="45720" tIns="27432" bIns="27432" anchor="ctr">
            <a:spAutoFit/>
          </a:bodyPr>
          <a:lstStyle/>
          <a:p>
            <a:pPr rtl="1" algn="r">
              <a:lnSpc>
                <a:spcPct val="100000"/>
              </a:lnSpc>
              <a:spcBef>
                <a:spcPts val="0"/>
              </a:spcBef>
              <a:spcAft>
                <a:spcPts val="0"/>
              </a:spcAft>
            </a:pPr>
            <a:r>
              <a:rPr sz="2400" b="1" i="0" lang="ar-SA">
                <a:solidFill>
                  <a:srgbClr val="134E4A"/>
                </a:solidFill>
                <a:latin typeface="Arial"/>
                <a:cs typeface="Arial"/>
              </a:rPr>
              <a:t>الأرقام تتبع البروتوكول</a:t>
            </a:r>
          </a:p>
        </p:txBody>
      </p:sp>
      <p:sp>
        <p:nvSpPr>
          <p:cNvPr id="14" name="TextBox 13"/>
          <p:cNvSpPr txBox="1"/>
          <p:nvPr/>
        </p:nvSpPr>
        <p:spPr>
          <a:xfrm>
            <a:off x="685799" y="2331720"/>
            <a:ext cx="3240938" cy="1783080"/>
          </a:xfrm>
          <a:prstGeom prst="rect">
            <a:avLst/>
          </a:prstGeom>
          <a:noFill/>
        </p:spPr>
        <p:txBody>
          <a:bodyPr wrap="square" lIns="45720" rIns="45720" tIns="27432" bIns="27432" anchor="t">
            <a:spAutoFit/>
          </a:bodyPr>
          <a:lstStyle/>
          <a:p>
            <a:pPr rtl="1" algn="r">
              <a:lnSpc>
                <a:spcPct val="115000"/>
              </a:lnSpc>
              <a:spcBef>
                <a:spcPts val="0"/>
              </a:spcBef>
              <a:spcAft>
                <a:spcPts val="0"/>
              </a:spcAft>
            </a:pPr>
            <a:r>
              <a:rPr sz="2000" b="0" i="0" lang="ar-SA">
                <a:solidFill>
                  <a:srgbClr val="475569"/>
                </a:solidFill>
                <a:latin typeface="Arial"/>
                <a:cs typeface="Arial"/>
              </a:rPr>
              <a:t>التقسيم العشوائي والسوالب المعيَّنة تضخّم المقاييس</a:t>
            </a:r>
          </a:p>
        </p:txBody>
      </p:sp>
      <p:sp>
        <p:nvSpPr>
          <p:cNvPr id="15" name="خلاصة"/>
          <p:cNvSpPr/>
          <p:nvPr/>
        </p:nvSpPr>
        <p:spPr>
          <a:xfrm>
            <a:off x="548640" y="4572000"/>
            <a:ext cx="11094415" cy="1005840"/>
          </a:xfrm>
          <a:prstGeom prst="roundRect">
            <a:avLst>
              <a:gd name="adj" fmla="val 12000"/>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74320" tIns="18288" bIns="18288"/>
          <a:lstStyle/>
          <a:p>
            <a:pPr algn="r" rtl="1"/>
            <a:r>
              <a:rPr sz="2200" b="1" i="0" lang="ar-SA">
                <a:solidFill>
                  <a:srgbClr val="FFFFFF"/>
                </a:solidFill>
                <a:latin typeface="Arial"/>
                <a:cs typeface="Arial"/>
              </a:rPr>
              <a:t>الفجوة: لا اختبار استئصالياً مضبوطاً لترجيح الإشارات السلوكية على سجلات تعليمية عامة، بتقسيم زمني وكتالوج كامل</a:t>
            </a:r>
          </a:p>
        </p:txBody>
      </p:sp>
      <p:sp>
        <p:nvSpPr>
          <p:cNvPr id="16" name="شعار الجامعة"/>
          <p:cNvSpPr/>
          <p:nvPr/>
        </p:nvSpPr>
        <p:spPr>
          <a:xfrm>
            <a:off x="10957255" y="6382512"/>
            <a:ext cx="685800" cy="292608"/>
          </a:xfrm>
          <a:prstGeom prst="roundRect">
            <a:avLst>
              <a:gd name="adj" fmla="val 50000"/>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rtl="1"/>
            <a:r>
              <a:rPr sz="1200" b="1" i="0" lang="ar-SA">
                <a:solidFill>
                  <a:srgbClr val="FFFFFF"/>
                </a:solidFill>
                <a:latin typeface="Arial"/>
                <a:cs typeface="Arial"/>
              </a:rPr>
              <a:t>SVU</a:t>
            </a:r>
          </a:p>
        </p:txBody>
      </p:sp>
      <p:sp>
        <p:nvSpPr>
          <p:cNvPr id="17" name="تذييل"/>
          <p:cNvSpPr txBox="1"/>
          <p:nvPr/>
        </p:nvSpPr>
        <p:spPr>
          <a:xfrm>
            <a:off x="5287975" y="6373368"/>
            <a:ext cx="5577840" cy="310896"/>
          </a:xfrm>
          <a:prstGeom prst="rect">
            <a:avLst/>
          </a:prstGeom>
          <a:noFill/>
        </p:spPr>
        <p:txBody>
          <a:bodyPr wrap="square" lIns="45720" rIns="45720" tIns="27432" bIns="27432" anchor="ctr">
            <a:spAutoFit/>
          </a:bodyPr>
          <a:lstStyle/>
          <a:p>
            <a:pPr rtl="1" algn="r">
              <a:lnSpc>
                <a:spcPct val="115000"/>
              </a:lnSpc>
              <a:spcBef>
                <a:spcPts val="0"/>
              </a:spcBef>
              <a:spcAft>
                <a:spcPts val="0"/>
              </a:spcAft>
            </a:pPr>
            <a:r>
              <a:rPr sz="1200" b="0" i="0" lang="ar-SA">
                <a:solidFill>
                  <a:srgbClr val="475569"/>
                </a:solidFill>
                <a:latin typeface="Arial"/>
                <a:cs typeface="Arial"/>
              </a:rPr>
              <a:t>الجامعة الافتراضية السورية  |  ماجستير علوم الوب</a:t>
            </a:r>
          </a:p>
        </p:txBody>
      </p:sp>
      <p:sp>
        <p:nvSpPr>
          <p:cNvPr id="18" name="رقم الشريحة"/>
          <p:cNvSpPr txBox="1"/>
          <p:nvPr/>
        </p:nvSpPr>
        <p:spPr>
          <a:xfrm>
            <a:off x="548640" y="6373368"/>
            <a:ext cx="914400" cy="310896"/>
          </a:xfrm>
          <a:prstGeom prst="rect">
            <a:avLst/>
          </a:prstGeom>
          <a:noFill/>
        </p:spPr>
        <p:txBody>
          <a:bodyPr wrap="none">
            <a:spAutoFit/>
          </a:bodyPr>
          <a:lstStyle/>
          <a:p>
            <a:pPr rtl="1" algn="l"/>
            <a:fld id="{B6F15528-21DE-4FAA-801E-634DDDAF4B2B}" type="slidenum">
              <a:rPr lang="en-US" sz="1200">
                <a:solidFill>
                  <a:srgbClr val="475569"/>
                </a:solidFill>
                <a:latin typeface="Arial"/>
              </a:rPr>
              <a:t>‹#›</a:t>
            </a:fld>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العنوان"/>
          <p:cNvSpPr txBox="1"/>
          <p:nvPr/>
        </p:nvSpPr>
        <p:spPr>
          <a:xfrm>
            <a:off x="548640" y="347472"/>
            <a:ext cx="11094415" cy="868680"/>
          </a:xfrm>
          <a:prstGeom prst="rect">
            <a:avLst/>
          </a:prstGeom>
          <a:noFill/>
        </p:spPr>
        <p:txBody>
          <a:bodyPr wrap="square" lIns="45720" rIns="45720" tIns="27432" bIns="27432" anchor="ctr">
            <a:spAutoFit/>
          </a:bodyPr>
          <a:lstStyle/>
          <a:p>
            <a:pPr rtl="1" algn="r">
              <a:lnSpc>
                <a:spcPct val="115000"/>
              </a:lnSpc>
              <a:spcBef>
                <a:spcPts val="0"/>
              </a:spcBef>
              <a:spcAft>
                <a:spcPts val="0"/>
              </a:spcAft>
            </a:pPr>
            <a:r>
              <a:rPr sz="3000" b="1" i="0" lang="ar-SA">
                <a:solidFill>
                  <a:srgbClr val="134E4A"/>
                </a:solidFill>
                <a:latin typeface="Arial"/>
                <a:cs typeface="Arial"/>
              </a:rPr>
              <a:t>البيانات: OULAD، والاستعمال متركّز</a:t>
            </a:r>
          </a:p>
        </p:txBody>
      </p:sp>
      <p:sp>
        <p:nvSpPr>
          <p:cNvPr id="3" name="بطاقة رقم"/>
          <p:cNvSpPr/>
          <p:nvPr/>
        </p:nvSpPr>
        <p:spPr>
          <a:xfrm>
            <a:off x="8127796" y="1463040"/>
            <a:ext cx="3515258" cy="1897379"/>
          </a:xfrm>
          <a:prstGeom prst="roundRect">
            <a:avLst>
              <a:gd name="adj" fmla="val 6000"/>
            </a:avLst>
          </a:prstGeom>
          <a:solidFill>
            <a:srgbClr val="FFFFFF"/>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رقم كبير"/>
          <p:cNvSpPr txBox="1"/>
          <p:nvPr/>
        </p:nvSpPr>
        <p:spPr>
          <a:xfrm>
            <a:off x="8219236" y="1627632"/>
            <a:ext cx="3332378" cy="853820"/>
          </a:xfrm>
          <a:prstGeom prst="rect">
            <a:avLst/>
          </a:prstGeom>
          <a:noFill/>
        </p:spPr>
        <p:txBody>
          <a:bodyPr wrap="square" lIns="45720" rIns="45720" tIns="27432" bIns="27432" anchor="ctr">
            <a:spAutoFit/>
          </a:bodyPr>
          <a:lstStyle/>
          <a:p>
            <a:pPr rtl="1" algn="ctr">
              <a:lnSpc>
                <a:spcPct val="115000"/>
              </a:lnSpc>
              <a:spcBef>
                <a:spcPts val="0"/>
              </a:spcBef>
              <a:spcAft>
                <a:spcPts val="0"/>
              </a:spcAft>
            </a:pPr>
            <a:r>
              <a:rPr sz="4000" b="1" i="0" lang="ar-SA">
                <a:solidFill>
                  <a:srgbClr val="0F766E"/>
                </a:solidFill>
                <a:latin typeface="Arial"/>
                <a:cs typeface="Arial"/>
              </a:rPr>
              <a:t>‎13,529‎</a:t>
            </a:r>
          </a:p>
        </p:txBody>
      </p:sp>
      <p:sp>
        <p:nvSpPr>
          <p:cNvPr id="5" name="TextBox 4"/>
          <p:cNvSpPr txBox="1"/>
          <p:nvPr/>
        </p:nvSpPr>
        <p:spPr>
          <a:xfrm>
            <a:off x="8310676" y="2481453"/>
            <a:ext cx="3149498" cy="769238"/>
          </a:xfrm>
          <a:prstGeom prst="rect">
            <a:avLst/>
          </a:prstGeom>
          <a:noFill/>
        </p:spPr>
        <p:txBody>
          <a:bodyPr wrap="square" lIns="45720" rIns="45720" tIns="27432" bIns="27432" anchor="t">
            <a:spAutoFit/>
          </a:bodyPr>
          <a:lstStyle/>
          <a:p>
            <a:pPr rtl="1" algn="ctr">
              <a:lnSpc>
                <a:spcPct val="110000"/>
              </a:lnSpc>
              <a:spcBef>
                <a:spcPts val="0"/>
              </a:spcBef>
              <a:spcAft>
                <a:spcPts val="0"/>
              </a:spcAft>
            </a:pPr>
            <a:r>
              <a:rPr sz="1600" b="0" i="0" lang="ar-SA">
                <a:solidFill>
                  <a:srgbClr val="475569"/>
                </a:solidFill>
                <a:latin typeface="Arial"/>
                <a:cs typeface="Arial"/>
              </a:rPr>
              <a:t>تسجيلاً في 9 عروض تطوير (2013)</a:t>
            </a:r>
          </a:p>
        </p:txBody>
      </p:sp>
      <p:sp>
        <p:nvSpPr>
          <p:cNvPr id="6" name="بطاقة رقم"/>
          <p:cNvSpPr/>
          <p:nvPr/>
        </p:nvSpPr>
        <p:spPr>
          <a:xfrm>
            <a:off x="4338218" y="1463040"/>
            <a:ext cx="3515258" cy="1897379"/>
          </a:xfrm>
          <a:prstGeom prst="roundRect">
            <a:avLst>
              <a:gd name="adj" fmla="val 6000"/>
            </a:avLst>
          </a:prstGeom>
          <a:solidFill>
            <a:srgbClr val="FFFFFF"/>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رقم كبير"/>
          <p:cNvSpPr txBox="1"/>
          <p:nvPr/>
        </p:nvSpPr>
        <p:spPr>
          <a:xfrm>
            <a:off x="4429658" y="1627632"/>
            <a:ext cx="3332378" cy="853820"/>
          </a:xfrm>
          <a:prstGeom prst="rect">
            <a:avLst/>
          </a:prstGeom>
          <a:noFill/>
        </p:spPr>
        <p:txBody>
          <a:bodyPr wrap="square" lIns="45720" rIns="45720" tIns="27432" bIns="27432" anchor="ctr">
            <a:spAutoFit/>
          </a:bodyPr>
          <a:lstStyle/>
          <a:p>
            <a:pPr rtl="1" algn="ctr">
              <a:lnSpc>
                <a:spcPct val="115000"/>
              </a:lnSpc>
              <a:spcBef>
                <a:spcPts val="0"/>
              </a:spcBef>
              <a:spcAft>
                <a:spcPts val="0"/>
              </a:spcAft>
            </a:pPr>
            <a:r>
              <a:rPr sz="4000" b="1" i="0" lang="ar-SA">
                <a:solidFill>
                  <a:srgbClr val="0F766E"/>
                </a:solidFill>
                <a:latin typeface="Arial"/>
                <a:cs typeface="Arial"/>
              </a:rPr>
              <a:t>‎96–444‎</a:t>
            </a:r>
          </a:p>
        </p:txBody>
      </p:sp>
      <p:sp>
        <p:nvSpPr>
          <p:cNvPr id="8" name="TextBox 7"/>
          <p:cNvSpPr txBox="1"/>
          <p:nvPr/>
        </p:nvSpPr>
        <p:spPr>
          <a:xfrm>
            <a:off x="4521098" y="2481453"/>
            <a:ext cx="3149498" cy="769238"/>
          </a:xfrm>
          <a:prstGeom prst="rect">
            <a:avLst/>
          </a:prstGeom>
          <a:noFill/>
        </p:spPr>
        <p:txBody>
          <a:bodyPr wrap="square" lIns="45720" rIns="45720" tIns="27432" bIns="27432" anchor="t">
            <a:spAutoFit/>
          </a:bodyPr>
          <a:lstStyle/>
          <a:p>
            <a:pPr rtl="1" algn="ctr">
              <a:lnSpc>
                <a:spcPct val="110000"/>
              </a:lnSpc>
              <a:spcBef>
                <a:spcPts val="0"/>
              </a:spcBef>
              <a:spcAft>
                <a:spcPts val="0"/>
              </a:spcAft>
            </a:pPr>
            <a:r>
              <a:rPr sz="1600" b="0" i="0" lang="ar-SA">
                <a:solidFill>
                  <a:srgbClr val="475569"/>
                </a:solidFill>
                <a:latin typeface="Arial"/>
                <a:cs typeface="Arial"/>
              </a:rPr>
              <a:t>مورداً غير تنقلي لكل عرض</a:t>
            </a:r>
          </a:p>
        </p:txBody>
      </p:sp>
      <p:sp>
        <p:nvSpPr>
          <p:cNvPr id="9" name="بطاقة رقم"/>
          <p:cNvSpPr/>
          <p:nvPr/>
        </p:nvSpPr>
        <p:spPr>
          <a:xfrm>
            <a:off x="548639" y="1463040"/>
            <a:ext cx="3515258" cy="1897379"/>
          </a:xfrm>
          <a:prstGeom prst="roundRect">
            <a:avLst>
              <a:gd name="adj" fmla="val 6000"/>
            </a:avLst>
          </a:prstGeom>
          <a:solidFill>
            <a:srgbClr val="FFFFFF"/>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رقم كبير"/>
          <p:cNvSpPr txBox="1"/>
          <p:nvPr/>
        </p:nvSpPr>
        <p:spPr>
          <a:xfrm>
            <a:off x="640079" y="1627632"/>
            <a:ext cx="3332378" cy="853820"/>
          </a:xfrm>
          <a:prstGeom prst="rect">
            <a:avLst/>
          </a:prstGeom>
          <a:noFill/>
        </p:spPr>
        <p:txBody>
          <a:bodyPr wrap="square" lIns="45720" rIns="45720" tIns="27432" bIns="27432" anchor="ctr">
            <a:spAutoFit/>
          </a:bodyPr>
          <a:lstStyle/>
          <a:p>
            <a:pPr rtl="1" algn="ctr">
              <a:lnSpc>
                <a:spcPct val="115000"/>
              </a:lnSpc>
              <a:spcBef>
                <a:spcPts val="0"/>
              </a:spcBef>
              <a:spcAft>
                <a:spcPts val="0"/>
              </a:spcAft>
            </a:pPr>
            <a:r>
              <a:rPr sz="4000" b="1" i="0" lang="ar-SA">
                <a:solidFill>
                  <a:srgbClr val="0F766E"/>
                </a:solidFill>
                <a:latin typeface="Arial"/>
                <a:cs typeface="Arial"/>
              </a:rPr>
              <a:t>‎28%‎</a:t>
            </a:r>
          </a:p>
        </p:txBody>
      </p:sp>
      <p:sp>
        <p:nvSpPr>
          <p:cNvPr id="11" name="TextBox 10"/>
          <p:cNvSpPr txBox="1"/>
          <p:nvPr/>
        </p:nvSpPr>
        <p:spPr>
          <a:xfrm>
            <a:off x="731519" y="2481453"/>
            <a:ext cx="3149498" cy="769238"/>
          </a:xfrm>
          <a:prstGeom prst="rect">
            <a:avLst/>
          </a:prstGeom>
          <a:noFill/>
        </p:spPr>
        <p:txBody>
          <a:bodyPr wrap="square" lIns="45720" rIns="45720" tIns="27432" bIns="27432" anchor="t">
            <a:spAutoFit/>
          </a:bodyPr>
          <a:lstStyle/>
          <a:p>
            <a:pPr rtl="1" algn="ctr">
              <a:lnSpc>
                <a:spcPct val="110000"/>
              </a:lnSpc>
              <a:spcBef>
                <a:spcPts val="0"/>
              </a:spcBef>
              <a:spcAft>
                <a:spcPts val="0"/>
              </a:spcAft>
            </a:pPr>
            <a:r>
              <a:rPr sz="1600" b="0" i="0" lang="ar-SA">
                <a:solidFill>
                  <a:srgbClr val="475569"/>
                </a:solidFill>
                <a:latin typeface="Arial"/>
                <a:cs typeface="Arial"/>
              </a:rPr>
              <a:t>حصة نقرات التنقل (مرجّحة بالنقرات)</a:t>
            </a:r>
          </a:p>
        </p:txBody>
      </p:sp>
      <p:sp>
        <p:nvSpPr>
          <p:cNvPr id="12" name="بطاقة رقم"/>
          <p:cNvSpPr/>
          <p:nvPr/>
        </p:nvSpPr>
        <p:spPr>
          <a:xfrm>
            <a:off x="8127796" y="3634739"/>
            <a:ext cx="3515258" cy="1897379"/>
          </a:xfrm>
          <a:prstGeom prst="roundRect">
            <a:avLst>
              <a:gd name="adj" fmla="val 6000"/>
            </a:avLst>
          </a:prstGeom>
          <a:solidFill>
            <a:srgbClr val="FFFFFF"/>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رقم كبير"/>
          <p:cNvSpPr txBox="1"/>
          <p:nvPr/>
        </p:nvSpPr>
        <p:spPr>
          <a:xfrm>
            <a:off x="8219236" y="3799331"/>
            <a:ext cx="3332378" cy="853820"/>
          </a:xfrm>
          <a:prstGeom prst="rect">
            <a:avLst/>
          </a:prstGeom>
          <a:noFill/>
        </p:spPr>
        <p:txBody>
          <a:bodyPr wrap="square" lIns="45720" rIns="45720" tIns="27432" bIns="27432" anchor="ctr">
            <a:spAutoFit/>
          </a:bodyPr>
          <a:lstStyle/>
          <a:p>
            <a:pPr rtl="1" algn="ctr">
              <a:lnSpc>
                <a:spcPct val="115000"/>
              </a:lnSpc>
              <a:spcBef>
                <a:spcPts val="0"/>
              </a:spcBef>
              <a:spcAft>
                <a:spcPts val="0"/>
              </a:spcAft>
            </a:pPr>
            <a:r>
              <a:rPr sz="4000" b="1" i="0" lang="ar-SA">
                <a:solidFill>
                  <a:srgbClr val="0F766E"/>
                </a:solidFill>
                <a:latin typeface="Arial"/>
                <a:cs typeface="Arial"/>
              </a:rPr>
              <a:t>‎41%–86%‎</a:t>
            </a:r>
          </a:p>
        </p:txBody>
      </p:sp>
      <p:sp>
        <p:nvSpPr>
          <p:cNvPr id="14" name="TextBox 13"/>
          <p:cNvSpPr txBox="1"/>
          <p:nvPr/>
        </p:nvSpPr>
        <p:spPr>
          <a:xfrm>
            <a:off x="8310676" y="4653152"/>
            <a:ext cx="3149498" cy="769238"/>
          </a:xfrm>
          <a:prstGeom prst="rect">
            <a:avLst/>
          </a:prstGeom>
          <a:noFill/>
        </p:spPr>
        <p:txBody>
          <a:bodyPr wrap="square" lIns="45720" rIns="45720" tIns="27432" bIns="27432" anchor="t">
            <a:spAutoFit/>
          </a:bodyPr>
          <a:lstStyle/>
          <a:p>
            <a:pPr rtl="1" algn="ctr">
              <a:lnSpc>
                <a:spcPct val="110000"/>
              </a:lnSpc>
              <a:spcBef>
                <a:spcPts val="0"/>
              </a:spcBef>
              <a:spcAft>
                <a:spcPts val="0"/>
              </a:spcAft>
            </a:pPr>
            <a:r>
              <a:rPr sz="1600" b="0" i="0" lang="ar-SA">
                <a:solidFill>
                  <a:srgbClr val="475569"/>
                </a:solidFill>
                <a:latin typeface="Arial"/>
                <a:cs typeface="Arial"/>
              </a:rPr>
              <a:t>حصة أعلى 20% من الموارد من أزواج الوصول</a:t>
            </a:r>
          </a:p>
        </p:txBody>
      </p:sp>
      <p:sp>
        <p:nvSpPr>
          <p:cNvPr id="15" name="بطاقة رقم"/>
          <p:cNvSpPr/>
          <p:nvPr/>
        </p:nvSpPr>
        <p:spPr>
          <a:xfrm>
            <a:off x="4338218" y="3634739"/>
            <a:ext cx="3515258" cy="1897379"/>
          </a:xfrm>
          <a:prstGeom prst="roundRect">
            <a:avLst>
              <a:gd name="adj" fmla="val 6000"/>
            </a:avLst>
          </a:prstGeom>
          <a:solidFill>
            <a:srgbClr val="FFFFFF"/>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رقم كبير"/>
          <p:cNvSpPr txBox="1"/>
          <p:nvPr/>
        </p:nvSpPr>
        <p:spPr>
          <a:xfrm>
            <a:off x="4429658" y="3799331"/>
            <a:ext cx="3332378" cy="853820"/>
          </a:xfrm>
          <a:prstGeom prst="rect">
            <a:avLst/>
          </a:prstGeom>
          <a:noFill/>
        </p:spPr>
        <p:txBody>
          <a:bodyPr wrap="square" lIns="45720" rIns="45720" tIns="27432" bIns="27432" anchor="ctr">
            <a:spAutoFit/>
          </a:bodyPr>
          <a:lstStyle/>
          <a:p>
            <a:pPr rtl="1" algn="ctr">
              <a:lnSpc>
                <a:spcPct val="115000"/>
              </a:lnSpc>
              <a:spcBef>
                <a:spcPts val="0"/>
              </a:spcBef>
              <a:spcAft>
                <a:spcPts val="0"/>
              </a:spcAft>
            </a:pPr>
            <a:r>
              <a:rPr sz="4000" b="1" i="0" lang="ar-SA">
                <a:solidFill>
                  <a:srgbClr val="0F766E"/>
                </a:solidFill>
                <a:latin typeface="Arial"/>
                <a:cs typeface="Arial"/>
              </a:rPr>
              <a:t>‎56%–59%‎</a:t>
            </a:r>
          </a:p>
        </p:txBody>
      </p:sp>
      <p:sp>
        <p:nvSpPr>
          <p:cNvPr id="17" name="TextBox 16"/>
          <p:cNvSpPr txBox="1"/>
          <p:nvPr/>
        </p:nvSpPr>
        <p:spPr>
          <a:xfrm>
            <a:off x="4521098" y="4653152"/>
            <a:ext cx="3149498" cy="769238"/>
          </a:xfrm>
          <a:prstGeom prst="rect">
            <a:avLst/>
          </a:prstGeom>
          <a:noFill/>
        </p:spPr>
        <p:txBody>
          <a:bodyPr wrap="square" lIns="45720" rIns="45720" tIns="27432" bIns="27432" anchor="t">
            <a:spAutoFit/>
          </a:bodyPr>
          <a:lstStyle/>
          <a:p>
            <a:pPr rtl="1" algn="ctr">
              <a:lnSpc>
                <a:spcPct val="110000"/>
              </a:lnSpc>
              <a:spcBef>
                <a:spcPts val="0"/>
              </a:spcBef>
              <a:spcAft>
                <a:spcPts val="0"/>
              </a:spcAft>
            </a:pPr>
            <a:r>
              <a:rPr sz="1600" b="0" i="0" lang="ar-SA">
                <a:solidFill>
                  <a:srgbClr val="475569"/>
                </a:solidFill>
                <a:latin typeface="Arial"/>
                <a:cs typeface="Arial"/>
              </a:rPr>
              <a:t>حصة الإعادات في نوافذ الاختبار (متوسط العروض)</a:t>
            </a:r>
          </a:p>
        </p:txBody>
      </p:sp>
      <p:sp>
        <p:nvSpPr>
          <p:cNvPr id="18" name="بطاقة رقم"/>
          <p:cNvSpPr/>
          <p:nvPr/>
        </p:nvSpPr>
        <p:spPr>
          <a:xfrm>
            <a:off x="548639" y="3634739"/>
            <a:ext cx="3515258" cy="1897379"/>
          </a:xfrm>
          <a:prstGeom prst="roundRect">
            <a:avLst>
              <a:gd name="adj" fmla="val 6000"/>
            </a:avLst>
          </a:prstGeom>
          <a:solidFill>
            <a:srgbClr val="FFFFFF"/>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رقم كبير"/>
          <p:cNvSpPr txBox="1"/>
          <p:nvPr/>
        </p:nvSpPr>
        <p:spPr>
          <a:xfrm>
            <a:off x="640079" y="3799331"/>
            <a:ext cx="3332378" cy="853820"/>
          </a:xfrm>
          <a:prstGeom prst="rect">
            <a:avLst/>
          </a:prstGeom>
          <a:noFill/>
        </p:spPr>
        <p:txBody>
          <a:bodyPr wrap="square" lIns="45720" rIns="45720" tIns="27432" bIns="27432" anchor="ctr">
            <a:spAutoFit/>
          </a:bodyPr>
          <a:lstStyle/>
          <a:p>
            <a:pPr rtl="1" algn="ctr">
              <a:lnSpc>
                <a:spcPct val="115000"/>
              </a:lnSpc>
              <a:spcBef>
                <a:spcPts val="0"/>
              </a:spcBef>
              <a:spcAft>
                <a:spcPts val="0"/>
              </a:spcAft>
            </a:pPr>
            <a:r>
              <a:rPr sz="4000" b="1" i="0" lang="ar-SA">
                <a:solidFill>
                  <a:srgbClr val="0F766E"/>
                </a:solidFill>
                <a:latin typeface="Arial"/>
                <a:cs typeface="Arial"/>
              </a:rPr>
              <a:t>‎10%–42%‎</a:t>
            </a:r>
          </a:p>
        </p:txBody>
      </p:sp>
      <p:sp>
        <p:nvSpPr>
          <p:cNvPr id="20" name="TextBox 19"/>
          <p:cNvSpPr txBox="1"/>
          <p:nvPr/>
        </p:nvSpPr>
        <p:spPr>
          <a:xfrm>
            <a:off x="731519" y="4653152"/>
            <a:ext cx="3149498" cy="769238"/>
          </a:xfrm>
          <a:prstGeom prst="rect">
            <a:avLst/>
          </a:prstGeom>
          <a:noFill/>
        </p:spPr>
        <p:txBody>
          <a:bodyPr wrap="square" lIns="45720" rIns="45720" tIns="27432" bIns="27432" anchor="t">
            <a:spAutoFit/>
          </a:bodyPr>
          <a:lstStyle/>
          <a:p>
            <a:pPr rtl="1" algn="ctr">
              <a:lnSpc>
                <a:spcPct val="110000"/>
              </a:lnSpc>
              <a:spcBef>
                <a:spcPts val="0"/>
              </a:spcBef>
              <a:spcAft>
                <a:spcPts val="0"/>
              </a:spcAft>
            </a:pPr>
            <a:r>
              <a:rPr sz="1600" b="0" i="0" lang="ar-SA">
                <a:solidFill>
                  <a:srgbClr val="475569"/>
                </a:solidFill>
                <a:latin typeface="Arial"/>
                <a:cs typeface="Arial"/>
              </a:rPr>
              <a:t>كثافة مصفوفة المتعلمين × الموارد</a:t>
            </a:r>
          </a:p>
        </p:txBody>
      </p:sp>
      <p:sp>
        <p:nvSpPr>
          <p:cNvPr id="21" name="TextBox 20"/>
          <p:cNvSpPr txBox="1"/>
          <p:nvPr/>
        </p:nvSpPr>
        <p:spPr>
          <a:xfrm>
            <a:off x="548640" y="5605272"/>
            <a:ext cx="11094415" cy="548640"/>
          </a:xfrm>
          <a:prstGeom prst="rect">
            <a:avLst/>
          </a:prstGeom>
          <a:noFill/>
        </p:spPr>
        <p:txBody>
          <a:bodyPr wrap="square" lIns="45720" rIns="45720" tIns="27432" bIns="27432" anchor="ctr">
            <a:spAutoFit/>
          </a:bodyPr>
          <a:lstStyle/>
          <a:p>
            <a:pPr rtl="1" algn="r">
              <a:lnSpc>
                <a:spcPct val="115000"/>
              </a:lnSpc>
              <a:spcBef>
                <a:spcPts val="0"/>
              </a:spcBef>
              <a:spcAft>
                <a:spcPts val="0"/>
              </a:spcAft>
            </a:pPr>
            <a:r>
              <a:rPr sz="1400" b="0" i="0" lang="ar-SA">
                <a:solidFill>
                  <a:srgbClr val="475569"/>
                </a:solidFill>
                <a:latin typeface="Arial"/>
                <a:cs typeface="Arial"/>
              </a:rPr>
              <a:t>مجموعة OULAD: 7 مقررات و22 عرضاً، 32,593 تسجيلاً، ترخيص CC BY 4.0؛ عروض 2014 (13 عرضاً) محجوزة للتأكيد</a:t>
            </a:r>
          </a:p>
        </p:txBody>
      </p:sp>
      <p:sp>
        <p:nvSpPr>
          <p:cNvPr id="22" name="شعار الجامعة"/>
          <p:cNvSpPr/>
          <p:nvPr/>
        </p:nvSpPr>
        <p:spPr>
          <a:xfrm>
            <a:off x="10957255" y="6382512"/>
            <a:ext cx="685800" cy="292608"/>
          </a:xfrm>
          <a:prstGeom prst="roundRect">
            <a:avLst>
              <a:gd name="adj" fmla="val 50000"/>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rtl="1"/>
            <a:r>
              <a:rPr sz="1200" b="1" i="0" lang="ar-SA">
                <a:solidFill>
                  <a:srgbClr val="FFFFFF"/>
                </a:solidFill>
                <a:latin typeface="Arial"/>
                <a:cs typeface="Arial"/>
              </a:rPr>
              <a:t>SVU</a:t>
            </a:r>
          </a:p>
        </p:txBody>
      </p:sp>
      <p:sp>
        <p:nvSpPr>
          <p:cNvPr id="23" name="تذييل"/>
          <p:cNvSpPr txBox="1"/>
          <p:nvPr/>
        </p:nvSpPr>
        <p:spPr>
          <a:xfrm>
            <a:off x="5287975" y="6373368"/>
            <a:ext cx="5577840" cy="310896"/>
          </a:xfrm>
          <a:prstGeom prst="rect">
            <a:avLst/>
          </a:prstGeom>
          <a:noFill/>
        </p:spPr>
        <p:txBody>
          <a:bodyPr wrap="square" lIns="45720" rIns="45720" tIns="27432" bIns="27432" anchor="ctr">
            <a:spAutoFit/>
          </a:bodyPr>
          <a:lstStyle/>
          <a:p>
            <a:pPr rtl="1" algn="r">
              <a:lnSpc>
                <a:spcPct val="115000"/>
              </a:lnSpc>
              <a:spcBef>
                <a:spcPts val="0"/>
              </a:spcBef>
              <a:spcAft>
                <a:spcPts val="0"/>
              </a:spcAft>
            </a:pPr>
            <a:r>
              <a:rPr sz="1200" b="0" i="0" lang="ar-SA">
                <a:solidFill>
                  <a:srgbClr val="475569"/>
                </a:solidFill>
                <a:latin typeface="Arial"/>
                <a:cs typeface="Arial"/>
              </a:rPr>
              <a:t>الجامعة الافتراضية السورية  |  ماجستير علوم الوب</a:t>
            </a:r>
          </a:p>
        </p:txBody>
      </p:sp>
      <p:sp>
        <p:nvSpPr>
          <p:cNvPr id="24" name="رقم الشريحة"/>
          <p:cNvSpPr txBox="1"/>
          <p:nvPr/>
        </p:nvSpPr>
        <p:spPr>
          <a:xfrm>
            <a:off x="548640" y="6373368"/>
            <a:ext cx="914400" cy="310896"/>
          </a:xfrm>
          <a:prstGeom prst="rect">
            <a:avLst/>
          </a:prstGeom>
          <a:noFill/>
        </p:spPr>
        <p:txBody>
          <a:bodyPr wrap="none">
            <a:spAutoFit/>
          </a:bodyPr>
          <a:lstStyle/>
          <a:p>
            <a:pPr rtl="1" algn="l"/>
            <a:fld id="{B6F15528-21DE-4FAA-801E-634DDDAF4B2B}" type="slidenum">
              <a:rPr lang="en-US" sz="1200">
                <a:solidFill>
                  <a:srgbClr val="475569"/>
                </a:solidFill>
                <a:latin typeface="Arial"/>
              </a:rPr>
              <a:t>‹#›</a:t>
            </a:fld>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العنوان"/>
          <p:cNvSpPr txBox="1"/>
          <p:nvPr/>
        </p:nvSpPr>
        <p:spPr>
          <a:xfrm>
            <a:off x="548640" y="347472"/>
            <a:ext cx="11094415" cy="868680"/>
          </a:xfrm>
          <a:prstGeom prst="rect">
            <a:avLst/>
          </a:prstGeom>
          <a:noFill/>
        </p:spPr>
        <p:txBody>
          <a:bodyPr wrap="square" lIns="45720" rIns="45720" tIns="27432" bIns="27432" anchor="ctr">
            <a:spAutoFit/>
          </a:bodyPr>
          <a:lstStyle/>
          <a:p>
            <a:pPr rtl="1" algn="r">
              <a:lnSpc>
                <a:spcPct val="115000"/>
              </a:lnSpc>
              <a:spcBef>
                <a:spcPts val="0"/>
              </a:spcBef>
              <a:spcAft>
                <a:spcPts val="0"/>
              </a:spcAft>
            </a:pPr>
            <a:r>
              <a:rPr sz="3000" b="1" i="0" lang="ar-SA">
                <a:solidFill>
                  <a:srgbClr val="134E4A"/>
                </a:solidFill>
                <a:latin typeface="Arial"/>
                <a:cs typeface="Arial"/>
              </a:rPr>
              <a:t>تمثيل السلوك: سلة اليوم وعائلة الإشارات</a:t>
            </a:r>
          </a:p>
        </p:txBody>
      </p:sp>
      <p:sp>
        <p:nvSpPr>
          <p:cNvPr id="3" name="TextBox 2"/>
          <p:cNvSpPr txBox="1"/>
          <p:nvPr/>
        </p:nvSpPr>
        <p:spPr>
          <a:xfrm>
            <a:off x="548640" y="1463040"/>
            <a:ext cx="11094415" cy="365760"/>
          </a:xfrm>
          <a:prstGeom prst="rect">
            <a:avLst/>
          </a:prstGeom>
          <a:noFill/>
        </p:spPr>
        <p:txBody>
          <a:bodyPr wrap="square" lIns="45720" rIns="45720" tIns="27432" bIns="27432" anchor="ctr">
            <a:spAutoFit/>
          </a:bodyPr>
          <a:lstStyle/>
          <a:p>
            <a:pPr rtl="1" algn="r">
              <a:lnSpc>
                <a:spcPct val="115000"/>
              </a:lnSpc>
              <a:spcBef>
                <a:spcPts val="0"/>
              </a:spcBef>
              <a:spcAft>
                <a:spcPts val="0"/>
              </a:spcAft>
            </a:pPr>
            <a:r>
              <a:rPr sz="1700" b="1" i="0" lang="ar-SA">
                <a:solidFill>
                  <a:srgbClr val="92400E"/>
                </a:solidFill>
                <a:latin typeface="Arial"/>
                <a:cs typeface="Arial"/>
              </a:rPr>
              <a:t>من السجل إلى التسلسل</a:t>
            </a:r>
          </a:p>
        </p:txBody>
      </p:sp>
      <p:sp>
        <p:nvSpPr>
          <p:cNvPr id="4" name="خطوة"/>
          <p:cNvSpPr/>
          <p:nvPr/>
        </p:nvSpPr>
        <p:spPr>
          <a:xfrm>
            <a:off x="8298484" y="1828800"/>
            <a:ext cx="3344570" cy="1325879"/>
          </a:xfrm>
          <a:prstGeom prst="roundRect">
            <a:avLst>
              <a:gd name="adj" fmla="val 6000"/>
            </a:avLst>
          </a:prstGeom>
          <a:solidFill>
            <a:srgbClr val="FFFFFF"/>
          </a:solidFill>
          <a:ln w="19050">
            <a:solidFill>
              <a:srgbClr val="0F766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389924" y="1920240"/>
            <a:ext cx="3161690" cy="556869"/>
          </a:xfrm>
          <a:prstGeom prst="rect">
            <a:avLst/>
          </a:prstGeom>
          <a:noFill/>
        </p:spPr>
        <p:txBody>
          <a:bodyPr wrap="square" lIns="45720" rIns="45720" tIns="27432" bIns="27432" anchor="ctr">
            <a:spAutoFit/>
          </a:bodyPr>
          <a:lstStyle/>
          <a:p>
            <a:pPr rtl="1" algn="ctr">
              <a:lnSpc>
                <a:spcPct val="100000"/>
              </a:lnSpc>
              <a:spcBef>
                <a:spcPts val="0"/>
              </a:spcBef>
              <a:spcAft>
                <a:spcPts val="0"/>
              </a:spcAft>
            </a:pPr>
            <a:r>
              <a:rPr sz="2200" b="1" i="0" lang="ar-SA">
                <a:solidFill>
                  <a:srgbClr val="0F766E"/>
                </a:solidFill>
                <a:latin typeface="Arial"/>
                <a:cs typeface="Arial"/>
              </a:rPr>
              <a:t>نقرات يومية</a:t>
            </a:r>
          </a:p>
        </p:txBody>
      </p:sp>
      <p:sp>
        <p:nvSpPr>
          <p:cNvPr id="6" name="TextBox 5"/>
          <p:cNvSpPr txBox="1"/>
          <p:nvPr/>
        </p:nvSpPr>
        <p:spPr>
          <a:xfrm>
            <a:off x="8389924" y="2425446"/>
            <a:ext cx="3161690" cy="689457"/>
          </a:xfrm>
          <a:prstGeom prst="rect">
            <a:avLst/>
          </a:prstGeom>
          <a:noFill/>
        </p:spPr>
        <p:txBody>
          <a:bodyPr wrap="square" lIns="45720" rIns="45720" tIns="27432" bIns="27432" anchor="t">
            <a:spAutoFit/>
          </a:bodyPr>
          <a:lstStyle/>
          <a:p>
            <a:pPr rtl="1" algn="ctr">
              <a:lnSpc>
                <a:spcPct val="110000"/>
              </a:lnSpc>
              <a:spcBef>
                <a:spcPts val="0"/>
              </a:spcBef>
              <a:spcAft>
                <a:spcPts val="0"/>
              </a:spcAft>
            </a:pPr>
            <a:r>
              <a:rPr sz="1600" b="0" i="0" lang="ar-SA">
                <a:solidFill>
                  <a:srgbClr val="475569"/>
                </a:solidFill>
                <a:latin typeface="Arial"/>
                <a:cs typeface="Arial"/>
              </a:rPr>
              <a:t>متعلم × مورد × يوم</a:t>
            </a:r>
          </a:p>
        </p:txBody>
      </p:sp>
      <p:sp>
        <p:nvSpPr>
          <p:cNvPr id="7" name="سهم"/>
          <p:cNvSpPr/>
          <p:nvPr/>
        </p:nvSpPr>
        <p:spPr>
          <a:xfrm>
            <a:off x="7768132" y="2308859"/>
            <a:ext cx="384048" cy="365760"/>
          </a:xfrm>
          <a:prstGeom prst="leftArrow">
            <a:avLst/>
          </a:prstGeom>
          <a:solidFill>
            <a:srgbClr val="B4530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خطوة"/>
          <p:cNvSpPr/>
          <p:nvPr/>
        </p:nvSpPr>
        <p:spPr>
          <a:xfrm>
            <a:off x="4423562" y="1828800"/>
            <a:ext cx="3344570" cy="1325879"/>
          </a:xfrm>
          <a:prstGeom prst="roundRect">
            <a:avLst>
              <a:gd name="adj" fmla="val 6000"/>
            </a:avLst>
          </a:prstGeom>
          <a:solidFill>
            <a:srgbClr val="FFFFFF"/>
          </a:solidFill>
          <a:ln w="19050">
            <a:solidFill>
              <a:srgbClr val="0F766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4515002" y="1920240"/>
            <a:ext cx="3161690" cy="556869"/>
          </a:xfrm>
          <a:prstGeom prst="rect">
            <a:avLst/>
          </a:prstGeom>
          <a:noFill/>
        </p:spPr>
        <p:txBody>
          <a:bodyPr wrap="square" lIns="45720" rIns="45720" tIns="27432" bIns="27432" anchor="ctr">
            <a:spAutoFit/>
          </a:bodyPr>
          <a:lstStyle/>
          <a:p>
            <a:pPr rtl="1" algn="ctr">
              <a:lnSpc>
                <a:spcPct val="100000"/>
              </a:lnSpc>
              <a:spcBef>
                <a:spcPts val="0"/>
              </a:spcBef>
              <a:spcAft>
                <a:spcPts val="0"/>
              </a:spcAft>
            </a:pPr>
            <a:r>
              <a:rPr sz="2200" b="1" i="0" lang="ar-SA">
                <a:solidFill>
                  <a:srgbClr val="0F766E"/>
                </a:solidFill>
                <a:latin typeface="Arial"/>
                <a:cs typeface="Arial"/>
              </a:rPr>
              <a:t>سلة اليوم</a:t>
            </a:r>
          </a:p>
        </p:txBody>
      </p:sp>
      <p:sp>
        <p:nvSpPr>
          <p:cNvPr id="10" name="TextBox 9"/>
          <p:cNvSpPr txBox="1"/>
          <p:nvPr/>
        </p:nvSpPr>
        <p:spPr>
          <a:xfrm>
            <a:off x="4515002" y="2425446"/>
            <a:ext cx="3161690" cy="689457"/>
          </a:xfrm>
          <a:prstGeom prst="rect">
            <a:avLst/>
          </a:prstGeom>
          <a:noFill/>
        </p:spPr>
        <p:txBody>
          <a:bodyPr wrap="square" lIns="45720" rIns="45720" tIns="27432" bIns="27432" anchor="t">
            <a:spAutoFit/>
          </a:bodyPr>
          <a:lstStyle/>
          <a:p>
            <a:pPr rtl="1" algn="ctr">
              <a:lnSpc>
                <a:spcPct val="110000"/>
              </a:lnSpc>
              <a:spcBef>
                <a:spcPts val="0"/>
              </a:spcBef>
              <a:spcAft>
                <a:spcPts val="0"/>
              </a:spcAft>
            </a:pPr>
            <a:r>
              <a:rPr sz="1600" b="0" i="0" lang="ar-SA">
                <a:solidFill>
                  <a:srgbClr val="475569"/>
                </a:solidFill>
                <a:latin typeface="Arial"/>
                <a:cs typeface="Arial"/>
              </a:rPr>
              <a:t>مجموعة موارد غير مرتبة</a:t>
            </a:r>
          </a:p>
        </p:txBody>
      </p:sp>
      <p:sp>
        <p:nvSpPr>
          <p:cNvPr id="11" name="سهم"/>
          <p:cNvSpPr/>
          <p:nvPr/>
        </p:nvSpPr>
        <p:spPr>
          <a:xfrm>
            <a:off x="3893210" y="2308859"/>
            <a:ext cx="384048" cy="365760"/>
          </a:xfrm>
          <a:prstGeom prst="leftArrow">
            <a:avLst/>
          </a:prstGeom>
          <a:solidFill>
            <a:srgbClr val="B4530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خطوة"/>
          <p:cNvSpPr/>
          <p:nvPr/>
        </p:nvSpPr>
        <p:spPr>
          <a:xfrm>
            <a:off x="548639" y="1828800"/>
            <a:ext cx="3344570" cy="1325879"/>
          </a:xfrm>
          <a:prstGeom prst="roundRect">
            <a:avLst>
              <a:gd name="adj" fmla="val 6000"/>
            </a:avLst>
          </a:prstGeom>
          <a:solidFill>
            <a:srgbClr val="FFFFFF"/>
          </a:solidFill>
          <a:ln w="19050">
            <a:solidFill>
              <a:srgbClr val="0F766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0079" y="1920240"/>
            <a:ext cx="3161690" cy="556869"/>
          </a:xfrm>
          <a:prstGeom prst="rect">
            <a:avLst/>
          </a:prstGeom>
          <a:noFill/>
        </p:spPr>
        <p:txBody>
          <a:bodyPr wrap="square" lIns="45720" rIns="45720" tIns="27432" bIns="27432" anchor="ctr">
            <a:spAutoFit/>
          </a:bodyPr>
          <a:lstStyle/>
          <a:p>
            <a:pPr rtl="1" algn="ctr">
              <a:lnSpc>
                <a:spcPct val="100000"/>
              </a:lnSpc>
              <a:spcBef>
                <a:spcPts val="0"/>
              </a:spcBef>
              <a:spcAft>
                <a:spcPts val="0"/>
              </a:spcAft>
            </a:pPr>
            <a:r>
              <a:rPr sz="2200" b="1" i="0" lang="ar-SA">
                <a:solidFill>
                  <a:srgbClr val="0F766E"/>
                </a:solidFill>
                <a:latin typeface="Arial"/>
                <a:cs typeface="Arial"/>
              </a:rPr>
              <a:t>تسلسل السلال</a:t>
            </a:r>
          </a:p>
        </p:txBody>
      </p:sp>
      <p:sp>
        <p:nvSpPr>
          <p:cNvPr id="14" name="TextBox 13"/>
          <p:cNvSpPr txBox="1"/>
          <p:nvPr/>
        </p:nvSpPr>
        <p:spPr>
          <a:xfrm>
            <a:off x="640079" y="2425446"/>
            <a:ext cx="3161690" cy="689457"/>
          </a:xfrm>
          <a:prstGeom prst="rect">
            <a:avLst/>
          </a:prstGeom>
          <a:noFill/>
        </p:spPr>
        <p:txBody>
          <a:bodyPr wrap="square" lIns="45720" rIns="45720" tIns="27432" bIns="27432" anchor="t">
            <a:spAutoFit/>
          </a:bodyPr>
          <a:lstStyle/>
          <a:p>
            <a:pPr rtl="1" algn="ctr">
              <a:lnSpc>
                <a:spcPct val="110000"/>
              </a:lnSpc>
              <a:spcBef>
                <a:spcPts val="0"/>
              </a:spcBef>
              <a:spcAft>
                <a:spcPts val="0"/>
              </a:spcAft>
            </a:pPr>
            <a:r>
              <a:rPr sz="1600" b="0" i="0" lang="ar-SA">
                <a:solidFill>
                  <a:srgbClr val="475569"/>
                </a:solidFill>
                <a:latin typeface="Arial"/>
                <a:cs typeface="Arial"/>
              </a:rPr>
              <a:t>الأيام النشطة بالترتيب</a:t>
            </a:r>
          </a:p>
        </p:txBody>
      </p:sp>
      <p:sp>
        <p:nvSpPr>
          <p:cNvPr id="15" name="TextBox 14"/>
          <p:cNvSpPr txBox="1"/>
          <p:nvPr/>
        </p:nvSpPr>
        <p:spPr>
          <a:xfrm>
            <a:off x="548640" y="3383279"/>
            <a:ext cx="11094415" cy="365760"/>
          </a:xfrm>
          <a:prstGeom prst="rect">
            <a:avLst/>
          </a:prstGeom>
          <a:noFill/>
        </p:spPr>
        <p:txBody>
          <a:bodyPr wrap="square" lIns="45720" rIns="45720" tIns="27432" bIns="27432" anchor="ctr">
            <a:spAutoFit/>
          </a:bodyPr>
          <a:lstStyle/>
          <a:p>
            <a:pPr rtl="1" algn="r">
              <a:lnSpc>
                <a:spcPct val="115000"/>
              </a:lnSpc>
              <a:spcBef>
                <a:spcPts val="0"/>
              </a:spcBef>
              <a:spcAft>
                <a:spcPts val="0"/>
              </a:spcAft>
            </a:pPr>
            <a:r>
              <a:rPr sz="1700" b="1" i="0" lang="ar-SA">
                <a:solidFill>
                  <a:srgbClr val="92400E"/>
                </a:solidFill>
                <a:latin typeface="Arial"/>
                <a:cs typeface="Arial"/>
              </a:rPr>
              <a:t>الإشارة الضمنية: كل مستوى حالة خاصة من التالي</a:t>
            </a:r>
          </a:p>
        </p:txBody>
      </p:sp>
      <p:sp>
        <p:nvSpPr>
          <p:cNvPr id="16" name="خطوة"/>
          <p:cNvSpPr/>
          <p:nvPr/>
        </p:nvSpPr>
        <p:spPr>
          <a:xfrm>
            <a:off x="9267215" y="3749039"/>
            <a:ext cx="2375839" cy="1325879"/>
          </a:xfrm>
          <a:prstGeom prst="roundRect">
            <a:avLst>
              <a:gd name="adj" fmla="val 6000"/>
            </a:avLst>
          </a:prstGeom>
          <a:solidFill>
            <a:srgbClr val="FFFFFF"/>
          </a:solidFill>
          <a:ln w="19050">
            <a:solidFill>
              <a:srgbClr val="0F766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9358655" y="3840479"/>
            <a:ext cx="2192959" cy="556869"/>
          </a:xfrm>
          <a:prstGeom prst="rect">
            <a:avLst/>
          </a:prstGeom>
          <a:noFill/>
        </p:spPr>
        <p:txBody>
          <a:bodyPr wrap="square" lIns="45720" rIns="45720" tIns="27432" bIns="27432" anchor="ctr">
            <a:spAutoFit/>
          </a:bodyPr>
          <a:lstStyle/>
          <a:p>
            <a:pPr rtl="1" algn="ctr">
              <a:lnSpc>
                <a:spcPct val="100000"/>
              </a:lnSpc>
              <a:spcBef>
                <a:spcPts val="0"/>
              </a:spcBef>
              <a:spcAft>
                <a:spcPts val="0"/>
              </a:spcAft>
            </a:pPr>
            <a:r>
              <a:rPr sz="2200" b="1" i="0" lang="ar-SA">
                <a:solidFill>
                  <a:srgbClr val="0F766E"/>
                </a:solidFill>
                <a:latin typeface="Arial"/>
                <a:cs typeface="Arial"/>
              </a:rPr>
              <a:t>L0</a:t>
            </a:r>
          </a:p>
        </p:txBody>
      </p:sp>
      <p:sp>
        <p:nvSpPr>
          <p:cNvPr id="18" name="TextBox 17"/>
          <p:cNvSpPr txBox="1"/>
          <p:nvPr/>
        </p:nvSpPr>
        <p:spPr>
          <a:xfrm>
            <a:off x="9358655" y="4345686"/>
            <a:ext cx="2192959" cy="689457"/>
          </a:xfrm>
          <a:prstGeom prst="rect">
            <a:avLst/>
          </a:prstGeom>
          <a:noFill/>
        </p:spPr>
        <p:txBody>
          <a:bodyPr wrap="square" lIns="45720" rIns="45720" tIns="27432" bIns="27432" anchor="t">
            <a:spAutoFit/>
          </a:bodyPr>
          <a:lstStyle/>
          <a:p>
            <a:pPr rtl="1" algn="ctr">
              <a:lnSpc>
                <a:spcPct val="110000"/>
              </a:lnSpc>
              <a:spcBef>
                <a:spcPts val="0"/>
              </a:spcBef>
              <a:spcAft>
                <a:spcPts val="0"/>
              </a:spcAft>
            </a:pPr>
            <a:r>
              <a:rPr sz="1600" b="0" i="0" lang="ar-SA">
                <a:solidFill>
                  <a:srgbClr val="475569"/>
                </a:solidFill>
                <a:latin typeface="Arial"/>
                <a:cs typeface="Arial"/>
              </a:rPr>
              <a:t>ثنائية</a:t>
            </a:r>
          </a:p>
        </p:txBody>
      </p:sp>
      <p:sp>
        <p:nvSpPr>
          <p:cNvPr id="19" name="سهم"/>
          <p:cNvSpPr/>
          <p:nvPr/>
        </p:nvSpPr>
        <p:spPr>
          <a:xfrm>
            <a:off x="8736863" y="4229099"/>
            <a:ext cx="384048" cy="365760"/>
          </a:xfrm>
          <a:prstGeom prst="leftArrow">
            <a:avLst/>
          </a:prstGeom>
          <a:solidFill>
            <a:srgbClr val="B4530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خطوة"/>
          <p:cNvSpPr/>
          <p:nvPr/>
        </p:nvSpPr>
        <p:spPr>
          <a:xfrm>
            <a:off x="6361023" y="3749039"/>
            <a:ext cx="2375839" cy="1325879"/>
          </a:xfrm>
          <a:prstGeom prst="roundRect">
            <a:avLst>
              <a:gd name="adj" fmla="val 6000"/>
            </a:avLst>
          </a:prstGeom>
          <a:solidFill>
            <a:srgbClr val="FFFFFF"/>
          </a:solidFill>
          <a:ln w="19050">
            <a:solidFill>
              <a:srgbClr val="0F766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452463" y="3840479"/>
            <a:ext cx="2192959" cy="556869"/>
          </a:xfrm>
          <a:prstGeom prst="rect">
            <a:avLst/>
          </a:prstGeom>
          <a:noFill/>
        </p:spPr>
        <p:txBody>
          <a:bodyPr wrap="square" lIns="45720" rIns="45720" tIns="27432" bIns="27432" anchor="ctr">
            <a:spAutoFit/>
          </a:bodyPr>
          <a:lstStyle/>
          <a:p>
            <a:pPr rtl="1" algn="ctr">
              <a:lnSpc>
                <a:spcPct val="100000"/>
              </a:lnSpc>
              <a:spcBef>
                <a:spcPts val="0"/>
              </a:spcBef>
              <a:spcAft>
                <a:spcPts val="0"/>
              </a:spcAft>
            </a:pPr>
            <a:r>
              <a:rPr sz="2200" b="1" i="0" lang="ar-SA">
                <a:solidFill>
                  <a:srgbClr val="0F766E"/>
                </a:solidFill>
                <a:latin typeface="Arial"/>
                <a:cs typeface="Arial"/>
              </a:rPr>
              <a:t>L1</a:t>
            </a:r>
          </a:p>
        </p:txBody>
      </p:sp>
      <p:sp>
        <p:nvSpPr>
          <p:cNvPr id="22" name="TextBox 21"/>
          <p:cNvSpPr txBox="1"/>
          <p:nvPr/>
        </p:nvSpPr>
        <p:spPr>
          <a:xfrm>
            <a:off x="6452463" y="4345686"/>
            <a:ext cx="2192959" cy="689457"/>
          </a:xfrm>
          <a:prstGeom prst="rect">
            <a:avLst/>
          </a:prstGeom>
          <a:noFill/>
        </p:spPr>
        <p:txBody>
          <a:bodyPr wrap="square" lIns="45720" rIns="45720" tIns="27432" bIns="27432" anchor="t">
            <a:spAutoFit/>
          </a:bodyPr>
          <a:lstStyle/>
          <a:p>
            <a:pPr rtl="1" algn="ctr">
              <a:lnSpc>
                <a:spcPct val="110000"/>
              </a:lnSpc>
              <a:spcBef>
                <a:spcPts val="0"/>
              </a:spcBef>
              <a:spcAft>
                <a:spcPts val="0"/>
              </a:spcAft>
            </a:pPr>
            <a:r>
              <a:rPr sz="1600" b="0" i="0" lang="ar-SA">
                <a:solidFill>
                  <a:srgbClr val="475569"/>
                </a:solidFill>
                <a:latin typeface="Arial"/>
                <a:cs typeface="Arial"/>
              </a:rPr>
              <a:t>عدد الأيام</a:t>
            </a:r>
          </a:p>
        </p:txBody>
      </p:sp>
      <p:sp>
        <p:nvSpPr>
          <p:cNvPr id="23" name="سهم"/>
          <p:cNvSpPr/>
          <p:nvPr/>
        </p:nvSpPr>
        <p:spPr>
          <a:xfrm>
            <a:off x="5830671" y="4229099"/>
            <a:ext cx="384048" cy="365760"/>
          </a:xfrm>
          <a:prstGeom prst="leftArrow">
            <a:avLst/>
          </a:prstGeom>
          <a:solidFill>
            <a:srgbClr val="B4530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خطوة"/>
          <p:cNvSpPr/>
          <p:nvPr/>
        </p:nvSpPr>
        <p:spPr>
          <a:xfrm>
            <a:off x="3454831" y="3749039"/>
            <a:ext cx="2375839" cy="1325879"/>
          </a:xfrm>
          <a:prstGeom prst="roundRect">
            <a:avLst>
              <a:gd name="adj" fmla="val 6000"/>
            </a:avLst>
          </a:prstGeom>
          <a:solidFill>
            <a:srgbClr val="FFFFFF"/>
          </a:solidFill>
          <a:ln w="19050">
            <a:solidFill>
              <a:srgbClr val="0F766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3546271" y="3840479"/>
            <a:ext cx="2192959" cy="556869"/>
          </a:xfrm>
          <a:prstGeom prst="rect">
            <a:avLst/>
          </a:prstGeom>
          <a:noFill/>
        </p:spPr>
        <p:txBody>
          <a:bodyPr wrap="square" lIns="45720" rIns="45720" tIns="27432" bIns="27432" anchor="ctr">
            <a:spAutoFit/>
          </a:bodyPr>
          <a:lstStyle/>
          <a:p>
            <a:pPr rtl="1" algn="ctr">
              <a:lnSpc>
                <a:spcPct val="100000"/>
              </a:lnSpc>
              <a:spcBef>
                <a:spcPts val="0"/>
              </a:spcBef>
              <a:spcAft>
                <a:spcPts val="0"/>
              </a:spcAft>
            </a:pPr>
            <a:r>
              <a:rPr sz="2200" b="1" i="0" lang="ar-SA">
                <a:solidFill>
                  <a:srgbClr val="0F766E"/>
                </a:solidFill>
                <a:latin typeface="Arial"/>
                <a:cs typeface="Arial"/>
              </a:rPr>
              <a:t>L2</a:t>
            </a:r>
          </a:p>
        </p:txBody>
      </p:sp>
      <p:sp>
        <p:nvSpPr>
          <p:cNvPr id="26" name="TextBox 25"/>
          <p:cNvSpPr txBox="1"/>
          <p:nvPr/>
        </p:nvSpPr>
        <p:spPr>
          <a:xfrm>
            <a:off x="3546271" y="4345686"/>
            <a:ext cx="2192959" cy="689457"/>
          </a:xfrm>
          <a:prstGeom prst="rect">
            <a:avLst/>
          </a:prstGeom>
          <a:noFill/>
        </p:spPr>
        <p:txBody>
          <a:bodyPr wrap="square" lIns="45720" rIns="45720" tIns="27432" bIns="27432" anchor="t">
            <a:spAutoFit/>
          </a:bodyPr>
          <a:lstStyle/>
          <a:p>
            <a:pPr rtl="1" algn="ctr">
              <a:lnSpc>
                <a:spcPct val="110000"/>
              </a:lnSpc>
              <a:spcBef>
                <a:spcPts val="0"/>
              </a:spcBef>
              <a:spcAft>
                <a:spcPts val="0"/>
              </a:spcAft>
            </a:pPr>
            <a:r>
              <a:rPr sz="1600" b="0" i="0" lang="ar-SA">
                <a:solidFill>
                  <a:srgbClr val="475569"/>
                </a:solidFill>
                <a:latin typeface="Arial"/>
                <a:cs typeface="Arial"/>
              </a:rPr>
              <a:t>+ الحداثة (τ)</a:t>
            </a:r>
          </a:p>
        </p:txBody>
      </p:sp>
      <p:sp>
        <p:nvSpPr>
          <p:cNvPr id="27" name="سهم"/>
          <p:cNvSpPr/>
          <p:nvPr/>
        </p:nvSpPr>
        <p:spPr>
          <a:xfrm>
            <a:off x="2924479" y="4229099"/>
            <a:ext cx="384048" cy="365760"/>
          </a:xfrm>
          <a:prstGeom prst="leftArrow">
            <a:avLst/>
          </a:prstGeom>
          <a:solidFill>
            <a:srgbClr val="B4530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خطوة"/>
          <p:cNvSpPr/>
          <p:nvPr/>
        </p:nvSpPr>
        <p:spPr>
          <a:xfrm>
            <a:off x="548640" y="3749039"/>
            <a:ext cx="2375839" cy="1325879"/>
          </a:xfrm>
          <a:prstGeom prst="roundRect">
            <a:avLst>
              <a:gd name="adj" fmla="val 6000"/>
            </a:avLst>
          </a:prstGeom>
          <a:solidFill>
            <a:srgbClr val="FFFFFF"/>
          </a:solidFill>
          <a:ln w="19050">
            <a:solidFill>
              <a:srgbClr val="0F766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640080" y="3840479"/>
            <a:ext cx="2192959" cy="556869"/>
          </a:xfrm>
          <a:prstGeom prst="rect">
            <a:avLst/>
          </a:prstGeom>
          <a:noFill/>
        </p:spPr>
        <p:txBody>
          <a:bodyPr wrap="square" lIns="45720" rIns="45720" tIns="27432" bIns="27432" anchor="ctr">
            <a:spAutoFit/>
          </a:bodyPr>
          <a:lstStyle/>
          <a:p>
            <a:pPr rtl="1" algn="ctr">
              <a:lnSpc>
                <a:spcPct val="100000"/>
              </a:lnSpc>
              <a:spcBef>
                <a:spcPts val="0"/>
              </a:spcBef>
              <a:spcAft>
                <a:spcPts val="0"/>
              </a:spcAft>
            </a:pPr>
            <a:r>
              <a:rPr sz="2200" b="1" i="0" lang="ar-SA">
                <a:solidFill>
                  <a:srgbClr val="0F766E"/>
                </a:solidFill>
                <a:latin typeface="Arial"/>
                <a:cs typeface="Arial"/>
              </a:rPr>
              <a:t>L3</a:t>
            </a:r>
          </a:p>
        </p:txBody>
      </p:sp>
      <p:sp>
        <p:nvSpPr>
          <p:cNvPr id="30" name="TextBox 29"/>
          <p:cNvSpPr txBox="1"/>
          <p:nvPr/>
        </p:nvSpPr>
        <p:spPr>
          <a:xfrm>
            <a:off x="640080" y="4345686"/>
            <a:ext cx="2192959" cy="689457"/>
          </a:xfrm>
          <a:prstGeom prst="rect">
            <a:avLst/>
          </a:prstGeom>
          <a:noFill/>
        </p:spPr>
        <p:txBody>
          <a:bodyPr wrap="square" lIns="45720" rIns="45720" tIns="27432" bIns="27432" anchor="t">
            <a:spAutoFit/>
          </a:bodyPr>
          <a:lstStyle/>
          <a:p>
            <a:pPr rtl="1" algn="ctr">
              <a:lnSpc>
                <a:spcPct val="110000"/>
              </a:lnSpc>
              <a:spcBef>
                <a:spcPts val="0"/>
              </a:spcBef>
              <a:spcAft>
                <a:spcPts val="0"/>
              </a:spcAft>
            </a:pPr>
            <a:r>
              <a:rPr sz="1600" b="0" i="0" lang="ar-SA">
                <a:solidFill>
                  <a:srgbClr val="475569"/>
                </a:solidFill>
                <a:latin typeface="Arial"/>
                <a:cs typeface="Arial"/>
              </a:rPr>
              <a:t>+ الشدة المطبَّعة بالنوع (β)</a:t>
            </a:r>
          </a:p>
        </p:txBody>
      </p:sp>
      <p:sp>
        <p:nvSpPr>
          <p:cNvPr id="31" name="خلاصة"/>
          <p:cNvSpPr/>
          <p:nvPr/>
        </p:nvSpPr>
        <p:spPr>
          <a:xfrm>
            <a:off x="548640" y="5212080"/>
            <a:ext cx="11094415" cy="868680"/>
          </a:xfrm>
          <a:prstGeom prst="roundRect">
            <a:avLst>
              <a:gd name="adj" fmla="val 12000"/>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74320" tIns="18288" bIns="18288"/>
          <a:lstStyle/>
          <a:p>
            <a:pPr algn="r" rtl="1"/>
            <a:r>
              <a:rPr sz="2200" b="1" i="0" lang="ar-SA">
                <a:solidFill>
                  <a:srgbClr val="FFFFFF"/>
                </a:solidFill>
                <a:latin typeface="Arial"/>
                <a:cs typeface="Arial"/>
              </a:rPr>
              <a:t>غياب التفاعل ليس إشارة سالبة، بل «غير ملاحظ»</a:t>
            </a:r>
          </a:p>
        </p:txBody>
      </p:sp>
      <p:sp>
        <p:nvSpPr>
          <p:cNvPr id="32" name="شعار الجامعة"/>
          <p:cNvSpPr/>
          <p:nvPr/>
        </p:nvSpPr>
        <p:spPr>
          <a:xfrm>
            <a:off x="10957255" y="6382512"/>
            <a:ext cx="685800" cy="292608"/>
          </a:xfrm>
          <a:prstGeom prst="roundRect">
            <a:avLst>
              <a:gd name="adj" fmla="val 50000"/>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rtl="1"/>
            <a:r>
              <a:rPr sz="1200" b="1" i="0" lang="ar-SA">
                <a:solidFill>
                  <a:srgbClr val="FFFFFF"/>
                </a:solidFill>
                <a:latin typeface="Arial"/>
                <a:cs typeface="Arial"/>
              </a:rPr>
              <a:t>SVU</a:t>
            </a:r>
          </a:p>
        </p:txBody>
      </p:sp>
      <p:sp>
        <p:nvSpPr>
          <p:cNvPr id="33" name="تذييل"/>
          <p:cNvSpPr txBox="1"/>
          <p:nvPr/>
        </p:nvSpPr>
        <p:spPr>
          <a:xfrm>
            <a:off x="5287975" y="6373368"/>
            <a:ext cx="5577840" cy="310896"/>
          </a:xfrm>
          <a:prstGeom prst="rect">
            <a:avLst/>
          </a:prstGeom>
          <a:noFill/>
        </p:spPr>
        <p:txBody>
          <a:bodyPr wrap="square" lIns="45720" rIns="45720" tIns="27432" bIns="27432" anchor="ctr">
            <a:spAutoFit/>
          </a:bodyPr>
          <a:lstStyle/>
          <a:p>
            <a:pPr rtl="1" algn="r">
              <a:lnSpc>
                <a:spcPct val="115000"/>
              </a:lnSpc>
              <a:spcBef>
                <a:spcPts val="0"/>
              </a:spcBef>
              <a:spcAft>
                <a:spcPts val="0"/>
              </a:spcAft>
            </a:pPr>
            <a:r>
              <a:rPr sz="1200" b="0" i="0" lang="ar-SA">
                <a:solidFill>
                  <a:srgbClr val="475569"/>
                </a:solidFill>
                <a:latin typeface="Arial"/>
                <a:cs typeface="Arial"/>
              </a:rPr>
              <a:t>الجامعة الافتراضية السورية  |  ماجستير علوم الوب</a:t>
            </a:r>
          </a:p>
        </p:txBody>
      </p:sp>
      <p:sp>
        <p:nvSpPr>
          <p:cNvPr id="34" name="رقم الشريحة"/>
          <p:cNvSpPr txBox="1"/>
          <p:nvPr/>
        </p:nvSpPr>
        <p:spPr>
          <a:xfrm>
            <a:off x="548640" y="6373368"/>
            <a:ext cx="914400" cy="310896"/>
          </a:xfrm>
          <a:prstGeom prst="rect">
            <a:avLst/>
          </a:prstGeom>
          <a:noFill/>
        </p:spPr>
        <p:txBody>
          <a:bodyPr wrap="none">
            <a:spAutoFit/>
          </a:bodyPr>
          <a:lstStyle/>
          <a:p>
            <a:pPr rtl="1" algn="l"/>
            <a:fld id="{B6F15528-21DE-4FAA-801E-634DDDAF4B2B}" type="slidenum">
              <a:rPr lang="en-US" sz="1200">
                <a:solidFill>
                  <a:srgbClr val="475569"/>
                </a:solidFill>
                <a:latin typeface="Arial"/>
              </a:rPr>
              <a:t>‹#›</a:t>
            </a:fld>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العنوان"/>
          <p:cNvSpPr txBox="1"/>
          <p:nvPr/>
        </p:nvSpPr>
        <p:spPr>
          <a:xfrm>
            <a:off x="548640" y="347472"/>
            <a:ext cx="11094415" cy="868680"/>
          </a:xfrm>
          <a:prstGeom prst="rect">
            <a:avLst/>
          </a:prstGeom>
          <a:noFill/>
        </p:spPr>
        <p:txBody>
          <a:bodyPr wrap="square" lIns="45720" rIns="45720" tIns="27432" bIns="27432" anchor="ctr">
            <a:spAutoFit/>
          </a:bodyPr>
          <a:lstStyle/>
          <a:p>
            <a:pPr rtl="1" algn="r">
              <a:lnSpc>
                <a:spcPct val="115000"/>
              </a:lnSpc>
              <a:spcBef>
                <a:spcPts val="0"/>
              </a:spcBef>
              <a:spcAft>
                <a:spcPts val="0"/>
              </a:spcAft>
            </a:pPr>
            <a:r>
              <a:rPr sz="3000" b="1" i="0" lang="ar-SA">
                <a:solidFill>
                  <a:srgbClr val="134E4A"/>
                </a:solidFill>
                <a:latin typeface="Arial"/>
                <a:cs typeface="Arial"/>
              </a:rPr>
              <a:t>الخوارزميات: خطوط الأساس والهجين وGRU-lite</a:t>
            </a:r>
          </a:p>
        </p:txBody>
      </p:sp>
      <p:sp>
        <p:nvSpPr>
          <p:cNvPr id="3" name="عمود"/>
          <p:cNvSpPr/>
          <p:nvPr/>
        </p:nvSpPr>
        <p:spPr>
          <a:xfrm>
            <a:off x="8127796" y="1463040"/>
            <a:ext cx="3515258" cy="4709160"/>
          </a:xfrm>
          <a:prstGeom prst="roundRect">
            <a:avLst>
              <a:gd name="adj" fmla="val 6000"/>
            </a:avLst>
          </a:prstGeom>
          <a:solidFill>
            <a:srgbClr val="FFFFFF"/>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عنوان العمود"/>
          <p:cNvSpPr/>
          <p:nvPr/>
        </p:nvSpPr>
        <p:spPr>
          <a:xfrm>
            <a:off x="8127796" y="1463040"/>
            <a:ext cx="3515258" cy="685800"/>
          </a:xfrm>
          <a:prstGeom prst="roundRect">
            <a:avLst>
              <a:gd name="adj" fmla="val 20000"/>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182880" tIns="18288" bIns="18288"/>
          <a:lstStyle/>
          <a:p>
            <a:pPr algn="r" rtl="1"/>
            <a:r>
              <a:rPr sz="1800" b="1" i="0" lang="ar-SA">
                <a:solidFill>
                  <a:srgbClr val="FFFFFF"/>
                </a:solidFill>
                <a:latin typeface="Arial"/>
                <a:cs typeface="Arial"/>
              </a:rPr>
              <a:t>10 خطوط أساس بميزانية ضبط متساوية</a:t>
            </a:r>
          </a:p>
        </p:txBody>
      </p:sp>
      <p:sp>
        <p:nvSpPr>
          <p:cNvPr id="5" name="نقطة"/>
          <p:cNvSpPr/>
          <p:nvPr/>
        </p:nvSpPr>
        <p:spPr>
          <a:xfrm>
            <a:off x="11259007" y="2678049"/>
            <a:ext cx="164592" cy="164592"/>
          </a:xfrm>
          <a:prstGeom prst="ellipse">
            <a:avLst/>
          </a:prstGeom>
          <a:solidFill>
            <a:srgbClr val="B4530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264956" y="2286000"/>
            <a:ext cx="2875178" cy="948690"/>
          </a:xfrm>
          <a:prstGeom prst="rect">
            <a:avLst/>
          </a:prstGeom>
          <a:noFill/>
        </p:spPr>
        <p:txBody>
          <a:bodyPr wrap="square" lIns="45720" rIns="45720" tIns="27432" bIns="27432" anchor="ctr">
            <a:spAutoFit/>
          </a:bodyPr>
          <a:lstStyle/>
          <a:p>
            <a:pPr rtl="1" algn="r">
              <a:lnSpc>
                <a:spcPct val="105000"/>
              </a:lnSpc>
              <a:spcBef>
                <a:spcPts val="0"/>
              </a:spcBef>
              <a:spcAft>
                <a:spcPts val="0"/>
              </a:spcAft>
            </a:pPr>
            <a:r>
              <a:rPr sz="1700" b="0" i="0" lang="ar-SA">
                <a:solidFill>
                  <a:srgbClr val="134E4A"/>
                </a:solidFill>
                <a:latin typeface="Arial"/>
                <a:cs typeface="Arial"/>
              </a:rPr>
              <a:t>عشوائي، شعبية، شعبية آنية</a:t>
            </a:r>
          </a:p>
        </p:txBody>
      </p:sp>
      <p:sp>
        <p:nvSpPr>
          <p:cNvPr id="7" name="نقطة"/>
          <p:cNvSpPr/>
          <p:nvPr/>
        </p:nvSpPr>
        <p:spPr>
          <a:xfrm>
            <a:off x="11259007" y="3626739"/>
            <a:ext cx="164592" cy="164592"/>
          </a:xfrm>
          <a:prstGeom prst="ellipse">
            <a:avLst/>
          </a:prstGeom>
          <a:solidFill>
            <a:srgbClr val="B4530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64956" y="3234690"/>
            <a:ext cx="2875178" cy="948690"/>
          </a:xfrm>
          <a:prstGeom prst="rect">
            <a:avLst/>
          </a:prstGeom>
          <a:noFill/>
        </p:spPr>
        <p:txBody>
          <a:bodyPr wrap="square" lIns="45720" rIns="45720" tIns="27432" bIns="27432" anchor="ctr">
            <a:spAutoFit/>
          </a:bodyPr>
          <a:lstStyle/>
          <a:p>
            <a:pPr rtl="1" algn="r">
              <a:lnSpc>
                <a:spcPct val="105000"/>
              </a:lnSpc>
              <a:spcBef>
                <a:spcPts val="0"/>
              </a:spcBef>
              <a:spcAft>
                <a:spcPts val="0"/>
              </a:spcAft>
            </a:pPr>
            <a:r>
              <a:rPr sz="1700" b="0" i="0" lang="ar-SA">
                <a:solidFill>
                  <a:srgbClr val="134E4A"/>
                </a:solidFill>
                <a:latin typeface="Arial"/>
                <a:cs typeface="Arial"/>
              </a:rPr>
              <a:t>Item-kNN وSKNN وماركوف</a:t>
            </a:r>
          </a:p>
        </p:txBody>
      </p:sp>
      <p:sp>
        <p:nvSpPr>
          <p:cNvPr id="9" name="نقطة"/>
          <p:cNvSpPr/>
          <p:nvPr/>
        </p:nvSpPr>
        <p:spPr>
          <a:xfrm>
            <a:off x="11259007" y="4575429"/>
            <a:ext cx="164592" cy="164592"/>
          </a:xfrm>
          <a:prstGeom prst="ellipse">
            <a:avLst/>
          </a:prstGeom>
          <a:solidFill>
            <a:srgbClr val="B4530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264956" y="4183380"/>
            <a:ext cx="2875178" cy="948690"/>
          </a:xfrm>
          <a:prstGeom prst="rect">
            <a:avLst/>
          </a:prstGeom>
          <a:noFill/>
        </p:spPr>
        <p:txBody>
          <a:bodyPr wrap="square" lIns="45720" rIns="45720" tIns="27432" bIns="27432" anchor="ctr">
            <a:spAutoFit/>
          </a:bodyPr>
          <a:lstStyle/>
          <a:p>
            <a:pPr rtl="1" algn="r">
              <a:lnSpc>
                <a:spcPct val="105000"/>
              </a:lnSpc>
              <a:spcBef>
                <a:spcPts val="0"/>
              </a:spcBef>
              <a:spcAft>
                <a:spcPts val="0"/>
              </a:spcAft>
            </a:pPr>
            <a:r>
              <a:rPr sz="1700" b="0" i="0" lang="ar-SA">
                <a:solidFill>
                  <a:srgbClr val="134E4A"/>
                </a:solidFill>
                <a:latin typeface="Arial"/>
                <a:cs typeface="Arial"/>
              </a:rPr>
              <a:t>WRMF وإعادة شخصية وCBF</a:t>
            </a:r>
          </a:p>
        </p:txBody>
      </p:sp>
      <p:sp>
        <p:nvSpPr>
          <p:cNvPr id="11" name="نقطة"/>
          <p:cNvSpPr/>
          <p:nvPr/>
        </p:nvSpPr>
        <p:spPr>
          <a:xfrm>
            <a:off x="11259007" y="5524119"/>
            <a:ext cx="164592" cy="164592"/>
          </a:xfrm>
          <a:prstGeom prst="ellipse">
            <a:avLst/>
          </a:prstGeom>
          <a:solidFill>
            <a:srgbClr val="B4530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8264956" y="5132070"/>
            <a:ext cx="2875178" cy="948690"/>
          </a:xfrm>
          <a:prstGeom prst="rect">
            <a:avLst/>
          </a:prstGeom>
          <a:noFill/>
        </p:spPr>
        <p:txBody>
          <a:bodyPr wrap="square" lIns="45720" rIns="45720" tIns="27432" bIns="27432" anchor="ctr">
            <a:spAutoFit/>
          </a:bodyPr>
          <a:lstStyle/>
          <a:p>
            <a:pPr rtl="1" algn="r">
              <a:lnSpc>
                <a:spcPct val="105000"/>
              </a:lnSpc>
              <a:spcBef>
                <a:spcPts val="0"/>
              </a:spcBef>
              <a:spcAft>
                <a:spcPts val="0"/>
              </a:spcAft>
            </a:pPr>
            <a:r>
              <a:rPr sz="1700" b="0" i="0" lang="ar-SA">
                <a:solidFill>
                  <a:srgbClr val="134E4A"/>
                </a:solidFill>
                <a:latin typeface="Arial"/>
                <a:cs typeface="Arial"/>
              </a:rPr>
              <a:t>EASE مرجعي فقط</a:t>
            </a:r>
          </a:p>
        </p:txBody>
      </p:sp>
      <p:sp>
        <p:nvSpPr>
          <p:cNvPr id="13" name="عمود"/>
          <p:cNvSpPr/>
          <p:nvPr/>
        </p:nvSpPr>
        <p:spPr>
          <a:xfrm>
            <a:off x="4338218" y="1463040"/>
            <a:ext cx="3515258" cy="4709160"/>
          </a:xfrm>
          <a:prstGeom prst="roundRect">
            <a:avLst>
              <a:gd name="adj" fmla="val 6000"/>
            </a:avLst>
          </a:prstGeom>
          <a:solidFill>
            <a:srgbClr val="FFFFFF"/>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عنوان العمود"/>
          <p:cNvSpPr/>
          <p:nvPr/>
        </p:nvSpPr>
        <p:spPr>
          <a:xfrm>
            <a:off x="4338218" y="1463040"/>
            <a:ext cx="3515258" cy="685800"/>
          </a:xfrm>
          <a:prstGeom prst="roundRect">
            <a:avLst>
              <a:gd name="adj" fmla="val 20000"/>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182880" tIns="18288" bIns="18288"/>
          <a:lstStyle/>
          <a:p>
            <a:pPr algn="r" rtl="1"/>
            <a:r>
              <a:rPr sz="1800" b="1" i="0" lang="ar-SA">
                <a:solidFill>
                  <a:srgbClr val="FFFFFF"/>
                </a:solidFill>
                <a:latin typeface="Arial"/>
                <a:cs typeface="Arial"/>
              </a:rPr>
              <a:t>الهجين السلوكي المدرك للسياق</a:t>
            </a:r>
          </a:p>
        </p:txBody>
      </p:sp>
      <p:sp>
        <p:nvSpPr>
          <p:cNvPr id="15" name="نقطة"/>
          <p:cNvSpPr/>
          <p:nvPr/>
        </p:nvSpPr>
        <p:spPr>
          <a:xfrm>
            <a:off x="7469428" y="2678049"/>
            <a:ext cx="164592" cy="164592"/>
          </a:xfrm>
          <a:prstGeom prst="ellipse">
            <a:avLst/>
          </a:prstGeom>
          <a:solidFill>
            <a:srgbClr val="B4530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4475378" y="2286000"/>
            <a:ext cx="2875178" cy="948690"/>
          </a:xfrm>
          <a:prstGeom prst="rect">
            <a:avLst/>
          </a:prstGeom>
          <a:noFill/>
        </p:spPr>
        <p:txBody>
          <a:bodyPr wrap="square" lIns="45720" rIns="45720" tIns="27432" bIns="27432" anchor="ctr">
            <a:spAutoFit/>
          </a:bodyPr>
          <a:lstStyle/>
          <a:p>
            <a:pPr rtl="1" algn="r">
              <a:lnSpc>
                <a:spcPct val="105000"/>
              </a:lnSpc>
              <a:spcBef>
                <a:spcPts val="0"/>
              </a:spcBef>
              <a:spcAft>
                <a:spcPts val="0"/>
              </a:spcAft>
            </a:pPr>
            <a:r>
              <a:rPr sz="1700" b="0" i="0" lang="ar-SA">
                <a:solidFill>
                  <a:srgbClr val="134E4A"/>
                </a:solidFill>
                <a:latin typeface="Arial"/>
                <a:cs typeface="Arial"/>
              </a:rPr>
              <a:t>دمج رتبي خطي بأربعة مكوّنات على الأكثر</a:t>
            </a:r>
          </a:p>
        </p:txBody>
      </p:sp>
      <p:sp>
        <p:nvSpPr>
          <p:cNvPr id="17" name="نقطة"/>
          <p:cNvSpPr/>
          <p:nvPr/>
        </p:nvSpPr>
        <p:spPr>
          <a:xfrm>
            <a:off x="7469428" y="3626739"/>
            <a:ext cx="164592" cy="164592"/>
          </a:xfrm>
          <a:prstGeom prst="ellipse">
            <a:avLst/>
          </a:prstGeom>
          <a:solidFill>
            <a:srgbClr val="B4530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4475378" y="3234690"/>
            <a:ext cx="2875178" cy="948690"/>
          </a:xfrm>
          <a:prstGeom prst="rect">
            <a:avLst/>
          </a:prstGeom>
          <a:noFill/>
        </p:spPr>
        <p:txBody>
          <a:bodyPr wrap="square" lIns="45720" rIns="45720" tIns="27432" bIns="27432" anchor="ctr">
            <a:spAutoFit/>
          </a:bodyPr>
          <a:lstStyle/>
          <a:p>
            <a:pPr rtl="1" algn="r">
              <a:lnSpc>
                <a:spcPct val="105000"/>
              </a:lnSpc>
              <a:spcBef>
                <a:spcPts val="0"/>
              </a:spcBef>
              <a:spcAft>
                <a:spcPts val="0"/>
              </a:spcAft>
            </a:pPr>
            <a:r>
              <a:rPr sz="1700" b="0" i="0" lang="ar-SA">
                <a:solidFill>
                  <a:srgbClr val="134E4A"/>
                </a:solidFill>
                <a:latin typeface="Arial"/>
                <a:cs typeface="Arial"/>
              </a:rPr>
              <a:t>قبول جشع بفاصل bootstrap-t على عروض التطوير</a:t>
            </a:r>
          </a:p>
        </p:txBody>
      </p:sp>
      <p:sp>
        <p:nvSpPr>
          <p:cNvPr id="19" name="نقطة"/>
          <p:cNvSpPr/>
          <p:nvPr/>
        </p:nvSpPr>
        <p:spPr>
          <a:xfrm>
            <a:off x="7469428" y="4575429"/>
            <a:ext cx="164592" cy="164592"/>
          </a:xfrm>
          <a:prstGeom prst="ellipse">
            <a:avLst/>
          </a:prstGeom>
          <a:solidFill>
            <a:srgbClr val="B4530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4475378" y="4183380"/>
            <a:ext cx="2875178" cy="948690"/>
          </a:xfrm>
          <a:prstGeom prst="rect">
            <a:avLst/>
          </a:prstGeom>
          <a:noFill/>
        </p:spPr>
        <p:txBody>
          <a:bodyPr wrap="square" lIns="45720" rIns="45720" tIns="27432" bIns="27432" anchor="ctr">
            <a:spAutoFit/>
          </a:bodyPr>
          <a:lstStyle/>
          <a:p>
            <a:pPr rtl="1" algn="r">
              <a:lnSpc>
                <a:spcPct val="105000"/>
              </a:lnSpc>
              <a:spcBef>
                <a:spcPts val="0"/>
              </a:spcBef>
              <a:spcAft>
                <a:spcPts val="0"/>
              </a:spcAft>
            </a:pPr>
            <a:r>
              <a:rPr sz="1700" b="0" i="0" lang="ar-SA">
                <a:solidFill>
                  <a:srgbClr val="134E4A"/>
                </a:solidFill>
                <a:latin typeface="Arial"/>
                <a:cs typeface="Arial"/>
              </a:rPr>
              <a:t>أرضية شخصنة: وزن لا يقل عن 0.25</a:t>
            </a:r>
          </a:p>
        </p:txBody>
      </p:sp>
      <p:sp>
        <p:nvSpPr>
          <p:cNvPr id="21" name="نقطة"/>
          <p:cNvSpPr/>
          <p:nvPr/>
        </p:nvSpPr>
        <p:spPr>
          <a:xfrm>
            <a:off x="7469428" y="5524119"/>
            <a:ext cx="164592" cy="164592"/>
          </a:xfrm>
          <a:prstGeom prst="ellipse">
            <a:avLst/>
          </a:prstGeom>
          <a:solidFill>
            <a:srgbClr val="B4530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4475378" y="5132070"/>
            <a:ext cx="2875178" cy="948690"/>
          </a:xfrm>
          <a:prstGeom prst="rect">
            <a:avLst/>
          </a:prstGeom>
          <a:noFill/>
        </p:spPr>
        <p:txBody>
          <a:bodyPr wrap="square" lIns="45720" rIns="45720" tIns="27432" bIns="27432" anchor="ctr">
            <a:spAutoFit/>
          </a:bodyPr>
          <a:lstStyle/>
          <a:p>
            <a:pPr rtl="1" algn="r">
              <a:lnSpc>
                <a:spcPct val="105000"/>
              </a:lnSpc>
              <a:spcBef>
                <a:spcPts val="0"/>
              </a:spcBef>
              <a:spcAft>
                <a:spcPts val="0"/>
              </a:spcAft>
            </a:pPr>
            <a:r>
              <a:rPr sz="1700" b="0" i="0" lang="ar-SA">
                <a:solidFill>
                  <a:srgbClr val="134E4A"/>
                </a:solidFill>
                <a:latin typeface="Arial"/>
                <a:cs typeface="Arial"/>
              </a:rPr>
              <a:t>تفسير بمساهمة كل مكوّن</a:t>
            </a:r>
          </a:p>
        </p:txBody>
      </p:sp>
      <p:sp>
        <p:nvSpPr>
          <p:cNvPr id="23" name="عمود"/>
          <p:cNvSpPr/>
          <p:nvPr/>
        </p:nvSpPr>
        <p:spPr>
          <a:xfrm>
            <a:off x="548639" y="1463040"/>
            <a:ext cx="3515258" cy="4709160"/>
          </a:xfrm>
          <a:prstGeom prst="roundRect">
            <a:avLst>
              <a:gd name="adj" fmla="val 6000"/>
            </a:avLst>
          </a:prstGeom>
          <a:solidFill>
            <a:srgbClr val="FFFFFF"/>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عنوان العمود"/>
          <p:cNvSpPr/>
          <p:nvPr/>
        </p:nvSpPr>
        <p:spPr>
          <a:xfrm>
            <a:off x="548639" y="1463040"/>
            <a:ext cx="3515258" cy="685800"/>
          </a:xfrm>
          <a:prstGeom prst="roundRect">
            <a:avLst>
              <a:gd name="adj" fmla="val 20000"/>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182880" tIns="18288" bIns="18288"/>
          <a:lstStyle/>
          <a:p>
            <a:pPr algn="r" rtl="1"/>
            <a:r>
              <a:rPr sz="1800" b="1" i="0" lang="ar-SA">
                <a:solidFill>
                  <a:srgbClr val="FFFFFF"/>
                </a:solidFill>
                <a:latin typeface="Arial"/>
                <a:cs typeface="Arial"/>
              </a:rPr>
              <a:t>GRU-lite بـ numpy فقط</a:t>
            </a:r>
          </a:p>
        </p:txBody>
      </p:sp>
      <p:sp>
        <p:nvSpPr>
          <p:cNvPr id="25" name="نقطة"/>
          <p:cNvSpPr/>
          <p:nvPr/>
        </p:nvSpPr>
        <p:spPr>
          <a:xfrm>
            <a:off x="3679850" y="2836164"/>
            <a:ext cx="164592" cy="164592"/>
          </a:xfrm>
          <a:prstGeom prst="ellipse">
            <a:avLst/>
          </a:prstGeom>
          <a:solidFill>
            <a:srgbClr val="B4530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685799" y="2286000"/>
            <a:ext cx="2875178" cy="1264920"/>
          </a:xfrm>
          <a:prstGeom prst="rect">
            <a:avLst/>
          </a:prstGeom>
          <a:noFill/>
        </p:spPr>
        <p:txBody>
          <a:bodyPr wrap="square" lIns="45720" rIns="45720" tIns="27432" bIns="27432" anchor="ctr">
            <a:spAutoFit/>
          </a:bodyPr>
          <a:lstStyle/>
          <a:p>
            <a:pPr rtl="1" algn="r">
              <a:lnSpc>
                <a:spcPct val="105000"/>
              </a:lnSpc>
              <a:spcBef>
                <a:spcPts val="0"/>
              </a:spcBef>
              <a:spcAft>
                <a:spcPts val="0"/>
              </a:spcAft>
            </a:pPr>
            <a:r>
              <a:rPr sz="1700" b="0" i="0" lang="ar-SA">
                <a:solidFill>
                  <a:srgbClr val="134E4A"/>
                </a:solidFill>
                <a:latin typeface="Arial"/>
                <a:cs typeface="Arial"/>
              </a:rPr>
              <a:t>طبقة GRU واحدة ببُعد 64</a:t>
            </a:r>
          </a:p>
        </p:txBody>
      </p:sp>
      <p:sp>
        <p:nvSpPr>
          <p:cNvPr id="27" name="نقطة"/>
          <p:cNvSpPr/>
          <p:nvPr/>
        </p:nvSpPr>
        <p:spPr>
          <a:xfrm>
            <a:off x="3679850" y="4101084"/>
            <a:ext cx="164592" cy="164592"/>
          </a:xfrm>
          <a:prstGeom prst="ellipse">
            <a:avLst/>
          </a:prstGeom>
          <a:solidFill>
            <a:srgbClr val="B4530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685799" y="3550920"/>
            <a:ext cx="2875178" cy="1264920"/>
          </a:xfrm>
          <a:prstGeom prst="rect">
            <a:avLst/>
          </a:prstGeom>
          <a:noFill/>
        </p:spPr>
        <p:txBody>
          <a:bodyPr wrap="square" lIns="45720" rIns="45720" tIns="27432" bIns="27432" anchor="ctr">
            <a:spAutoFit/>
          </a:bodyPr>
          <a:lstStyle/>
          <a:p>
            <a:pPr rtl="1" algn="r">
              <a:lnSpc>
                <a:spcPct val="105000"/>
              </a:lnSpc>
              <a:spcBef>
                <a:spcPts val="0"/>
              </a:spcBef>
              <a:spcAft>
                <a:spcPts val="0"/>
              </a:spcAft>
            </a:pPr>
            <a:r>
              <a:rPr sz="1700" b="0" i="0" lang="ar-SA">
                <a:solidFill>
                  <a:srgbClr val="134E4A"/>
                </a:solidFill>
                <a:latin typeface="Arial"/>
                <a:cs typeface="Arial"/>
              </a:rPr>
              <a:t>مدخلها سلال الأيام</a:t>
            </a:r>
          </a:p>
        </p:txBody>
      </p:sp>
      <p:sp>
        <p:nvSpPr>
          <p:cNvPr id="29" name="نقطة"/>
          <p:cNvSpPr/>
          <p:nvPr/>
        </p:nvSpPr>
        <p:spPr>
          <a:xfrm>
            <a:off x="3679850" y="5366004"/>
            <a:ext cx="164592" cy="164592"/>
          </a:xfrm>
          <a:prstGeom prst="ellipse">
            <a:avLst/>
          </a:prstGeom>
          <a:solidFill>
            <a:srgbClr val="B4530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685799" y="4815840"/>
            <a:ext cx="2875178" cy="1264920"/>
          </a:xfrm>
          <a:prstGeom prst="rect">
            <a:avLst/>
          </a:prstGeom>
          <a:noFill/>
        </p:spPr>
        <p:txBody>
          <a:bodyPr wrap="square" lIns="45720" rIns="45720" tIns="27432" bIns="27432" anchor="ctr">
            <a:spAutoFit/>
          </a:bodyPr>
          <a:lstStyle/>
          <a:p>
            <a:pPr rtl="1" algn="r">
              <a:lnSpc>
                <a:spcPct val="105000"/>
              </a:lnSpc>
              <a:spcBef>
                <a:spcPts val="0"/>
              </a:spcBef>
              <a:spcAft>
                <a:spcPts val="0"/>
              </a:spcAft>
            </a:pPr>
            <a:r>
              <a:rPr sz="1700" b="0" i="0" lang="ar-SA">
                <a:solidFill>
                  <a:srgbClr val="134E4A"/>
                </a:solidFill>
                <a:latin typeface="Arial"/>
                <a:cs typeface="Arial"/>
              </a:rPr>
              <a:t>لا تقييم قبل اجتياز حزمة الصحة S1–S6</a:t>
            </a:r>
          </a:p>
        </p:txBody>
      </p:sp>
      <p:sp>
        <p:nvSpPr>
          <p:cNvPr id="31" name="شعار الجامعة"/>
          <p:cNvSpPr/>
          <p:nvPr/>
        </p:nvSpPr>
        <p:spPr>
          <a:xfrm>
            <a:off x="10957255" y="6382512"/>
            <a:ext cx="685800" cy="292608"/>
          </a:xfrm>
          <a:prstGeom prst="roundRect">
            <a:avLst>
              <a:gd name="adj" fmla="val 50000"/>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rtl="1"/>
            <a:r>
              <a:rPr sz="1200" b="1" i="0" lang="ar-SA">
                <a:solidFill>
                  <a:srgbClr val="FFFFFF"/>
                </a:solidFill>
                <a:latin typeface="Arial"/>
                <a:cs typeface="Arial"/>
              </a:rPr>
              <a:t>SVU</a:t>
            </a:r>
          </a:p>
        </p:txBody>
      </p:sp>
      <p:sp>
        <p:nvSpPr>
          <p:cNvPr id="32" name="تذييل"/>
          <p:cNvSpPr txBox="1"/>
          <p:nvPr/>
        </p:nvSpPr>
        <p:spPr>
          <a:xfrm>
            <a:off x="5287975" y="6373368"/>
            <a:ext cx="5577840" cy="310896"/>
          </a:xfrm>
          <a:prstGeom prst="rect">
            <a:avLst/>
          </a:prstGeom>
          <a:noFill/>
        </p:spPr>
        <p:txBody>
          <a:bodyPr wrap="square" lIns="45720" rIns="45720" tIns="27432" bIns="27432" anchor="ctr">
            <a:spAutoFit/>
          </a:bodyPr>
          <a:lstStyle/>
          <a:p>
            <a:pPr rtl="1" algn="r">
              <a:lnSpc>
                <a:spcPct val="115000"/>
              </a:lnSpc>
              <a:spcBef>
                <a:spcPts val="0"/>
              </a:spcBef>
              <a:spcAft>
                <a:spcPts val="0"/>
              </a:spcAft>
            </a:pPr>
            <a:r>
              <a:rPr sz="1200" b="0" i="0" lang="ar-SA">
                <a:solidFill>
                  <a:srgbClr val="475569"/>
                </a:solidFill>
                <a:latin typeface="Arial"/>
                <a:cs typeface="Arial"/>
              </a:rPr>
              <a:t>الجامعة الافتراضية السورية  |  ماجستير علوم الوب</a:t>
            </a:r>
          </a:p>
        </p:txBody>
      </p:sp>
      <p:sp>
        <p:nvSpPr>
          <p:cNvPr id="33" name="رقم الشريحة"/>
          <p:cNvSpPr txBox="1"/>
          <p:nvPr/>
        </p:nvSpPr>
        <p:spPr>
          <a:xfrm>
            <a:off x="548640" y="6373368"/>
            <a:ext cx="914400" cy="310896"/>
          </a:xfrm>
          <a:prstGeom prst="rect">
            <a:avLst/>
          </a:prstGeom>
          <a:noFill/>
        </p:spPr>
        <p:txBody>
          <a:bodyPr wrap="none">
            <a:spAutoFit/>
          </a:bodyPr>
          <a:lstStyle/>
          <a:p>
            <a:pPr rtl="1" algn="l"/>
            <a:fld id="{B6F15528-21DE-4FAA-801E-634DDDAF4B2B}" type="slidenum">
              <a:rPr lang="en-US" sz="1200">
                <a:solidFill>
                  <a:srgbClr val="475569"/>
                </a:solidFill>
                <a:latin typeface="Arial"/>
              </a:rPr>
              <a:t>‹#›</a:t>
            </a:fld>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العنوان"/>
          <p:cNvSpPr txBox="1"/>
          <p:nvPr/>
        </p:nvSpPr>
        <p:spPr>
          <a:xfrm>
            <a:off x="548640" y="347472"/>
            <a:ext cx="11094415" cy="868680"/>
          </a:xfrm>
          <a:prstGeom prst="rect">
            <a:avLst/>
          </a:prstGeom>
          <a:noFill/>
        </p:spPr>
        <p:txBody>
          <a:bodyPr wrap="square" lIns="45720" rIns="45720" tIns="27432" bIns="27432" anchor="ctr">
            <a:spAutoFit/>
          </a:bodyPr>
          <a:lstStyle/>
          <a:p>
            <a:pPr rtl="1" algn="r">
              <a:lnSpc>
                <a:spcPct val="115000"/>
              </a:lnSpc>
              <a:spcBef>
                <a:spcPts val="0"/>
              </a:spcBef>
              <a:spcAft>
                <a:spcPts val="0"/>
              </a:spcAft>
            </a:pPr>
            <a:r>
              <a:rPr sz="3000" b="1" i="0" lang="ar-SA">
                <a:solidFill>
                  <a:srgbClr val="134E4A"/>
                </a:solidFill>
                <a:latin typeface="Arial"/>
                <a:cs typeface="Arial"/>
              </a:rPr>
              <a:t>بروتوكول التقييم المسجَّل مسبقاً</a:t>
            </a:r>
          </a:p>
        </p:txBody>
      </p:sp>
      <p:sp>
        <p:nvSpPr>
          <p:cNvPr id="3" name="مفتاح"/>
          <p:cNvSpPr/>
          <p:nvPr/>
        </p:nvSpPr>
        <p:spPr>
          <a:xfrm>
            <a:off x="9905695" y="1463040"/>
            <a:ext cx="1737360" cy="329184"/>
          </a:xfrm>
          <a:prstGeom prst="roundRect">
            <a:avLst>
              <a:gd name="adj" fmla="val 30000"/>
            </a:avLst>
          </a:prstGeom>
          <a:solidFill>
            <a:srgbClr val="CCFBF1"/>
          </a:solidFill>
          <a:ln w="12700">
            <a:solidFill>
              <a:srgbClr val="0F766E"/>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rtl="1"/>
            <a:r>
              <a:rPr sz="1400" b="1" i="0" lang="ar-SA">
                <a:solidFill>
                  <a:srgbClr val="134E4A"/>
                </a:solidFill>
                <a:latin typeface="Arial"/>
                <a:cs typeface="Arial"/>
              </a:rPr>
              <a:t>تدريب</a:t>
            </a:r>
          </a:p>
        </p:txBody>
      </p:sp>
      <p:sp>
        <p:nvSpPr>
          <p:cNvPr id="4" name="مفتاح"/>
          <p:cNvSpPr/>
          <p:nvPr/>
        </p:nvSpPr>
        <p:spPr>
          <a:xfrm>
            <a:off x="7985455" y="1463040"/>
            <a:ext cx="1737360" cy="329184"/>
          </a:xfrm>
          <a:prstGeom prst="roundRect">
            <a:avLst>
              <a:gd name="adj" fmla="val 30000"/>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rtl="1"/>
            <a:r>
              <a:rPr sz="1400" b="1" i="0" lang="ar-SA">
                <a:solidFill>
                  <a:srgbClr val="FFFFFF"/>
                </a:solidFill>
                <a:latin typeface="Arial"/>
                <a:cs typeface="Arial"/>
              </a:rPr>
              <a:t>تحقق (للضبط)</a:t>
            </a:r>
          </a:p>
        </p:txBody>
      </p:sp>
      <p:sp>
        <p:nvSpPr>
          <p:cNvPr id="5" name="مفتاح"/>
          <p:cNvSpPr/>
          <p:nvPr/>
        </p:nvSpPr>
        <p:spPr>
          <a:xfrm>
            <a:off x="6065215" y="1463040"/>
            <a:ext cx="1737360" cy="329184"/>
          </a:xfrm>
          <a:prstGeom prst="roundRect">
            <a:avLst>
              <a:gd name="adj" fmla="val 30000"/>
            </a:avLst>
          </a:prstGeom>
          <a:solidFill>
            <a:srgbClr val="B4530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rtl="1"/>
            <a:r>
              <a:rPr sz="1400" b="1" i="0" lang="ar-SA">
                <a:solidFill>
                  <a:srgbClr val="FFFFFF"/>
                </a:solidFill>
                <a:latin typeface="Arial"/>
                <a:cs typeface="Arial"/>
              </a:rPr>
              <a:t>اختبار (14 يوماً)</a:t>
            </a:r>
          </a:p>
        </p:txBody>
      </p:sp>
      <p:sp>
        <p:nvSpPr>
          <p:cNvPr id="6" name="TextBox 5"/>
          <p:cNvSpPr txBox="1"/>
          <p:nvPr/>
        </p:nvSpPr>
        <p:spPr>
          <a:xfrm>
            <a:off x="548640" y="1920240"/>
            <a:ext cx="11094415" cy="292608"/>
          </a:xfrm>
          <a:prstGeom prst="rect">
            <a:avLst/>
          </a:prstGeom>
          <a:noFill/>
        </p:spPr>
        <p:txBody>
          <a:bodyPr wrap="square" lIns="45720" rIns="45720" tIns="27432" bIns="27432" anchor="ctr">
            <a:spAutoFit/>
          </a:bodyPr>
          <a:lstStyle/>
          <a:p>
            <a:pPr rtl="1" algn="r">
              <a:lnSpc>
                <a:spcPct val="115000"/>
              </a:lnSpc>
              <a:spcBef>
                <a:spcPts val="0"/>
              </a:spcBef>
              <a:spcAft>
                <a:spcPts val="0"/>
              </a:spcAft>
            </a:pPr>
            <a:r>
              <a:rPr sz="1500" b="1" i="0" lang="ar-SA">
                <a:solidFill>
                  <a:srgbClr val="134E4A"/>
                </a:solidFill>
                <a:latin typeface="Arial"/>
                <a:cs typeface="Arial"/>
              </a:rPr>
              <a:t>نقطة القطع t = 70 (اليوم من بداية العرض)</a:t>
            </a:r>
          </a:p>
        </p:txBody>
      </p:sp>
      <p:sp>
        <p:nvSpPr>
          <p:cNvPr id="7" name="مقطع"/>
          <p:cNvSpPr/>
          <p:nvPr/>
        </p:nvSpPr>
        <p:spPr>
          <a:xfrm>
            <a:off x="8473222" y="2231136"/>
            <a:ext cx="3169832" cy="457200"/>
          </a:xfrm>
          <a:prstGeom prst="rect">
            <a:avLst/>
          </a:prstGeom>
          <a:solidFill>
            <a:srgbClr val="CCFBF1"/>
          </a:solidFill>
          <a:ln w="12700">
            <a:solidFill>
              <a:srgbClr val="0F766E"/>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rtl="1"/>
            <a:r>
              <a:rPr sz="1300" b="1" i="0" lang="ar-SA">
                <a:solidFill>
                  <a:srgbClr val="134E4A"/>
                </a:solidFill>
                <a:latin typeface="Arial"/>
                <a:cs typeface="Arial"/>
              </a:rPr>
              <a:t>تدريب</a:t>
            </a:r>
          </a:p>
        </p:txBody>
      </p:sp>
      <p:sp>
        <p:nvSpPr>
          <p:cNvPr id="8" name="مقطع"/>
          <p:cNvSpPr/>
          <p:nvPr/>
        </p:nvSpPr>
        <p:spPr>
          <a:xfrm>
            <a:off x="7680764" y="2231136"/>
            <a:ext cx="792458" cy="457200"/>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rtl="1"/>
            <a:r>
              <a:rPr sz="1300" b="1" i="0" lang="ar-SA">
                <a:solidFill>
                  <a:srgbClr val="FFFFFF"/>
                </a:solidFill>
                <a:latin typeface="Arial"/>
                <a:cs typeface="Arial"/>
              </a:rPr>
              <a:t>تحقق</a:t>
            </a:r>
          </a:p>
        </p:txBody>
      </p:sp>
      <p:sp>
        <p:nvSpPr>
          <p:cNvPr id="9" name="مقطع"/>
          <p:cNvSpPr/>
          <p:nvPr/>
        </p:nvSpPr>
        <p:spPr>
          <a:xfrm>
            <a:off x="6888305" y="2231136"/>
            <a:ext cx="792458" cy="457200"/>
          </a:xfrm>
          <a:prstGeom prst="rect">
            <a:avLst/>
          </a:prstGeom>
          <a:solidFill>
            <a:srgbClr val="B4530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rtl="1"/>
            <a:r>
              <a:rPr sz="1300" b="1" i="0" lang="ar-SA">
                <a:solidFill>
                  <a:srgbClr val="FFFFFF"/>
                </a:solidFill>
                <a:latin typeface="Arial"/>
                <a:cs typeface="Arial"/>
              </a:rPr>
              <a:t>اختبار</a:t>
            </a:r>
          </a:p>
        </p:txBody>
      </p:sp>
      <p:sp>
        <p:nvSpPr>
          <p:cNvPr id="10" name="TextBox 9"/>
          <p:cNvSpPr txBox="1"/>
          <p:nvPr/>
        </p:nvSpPr>
        <p:spPr>
          <a:xfrm>
            <a:off x="548640" y="2816352"/>
            <a:ext cx="11094415" cy="292608"/>
          </a:xfrm>
          <a:prstGeom prst="rect">
            <a:avLst/>
          </a:prstGeom>
          <a:noFill/>
        </p:spPr>
        <p:txBody>
          <a:bodyPr wrap="square" lIns="45720" rIns="45720" tIns="27432" bIns="27432" anchor="ctr">
            <a:spAutoFit/>
          </a:bodyPr>
          <a:lstStyle/>
          <a:p>
            <a:pPr rtl="1" algn="r">
              <a:lnSpc>
                <a:spcPct val="115000"/>
              </a:lnSpc>
              <a:spcBef>
                <a:spcPts val="0"/>
              </a:spcBef>
              <a:spcAft>
                <a:spcPts val="0"/>
              </a:spcAft>
            </a:pPr>
            <a:r>
              <a:rPr sz="1500" b="1" i="0" lang="ar-SA">
                <a:solidFill>
                  <a:srgbClr val="134E4A"/>
                </a:solidFill>
                <a:latin typeface="Arial"/>
                <a:cs typeface="Arial"/>
              </a:rPr>
              <a:t>نقطة القطع t = 126 (اليوم من بداية العرض)</a:t>
            </a:r>
          </a:p>
        </p:txBody>
      </p:sp>
      <p:sp>
        <p:nvSpPr>
          <p:cNvPr id="11" name="مقطع"/>
          <p:cNvSpPr/>
          <p:nvPr/>
        </p:nvSpPr>
        <p:spPr>
          <a:xfrm>
            <a:off x="5303389" y="3127248"/>
            <a:ext cx="6339665" cy="457200"/>
          </a:xfrm>
          <a:prstGeom prst="rect">
            <a:avLst/>
          </a:prstGeom>
          <a:solidFill>
            <a:srgbClr val="CCFBF1"/>
          </a:solidFill>
          <a:ln w="12700">
            <a:solidFill>
              <a:srgbClr val="0F766E"/>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rtl="1"/>
            <a:r>
              <a:rPr sz="1300" b="1" i="0" lang="ar-SA">
                <a:solidFill>
                  <a:srgbClr val="134E4A"/>
                </a:solidFill>
                <a:latin typeface="Arial"/>
                <a:cs typeface="Arial"/>
              </a:rPr>
              <a:t>تدريب</a:t>
            </a:r>
          </a:p>
        </p:txBody>
      </p:sp>
      <p:sp>
        <p:nvSpPr>
          <p:cNvPr id="12" name="مقطع"/>
          <p:cNvSpPr/>
          <p:nvPr/>
        </p:nvSpPr>
        <p:spPr>
          <a:xfrm>
            <a:off x="4510931" y="3127248"/>
            <a:ext cx="792458" cy="457200"/>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rtl="1"/>
            <a:r>
              <a:rPr sz="1300" b="1" i="0" lang="ar-SA">
                <a:solidFill>
                  <a:srgbClr val="FFFFFF"/>
                </a:solidFill>
                <a:latin typeface="Arial"/>
                <a:cs typeface="Arial"/>
              </a:rPr>
              <a:t>تحقق</a:t>
            </a:r>
          </a:p>
        </p:txBody>
      </p:sp>
      <p:sp>
        <p:nvSpPr>
          <p:cNvPr id="13" name="مقطع"/>
          <p:cNvSpPr/>
          <p:nvPr/>
        </p:nvSpPr>
        <p:spPr>
          <a:xfrm>
            <a:off x="3718472" y="3127248"/>
            <a:ext cx="792458" cy="457200"/>
          </a:xfrm>
          <a:prstGeom prst="rect">
            <a:avLst/>
          </a:prstGeom>
          <a:solidFill>
            <a:srgbClr val="B4530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rtl="1"/>
            <a:r>
              <a:rPr sz="1300" b="1" i="0" lang="ar-SA">
                <a:solidFill>
                  <a:srgbClr val="FFFFFF"/>
                </a:solidFill>
                <a:latin typeface="Arial"/>
                <a:cs typeface="Arial"/>
              </a:rPr>
              <a:t>اختبار</a:t>
            </a:r>
          </a:p>
        </p:txBody>
      </p:sp>
      <p:sp>
        <p:nvSpPr>
          <p:cNvPr id="14" name="TextBox 13"/>
          <p:cNvSpPr txBox="1"/>
          <p:nvPr/>
        </p:nvSpPr>
        <p:spPr>
          <a:xfrm>
            <a:off x="548640" y="3712464"/>
            <a:ext cx="11094415" cy="292608"/>
          </a:xfrm>
          <a:prstGeom prst="rect">
            <a:avLst/>
          </a:prstGeom>
          <a:noFill/>
        </p:spPr>
        <p:txBody>
          <a:bodyPr wrap="square" lIns="45720" rIns="45720" tIns="27432" bIns="27432" anchor="ctr">
            <a:spAutoFit/>
          </a:bodyPr>
          <a:lstStyle/>
          <a:p>
            <a:pPr rtl="1" algn="r">
              <a:lnSpc>
                <a:spcPct val="115000"/>
              </a:lnSpc>
              <a:spcBef>
                <a:spcPts val="0"/>
              </a:spcBef>
              <a:spcAft>
                <a:spcPts val="0"/>
              </a:spcAft>
            </a:pPr>
            <a:r>
              <a:rPr sz="1500" b="1" i="0" lang="ar-SA">
                <a:solidFill>
                  <a:srgbClr val="134E4A"/>
                </a:solidFill>
                <a:latin typeface="Arial"/>
                <a:cs typeface="Arial"/>
              </a:rPr>
              <a:t>نقطة القطع t = 182 (اليوم من بداية العرض)</a:t>
            </a:r>
          </a:p>
        </p:txBody>
      </p:sp>
      <p:sp>
        <p:nvSpPr>
          <p:cNvPr id="15" name="مقطع"/>
          <p:cNvSpPr/>
          <p:nvPr/>
        </p:nvSpPr>
        <p:spPr>
          <a:xfrm>
            <a:off x="2133556" y="4023360"/>
            <a:ext cx="9509498" cy="457200"/>
          </a:xfrm>
          <a:prstGeom prst="rect">
            <a:avLst/>
          </a:prstGeom>
          <a:solidFill>
            <a:srgbClr val="CCFBF1"/>
          </a:solidFill>
          <a:ln w="12700">
            <a:solidFill>
              <a:srgbClr val="0F766E"/>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rtl="1"/>
            <a:r>
              <a:rPr sz="1300" b="1" i="0" lang="ar-SA">
                <a:solidFill>
                  <a:srgbClr val="134E4A"/>
                </a:solidFill>
                <a:latin typeface="Arial"/>
                <a:cs typeface="Arial"/>
              </a:rPr>
              <a:t>تدريب</a:t>
            </a:r>
          </a:p>
        </p:txBody>
      </p:sp>
      <p:sp>
        <p:nvSpPr>
          <p:cNvPr id="16" name="مقطع"/>
          <p:cNvSpPr/>
          <p:nvPr/>
        </p:nvSpPr>
        <p:spPr>
          <a:xfrm>
            <a:off x="1341098" y="4023360"/>
            <a:ext cx="792458" cy="457200"/>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rtl="1"/>
            <a:r>
              <a:rPr sz="1300" b="1" i="0" lang="ar-SA">
                <a:solidFill>
                  <a:srgbClr val="FFFFFF"/>
                </a:solidFill>
                <a:latin typeface="Arial"/>
                <a:cs typeface="Arial"/>
              </a:rPr>
              <a:t>تحقق</a:t>
            </a:r>
          </a:p>
        </p:txBody>
      </p:sp>
      <p:sp>
        <p:nvSpPr>
          <p:cNvPr id="17" name="مقطع"/>
          <p:cNvSpPr/>
          <p:nvPr/>
        </p:nvSpPr>
        <p:spPr>
          <a:xfrm>
            <a:off x="548639" y="4023360"/>
            <a:ext cx="792458" cy="457200"/>
          </a:xfrm>
          <a:prstGeom prst="rect">
            <a:avLst/>
          </a:prstGeom>
          <a:solidFill>
            <a:srgbClr val="B4530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rtl="1"/>
            <a:r>
              <a:rPr sz="1300" b="1" i="0" lang="ar-SA">
                <a:solidFill>
                  <a:srgbClr val="FFFFFF"/>
                </a:solidFill>
                <a:latin typeface="Arial"/>
                <a:cs typeface="Arial"/>
              </a:rPr>
              <a:t>اختبار</a:t>
            </a:r>
          </a:p>
        </p:txBody>
      </p:sp>
      <p:sp>
        <p:nvSpPr>
          <p:cNvPr id="18" name="بطاقة"/>
          <p:cNvSpPr/>
          <p:nvPr/>
        </p:nvSpPr>
        <p:spPr>
          <a:xfrm>
            <a:off x="9040901" y="4745736"/>
            <a:ext cx="2602153" cy="1426463"/>
          </a:xfrm>
          <a:prstGeom prst="roundRect">
            <a:avLst>
              <a:gd name="adj" fmla="val 6000"/>
            </a:avLst>
          </a:prstGeom>
          <a:solidFill>
            <a:srgbClr val="FFFFFF"/>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9132341" y="4837176"/>
            <a:ext cx="2419273" cy="713231"/>
          </a:xfrm>
          <a:prstGeom prst="rect">
            <a:avLst/>
          </a:prstGeom>
          <a:noFill/>
        </p:spPr>
        <p:txBody>
          <a:bodyPr wrap="square" lIns="45720" rIns="45720" tIns="27432" bIns="27432" anchor="ctr">
            <a:spAutoFit/>
          </a:bodyPr>
          <a:lstStyle/>
          <a:p>
            <a:pPr rtl="1" algn="ctr">
              <a:lnSpc>
                <a:spcPct val="100000"/>
              </a:lnSpc>
              <a:spcBef>
                <a:spcPts val="0"/>
              </a:spcBef>
              <a:spcAft>
                <a:spcPts val="0"/>
              </a:spcAft>
            </a:pPr>
            <a:r>
              <a:rPr sz="1800" b="1" i="0" lang="ar-SA">
                <a:solidFill>
                  <a:srgbClr val="0F766E"/>
                </a:solidFill>
                <a:latin typeface="Arial"/>
                <a:cs typeface="Arial"/>
              </a:rPr>
              <a:t>الكتالوج كاملاً</a:t>
            </a:r>
          </a:p>
        </p:txBody>
      </p:sp>
      <p:sp>
        <p:nvSpPr>
          <p:cNvPr id="20" name="TextBox 19"/>
          <p:cNvSpPr txBox="1"/>
          <p:nvPr/>
        </p:nvSpPr>
        <p:spPr>
          <a:xfrm>
            <a:off x="9132341" y="5487497"/>
            <a:ext cx="2419273" cy="641908"/>
          </a:xfrm>
          <a:prstGeom prst="rect">
            <a:avLst/>
          </a:prstGeom>
          <a:noFill/>
        </p:spPr>
        <p:txBody>
          <a:bodyPr wrap="square" lIns="45720" rIns="45720" tIns="27432" bIns="27432" anchor="t">
            <a:spAutoFit/>
          </a:bodyPr>
          <a:lstStyle/>
          <a:p>
            <a:pPr rtl="1" algn="ctr">
              <a:lnSpc>
                <a:spcPct val="105000"/>
              </a:lnSpc>
              <a:spcBef>
                <a:spcPts val="0"/>
              </a:spcBef>
              <a:spcAft>
                <a:spcPts val="0"/>
              </a:spcAft>
            </a:pPr>
            <a:r>
              <a:rPr sz="1400" b="0" i="0" lang="ar-SA">
                <a:solidFill>
                  <a:srgbClr val="475569"/>
                </a:solidFill>
                <a:latin typeface="Arial"/>
                <a:cs typeface="Arial"/>
              </a:rPr>
              <a:t>بلا سوالب معيَّنة</a:t>
            </a:r>
          </a:p>
        </p:txBody>
      </p:sp>
      <p:sp>
        <p:nvSpPr>
          <p:cNvPr id="21" name="بطاقة"/>
          <p:cNvSpPr/>
          <p:nvPr/>
        </p:nvSpPr>
        <p:spPr>
          <a:xfrm>
            <a:off x="6210147" y="4745736"/>
            <a:ext cx="2602153" cy="1426463"/>
          </a:xfrm>
          <a:prstGeom prst="roundRect">
            <a:avLst>
              <a:gd name="adj" fmla="val 6000"/>
            </a:avLst>
          </a:prstGeom>
          <a:solidFill>
            <a:srgbClr val="FFFFFF"/>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301587" y="4837176"/>
            <a:ext cx="2419273" cy="713231"/>
          </a:xfrm>
          <a:prstGeom prst="rect">
            <a:avLst/>
          </a:prstGeom>
          <a:noFill/>
        </p:spPr>
        <p:txBody>
          <a:bodyPr wrap="square" lIns="45720" rIns="45720" tIns="27432" bIns="27432" anchor="ctr">
            <a:spAutoFit/>
          </a:bodyPr>
          <a:lstStyle/>
          <a:p>
            <a:pPr rtl="1" algn="ctr">
              <a:lnSpc>
                <a:spcPct val="100000"/>
              </a:lnSpc>
              <a:spcBef>
                <a:spcPts val="0"/>
              </a:spcBef>
              <a:spcAft>
                <a:spcPts val="0"/>
              </a:spcAft>
            </a:pPr>
            <a:r>
              <a:rPr sz="1800" b="1" i="0" lang="ar-SA">
                <a:solidFill>
                  <a:srgbClr val="0F766E"/>
                </a:solidFill>
                <a:latin typeface="Arial"/>
                <a:cs typeface="Arial"/>
              </a:rPr>
              <a:t>المهمة A</a:t>
            </a:r>
          </a:p>
        </p:txBody>
      </p:sp>
      <p:sp>
        <p:nvSpPr>
          <p:cNvPr id="23" name="TextBox 22"/>
          <p:cNvSpPr txBox="1"/>
          <p:nvPr/>
        </p:nvSpPr>
        <p:spPr>
          <a:xfrm>
            <a:off x="6301587" y="5487497"/>
            <a:ext cx="2419273" cy="641908"/>
          </a:xfrm>
          <a:prstGeom prst="rect">
            <a:avLst/>
          </a:prstGeom>
          <a:noFill/>
        </p:spPr>
        <p:txBody>
          <a:bodyPr wrap="square" lIns="45720" rIns="45720" tIns="27432" bIns="27432" anchor="t">
            <a:spAutoFit/>
          </a:bodyPr>
          <a:lstStyle/>
          <a:p>
            <a:pPr rtl="1" algn="ctr">
              <a:lnSpc>
                <a:spcPct val="105000"/>
              </a:lnSpc>
              <a:spcBef>
                <a:spcPts val="0"/>
              </a:spcBef>
              <a:spcAft>
                <a:spcPts val="0"/>
              </a:spcAft>
            </a:pPr>
            <a:r>
              <a:rPr sz="1400" b="0" i="0" lang="ar-SA">
                <a:solidFill>
                  <a:srgbClr val="475569"/>
                </a:solidFill>
                <a:latin typeface="Arial"/>
                <a:cs typeface="Arial"/>
              </a:rPr>
              <a:t>موارد جديدة لم يزرها المتعلم</a:t>
            </a:r>
          </a:p>
        </p:txBody>
      </p:sp>
      <p:sp>
        <p:nvSpPr>
          <p:cNvPr id="24" name="بطاقة"/>
          <p:cNvSpPr/>
          <p:nvPr/>
        </p:nvSpPr>
        <p:spPr>
          <a:xfrm>
            <a:off x="3379393" y="4745736"/>
            <a:ext cx="2602153" cy="1426463"/>
          </a:xfrm>
          <a:prstGeom prst="roundRect">
            <a:avLst>
              <a:gd name="adj" fmla="val 6000"/>
            </a:avLst>
          </a:prstGeom>
          <a:solidFill>
            <a:srgbClr val="FFFFFF"/>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3470833" y="4837176"/>
            <a:ext cx="2419273" cy="713231"/>
          </a:xfrm>
          <a:prstGeom prst="rect">
            <a:avLst/>
          </a:prstGeom>
          <a:noFill/>
        </p:spPr>
        <p:txBody>
          <a:bodyPr wrap="square" lIns="45720" rIns="45720" tIns="27432" bIns="27432" anchor="ctr">
            <a:spAutoFit/>
          </a:bodyPr>
          <a:lstStyle/>
          <a:p>
            <a:pPr rtl="1" algn="ctr">
              <a:lnSpc>
                <a:spcPct val="100000"/>
              </a:lnSpc>
              <a:spcBef>
                <a:spcPts val="0"/>
              </a:spcBef>
              <a:spcAft>
                <a:spcPts val="0"/>
              </a:spcAft>
            </a:pPr>
            <a:r>
              <a:rPr sz="1800" b="1" i="0" lang="ar-SA">
                <a:solidFill>
                  <a:srgbClr val="0F766E"/>
                </a:solidFill>
                <a:latin typeface="Arial"/>
                <a:cs typeface="Arial"/>
              </a:rPr>
              <a:t>وحدة التحليل: العرض</a:t>
            </a:r>
          </a:p>
        </p:txBody>
      </p:sp>
      <p:sp>
        <p:nvSpPr>
          <p:cNvPr id="26" name="TextBox 25"/>
          <p:cNvSpPr txBox="1"/>
          <p:nvPr/>
        </p:nvSpPr>
        <p:spPr>
          <a:xfrm>
            <a:off x="3470833" y="5487497"/>
            <a:ext cx="2419273" cy="641908"/>
          </a:xfrm>
          <a:prstGeom prst="rect">
            <a:avLst/>
          </a:prstGeom>
          <a:noFill/>
        </p:spPr>
        <p:txBody>
          <a:bodyPr wrap="square" lIns="45720" rIns="45720" tIns="27432" bIns="27432" anchor="t">
            <a:spAutoFit/>
          </a:bodyPr>
          <a:lstStyle/>
          <a:p>
            <a:pPr rtl="1" algn="ctr">
              <a:lnSpc>
                <a:spcPct val="105000"/>
              </a:lnSpc>
              <a:spcBef>
                <a:spcPts val="0"/>
              </a:spcBef>
              <a:spcAft>
                <a:spcPts val="0"/>
              </a:spcAft>
            </a:pPr>
            <a:r>
              <a:rPr sz="1400" b="0" i="0" lang="ar-SA">
                <a:solidFill>
                  <a:srgbClr val="475569"/>
                </a:solidFill>
                <a:latin typeface="Arial"/>
                <a:cs typeface="Arial"/>
              </a:rPr>
              <a:t>bootstrap-t عنقودي + هولم</a:t>
            </a:r>
          </a:p>
        </p:txBody>
      </p:sp>
      <p:sp>
        <p:nvSpPr>
          <p:cNvPr id="27" name="بطاقة"/>
          <p:cNvSpPr/>
          <p:nvPr/>
        </p:nvSpPr>
        <p:spPr>
          <a:xfrm>
            <a:off x="548639" y="4745736"/>
            <a:ext cx="2602153" cy="1426463"/>
          </a:xfrm>
          <a:prstGeom prst="roundRect">
            <a:avLst>
              <a:gd name="adj" fmla="val 6000"/>
            </a:avLst>
          </a:prstGeom>
          <a:solidFill>
            <a:srgbClr val="FFFFFF"/>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640079" y="4837176"/>
            <a:ext cx="2419273" cy="713231"/>
          </a:xfrm>
          <a:prstGeom prst="rect">
            <a:avLst/>
          </a:prstGeom>
          <a:noFill/>
        </p:spPr>
        <p:txBody>
          <a:bodyPr wrap="square" lIns="45720" rIns="45720" tIns="27432" bIns="27432" anchor="ctr">
            <a:spAutoFit/>
          </a:bodyPr>
          <a:lstStyle/>
          <a:p>
            <a:pPr rtl="1" algn="ctr">
              <a:lnSpc>
                <a:spcPct val="100000"/>
              </a:lnSpc>
              <a:spcBef>
                <a:spcPts val="0"/>
              </a:spcBef>
              <a:spcAft>
                <a:spcPts val="0"/>
              </a:spcAft>
            </a:pPr>
            <a:r>
              <a:rPr sz="1800" b="1" i="0" lang="ar-SA">
                <a:solidFill>
                  <a:srgbClr val="0F766E"/>
                </a:solidFill>
                <a:latin typeface="Arial"/>
                <a:cs typeface="Arial"/>
              </a:rPr>
              <a:t>الأثر العملي δ = 0.02</a:t>
            </a:r>
          </a:p>
        </p:txBody>
      </p:sp>
      <p:sp>
        <p:nvSpPr>
          <p:cNvPr id="29" name="TextBox 28"/>
          <p:cNvSpPr txBox="1"/>
          <p:nvPr/>
        </p:nvSpPr>
        <p:spPr>
          <a:xfrm>
            <a:off x="640079" y="5487497"/>
            <a:ext cx="2419273" cy="641908"/>
          </a:xfrm>
          <a:prstGeom prst="rect">
            <a:avLst/>
          </a:prstGeom>
          <a:noFill/>
        </p:spPr>
        <p:txBody>
          <a:bodyPr wrap="square" lIns="45720" rIns="45720" tIns="27432" bIns="27432" anchor="t">
            <a:spAutoFit/>
          </a:bodyPr>
          <a:lstStyle/>
          <a:p>
            <a:pPr rtl="1" algn="ctr">
              <a:lnSpc>
                <a:spcPct val="105000"/>
              </a:lnSpc>
              <a:spcBef>
                <a:spcPts val="0"/>
              </a:spcBef>
              <a:spcAft>
                <a:spcPts val="0"/>
              </a:spcAft>
            </a:pPr>
            <a:r>
              <a:rPr sz="1400" b="0" i="0" lang="ar-SA">
                <a:solidFill>
                  <a:srgbClr val="475569"/>
                </a:solidFill>
                <a:latin typeface="Arial"/>
                <a:cs typeface="Arial"/>
              </a:rPr>
              <a:t>في NDCG@10، مسجّل قبل 2014</a:t>
            </a:r>
          </a:p>
        </p:txBody>
      </p:sp>
      <p:sp>
        <p:nvSpPr>
          <p:cNvPr id="30" name="شعار الجامعة"/>
          <p:cNvSpPr/>
          <p:nvPr/>
        </p:nvSpPr>
        <p:spPr>
          <a:xfrm>
            <a:off x="10957255" y="6382512"/>
            <a:ext cx="685800" cy="292608"/>
          </a:xfrm>
          <a:prstGeom prst="roundRect">
            <a:avLst>
              <a:gd name="adj" fmla="val 50000"/>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rtl="1"/>
            <a:r>
              <a:rPr sz="1200" b="1" i="0" lang="ar-SA">
                <a:solidFill>
                  <a:srgbClr val="FFFFFF"/>
                </a:solidFill>
                <a:latin typeface="Arial"/>
                <a:cs typeface="Arial"/>
              </a:rPr>
              <a:t>SVU</a:t>
            </a:r>
          </a:p>
        </p:txBody>
      </p:sp>
      <p:sp>
        <p:nvSpPr>
          <p:cNvPr id="31" name="تذييل"/>
          <p:cNvSpPr txBox="1"/>
          <p:nvPr/>
        </p:nvSpPr>
        <p:spPr>
          <a:xfrm>
            <a:off x="5287975" y="6373368"/>
            <a:ext cx="5577840" cy="310896"/>
          </a:xfrm>
          <a:prstGeom prst="rect">
            <a:avLst/>
          </a:prstGeom>
          <a:noFill/>
        </p:spPr>
        <p:txBody>
          <a:bodyPr wrap="square" lIns="45720" rIns="45720" tIns="27432" bIns="27432" anchor="ctr">
            <a:spAutoFit/>
          </a:bodyPr>
          <a:lstStyle/>
          <a:p>
            <a:pPr rtl="1" algn="r">
              <a:lnSpc>
                <a:spcPct val="115000"/>
              </a:lnSpc>
              <a:spcBef>
                <a:spcPts val="0"/>
              </a:spcBef>
              <a:spcAft>
                <a:spcPts val="0"/>
              </a:spcAft>
            </a:pPr>
            <a:r>
              <a:rPr sz="1200" b="0" i="0" lang="ar-SA">
                <a:solidFill>
                  <a:srgbClr val="475569"/>
                </a:solidFill>
                <a:latin typeface="Arial"/>
                <a:cs typeface="Arial"/>
              </a:rPr>
              <a:t>الجامعة الافتراضية السورية  |  ماجستير علوم الوب</a:t>
            </a:r>
          </a:p>
        </p:txBody>
      </p:sp>
      <p:sp>
        <p:nvSpPr>
          <p:cNvPr id="32" name="رقم الشريحة"/>
          <p:cNvSpPr txBox="1"/>
          <p:nvPr/>
        </p:nvSpPr>
        <p:spPr>
          <a:xfrm>
            <a:off x="548640" y="6373368"/>
            <a:ext cx="914400" cy="310896"/>
          </a:xfrm>
          <a:prstGeom prst="rect">
            <a:avLst/>
          </a:prstGeom>
          <a:noFill/>
        </p:spPr>
        <p:txBody>
          <a:bodyPr wrap="none">
            <a:spAutoFit/>
          </a:bodyPr>
          <a:lstStyle/>
          <a:p>
            <a:pPr rtl="1" algn="l"/>
            <a:fld id="{B6F15528-21DE-4FAA-801E-634DDDAF4B2B}" type="slidenum">
              <a:rPr lang="en-US" sz="1200">
                <a:solidFill>
                  <a:srgbClr val="475569"/>
                </a:solidFill>
                <a:latin typeface="Arial"/>
              </a:rPr>
              <a:t>‹#›</a:t>
            </a:fld>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العنوان"/>
          <p:cNvSpPr txBox="1"/>
          <p:nvPr/>
        </p:nvSpPr>
        <p:spPr>
          <a:xfrm>
            <a:off x="548640" y="347472"/>
            <a:ext cx="11094415" cy="868680"/>
          </a:xfrm>
          <a:prstGeom prst="rect">
            <a:avLst/>
          </a:prstGeom>
          <a:noFill/>
        </p:spPr>
        <p:txBody>
          <a:bodyPr wrap="square" lIns="45720" rIns="45720" tIns="27432" bIns="27432" anchor="ctr">
            <a:spAutoFit/>
          </a:bodyPr>
          <a:lstStyle/>
          <a:p>
            <a:pPr rtl="1" algn="r">
              <a:lnSpc>
                <a:spcPct val="115000"/>
              </a:lnSpc>
              <a:spcBef>
                <a:spcPts val="0"/>
              </a:spcBef>
              <a:spcAft>
                <a:spcPts val="0"/>
              </a:spcAft>
            </a:pPr>
            <a:r>
              <a:rPr sz="3000" b="1" i="0" lang="ar-SA">
                <a:solidFill>
                  <a:srgbClr val="134E4A"/>
                </a:solidFill>
                <a:latin typeface="Arial"/>
                <a:cs typeface="Arial"/>
              </a:rPr>
              <a:t>التجميد ثم تشغيل واحد</a:t>
            </a:r>
          </a:p>
        </p:txBody>
      </p:sp>
      <p:sp>
        <p:nvSpPr>
          <p:cNvPr id="3" name="TextBox 2"/>
          <p:cNvSpPr txBox="1"/>
          <p:nvPr/>
        </p:nvSpPr>
        <p:spPr>
          <a:xfrm>
            <a:off x="548640" y="1417320"/>
            <a:ext cx="11094415" cy="457200"/>
          </a:xfrm>
          <a:prstGeom prst="rect">
            <a:avLst/>
          </a:prstGeom>
          <a:noFill/>
        </p:spPr>
        <p:txBody>
          <a:bodyPr wrap="square" lIns="45720" rIns="45720" tIns="27432" bIns="27432" anchor="ctr">
            <a:spAutoFit/>
          </a:bodyPr>
          <a:lstStyle/>
          <a:p>
            <a:pPr rtl="1" algn="r">
              <a:lnSpc>
                <a:spcPct val="115000"/>
              </a:lnSpc>
              <a:spcBef>
                <a:spcPts val="0"/>
              </a:spcBef>
              <a:spcAft>
                <a:spcPts val="0"/>
              </a:spcAft>
            </a:pPr>
            <a:r>
              <a:rPr sz="2000" b="1" i="0" lang="ar-SA">
                <a:solidFill>
                  <a:srgbClr val="475569"/>
                </a:solidFill>
                <a:latin typeface="Arial"/>
                <a:cs typeface="Arial"/>
              </a:rPr>
              <a:t>عشرة شروط للوسم freeze-03 قبل فتح بيانات 2014</a:t>
            </a:r>
          </a:p>
        </p:txBody>
      </p:sp>
      <p:sp>
        <p:nvSpPr>
          <p:cNvPr id="4" name="بطاقة"/>
          <p:cNvSpPr/>
          <p:nvPr/>
        </p:nvSpPr>
        <p:spPr>
          <a:xfrm>
            <a:off x="9643628" y="2011680"/>
            <a:ext cx="1999427" cy="1348740"/>
          </a:xfrm>
          <a:prstGeom prst="roundRect">
            <a:avLst>
              <a:gd name="adj" fmla="val 6000"/>
            </a:avLst>
          </a:prstGeom>
          <a:solidFill>
            <a:srgbClr val="FFFFFF"/>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رقم"/>
          <p:cNvSpPr/>
          <p:nvPr/>
        </p:nvSpPr>
        <p:spPr>
          <a:xfrm>
            <a:off x="10957255" y="2148840"/>
            <a:ext cx="502920" cy="502920"/>
          </a:xfrm>
          <a:prstGeom prst="roundRect">
            <a:avLst>
              <a:gd name="adj" fmla="val 50000"/>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rtl="1"/>
            <a:r>
              <a:rPr sz="1500" b="1" i="0" lang="ar-SA">
                <a:solidFill>
                  <a:srgbClr val="FFFFFF"/>
                </a:solidFill>
                <a:latin typeface="Arial"/>
                <a:cs typeface="Arial"/>
              </a:rPr>
              <a:t>1</a:t>
            </a:r>
          </a:p>
        </p:txBody>
      </p:sp>
      <p:sp>
        <p:nvSpPr>
          <p:cNvPr id="6" name="TextBox 5"/>
          <p:cNvSpPr txBox="1"/>
          <p:nvPr/>
        </p:nvSpPr>
        <p:spPr>
          <a:xfrm>
            <a:off x="9735068" y="2743200"/>
            <a:ext cx="1816547" cy="525780"/>
          </a:xfrm>
          <a:prstGeom prst="rect">
            <a:avLst/>
          </a:prstGeom>
          <a:noFill/>
        </p:spPr>
        <p:txBody>
          <a:bodyPr wrap="square" lIns="45720" rIns="45720" tIns="27432" bIns="27432" anchor="t">
            <a:spAutoFit/>
          </a:bodyPr>
          <a:lstStyle/>
          <a:p>
            <a:pPr rtl="1" algn="r">
              <a:lnSpc>
                <a:spcPct val="105000"/>
              </a:lnSpc>
              <a:spcBef>
                <a:spcPts val="0"/>
              </a:spcBef>
              <a:spcAft>
                <a:spcPts val="0"/>
              </a:spcAft>
            </a:pPr>
            <a:r>
              <a:rPr sz="1700" b="1" i="0" lang="ar-SA">
                <a:solidFill>
                  <a:srgbClr val="134E4A"/>
                </a:solidFill>
                <a:latin typeface="Arial"/>
                <a:cs typeface="Arial"/>
              </a:rPr>
              <a:t>الهجين بقاعدة الأرضية</a:t>
            </a:r>
          </a:p>
        </p:txBody>
      </p:sp>
      <p:sp>
        <p:nvSpPr>
          <p:cNvPr id="7" name="بطاقة"/>
          <p:cNvSpPr/>
          <p:nvPr/>
        </p:nvSpPr>
        <p:spPr>
          <a:xfrm>
            <a:off x="7369881" y="2011680"/>
            <a:ext cx="1999427" cy="1348740"/>
          </a:xfrm>
          <a:prstGeom prst="roundRect">
            <a:avLst>
              <a:gd name="adj" fmla="val 6000"/>
            </a:avLst>
          </a:prstGeom>
          <a:solidFill>
            <a:srgbClr val="FFFFFF"/>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رقم"/>
          <p:cNvSpPr/>
          <p:nvPr/>
        </p:nvSpPr>
        <p:spPr>
          <a:xfrm>
            <a:off x="8683508" y="2148840"/>
            <a:ext cx="502920" cy="502920"/>
          </a:xfrm>
          <a:prstGeom prst="roundRect">
            <a:avLst>
              <a:gd name="adj" fmla="val 50000"/>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rtl="1"/>
            <a:r>
              <a:rPr sz="1500" b="1" i="0" lang="ar-SA">
                <a:solidFill>
                  <a:srgbClr val="FFFFFF"/>
                </a:solidFill>
                <a:latin typeface="Arial"/>
                <a:cs typeface="Arial"/>
              </a:rPr>
              <a:t>2</a:t>
            </a:r>
          </a:p>
        </p:txBody>
      </p:sp>
      <p:sp>
        <p:nvSpPr>
          <p:cNvPr id="9" name="TextBox 8"/>
          <p:cNvSpPr txBox="1"/>
          <p:nvPr/>
        </p:nvSpPr>
        <p:spPr>
          <a:xfrm>
            <a:off x="7461321" y="2743200"/>
            <a:ext cx="1816547" cy="525780"/>
          </a:xfrm>
          <a:prstGeom prst="rect">
            <a:avLst/>
          </a:prstGeom>
          <a:noFill/>
        </p:spPr>
        <p:txBody>
          <a:bodyPr wrap="square" lIns="45720" rIns="45720" tIns="27432" bIns="27432" anchor="t">
            <a:spAutoFit/>
          </a:bodyPr>
          <a:lstStyle/>
          <a:p>
            <a:pPr rtl="1" algn="r">
              <a:lnSpc>
                <a:spcPct val="105000"/>
              </a:lnSpc>
              <a:spcBef>
                <a:spcPts val="0"/>
              </a:spcBef>
              <a:spcAft>
                <a:spcPts val="0"/>
              </a:spcAft>
            </a:pPr>
            <a:r>
              <a:rPr sz="1700" b="1" i="0" lang="ar-SA">
                <a:solidFill>
                  <a:srgbClr val="134E4A"/>
                </a:solidFill>
                <a:latin typeface="Arial"/>
                <a:cs typeface="Arial"/>
              </a:rPr>
              <a:t>MDE80 للفرضية H1</a:t>
            </a:r>
          </a:p>
        </p:txBody>
      </p:sp>
      <p:sp>
        <p:nvSpPr>
          <p:cNvPr id="10" name="بطاقة"/>
          <p:cNvSpPr/>
          <p:nvPr/>
        </p:nvSpPr>
        <p:spPr>
          <a:xfrm>
            <a:off x="5096134" y="2011680"/>
            <a:ext cx="1999427" cy="1348740"/>
          </a:xfrm>
          <a:prstGeom prst="roundRect">
            <a:avLst>
              <a:gd name="adj" fmla="val 6000"/>
            </a:avLst>
          </a:prstGeom>
          <a:solidFill>
            <a:srgbClr val="FFFFFF"/>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رقم"/>
          <p:cNvSpPr/>
          <p:nvPr/>
        </p:nvSpPr>
        <p:spPr>
          <a:xfrm>
            <a:off x="6409761" y="2148840"/>
            <a:ext cx="502920" cy="502920"/>
          </a:xfrm>
          <a:prstGeom prst="roundRect">
            <a:avLst>
              <a:gd name="adj" fmla="val 50000"/>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rtl="1"/>
            <a:r>
              <a:rPr sz="1500" b="1" i="0" lang="ar-SA">
                <a:solidFill>
                  <a:srgbClr val="FFFFFF"/>
                </a:solidFill>
                <a:latin typeface="Arial"/>
                <a:cs typeface="Arial"/>
              </a:rPr>
              <a:t>3</a:t>
            </a:r>
          </a:p>
        </p:txBody>
      </p:sp>
      <p:sp>
        <p:nvSpPr>
          <p:cNvPr id="12" name="TextBox 11"/>
          <p:cNvSpPr txBox="1"/>
          <p:nvPr/>
        </p:nvSpPr>
        <p:spPr>
          <a:xfrm>
            <a:off x="5187574" y="2743200"/>
            <a:ext cx="1816547" cy="525780"/>
          </a:xfrm>
          <a:prstGeom prst="rect">
            <a:avLst/>
          </a:prstGeom>
          <a:noFill/>
        </p:spPr>
        <p:txBody>
          <a:bodyPr wrap="square" lIns="45720" rIns="45720" tIns="27432" bIns="27432" anchor="t">
            <a:spAutoFit/>
          </a:bodyPr>
          <a:lstStyle/>
          <a:p>
            <a:pPr rtl="1" algn="r">
              <a:lnSpc>
                <a:spcPct val="105000"/>
              </a:lnSpc>
              <a:spcBef>
                <a:spcPts val="0"/>
              </a:spcBef>
              <a:spcAft>
                <a:spcPts val="0"/>
              </a:spcAft>
            </a:pPr>
            <a:r>
              <a:rPr sz="1700" b="1" i="0" lang="ar-SA">
                <a:solidFill>
                  <a:srgbClr val="134E4A"/>
                </a:solidFill>
                <a:latin typeface="Arial"/>
                <a:cs typeface="Arial"/>
              </a:rPr>
              <a:t>الهجين على المهمة B</a:t>
            </a:r>
          </a:p>
        </p:txBody>
      </p:sp>
      <p:sp>
        <p:nvSpPr>
          <p:cNvPr id="13" name="بطاقة"/>
          <p:cNvSpPr/>
          <p:nvPr/>
        </p:nvSpPr>
        <p:spPr>
          <a:xfrm>
            <a:off x="2822387" y="2011680"/>
            <a:ext cx="1999427" cy="1348740"/>
          </a:xfrm>
          <a:prstGeom prst="roundRect">
            <a:avLst>
              <a:gd name="adj" fmla="val 6000"/>
            </a:avLst>
          </a:prstGeom>
          <a:solidFill>
            <a:srgbClr val="FFFFFF"/>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رقم"/>
          <p:cNvSpPr/>
          <p:nvPr/>
        </p:nvSpPr>
        <p:spPr>
          <a:xfrm>
            <a:off x="4136014" y="2148840"/>
            <a:ext cx="502920" cy="502920"/>
          </a:xfrm>
          <a:prstGeom prst="roundRect">
            <a:avLst>
              <a:gd name="adj" fmla="val 50000"/>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rtl="1"/>
            <a:r>
              <a:rPr sz="1500" b="1" i="0" lang="ar-SA">
                <a:solidFill>
                  <a:srgbClr val="FFFFFF"/>
                </a:solidFill>
                <a:latin typeface="Arial"/>
                <a:cs typeface="Arial"/>
              </a:rPr>
              <a:t>4</a:t>
            </a:r>
          </a:p>
        </p:txBody>
      </p:sp>
      <p:sp>
        <p:nvSpPr>
          <p:cNvPr id="15" name="TextBox 14"/>
          <p:cNvSpPr txBox="1"/>
          <p:nvPr/>
        </p:nvSpPr>
        <p:spPr>
          <a:xfrm>
            <a:off x="2913827" y="2743200"/>
            <a:ext cx="1816547" cy="525780"/>
          </a:xfrm>
          <a:prstGeom prst="rect">
            <a:avLst/>
          </a:prstGeom>
          <a:noFill/>
        </p:spPr>
        <p:txBody>
          <a:bodyPr wrap="square" lIns="45720" rIns="45720" tIns="27432" bIns="27432" anchor="t">
            <a:spAutoFit/>
          </a:bodyPr>
          <a:lstStyle/>
          <a:p>
            <a:pPr rtl="1" algn="r">
              <a:lnSpc>
                <a:spcPct val="105000"/>
              </a:lnSpc>
              <a:spcBef>
                <a:spcPts val="0"/>
              </a:spcBef>
              <a:spcAft>
                <a:spcPts val="0"/>
              </a:spcAft>
            </a:pPr>
            <a:r>
              <a:rPr sz="1700" b="1" i="0" lang="ar-SA">
                <a:solidFill>
                  <a:srgbClr val="134E4A"/>
                </a:solidFill>
                <a:latin typeface="Arial"/>
                <a:cs typeface="Arial"/>
              </a:rPr>
              <a:t>نماذج الخطر النهائية</a:t>
            </a:r>
          </a:p>
        </p:txBody>
      </p:sp>
      <p:sp>
        <p:nvSpPr>
          <p:cNvPr id="16" name="بطاقة"/>
          <p:cNvSpPr/>
          <p:nvPr/>
        </p:nvSpPr>
        <p:spPr>
          <a:xfrm>
            <a:off x="548639" y="2011680"/>
            <a:ext cx="1999427" cy="1348740"/>
          </a:xfrm>
          <a:prstGeom prst="roundRect">
            <a:avLst>
              <a:gd name="adj" fmla="val 6000"/>
            </a:avLst>
          </a:prstGeom>
          <a:solidFill>
            <a:srgbClr val="FFFFFF"/>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رقم"/>
          <p:cNvSpPr/>
          <p:nvPr/>
        </p:nvSpPr>
        <p:spPr>
          <a:xfrm>
            <a:off x="1862267" y="2148840"/>
            <a:ext cx="502920" cy="502920"/>
          </a:xfrm>
          <a:prstGeom prst="roundRect">
            <a:avLst>
              <a:gd name="adj" fmla="val 50000"/>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rtl="1"/>
            <a:r>
              <a:rPr sz="1500" b="1" i="0" lang="ar-SA">
                <a:solidFill>
                  <a:srgbClr val="FFFFFF"/>
                </a:solidFill>
                <a:latin typeface="Arial"/>
                <a:cs typeface="Arial"/>
              </a:rPr>
              <a:t>5</a:t>
            </a:r>
          </a:p>
        </p:txBody>
      </p:sp>
      <p:sp>
        <p:nvSpPr>
          <p:cNvPr id="18" name="TextBox 17"/>
          <p:cNvSpPr txBox="1"/>
          <p:nvPr/>
        </p:nvSpPr>
        <p:spPr>
          <a:xfrm>
            <a:off x="640079" y="2743200"/>
            <a:ext cx="1816547" cy="525780"/>
          </a:xfrm>
          <a:prstGeom prst="rect">
            <a:avLst/>
          </a:prstGeom>
          <a:noFill/>
        </p:spPr>
        <p:txBody>
          <a:bodyPr wrap="square" lIns="45720" rIns="45720" tIns="27432" bIns="27432" anchor="t">
            <a:spAutoFit/>
          </a:bodyPr>
          <a:lstStyle/>
          <a:p>
            <a:pPr rtl="1" algn="r">
              <a:lnSpc>
                <a:spcPct val="105000"/>
              </a:lnSpc>
              <a:spcBef>
                <a:spcPts val="0"/>
              </a:spcBef>
              <a:spcAft>
                <a:spcPts val="0"/>
              </a:spcAft>
            </a:pPr>
            <a:r>
              <a:rPr sz="1700" b="1" i="0" lang="ar-SA">
                <a:solidFill>
                  <a:srgbClr val="134E4A"/>
                </a:solidFill>
                <a:latin typeface="Arial"/>
                <a:cs typeface="Arial"/>
              </a:rPr>
              <a:t>إعادة إنتاج التطوير</a:t>
            </a:r>
          </a:p>
        </p:txBody>
      </p:sp>
      <p:sp>
        <p:nvSpPr>
          <p:cNvPr id="19" name="بطاقة"/>
          <p:cNvSpPr/>
          <p:nvPr/>
        </p:nvSpPr>
        <p:spPr>
          <a:xfrm>
            <a:off x="9643628" y="3634740"/>
            <a:ext cx="1999427" cy="1348740"/>
          </a:xfrm>
          <a:prstGeom prst="roundRect">
            <a:avLst>
              <a:gd name="adj" fmla="val 6000"/>
            </a:avLst>
          </a:prstGeom>
          <a:solidFill>
            <a:srgbClr val="FFFFFF"/>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رقم"/>
          <p:cNvSpPr/>
          <p:nvPr/>
        </p:nvSpPr>
        <p:spPr>
          <a:xfrm>
            <a:off x="10957255" y="3771900"/>
            <a:ext cx="502920" cy="502920"/>
          </a:xfrm>
          <a:prstGeom prst="roundRect">
            <a:avLst>
              <a:gd name="adj" fmla="val 50000"/>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rtl="1"/>
            <a:r>
              <a:rPr sz="1500" b="1" i="0" lang="ar-SA">
                <a:solidFill>
                  <a:srgbClr val="FFFFFF"/>
                </a:solidFill>
                <a:latin typeface="Arial"/>
                <a:cs typeface="Arial"/>
              </a:rPr>
              <a:t>6</a:t>
            </a:r>
          </a:p>
        </p:txBody>
      </p:sp>
      <p:sp>
        <p:nvSpPr>
          <p:cNvPr id="21" name="TextBox 20"/>
          <p:cNvSpPr txBox="1"/>
          <p:nvPr/>
        </p:nvSpPr>
        <p:spPr>
          <a:xfrm>
            <a:off x="9735068" y="4366260"/>
            <a:ext cx="1816547" cy="525780"/>
          </a:xfrm>
          <a:prstGeom prst="rect">
            <a:avLst/>
          </a:prstGeom>
          <a:noFill/>
        </p:spPr>
        <p:txBody>
          <a:bodyPr wrap="square" lIns="45720" rIns="45720" tIns="27432" bIns="27432" anchor="t">
            <a:spAutoFit/>
          </a:bodyPr>
          <a:lstStyle/>
          <a:p>
            <a:pPr rtl="1" algn="r">
              <a:lnSpc>
                <a:spcPct val="105000"/>
              </a:lnSpc>
              <a:spcBef>
                <a:spcPts val="0"/>
              </a:spcBef>
              <a:spcAft>
                <a:spcPts val="0"/>
              </a:spcAft>
            </a:pPr>
            <a:r>
              <a:rPr sz="1700" b="1" i="0" lang="ar-SA">
                <a:solidFill>
                  <a:srgbClr val="134E4A"/>
                </a:solidFill>
                <a:latin typeface="Arial"/>
                <a:cs typeface="Arial"/>
              </a:rPr>
              <a:t>ملف التهيئة + SHA-256</a:t>
            </a:r>
          </a:p>
        </p:txBody>
      </p:sp>
      <p:sp>
        <p:nvSpPr>
          <p:cNvPr id="22" name="بطاقة"/>
          <p:cNvSpPr/>
          <p:nvPr/>
        </p:nvSpPr>
        <p:spPr>
          <a:xfrm>
            <a:off x="7369881" y="3634740"/>
            <a:ext cx="1999427" cy="1348740"/>
          </a:xfrm>
          <a:prstGeom prst="roundRect">
            <a:avLst>
              <a:gd name="adj" fmla="val 6000"/>
            </a:avLst>
          </a:prstGeom>
          <a:solidFill>
            <a:srgbClr val="FFFFFF"/>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رقم"/>
          <p:cNvSpPr/>
          <p:nvPr/>
        </p:nvSpPr>
        <p:spPr>
          <a:xfrm>
            <a:off x="8683508" y="3771900"/>
            <a:ext cx="502920" cy="502920"/>
          </a:xfrm>
          <a:prstGeom prst="roundRect">
            <a:avLst>
              <a:gd name="adj" fmla="val 50000"/>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rtl="1"/>
            <a:r>
              <a:rPr sz="1500" b="1" i="0" lang="ar-SA">
                <a:solidFill>
                  <a:srgbClr val="FFFFFF"/>
                </a:solidFill>
                <a:latin typeface="Arial"/>
                <a:cs typeface="Arial"/>
              </a:rPr>
              <a:t>7</a:t>
            </a:r>
          </a:p>
        </p:txBody>
      </p:sp>
      <p:sp>
        <p:nvSpPr>
          <p:cNvPr id="24" name="TextBox 23"/>
          <p:cNvSpPr txBox="1"/>
          <p:nvPr/>
        </p:nvSpPr>
        <p:spPr>
          <a:xfrm>
            <a:off x="7461321" y="4366260"/>
            <a:ext cx="1816547" cy="525780"/>
          </a:xfrm>
          <a:prstGeom prst="rect">
            <a:avLst/>
          </a:prstGeom>
          <a:noFill/>
        </p:spPr>
        <p:txBody>
          <a:bodyPr wrap="square" lIns="45720" rIns="45720" tIns="27432" bIns="27432" anchor="t">
            <a:spAutoFit/>
          </a:bodyPr>
          <a:lstStyle/>
          <a:p>
            <a:pPr rtl="1" algn="r">
              <a:lnSpc>
                <a:spcPct val="105000"/>
              </a:lnSpc>
              <a:spcBef>
                <a:spcPts val="0"/>
              </a:spcBef>
              <a:spcAft>
                <a:spcPts val="0"/>
              </a:spcAft>
            </a:pPr>
            <a:r>
              <a:rPr sz="1700" b="1" i="0" lang="ar-SA">
                <a:solidFill>
                  <a:srgbClr val="134E4A"/>
                </a:solidFill>
                <a:latin typeface="Arial"/>
                <a:cs typeface="Arial"/>
              </a:rPr>
              <a:t>تشغيل جاف كامل على 2013</a:t>
            </a:r>
          </a:p>
        </p:txBody>
      </p:sp>
      <p:sp>
        <p:nvSpPr>
          <p:cNvPr id="25" name="بطاقة"/>
          <p:cNvSpPr/>
          <p:nvPr/>
        </p:nvSpPr>
        <p:spPr>
          <a:xfrm>
            <a:off x="5096134" y="3634740"/>
            <a:ext cx="1999427" cy="1348740"/>
          </a:xfrm>
          <a:prstGeom prst="roundRect">
            <a:avLst>
              <a:gd name="adj" fmla="val 6000"/>
            </a:avLst>
          </a:prstGeom>
          <a:solidFill>
            <a:srgbClr val="FFFFFF"/>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رقم"/>
          <p:cNvSpPr/>
          <p:nvPr/>
        </p:nvSpPr>
        <p:spPr>
          <a:xfrm>
            <a:off x="6409761" y="3771900"/>
            <a:ext cx="502920" cy="502920"/>
          </a:xfrm>
          <a:prstGeom prst="roundRect">
            <a:avLst>
              <a:gd name="adj" fmla="val 50000"/>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rtl="1"/>
            <a:r>
              <a:rPr sz="1500" b="1" i="0" lang="ar-SA">
                <a:solidFill>
                  <a:srgbClr val="FFFFFF"/>
                </a:solidFill>
                <a:latin typeface="Arial"/>
                <a:cs typeface="Arial"/>
              </a:rPr>
              <a:t>8</a:t>
            </a:r>
          </a:p>
        </p:txBody>
      </p:sp>
      <p:sp>
        <p:nvSpPr>
          <p:cNvPr id="27" name="TextBox 26"/>
          <p:cNvSpPr txBox="1"/>
          <p:nvPr/>
        </p:nvSpPr>
        <p:spPr>
          <a:xfrm>
            <a:off x="5187574" y="4366260"/>
            <a:ext cx="1816547" cy="525780"/>
          </a:xfrm>
          <a:prstGeom prst="rect">
            <a:avLst/>
          </a:prstGeom>
          <a:noFill/>
        </p:spPr>
        <p:txBody>
          <a:bodyPr wrap="square" lIns="45720" rIns="45720" tIns="27432" bIns="27432" anchor="t">
            <a:spAutoFit/>
          </a:bodyPr>
          <a:lstStyle/>
          <a:p>
            <a:pPr rtl="1" algn="r">
              <a:lnSpc>
                <a:spcPct val="105000"/>
              </a:lnSpc>
              <a:spcBef>
                <a:spcPts val="0"/>
              </a:spcBef>
              <a:spcAft>
                <a:spcPts val="0"/>
              </a:spcAft>
            </a:pPr>
            <a:r>
              <a:rPr sz="1700" b="1" i="0" lang="ar-SA">
                <a:solidFill>
                  <a:srgbClr val="134E4A"/>
                </a:solidFill>
                <a:latin typeface="Arial"/>
                <a:cs typeface="Arial"/>
              </a:rPr>
              <a:t>مراجعة الزميل وتوقيعه</a:t>
            </a:r>
          </a:p>
        </p:txBody>
      </p:sp>
      <p:sp>
        <p:nvSpPr>
          <p:cNvPr id="28" name="بطاقة"/>
          <p:cNvSpPr/>
          <p:nvPr/>
        </p:nvSpPr>
        <p:spPr>
          <a:xfrm>
            <a:off x="2822387" y="3634740"/>
            <a:ext cx="1999427" cy="1348740"/>
          </a:xfrm>
          <a:prstGeom prst="roundRect">
            <a:avLst>
              <a:gd name="adj" fmla="val 6000"/>
            </a:avLst>
          </a:prstGeom>
          <a:solidFill>
            <a:srgbClr val="FFFFFF"/>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رقم"/>
          <p:cNvSpPr/>
          <p:nvPr/>
        </p:nvSpPr>
        <p:spPr>
          <a:xfrm>
            <a:off x="4136014" y="3771900"/>
            <a:ext cx="502920" cy="502920"/>
          </a:xfrm>
          <a:prstGeom prst="roundRect">
            <a:avLst>
              <a:gd name="adj" fmla="val 50000"/>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rtl="1"/>
            <a:r>
              <a:rPr sz="1500" b="1" i="0" lang="ar-SA">
                <a:solidFill>
                  <a:srgbClr val="FFFFFF"/>
                </a:solidFill>
                <a:latin typeface="Arial"/>
                <a:cs typeface="Arial"/>
              </a:rPr>
              <a:t>9</a:t>
            </a:r>
          </a:p>
        </p:txBody>
      </p:sp>
      <p:sp>
        <p:nvSpPr>
          <p:cNvPr id="30" name="TextBox 29"/>
          <p:cNvSpPr txBox="1"/>
          <p:nvPr/>
        </p:nvSpPr>
        <p:spPr>
          <a:xfrm>
            <a:off x="2913827" y="4366260"/>
            <a:ext cx="1816547" cy="525780"/>
          </a:xfrm>
          <a:prstGeom prst="rect">
            <a:avLst/>
          </a:prstGeom>
          <a:noFill/>
        </p:spPr>
        <p:txBody>
          <a:bodyPr wrap="square" lIns="45720" rIns="45720" tIns="27432" bIns="27432" anchor="t">
            <a:spAutoFit/>
          </a:bodyPr>
          <a:lstStyle/>
          <a:p>
            <a:pPr rtl="1" algn="r">
              <a:lnSpc>
                <a:spcPct val="105000"/>
              </a:lnSpc>
              <a:spcBef>
                <a:spcPts val="0"/>
              </a:spcBef>
              <a:spcAft>
                <a:spcPts val="0"/>
              </a:spcAft>
            </a:pPr>
            <a:r>
              <a:rPr sz="1700" b="1" i="0" lang="ar-SA">
                <a:solidFill>
                  <a:srgbClr val="134E4A"/>
                </a:solidFill>
                <a:latin typeface="Arial"/>
                <a:cs typeface="Arial"/>
              </a:rPr>
              <a:t>تحديث الوثيقة 02 وREADME</a:t>
            </a:r>
          </a:p>
        </p:txBody>
      </p:sp>
      <p:sp>
        <p:nvSpPr>
          <p:cNvPr id="31" name="بطاقة"/>
          <p:cNvSpPr/>
          <p:nvPr/>
        </p:nvSpPr>
        <p:spPr>
          <a:xfrm>
            <a:off x="548639" y="3634740"/>
            <a:ext cx="1999427" cy="1348740"/>
          </a:xfrm>
          <a:prstGeom prst="roundRect">
            <a:avLst>
              <a:gd name="adj" fmla="val 6000"/>
            </a:avLst>
          </a:prstGeom>
          <a:solidFill>
            <a:srgbClr val="FFFFFF"/>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رقم"/>
          <p:cNvSpPr/>
          <p:nvPr/>
        </p:nvSpPr>
        <p:spPr>
          <a:xfrm>
            <a:off x="1862267" y="3771900"/>
            <a:ext cx="502920" cy="502920"/>
          </a:xfrm>
          <a:prstGeom prst="roundRect">
            <a:avLst>
              <a:gd name="adj" fmla="val 50000"/>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rtl="1"/>
            <a:r>
              <a:rPr sz="1500" b="1" i="0" lang="ar-SA">
                <a:solidFill>
                  <a:srgbClr val="FFFFFF"/>
                </a:solidFill>
                <a:latin typeface="Arial"/>
                <a:cs typeface="Arial"/>
              </a:rPr>
              <a:t>10</a:t>
            </a:r>
          </a:p>
        </p:txBody>
      </p:sp>
      <p:sp>
        <p:nvSpPr>
          <p:cNvPr id="33" name="TextBox 32"/>
          <p:cNvSpPr txBox="1"/>
          <p:nvPr/>
        </p:nvSpPr>
        <p:spPr>
          <a:xfrm>
            <a:off x="640079" y="4366260"/>
            <a:ext cx="1816547" cy="525780"/>
          </a:xfrm>
          <a:prstGeom prst="rect">
            <a:avLst/>
          </a:prstGeom>
          <a:noFill/>
        </p:spPr>
        <p:txBody>
          <a:bodyPr wrap="square" lIns="45720" rIns="45720" tIns="27432" bIns="27432" anchor="t">
            <a:spAutoFit/>
          </a:bodyPr>
          <a:lstStyle/>
          <a:p>
            <a:pPr rtl="1" algn="r">
              <a:lnSpc>
                <a:spcPct val="105000"/>
              </a:lnSpc>
              <a:spcBef>
                <a:spcPts val="0"/>
              </a:spcBef>
              <a:spcAft>
                <a:spcPts val="0"/>
              </a:spcAft>
            </a:pPr>
            <a:r>
              <a:rPr sz="1700" b="1" i="0" lang="ar-SA">
                <a:solidFill>
                  <a:srgbClr val="134E4A"/>
                </a:solidFill>
                <a:latin typeface="Arial"/>
                <a:cs typeface="Arial"/>
              </a:rPr>
              <a:t>توقيع المشرف ثم الوسم</a:t>
            </a:r>
          </a:p>
        </p:txBody>
      </p:sp>
      <p:sp>
        <p:nvSpPr>
          <p:cNvPr id="34" name="خلاصة"/>
          <p:cNvSpPr/>
          <p:nvPr/>
        </p:nvSpPr>
        <p:spPr>
          <a:xfrm>
            <a:off x="548640" y="5120640"/>
            <a:ext cx="11094415" cy="1005840"/>
          </a:xfrm>
          <a:prstGeom prst="roundRect">
            <a:avLst>
              <a:gd name="adj" fmla="val 12000"/>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74320" tIns="18288" bIns="18288"/>
          <a:lstStyle/>
          <a:p>
            <a:pPr algn="r" rtl="1"/>
            <a:r>
              <a:rPr sz="2200" b="1" i="0" lang="ar-SA">
                <a:solidFill>
                  <a:srgbClr val="FFFFFF"/>
                </a:solidFill>
                <a:latin typeface="Arial"/>
                <a:cs typeface="Arial"/>
              </a:rPr>
              <a:t>بعد الوسم: تشغيل تأكيدي واحد بطورين وقفل SHA-256 للأحكام بينهما؛ والاستئناف بعد تعطل بيئي مأذون ومسجَّل</a:t>
            </a:r>
          </a:p>
        </p:txBody>
      </p:sp>
      <p:sp>
        <p:nvSpPr>
          <p:cNvPr id="35" name="شعار الجامعة"/>
          <p:cNvSpPr/>
          <p:nvPr/>
        </p:nvSpPr>
        <p:spPr>
          <a:xfrm>
            <a:off x="10957255" y="6382512"/>
            <a:ext cx="685800" cy="292608"/>
          </a:xfrm>
          <a:prstGeom prst="roundRect">
            <a:avLst>
              <a:gd name="adj" fmla="val 50000"/>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rtl="1"/>
            <a:r>
              <a:rPr sz="1200" b="1" i="0" lang="ar-SA">
                <a:solidFill>
                  <a:srgbClr val="FFFFFF"/>
                </a:solidFill>
                <a:latin typeface="Arial"/>
                <a:cs typeface="Arial"/>
              </a:rPr>
              <a:t>SVU</a:t>
            </a:r>
          </a:p>
        </p:txBody>
      </p:sp>
      <p:sp>
        <p:nvSpPr>
          <p:cNvPr id="36" name="تذييل"/>
          <p:cNvSpPr txBox="1"/>
          <p:nvPr/>
        </p:nvSpPr>
        <p:spPr>
          <a:xfrm>
            <a:off x="5287975" y="6373368"/>
            <a:ext cx="5577840" cy="310896"/>
          </a:xfrm>
          <a:prstGeom prst="rect">
            <a:avLst/>
          </a:prstGeom>
          <a:noFill/>
        </p:spPr>
        <p:txBody>
          <a:bodyPr wrap="square" lIns="45720" rIns="45720" tIns="27432" bIns="27432" anchor="ctr">
            <a:spAutoFit/>
          </a:bodyPr>
          <a:lstStyle/>
          <a:p>
            <a:pPr rtl="1" algn="r">
              <a:lnSpc>
                <a:spcPct val="115000"/>
              </a:lnSpc>
              <a:spcBef>
                <a:spcPts val="0"/>
              </a:spcBef>
              <a:spcAft>
                <a:spcPts val="0"/>
              </a:spcAft>
            </a:pPr>
            <a:r>
              <a:rPr sz="1200" b="0" i="0" lang="ar-SA">
                <a:solidFill>
                  <a:srgbClr val="475569"/>
                </a:solidFill>
                <a:latin typeface="Arial"/>
                <a:cs typeface="Arial"/>
              </a:rPr>
              <a:t>الجامعة الافتراضية السورية  |  ماجستير علوم الوب</a:t>
            </a:r>
          </a:p>
        </p:txBody>
      </p:sp>
      <p:sp>
        <p:nvSpPr>
          <p:cNvPr id="37" name="رقم الشريحة"/>
          <p:cNvSpPr txBox="1"/>
          <p:nvPr/>
        </p:nvSpPr>
        <p:spPr>
          <a:xfrm>
            <a:off x="548640" y="6373368"/>
            <a:ext cx="914400" cy="310896"/>
          </a:xfrm>
          <a:prstGeom prst="rect">
            <a:avLst/>
          </a:prstGeom>
          <a:noFill/>
        </p:spPr>
        <p:txBody>
          <a:bodyPr wrap="none">
            <a:spAutoFit/>
          </a:bodyPr>
          <a:lstStyle/>
          <a:p>
            <a:pPr rtl="1" algn="l"/>
            <a:fld id="{B6F15528-21DE-4FAA-801E-634DDDAF4B2B}" type="slidenum">
              <a:rPr lang="en-US" sz="1200">
                <a:solidFill>
                  <a:srgbClr val="475569"/>
                </a:solidFill>
                <a:latin typeface="Arial"/>
              </a:rPr>
              <a:t>‹#›</a:t>
            </a:fld>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العنوان"/>
          <p:cNvSpPr txBox="1"/>
          <p:nvPr/>
        </p:nvSpPr>
        <p:spPr>
          <a:xfrm>
            <a:off x="548640" y="347472"/>
            <a:ext cx="11094415" cy="868680"/>
          </a:xfrm>
          <a:prstGeom prst="rect">
            <a:avLst/>
          </a:prstGeom>
          <a:noFill/>
        </p:spPr>
        <p:txBody>
          <a:bodyPr wrap="square" lIns="45720" rIns="45720" tIns="27432" bIns="27432" anchor="ctr">
            <a:spAutoFit/>
          </a:bodyPr>
          <a:lstStyle/>
          <a:p>
            <a:pPr rtl="1" algn="r">
              <a:lnSpc>
                <a:spcPct val="115000"/>
              </a:lnSpc>
              <a:spcBef>
                <a:spcPts val="0"/>
              </a:spcBef>
              <a:spcAft>
                <a:spcPts val="0"/>
              </a:spcAft>
            </a:pPr>
            <a:r>
              <a:rPr sz="3000" b="1" i="0" lang="ar-SA">
                <a:solidFill>
                  <a:srgbClr val="134E4A"/>
                </a:solidFill>
                <a:latin typeface="Arial"/>
                <a:cs typeface="Arial"/>
              </a:rPr>
              <a:t>المعمارية: خمس طبقات باتجاه اعتماد واحد</a:t>
            </a:r>
          </a:p>
        </p:txBody>
      </p:sp>
      <p:pic>
        <p:nvPicPr>
          <p:cNvPr id="3" name="صورة" descr="الشكل: المعمارية الطبقية للمكوّنات (إعداد الباحث)"/>
          <p:cNvPicPr>
            <a:picLocks noChangeAspect="1"/>
          </p:cNvPicPr>
          <p:nvPr/>
        </p:nvPicPr>
        <p:blipFill>
          <a:blip r:embed="rId2"/>
          <a:stretch>
            <a:fillRect/>
          </a:stretch>
        </p:blipFill>
        <p:spPr>
          <a:xfrm>
            <a:off x="548640" y="1371600"/>
            <a:ext cx="5551098" cy="4526279"/>
          </a:xfrm>
          <a:prstGeom prst="rect">
            <a:avLst/>
          </a:prstGeom>
          <a:ln w="12700">
            <a:solidFill>
              <a:srgbClr val="CBD5E1"/>
            </a:solidFill>
          </a:ln>
        </p:spPr>
      </p:pic>
      <p:sp>
        <p:nvSpPr>
          <p:cNvPr id="4" name="TextBox 3"/>
          <p:cNvSpPr txBox="1"/>
          <p:nvPr/>
        </p:nvSpPr>
        <p:spPr>
          <a:xfrm>
            <a:off x="548640" y="5943599"/>
            <a:ext cx="5551098" cy="365760"/>
          </a:xfrm>
          <a:prstGeom prst="rect">
            <a:avLst/>
          </a:prstGeom>
          <a:noFill/>
        </p:spPr>
        <p:txBody>
          <a:bodyPr wrap="square" lIns="45720" rIns="45720" tIns="27432" bIns="27432" anchor="ctr">
            <a:spAutoFit/>
          </a:bodyPr>
          <a:lstStyle/>
          <a:p>
            <a:pPr rtl="1" algn="ctr">
              <a:lnSpc>
                <a:spcPct val="115000"/>
              </a:lnSpc>
              <a:spcBef>
                <a:spcPts val="0"/>
              </a:spcBef>
              <a:spcAft>
                <a:spcPts val="0"/>
              </a:spcAft>
            </a:pPr>
            <a:r>
              <a:rPr sz="1300" b="0" i="0" lang="ar-SA">
                <a:solidFill>
                  <a:srgbClr val="475569"/>
                </a:solidFill>
                <a:latin typeface="Arial"/>
                <a:cs typeface="Arial"/>
              </a:rPr>
              <a:t>الشكل: المعمارية الطبقية للمكوّنات (إعداد الباحث)</a:t>
            </a:r>
          </a:p>
        </p:txBody>
      </p:sp>
      <p:sp>
        <p:nvSpPr>
          <p:cNvPr id="5" name="بطاقة"/>
          <p:cNvSpPr/>
          <p:nvPr/>
        </p:nvSpPr>
        <p:spPr>
          <a:xfrm>
            <a:off x="6465498" y="1371600"/>
            <a:ext cx="5177557" cy="1447800"/>
          </a:xfrm>
          <a:prstGeom prst="roundRect">
            <a:avLst>
              <a:gd name="adj" fmla="val 6000"/>
            </a:avLst>
          </a:prstGeom>
          <a:solidFill>
            <a:srgbClr val="FFFFFF"/>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رقم"/>
          <p:cNvSpPr/>
          <p:nvPr/>
        </p:nvSpPr>
        <p:spPr>
          <a:xfrm>
            <a:off x="10957255" y="1554480"/>
            <a:ext cx="502920" cy="502920"/>
          </a:xfrm>
          <a:prstGeom prst="roundRect">
            <a:avLst>
              <a:gd name="adj" fmla="val 50000"/>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rtl="1"/>
            <a:r>
              <a:rPr sz="1600" b="1" i="0" lang="ar-SA">
                <a:solidFill>
                  <a:srgbClr val="FFFFFF"/>
                </a:solidFill>
                <a:latin typeface="Arial"/>
                <a:cs typeface="Arial"/>
              </a:rPr>
              <a:t>1</a:t>
            </a:r>
          </a:p>
        </p:txBody>
      </p:sp>
      <p:sp>
        <p:nvSpPr>
          <p:cNvPr id="7" name="TextBox 6"/>
          <p:cNvSpPr txBox="1"/>
          <p:nvPr/>
        </p:nvSpPr>
        <p:spPr>
          <a:xfrm>
            <a:off x="6602658" y="1444752"/>
            <a:ext cx="4263157" cy="594360"/>
          </a:xfrm>
          <a:prstGeom prst="rect">
            <a:avLst/>
          </a:prstGeom>
          <a:noFill/>
        </p:spPr>
        <p:txBody>
          <a:bodyPr wrap="square" lIns="45720" rIns="45720" tIns="27432" bIns="27432" anchor="ctr">
            <a:spAutoFit/>
          </a:bodyPr>
          <a:lstStyle/>
          <a:p>
            <a:pPr rtl="1" algn="r">
              <a:lnSpc>
                <a:spcPct val="100000"/>
              </a:lnSpc>
              <a:spcBef>
                <a:spcPts val="0"/>
              </a:spcBef>
              <a:spcAft>
                <a:spcPts val="0"/>
              </a:spcAft>
            </a:pPr>
            <a:r>
              <a:rPr sz="2100" b="1" i="0" lang="ar-SA">
                <a:solidFill>
                  <a:srgbClr val="134E4A"/>
                </a:solidFill>
                <a:latin typeface="Arial"/>
                <a:cs typeface="Arial"/>
              </a:rPr>
              <a:t>خط التجارب</a:t>
            </a:r>
          </a:p>
        </p:txBody>
      </p:sp>
      <p:sp>
        <p:nvSpPr>
          <p:cNvPr id="8" name="TextBox 7"/>
          <p:cNvSpPr txBox="1"/>
          <p:nvPr/>
        </p:nvSpPr>
        <p:spPr>
          <a:xfrm>
            <a:off x="6602658" y="2084832"/>
            <a:ext cx="4903237" cy="670560"/>
          </a:xfrm>
          <a:prstGeom prst="rect">
            <a:avLst/>
          </a:prstGeom>
          <a:noFill/>
        </p:spPr>
        <p:txBody>
          <a:bodyPr wrap="square" lIns="45720" rIns="45720" tIns="27432" bIns="27432" anchor="t">
            <a:spAutoFit/>
          </a:bodyPr>
          <a:lstStyle/>
          <a:p>
            <a:pPr rtl="1" algn="r">
              <a:lnSpc>
                <a:spcPct val="110000"/>
              </a:lnSpc>
              <a:spcBef>
                <a:spcPts val="0"/>
              </a:spcBef>
              <a:spcAft>
                <a:spcPts val="0"/>
              </a:spcAft>
            </a:pPr>
            <a:r>
              <a:rPr sz="1700" b="0" i="0" lang="ar-SA">
                <a:solidFill>
                  <a:srgbClr val="475569"/>
                </a:solidFill>
                <a:latin typeface="Arial"/>
                <a:cs typeface="Arial"/>
              </a:rPr>
              <a:t>يُنتج النتائج ومخرجات القطوع</a:t>
            </a:r>
          </a:p>
        </p:txBody>
      </p:sp>
      <p:sp>
        <p:nvSpPr>
          <p:cNvPr id="9" name="بطاقة"/>
          <p:cNvSpPr/>
          <p:nvPr/>
        </p:nvSpPr>
        <p:spPr>
          <a:xfrm>
            <a:off x="6465498" y="3047999"/>
            <a:ext cx="5177557" cy="1447800"/>
          </a:xfrm>
          <a:prstGeom prst="roundRect">
            <a:avLst>
              <a:gd name="adj" fmla="val 6000"/>
            </a:avLst>
          </a:prstGeom>
          <a:solidFill>
            <a:srgbClr val="FFFFFF"/>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رقم"/>
          <p:cNvSpPr/>
          <p:nvPr/>
        </p:nvSpPr>
        <p:spPr>
          <a:xfrm>
            <a:off x="10957255" y="3230880"/>
            <a:ext cx="502920" cy="502920"/>
          </a:xfrm>
          <a:prstGeom prst="roundRect">
            <a:avLst>
              <a:gd name="adj" fmla="val 50000"/>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rtl="1"/>
            <a:r>
              <a:rPr sz="1600" b="1" i="0" lang="ar-SA">
                <a:solidFill>
                  <a:srgbClr val="FFFFFF"/>
                </a:solidFill>
                <a:latin typeface="Arial"/>
                <a:cs typeface="Arial"/>
              </a:rPr>
              <a:t>2</a:t>
            </a:r>
          </a:p>
        </p:txBody>
      </p:sp>
      <p:sp>
        <p:nvSpPr>
          <p:cNvPr id="11" name="TextBox 10"/>
          <p:cNvSpPr txBox="1"/>
          <p:nvPr/>
        </p:nvSpPr>
        <p:spPr>
          <a:xfrm>
            <a:off x="6602658" y="3121152"/>
            <a:ext cx="4263157" cy="594360"/>
          </a:xfrm>
          <a:prstGeom prst="rect">
            <a:avLst/>
          </a:prstGeom>
          <a:noFill/>
        </p:spPr>
        <p:txBody>
          <a:bodyPr wrap="square" lIns="45720" rIns="45720" tIns="27432" bIns="27432" anchor="ctr">
            <a:spAutoFit/>
          </a:bodyPr>
          <a:lstStyle/>
          <a:p>
            <a:pPr rtl="1" algn="r">
              <a:lnSpc>
                <a:spcPct val="100000"/>
              </a:lnSpc>
              <a:spcBef>
                <a:spcPts val="0"/>
              </a:spcBef>
              <a:spcAft>
                <a:spcPts val="0"/>
              </a:spcAft>
            </a:pPr>
            <a:r>
              <a:rPr sz="2100" b="1" i="0" lang="ar-SA">
                <a:solidFill>
                  <a:srgbClr val="134E4A"/>
                </a:solidFill>
                <a:latin typeface="Arial"/>
                <a:cs typeface="Arial"/>
              </a:rPr>
              <a:t>serving.Engine</a:t>
            </a:r>
          </a:p>
        </p:txBody>
      </p:sp>
      <p:sp>
        <p:nvSpPr>
          <p:cNvPr id="12" name="TextBox 11"/>
          <p:cNvSpPr txBox="1"/>
          <p:nvPr/>
        </p:nvSpPr>
        <p:spPr>
          <a:xfrm>
            <a:off x="6602658" y="3761232"/>
            <a:ext cx="4903237" cy="670560"/>
          </a:xfrm>
          <a:prstGeom prst="rect">
            <a:avLst/>
          </a:prstGeom>
          <a:noFill/>
        </p:spPr>
        <p:txBody>
          <a:bodyPr wrap="square" lIns="45720" rIns="45720" tIns="27432" bIns="27432" anchor="t">
            <a:spAutoFit/>
          </a:bodyPr>
          <a:lstStyle/>
          <a:p>
            <a:pPr rtl="1" algn="r">
              <a:lnSpc>
                <a:spcPct val="110000"/>
              </a:lnSpc>
              <a:spcBef>
                <a:spcPts val="0"/>
              </a:spcBef>
              <a:spcAft>
                <a:spcPts val="0"/>
              </a:spcAft>
            </a:pPr>
            <a:r>
              <a:rPr sz="1700" b="0" i="0" lang="ar-SA">
                <a:solidFill>
                  <a:srgbClr val="475569"/>
                </a:solidFill>
                <a:latin typeface="Arial"/>
                <a:cs typeface="Arial"/>
              </a:rPr>
              <a:t>المكان الوحيد لحساب التوصية والتفسير</a:t>
            </a:r>
          </a:p>
        </p:txBody>
      </p:sp>
      <p:sp>
        <p:nvSpPr>
          <p:cNvPr id="13" name="بطاقة"/>
          <p:cNvSpPr/>
          <p:nvPr/>
        </p:nvSpPr>
        <p:spPr>
          <a:xfrm>
            <a:off x="6465498" y="4724399"/>
            <a:ext cx="5177557" cy="1447800"/>
          </a:xfrm>
          <a:prstGeom prst="roundRect">
            <a:avLst>
              <a:gd name="adj" fmla="val 6000"/>
            </a:avLst>
          </a:prstGeom>
          <a:solidFill>
            <a:srgbClr val="FFFFFF"/>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رقم"/>
          <p:cNvSpPr/>
          <p:nvPr/>
        </p:nvSpPr>
        <p:spPr>
          <a:xfrm>
            <a:off x="10957255" y="4907280"/>
            <a:ext cx="502920" cy="502920"/>
          </a:xfrm>
          <a:prstGeom prst="roundRect">
            <a:avLst>
              <a:gd name="adj" fmla="val 50000"/>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rtl="1"/>
            <a:r>
              <a:rPr sz="1600" b="1" i="0" lang="ar-SA">
                <a:solidFill>
                  <a:srgbClr val="FFFFFF"/>
                </a:solidFill>
                <a:latin typeface="Arial"/>
                <a:cs typeface="Arial"/>
              </a:rPr>
              <a:t>3</a:t>
            </a:r>
          </a:p>
        </p:txBody>
      </p:sp>
      <p:sp>
        <p:nvSpPr>
          <p:cNvPr id="15" name="TextBox 14"/>
          <p:cNvSpPr txBox="1"/>
          <p:nvPr/>
        </p:nvSpPr>
        <p:spPr>
          <a:xfrm>
            <a:off x="6602658" y="4797551"/>
            <a:ext cx="4263157" cy="594360"/>
          </a:xfrm>
          <a:prstGeom prst="rect">
            <a:avLst/>
          </a:prstGeom>
          <a:noFill/>
        </p:spPr>
        <p:txBody>
          <a:bodyPr wrap="square" lIns="45720" rIns="45720" tIns="27432" bIns="27432" anchor="ctr">
            <a:spAutoFit/>
          </a:bodyPr>
          <a:lstStyle/>
          <a:p>
            <a:pPr rtl="1" algn="r">
              <a:lnSpc>
                <a:spcPct val="100000"/>
              </a:lnSpc>
              <a:spcBef>
                <a:spcPts val="0"/>
              </a:spcBef>
              <a:spcAft>
                <a:spcPts val="0"/>
              </a:spcAft>
            </a:pPr>
            <a:r>
              <a:rPr sz="2100" b="1" i="0" lang="ar-SA">
                <a:solidFill>
                  <a:srgbClr val="134E4A"/>
                </a:solidFill>
                <a:latin typeface="Arial"/>
                <a:cs typeface="Arial"/>
              </a:rPr>
              <a:t>الواجهة</a:t>
            </a:r>
          </a:p>
        </p:txBody>
      </p:sp>
      <p:sp>
        <p:nvSpPr>
          <p:cNvPr id="16" name="TextBox 15"/>
          <p:cNvSpPr txBox="1"/>
          <p:nvPr/>
        </p:nvSpPr>
        <p:spPr>
          <a:xfrm>
            <a:off x="6602658" y="5437632"/>
            <a:ext cx="4903237" cy="670560"/>
          </a:xfrm>
          <a:prstGeom prst="rect">
            <a:avLst/>
          </a:prstGeom>
          <a:noFill/>
        </p:spPr>
        <p:txBody>
          <a:bodyPr wrap="square" lIns="45720" rIns="45720" tIns="27432" bIns="27432" anchor="t">
            <a:spAutoFit/>
          </a:bodyPr>
          <a:lstStyle/>
          <a:p>
            <a:pPr rtl="1" algn="r">
              <a:lnSpc>
                <a:spcPct val="110000"/>
              </a:lnSpc>
              <a:spcBef>
                <a:spcPts val="0"/>
              </a:spcBef>
              <a:spcAft>
                <a:spcPts val="0"/>
              </a:spcAft>
            </a:pPr>
            <a:r>
              <a:rPr sz="1700" b="0" i="0" lang="ar-SA">
                <a:solidFill>
                  <a:srgbClr val="475569"/>
                </a:solidFill>
                <a:latin typeface="Arial"/>
                <a:cs typeface="Arial"/>
              </a:rPr>
              <a:t>صفحتا المتعلم والمدرّس</a:t>
            </a:r>
          </a:p>
        </p:txBody>
      </p:sp>
      <p:sp>
        <p:nvSpPr>
          <p:cNvPr id="17" name="شعار الجامعة"/>
          <p:cNvSpPr/>
          <p:nvPr/>
        </p:nvSpPr>
        <p:spPr>
          <a:xfrm>
            <a:off x="10957255" y="6382512"/>
            <a:ext cx="685800" cy="292608"/>
          </a:xfrm>
          <a:prstGeom prst="roundRect">
            <a:avLst>
              <a:gd name="adj" fmla="val 50000"/>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rtl="1"/>
            <a:r>
              <a:rPr sz="1200" b="1" i="0" lang="ar-SA">
                <a:solidFill>
                  <a:srgbClr val="FFFFFF"/>
                </a:solidFill>
                <a:latin typeface="Arial"/>
                <a:cs typeface="Arial"/>
              </a:rPr>
              <a:t>SVU</a:t>
            </a:r>
          </a:p>
        </p:txBody>
      </p:sp>
      <p:sp>
        <p:nvSpPr>
          <p:cNvPr id="18" name="تذييل"/>
          <p:cNvSpPr txBox="1"/>
          <p:nvPr/>
        </p:nvSpPr>
        <p:spPr>
          <a:xfrm>
            <a:off x="5287975" y="6373368"/>
            <a:ext cx="5577840" cy="310896"/>
          </a:xfrm>
          <a:prstGeom prst="rect">
            <a:avLst/>
          </a:prstGeom>
          <a:noFill/>
        </p:spPr>
        <p:txBody>
          <a:bodyPr wrap="square" lIns="45720" rIns="45720" tIns="27432" bIns="27432" anchor="ctr">
            <a:spAutoFit/>
          </a:bodyPr>
          <a:lstStyle/>
          <a:p>
            <a:pPr rtl="1" algn="r">
              <a:lnSpc>
                <a:spcPct val="115000"/>
              </a:lnSpc>
              <a:spcBef>
                <a:spcPts val="0"/>
              </a:spcBef>
              <a:spcAft>
                <a:spcPts val="0"/>
              </a:spcAft>
            </a:pPr>
            <a:r>
              <a:rPr sz="1200" b="0" i="0" lang="ar-SA">
                <a:solidFill>
                  <a:srgbClr val="475569"/>
                </a:solidFill>
                <a:latin typeface="Arial"/>
                <a:cs typeface="Arial"/>
              </a:rPr>
              <a:t>الجامعة الافتراضية السورية  |  ماجستير علوم الوب</a:t>
            </a:r>
          </a:p>
        </p:txBody>
      </p:sp>
      <p:sp>
        <p:nvSpPr>
          <p:cNvPr id="19" name="رقم الشريحة"/>
          <p:cNvSpPr txBox="1"/>
          <p:nvPr/>
        </p:nvSpPr>
        <p:spPr>
          <a:xfrm>
            <a:off x="548640" y="6373368"/>
            <a:ext cx="914400" cy="310896"/>
          </a:xfrm>
          <a:prstGeom prst="rect">
            <a:avLst/>
          </a:prstGeom>
          <a:noFill/>
        </p:spPr>
        <p:txBody>
          <a:bodyPr wrap="none">
            <a:spAutoFit/>
          </a:bodyPr>
          <a:lstStyle/>
          <a:p>
            <a:pPr rtl="1" algn="l"/>
            <a:fld id="{B6F15528-21DE-4FAA-801E-634DDDAF4B2B}" type="slidenum">
              <a:rPr lang="en-US" sz="1200">
                <a:solidFill>
                  <a:srgbClr val="475569"/>
                </a:solidFill>
                <a:latin typeface="Arial"/>
              </a:rPr>
              <a:t>‹#›</a:t>
            </a:fld>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العنوان"/>
          <p:cNvSpPr txBox="1"/>
          <p:nvPr/>
        </p:nvSpPr>
        <p:spPr>
          <a:xfrm>
            <a:off x="548640" y="347472"/>
            <a:ext cx="11094415" cy="868680"/>
          </a:xfrm>
          <a:prstGeom prst="rect">
            <a:avLst/>
          </a:prstGeom>
          <a:noFill/>
        </p:spPr>
        <p:txBody>
          <a:bodyPr wrap="square" lIns="45720" rIns="45720" tIns="27432" bIns="27432" anchor="ctr">
            <a:spAutoFit/>
          </a:bodyPr>
          <a:lstStyle/>
          <a:p>
            <a:pPr rtl="1" algn="r">
              <a:lnSpc>
                <a:spcPct val="115000"/>
              </a:lnSpc>
              <a:spcBef>
                <a:spcPts val="0"/>
              </a:spcBef>
              <a:spcAft>
                <a:spcPts val="0"/>
              </a:spcAft>
            </a:pPr>
            <a:r>
              <a:rPr sz="3000" b="1" i="0" lang="ar-SA">
                <a:solidFill>
                  <a:srgbClr val="134E4A"/>
                </a:solidFill>
                <a:latin typeface="Arial"/>
                <a:cs typeface="Arial"/>
              </a:rPr>
              <a:t>واجهة المتعلم: أفضل 10 موارد جديدة مع تفسير</a:t>
            </a:r>
          </a:p>
        </p:txBody>
      </p:sp>
      <p:pic>
        <p:nvPicPr>
          <p:cNvPr id="3" name="صورة" descr="لقطة توضيحية لصفحة المتعلم (إعادة تشغيل تاريخية)"/>
          <p:cNvPicPr>
            <a:picLocks noChangeAspect="1"/>
          </p:cNvPicPr>
          <p:nvPr/>
        </p:nvPicPr>
        <p:blipFill>
          <a:blip r:embed="rId2"/>
          <a:srcRect b="50000"/>
          <a:stretch>
            <a:fillRect/>
          </a:stretch>
        </p:blipFill>
        <p:spPr>
          <a:xfrm>
            <a:off x="548640" y="1371600"/>
            <a:ext cx="6018322" cy="4526279"/>
          </a:xfrm>
          <a:prstGeom prst="rect">
            <a:avLst/>
          </a:prstGeom>
          <a:ln w="12700">
            <a:solidFill>
              <a:srgbClr val="CBD5E1"/>
            </a:solidFill>
          </a:ln>
        </p:spPr>
      </p:pic>
      <p:sp>
        <p:nvSpPr>
          <p:cNvPr id="4" name="TextBox 3"/>
          <p:cNvSpPr txBox="1"/>
          <p:nvPr/>
        </p:nvSpPr>
        <p:spPr>
          <a:xfrm>
            <a:off x="548640" y="5943599"/>
            <a:ext cx="6018322" cy="365760"/>
          </a:xfrm>
          <a:prstGeom prst="rect">
            <a:avLst/>
          </a:prstGeom>
          <a:noFill/>
        </p:spPr>
        <p:txBody>
          <a:bodyPr wrap="square" lIns="45720" rIns="45720" tIns="27432" bIns="27432" anchor="ctr">
            <a:spAutoFit/>
          </a:bodyPr>
          <a:lstStyle/>
          <a:p>
            <a:pPr rtl="1" algn="ctr">
              <a:lnSpc>
                <a:spcPct val="115000"/>
              </a:lnSpc>
              <a:spcBef>
                <a:spcPts val="0"/>
              </a:spcBef>
              <a:spcAft>
                <a:spcPts val="0"/>
              </a:spcAft>
            </a:pPr>
            <a:r>
              <a:rPr sz="1300" b="0" i="0" lang="ar-SA">
                <a:solidFill>
                  <a:srgbClr val="475569"/>
                </a:solidFill>
                <a:latin typeface="Arial"/>
                <a:cs typeface="Arial"/>
              </a:rPr>
              <a:t>لقطة توضيحية لصفحة المتعلم (إعادة تشغيل تاريخية)</a:t>
            </a:r>
          </a:p>
        </p:txBody>
      </p:sp>
      <p:sp>
        <p:nvSpPr>
          <p:cNvPr id="5" name="بطاقة"/>
          <p:cNvSpPr/>
          <p:nvPr/>
        </p:nvSpPr>
        <p:spPr>
          <a:xfrm>
            <a:off x="6932722" y="1371600"/>
            <a:ext cx="4710332" cy="1447800"/>
          </a:xfrm>
          <a:prstGeom prst="roundRect">
            <a:avLst>
              <a:gd name="adj" fmla="val 6000"/>
            </a:avLst>
          </a:prstGeom>
          <a:solidFill>
            <a:srgbClr val="FFFFFF"/>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رقم"/>
          <p:cNvSpPr/>
          <p:nvPr/>
        </p:nvSpPr>
        <p:spPr>
          <a:xfrm>
            <a:off x="10957255" y="1554480"/>
            <a:ext cx="502920" cy="502920"/>
          </a:xfrm>
          <a:prstGeom prst="roundRect">
            <a:avLst>
              <a:gd name="adj" fmla="val 50000"/>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rtl="1"/>
            <a:r>
              <a:rPr sz="1600" b="1" i="0" lang="ar-SA">
                <a:solidFill>
                  <a:srgbClr val="FFFFFF"/>
                </a:solidFill>
                <a:latin typeface="Arial"/>
                <a:cs typeface="Arial"/>
              </a:rPr>
              <a:t>1</a:t>
            </a:r>
          </a:p>
        </p:txBody>
      </p:sp>
      <p:sp>
        <p:nvSpPr>
          <p:cNvPr id="7" name="TextBox 6"/>
          <p:cNvSpPr txBox="1"/>
          <p:nvPr/>
        </p:nvSpPr>
        <p:spPr>
          <a:xfrm>
            <a:off x="7069882" y="1444752"/>
            <a:ext cx="3795932" cy="594360"/>
          </a:xfrm>
          <a:prstGeom prst="rect">
            <a:avLst/>
          </a:prstGeom>
          <a:noFill/>
        </p:spPr>
        <p:txBody>
          <a:bodyPr wrap="square" lIns="45720" rIns="45720" tIns="27432" bIns="27432" anchor="ctr">
            <a:spAutoFit/>
          </a:bodyPr>
          <a:lstStyle/>
          <a:p>
            <a:pPr rtl="1" algn="r">
              <a:lnSpc>
                <a:spcPct val="100000"/>
              </a:lnSpc>
              <a:spcBef>
                <a:spcPts val="0"/>
              </a:spcBef>
              <a:spcAft>
                <a:spcPts val="0"/>
              </a:spcAft>
            </a:pPr>
            <a:r>
              <a:rPr sz="2100" b="1" i="0" lang="ar-SA">
                <a:solidFill>
                  <a:srgbClr val="134E4A"/>
                </a:solidFill>
                <a:latin typeface="Arial"/>
                <a:cs typeface="Arial"/>
              </a:rPr>
              <a:t>شريط اليوم</a:t>
            </a:r>
          </a:p>
        </p:txBody>
      </p:sp>
      <p:sp>
        <p:nvSpPr>
          <p:cNvPr id="8" name="TextBox 7"/>
          <p:cNvSpPr txBox="1"/>
          <p:nvPr/>
        </p:nvSpPr>
        <p:spPr>
          <a:xfrm>
            <a:off x="7069882" y="2084832"/>
            <a:ext cx="4436012" cy="670560"/>
          </a:xfrm>
          <a:prstGeom prst="rect">
            <a:avLst/>
          </a:prstGeom>
          <a:noFill/>
        </p:spPr>
        <p:txBody>
          <a:bodyPr wrap="square" lIns="45720" rIns="45720" tIns="27432" bIns="27432" anchor="t">
            <a:spAutoFit/>
          </a:bodyPr>
          <a:lstStyle/>
          <a:p>
            <a:pPr rtl="1" algn="r">
              <a:lnSpc>
                <a:spcPct val="110000"/>
              </a:lnSpc>
              <a:spcBef>
                <a:spcPts val="0"/>
              </a:spcBef>
              <a:spcAft>
                <a:spcPts val="0"/>
              </a:spcAft>
            </a:pPr>
            <a:r>
              <a:rPr sz="1700" b="0" i="0" lang="ar-SA">
                <a:solidFill>
                  <a:srgbClr val="475569"/>
                </a:solidFill>
                <a:latin typeface="Arial"/>
                <a:cs typeface="Arial"/>
              </a:rPr>
              <a:t>إعادة تشغيل تاريخية عند أي يوم وقطع</a:t>
            </a:r>
          </a:p>
        </p:txBody>
      </p:sp>
      <p:sp>
        <p:nvSpPr>
          <p:cNvPr id="9" name="بطاقة"/>
          <p:cNvSpPr/>
          <p:nvPr/>
        </p:nvSpPr>
        <p:spPr>
          <a:xfrm>
            <a:off x="6932722" y="3047999"/>
            <a:ext cx="4710332" cy="1447800"/>
          </a:xfrm>
          <a:prstGeom prst="roundRect">
            <a:avLst>
              <a:gd name="adj" fmla="val 6000"/>
            </a:avLst>
          </a:prstGeom>
          <a:solidFill>
            <a:srgbClr val="FFFFFF"/>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رقم"/>
          <p:cNvSpPr/>
          <p:nvPr/>
        </p:nvSpPr>
        <p:spPr>
          <a:xfrm>
            <a:off x="10957255" y="3230880"/>
            <a:ext cx="502920" cy="502920"/>
          </a:xfrm>
          <a:prstGeom prst="roundRect">
            <a:avLst>
              <a:gd name="adj" fmla="val 50000"/>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rtl="1"/>
            <a:r>
              <a:rPr sz="1600" b="1" i="0" lang="ar-SA">
                <a:solidFill>
                  <a:srgbClr val="FFFFFF"/>
                </a:solidFill>
                <a:latin typeface="Arial"/>
                <a:cs typeface="Arial"/>
              </a:rPr>
              <a:t>2</a:t>
            </a:r>
          </a:p>
        </p:txBody>
      </p:sp>
      <p:sp>
        <p:nvSpPr>
          <p:cNvPr id="11" name="TextBox 10"/>
          <p:cNvSpPr txBox="1"/>
          <p:nvPr/>
        </p:nvSpPr>
        <p:spPr>
          <a:xfrm>
            <a:off x="7069882" y="3121152"/>
            <a:ext cx="3795932" cy="594360"/>
          </a:xfrm>
          <a:prstGeom prst="rect">
            <a:avLst/>
          </a:prstGeom>
          <a:noFill/>
        </p:spPr>
        <p:txBody>
          <a:bodyPr wrap="square" lIns="45720" rIns="45720" tIns="27432" bIns="27432" anchor="ctr">
            <a:spAutoFit/>
          </a:bodyPr>
          <a:lstStyle/>
          <a:p>
            <a:pPr rtl="1" algn="r">
              <a:lnSpc>
                <a:spcPct val="100000"/>
              </a:lnSpc>
              <a:spcBef>
                <a:spcPts val="0"/>
              </a:spcBef>
              <a:spcAft>
                <a:spcPts val="0"/>
              </a:spcAft>
            </a:pPr>
            <a:r>
              <a:rPr sz="2100" b="1" i="0" lang="ar-SA">
                <a:solidFill>
                  <a:srgbClr val="134E4A"/>
                </a:solidFill>
                <a:latin typeface="Arial"/>
                <a:cs typeface="Arial"/>
              </a:rPr>
              <a:t>بطاقة لكل مورد</a:t>
            </a:r>
          </a:p>
        </p:txBody>
      </p:sp>
      <p:sp>
        <p:nvSpPr>
          <p:cNvPr id="12" name="TextBox 11"/>
          <p:cNvSpPr txBox="1"/>
          <p:nvPr/>
        </p:nvSpPr>
        <p:spPr>
          <a:xfrm>
            <a:off x="7069882" y="3761232"/>
            <a:ext cx="4436012" cy="670560"/>
          </a:xfrm>
          <a:prstGeom prst="rect">
            <a:avLst/>
          </a:prstGeom>
          <a:noFill/>
        </p:spPr>
        <p:txBody>
          <a:bodyPr wrap="square" lIns="45720" rIns="45720" tIns="27432" bIns="27432" anchor="t">
            <a:spAutoFit/>
          </a:bodyPr>
          <a:lstStyle/>
          <a:p>
            <a:pPr rtl="1" algn="r">
              <a:lnSpc>
                <a:spcPct val="110000"/>
              </a:lnSpc>
              <a:spcBef>
                <a:spcPts val="0"/>
              </a:spcBef>
              <a:spcAft>
                <a:spcPts val="0"/>
              </a:spcAft>
            </a:pPr>
            <a:r>
              <a:rPr sz="1700" b="0" i="0" lang="ar-SA">
                <a:solidFill>
                  <a:srgbClr val="475569"/>
                </a:solidFill>
                <a:latin typeface="Arial"/>
                <a:cs typeface="Arial"/>
              </a:rPr>
              <a:t>الدرجة وجملة سبب بسيطة</a:t>
            </a:r>
          </a:p>
        </p:txBody>
      </p:sp>
      <p:sp>
        <p:nvSpPr>
          <p:cNvPr id="13" name="بطاقة"/>
          <p:cNvSpPr/>
          <p:nvPr/>
        </p:nvSpPr>
        <p:spPr>
          <a:xfrm>
            <a:off x="6932722" y="4724399"/>
            <a:ext cx="4710332" cy="1447800"/>
          </a:xfrm>
          <a:prstGeom prst="roundRect">
            <a:avLst>
              <a:gd name="adj" fmla="val 6000"/>
            </a:avLst>
          </a:prstGeom>
          <a:solidFill>
            <a:srgbClr val="FFFFFF"/>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رقم"/>
          <p:cNvSpPr/>
          <p:nvPr/>
        </p:nvSpPr>
        <p:spPr>
          <a:xfrm>
            <a:off x="10957255" y="4907280"/>
            <a:ext cx="502920" cy="502920"/>
          </a:xfrm>
          <a:prstGeom prst="roundRect">
            <a:avLst>
              <a:gd name="adj" fmla="val 50000"/>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rtl="1"/>
            <a:r>
              <a:rPr sz="1600" b="1" i="0" lang="ar-SA">
                <a:solidFill>
                  <a:srgbClr val="FFFFFF"/>
                </a:solidFill>
                <a:latin typeface="Arial"/>
                <a:cs typeface="Arial"/>
              </a:rPr>
              <a:t>3</a:t>
            </a:r>
          </a:p>
        </p:txBody>
      </p:sp>
      <p:sp>
        <p:nvSpPr>
          <p:cNvPr id="15" name="TextBox 14"/>
          <p:cNvSpPr txBox="1"/>
          <p:nvPr/>
        </p:nvSpPr>
        <p:spPr>
          <a:xfrm>
            <a:off x="7069882" y="4797551"/>
            <a:ext cx="3795932" cy="594360"/>
          </a:xfrm>
          <a:prstGeom prst="rect">
            <a:avLst/>
          </a:prstGeom>
          <a:noFill/>
        </p:spPr>
        <p:txBody>
          <a:bodyPr wrap="square" lIns="45720" rIns="45720" tIns="27432" bIns="27432" anchor="ctr">
            <a:spAutoFit/>
          </a:bodyPr>
          <a:lstStyle/>
          <a:p>
            <a:pPr rtl="1" algn="r">
              <a:lnSpc>
                <a:spcPct val="100000"/>
              </a:lnSpc>
              <a:spcBef>
                <a:spcPts val="0"/>
              </a:spcBef>
              <a:spcAft>
                <a:spcPts val="0"/>
              </a:spcAft>
            </a:pPr>
            <a:r>
              <a:rPr sz="2100" b="1" i="0" lang="ar-SA">
                <a:solidFill>
                  <a:srgbClr val="134E4A"/>
                </a:solidFill>
                <a:latin typeface="Arial"/>
                <a:cs typeface="Arial"/>
              </a:rPr>
              <a:t>مساهمة المكوّنات</a:t>
            </a:r>
          </a:p>
        </p:txBody>
      </p:sp>
      <p:sp>
        <p:nvSpPr>
          <p:cNvPr id="16" name="TextBox 15"/>
          <p:cNvSpPr txBox="1"/>
          <p:nvPr/>
        </p:nvSpPr>
        <p:spPr>
          <a:xfrm>
            <a:off x="7069882" y="5437632"/>
            <a:ext cx="4436012" cy="670560"/>
          </a:xfrm>
          <a:prstGeom prst="rect">
            <a:avLst/>
          </a:prstGeom>
          <a:noFill/>
        </p:spPr>
        <p:txBody>
          <a:bodyPr wrap="square" lIns="45720" rIns="45720" tIns="27432" bIns="27432" anchor="t">
            <a:spAutoFit/>
          </a:bodyPr>
          <a:lstStyle/>
          <a:p>
            <a:pPr rtl="1" algn="r">
              <a:lnSpc>
                <a:spcPct val="110000"/>
              </a:lnSpc>
              <a:spcBef>
                <a:spcPts val="0"/>
              </a:spcBef>
              <a:spcAft>
                <a:spcPts val="0"/>
              </a:spcAft>
            </a:pPr>
            <a:r>
              <a:rPr sz="1700" b="0" i="0" lang="ar-SA">
                <a:solidFill>
                  <a:srgbClr val="475569"/>
                </a:solidFill>
                <a:latin typeface="Arial"/>
                <a:cs typeface="Arial"/>
              </a:rPr>
              <a:t>شريط ملوّن واسم المكوّن نصاً</a:t>
            </a:r>
          </a:p>
        </p:txBody>
      </p:sp>
      <p:sp>
        <p:nvSpPr>
          <p:cNvPr id="17" name="شعار الجامعة"/>
          <p:cNvSpPr/>
          <p:nvPr/>
        </p:nvSpPr>
        <p:spPr>
          <a:xfrm>
            <a:off x="10957255" y="6382512"/>
            <a:ext cx="685800" cy="292608"/>
          </a:xfrm>
          <a:prstGeom prst="roundRect">
            <a:avLst>
              <a:gd name="adj" fmla="val 50000"/>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rtl="1"/>
            <a:r>
              <a:rPr sz="1200" b="1" i="0" lang="ar-SA">
                <a:solidFill>
                  <a:srgbClr val="FFFFFF"/>
                </a:solidFill>
                <a:latin typeface="Arial"/>
                <a:cs typeface="Arial"/>
              </a:rPr>
              <a:t>SVU</a:t>
            </a:r>
          </a:p>
        </p:txBody>
      </p:sp>
      <p:sp>
        <p:nvSpPr>
          <p:cNvPr id="18" name="تذييل"/>
          <p:cNvSpPr txBox="1"/>
          <p:nvPr/>
        </p:nvSpPr>
        <p:spPr>
          <a:xfrm>
            <a:off x="5287975" y="6373368"/>
            <a:ext cx="5577840" cy="310896"/>
          </a:xfrm>
          <a:prstGeom prst="rect">
            <a:avLst/>
          </a:prstGeom>
          <a:noFill/>
        </p:spPr>
        <p:txBody>
          <a:bodyPr wrap="square" lIns="45720" rIns="45720" tIns="27432" bIns="27432" anchor="ctr">
            <a:spAutoFit/>
          </a:bodyPr>
          <a:lstStyle/>
          <a:p>
            <a:pPr rtl="1" algn="r">
              <a:lnSpc>
                <a:spcPct val="115000"/>
              </a:lnSpc>
              <a:spcBef>
                <a:spcPts val="0"/>
              </a:spcBef>
              <a:spcAft>
                <a:spcPts val="0"/>
              </a:spcAft>
            </a:pPr>
            <a:r>
              <a:rPr sz="1200" b="0" i="0" lang="ar-SA">
                <a:solidFill>
                  <a:srgbClr val="475569"/>
                </a:solidFill>
                <a:latin typeface="Arial"/>
                <a:cs typeface="Arial"/>
              </a:rPr>
              <a:t>الجامعة الافتراضية السورية  |  ماجستير علوم الوب</a:t>
            </a:r>
          </a:p>
        </p:txBody>
      </p:sp>
      <p:sp>
        <p:nvSpPr>
          <p:cNvPr id="19" name="رقم الشريحة"/>
          <p:cNvSpPr txBox="1"/>
          <p:nvPr/>
        </p:nvSpPr>
        <p:spPr>
          <a:xfrm>
            <a:off x="548640" y="6373368"/>
            <a:ext cx="914400" cy="310896"/>
          </a:xfrm>
          <a:prstGeom prst="rect">
            <a:avLst/>
          </a:prstGeom>
          <a:noFill/>
        </p:spPr>
        <p:txBody>
          <a:bodyPr wrap="none">
            <a:spAutoFit/>
          </a:bodyPr>
          <a:lstStyle/>
          <a:p>
            <a:pPr rtl="1" algn="l"/>
            <a:fld id="{B6F15528-21DE-4FAA-801E-634DDDAF4B2B}" type="slidenum">
              <a:rPr lang="en-US" sz="1200">
                <a:solidFill>
                  <a:srgbClr val="475569"/>
                </a:solidFill>
                <a:latin typeface="Arial"/>
              </a:rPr>
              <a:t>‹#›</a:t>
            </a:fld>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العنوان"/>
          <p:cNvSpPr txBox="1"/>
          <p:nvPr/>
        </p:nvSpPr>
        <p:spPr>
          <a:xfrm>
            <a:off x="548640" y="347472"/>
            <a:ext cx="11094415" cy="868680"/>
          </a:xfrm>
          <a:prstGeom prst="rect">
            <a:avLst/>
          </a:prstGeom>
          <a:noFill/>
        </p:spPr>
        <p:txBody>
          <a:bodyPr wrap="square" lIns="45720" rIns="45720" tIns="27432" bIns="27432" anchor="ctr">
            <a:spAutoFit/>
          </a:bodyPr>
          <a:lstStyle/>
          <a:p>
            <a:pPr rtl="1" algn="r">
              <a:lnSpc>
                <a:spcPct val="115000"/>
              </a:lnSpc>
              <a:spcBef>
                <a:spcPts val="0"/>
              </a:spcBef>
              <a:spcAft>
                <a:spcPts val="0"/>
              </a:spcAft>
            </a:pPr>
            <a:r>
              <a:rPr sz="3000" b="1" i="0" lang="ar-SA">
                <a:solidFill>
                  <a:srgbClr val="134E4A"/>
                </a:solidFill>
                <a:latin typeface="Arial"/>
                <a:cs typeface="Arial"/>
              </a:rPr>
              <a:t>لوحة المدرّس: درجة خطر نسبية وملف المتعلم</a:t>
            </a:r>
          </a:p>
        </p:txBody>
      </p:sp>
      <p:pic>
        <p:nvPicPr>
          <p:cNvPr id="3" name="صورة" descr="لقطة توضيحية: درج ملف المتعلم"/>
          <p:cNvPicPr>
            <a:picLocks noChangeAspect="1"/>
          </p:cNvPicPr>
          <p:nvPr/>
        </p:nvPicPr>
        <p:blipFill>
          <a:blip r:embed="rId2"/>
          <a:stretch>
            <a:fillRect/>
          </a:stretch>
        </p:blipFill>
        <p:spPr>
          <a:xfrm>
            <a:off x="548640" y="1405889"/>
            <a:ext cx="7132320" cy="4457700"/>
          </a:xfrm>
          <a:prstGeom prst="rect">
            <a:avLst/>
          </a:prstGeom>
          <a:ln w="12700">
            <a:solidFill>
              <a:srgbClr val="CBD5E1"/>
            </a:solidFill>
          </a:ln>
        </p:spPr>
      </p:pic>
      <p:sp>
        <p:nvSpPr>
          <p:cNvPr id="4" name="TextBox 3"/>
          <p:cNvSpPr txBox="1"/>
          <p:nvPr/>
        </p:nvSpPr>
        <p:spPr>
          <a:xfrm>
            <a:off x="548640" y="5909309"/>
            <a:ext cx="7132320" cy="365760"/>
          </a:xfrm>
          <a:prstGeom prst="rect">
            <a:avLst/>
          </a:prstGeom>
          <a:noFill/>
        </p:spPr>
        <p:txBody>
          <a:bodyPr wrap="square" lIns="45720" rIns="45720" tIns="27432" bIns="27432" anchor="ctr">
            <a:spAutoFit/>
          </a:bodyPr>
          <a:lstStyle/>
          <a:p>
            <a:pPr rtl="1" algn="ctr">
              <a:lnSpc>
                <a:spcPct val="115000"/>
              </a:lnSpc>
              <a:spcBef>
                <a:spcPts val="0"/>
              </a:spcBef>
              <a:spcAft>
                <a:spcPts val="0"/>
              </a:spcAft>
            </a:pPr>
            <a:r>
              <a:rPr sz="1300" b="0" i="0" lang="ar-SA">
                <a:solidFill>
                  <a:srgbClr val="475569"/>
                </a:solidFill>
                <a:latin typeface="Arial"/>
                <a:cs typeface="Arial"/>
              </a:rPr>
              <a:t>لقطة توضيحية: درج ملف المتعلم</a:t>
            </a:r>
          </a:p>
        </p:txBody>
      </p:sp>
      <p:sp>
        <p:nvSpPr>
          <p:cNvPr id="5" name="بطاقة"/>
          <p:cNvSpPr/>
          <p:nvPr/>
        </p:nvSpPr>
        <p:spPr>
          <a:xfrm>
            <a:off x="8046719" y="1371600"/>
            <a:ext cx="3596335" cy="1447800"/>
          </a:xfrm>
          <a:prstGeom prst="roundRect">
            <a:avLst>
              <a:gd name="adj" fmla="val 6000"/>
            </a:avLst>
          </a:prstGeom>
          <a:solidFill>
            <a:srgbClr val="FFFFFF"/>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رقم"/>
          <p:cNvSpPr/>
          <p:nvPr/>
        </p:nvSpPr>
        <p:spPr>
          <a:xfrm>
            <a:off x="10957255" y="1554480"/>
            <a:ext cx="502920" cy="502920"/>
          </a:xfrm>
          <a:prstGeom prst="roundRect">
            <a:avLst>
              <a:gd name="adj" fmla="val 50000"/>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rtl="1"/>
            <a:r>
              <a:rPr sz="1600" b="1" i="0" lang="ar-SA">
                <a:solidFill>
                  <a:srgbClr val="FFFFFF"/>
                </a:solidFill>
                <a:latin typeface="Arial"/>
                <a:cs typeface="Arial"/>
              </a:rPr>
              <a:t>1</a:t>
            </a:r>
          </a:p>
        </p:txBody>
      </p:sp>
      <p:sp>
        <p:nvSpPr>
          <p:cNvPr id="7" name="TextBox 6"/>
          <p:cNvSpPr txBox="1"/>
          <p:nvPr/>
        </p:nvSpPr>
        <p:spPr>
          <a:xfrm>
            <a:off x="8183879" y="1444752"/>
            <a:ext cx="2681935" cy="594360"/>
          </a:xfrm>
          <a:prstGeom prst="rect">
            <a:avLst/>
          </a:prstGeom>
          <a:noFill/>
        </p:spPr>
        <p:txBody>
          <a:bodyPr wrap="square" lIns="45720" rIns="45720" tIns="27432" bIns="27432" anchor="ctr">
            <a:spAutoFit/>
          </a:bodyPr>
          <a:lstStyle/>
          <a:p>
            <a:pPr rtl="1" algn="r">
              <a:lnSpc>
                <a:spcPct val="100000"/>
              </a:lnSpc>
              <a:spcBef>
                <a:spcPts val="0"/>
              </a:spcBef>
              <a:spcAft>
                <a:spcPts val="0"/>
              </a:spcAft>
            </a:pPr>
            <a:r>
              <a:rPr sz="2100" b="1" i="0" lang="ar-SA">
                <a:solidFill>
                  <a:srgbClr val="134E4A"/>
                </a:solidFill>
                <a:latin typeface="Arial"/>
                <a:cs typeface="Arial"/>
              </a:rPr>
              <a:t>اللوحة من اليوم 56</a:t>
            </a:r>
          </a:p>
        </p:txBody>
      </p:sp>
      <p:sp>
        <p:nvSpPr>
          <p:cNvPr id="8" name="TextBox 7"/>
          <p:cNvSpPr txBox="1"/>
          <p:nvPr/>
        </p:nvSpPr>
        <p:spPr>
          <a:xfrm>
            <a:off x="8183879" y="2084832"/>
            <a:ext cx="3322015" cy="670560"/>
          </a:xfrm>
          <a:prstGeom prst="rect">
            <a:avLst/>
          </a:prstGeom>
          <a:noFill/>
        </p:spPr>
        <p:txBody>
          <a:bodyPr wrap="square" lIns="45720" rIns="45720" tIns="27432" bIns="27432" anchor="t">
            <a:spAutoFit/>
          </a:bodyPr>
          <a:lstStyle/>
          <a:p>
            <a:pPr rtl="1" algn="r">
              <a:lnSpc>
                <a:spcPct val="110000"/>
              </a:lnSpc>
              <a:spcBef>
                <a:spcPts val="0"/>
              </a:spcBef>
              <a:spcAft>
                <a:spcPts val="0"/>
              </a:spcAft>
            </a:pPr>
            <a:r>
              <a:rPr sz="1700" b="0" i="0" lang="ar-SA">
                <a:solidFill>
                  <a:srgbClr val="475569"/>
                </a:solidFill>
                <a:latin typeface="Arial"/>
                <a:cs typeface="Arial"/>
              </a:rPr>
              <a:t>أول لقطة عناقيد؛ القطوع 56 و112</a:t>
            </a:r>
          </a:p>
        </p:txBody>
      </p:sp>
      <p:sp>
        <p:nvSpPr>
          <p:cNvPr id="9" name="بطاقة"/>
          <p:cNvSpPr/>
          <p:nvPr/>
        </p:nvSpPr>
        <p:spPr>
          <a:xfrm>
            <a:off x="8046719" y="3047999"/>
            <a:ext cx="3596335" cy="1447800"/>
          </a:xfrm>
          <a:prstGeom prst="roundRect">
            <a:avLst>
              <a:gd name="adj" fmla="val 6000"/>
            </a:avLst>
          </a:prstGeom>
          <a:solidFill>
            <a:srgbClr val="FFFFFF"/>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رقم"/>
          <p:cNvSpPr/>
          <p:nvPr/>
        </p:nvSpPr>
        <p:spPr>
          <a:xfrm>
            <a:off x="10957255" y="3230880"/>
            <a:ext cx="502920" cy="502920"/>
          </a:xfrm>
          <a:prstGeom prst="roundRect">
            <a:avLst>
              <a:gd name="adj" fmla="val 50000"/>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rtl="1"/>
            <a:r>
              <a:rPr sz="1600" b="1" i="0" lang="ar-SA">
                <a:solidFill>
                  <a:srgbClr val="FFFFFF"/>
                </a:solidFill>
                <a:latin typeface="Arial"/>
                <a:cs typeface="Arial"/>
              </a:rPr>
              <a:t>2</a:t>
            </a:r>
          </a:p>
        </p:txBody>
      </p:sp>
      <p:sp>
        <p:nvSpPr>
          <p:cNvPr id="11" name="TextBox 10"/>
          <p:cNvSpPr txBox="1"/>
          <p:nvPr/>
        </p:nvSpPr>
        <p:spPr>
          <a:xfrm>
            <a:off x="8183879" y="3121152"/>
            <a:ext cx="2681935" cy="594360"/>
          </a:xfrm>
          <a:prstGeom prst="rect">
            <a:avLst/>
          </a:prstGeom>
          <a:noFill/>
        </p:spPr>
        <p:txBody>
          <a:bodyPr wrap="square" lIns="45720" rIns="45720" tIns="27432" bIns="27432" anchor="ctr">
            <a:spAutoFit/>
          </a:bodyPr>
          <a:lstStyle/>
          <a:p>
            <a:pPr rtl="1" algn="r">
              <a:lnSpc>
                <a:spcPct val="100000"/>
              </a:lnSpc>
              <a:spcBef>
                <a:spcPts val="0"/>
              </a:spcBef>
              <a:spcAft>
                <a:spcPts val="0"/>
              </a:spcAft>
            </a:pPr>
            <a:r>
              <a:rPr sz="2100" b="1" i="0" lang="ar-SA">
                <a:solidFill>
                  <a:srgbClr val="134E4A"/>
                </a:solidFill>
                <a:latin typeface="Arial"/>
                <a:cs typeface="Arial"/>
              </a:rPr>
              <a:t>درجة خطر نسبية (غير معايَرة)</a:t>
            </a:r>
          </a:p>
        </p:txBody>
      </p:sp>
      <p:sp>
        <p:nvSpPr>
          <p:cNvPr id="12" name="TextBox 11"/>
          <p:cNvSpPr txBox="1"/>
          <p:nvPr/>
        </p:nvSpPr>
        <p:spPr>
          <a:xfrm>
            <a:off x="8183879" y="3761232"/>
            <a:ext cx="3322015" cy="670560"/>
          </a:xfrm>
          <a:prstGeom prst="rect">
            <a:avLst/>
          </a:prstGeom>
          <a:noFill/>
        </p:spPr>
        <p:txBody>
          <a:bodyPr wrap="square" lIns="45720" rIns="45720" tIns="27432" bIns="27432" anchor="t">
            <a:spAutoFit/>
          </a:bodyPr>
          <a:lstStyle/>
          <a:p>
            <a:pPr rtl="1" algn="r">
              <a:lnSpc>
                <a:spcPct val="110000"/>
              </a:lnSpc>
              <a:spcBef>
                <a:spcPts val="0"/>
              </a:spcBef>
              <a:spcAft>
                <a:spcPts val="0"/>
              </a:spcAft>
            </a:pPr>
            <a:r>
              <a:rPr sz="1700" b="0" i="0" lang="ar-SA">
                <a:solidFill>
                  <a:srgbClr val="475569"/>
                </a:solidFill>
                <a:latin typeface="Arial"/>
                <a:cs typeface="Arial"/>
              </a:rPr>
              <a:t>للمدرّس فقط، لا احتمال ولا نسبة</a:t>
            </a:r>
          </a:p>
        </p:txBody>
      </p:sp>
      <p:sp>
        <p:nvSpPr>
          <p:cNvPr id="13" name="بطاقة"/>
          <p:cNvSpPr/>
          <p:nvPr/>
        </p:nvSpPr>
        <p:spPr>
          <a:xfrm>
            <a:off x="8046719" y="4724399"/>
            <a:ext cx="3596335" cy="1447800"/>
          </a:xfrm>
          <a:prstGeom prst="roundRect">
            <a:avLst>
              <a:gd name="adj" fmla="val 6000"/>
            </a:avLst>
          </a:prstGeom>
          <a:solidFill>
            <a:srgbClr val="FFFFFF"/>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رقم"/>
          <p:cNvSpPr/>
          <p:nvPr/>
        </p:nvSpPr>
        <p:spPr>
          <a:xfrm>
            <a:off x="10957255" y="4907280"/>
            <a:ext cx="502920" cy="502920"/>
          </a:xfrm>
          <a:prstGeom prst="roundRect">
            <a:avLst>
              <a:gd name="adj" fmla="val 50000"/>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rtl="1"/>
            <a:r>
              <a:rPr sz="1600" b="1" i="0" lang="ar-SA">
                <a:solidFill>
                  <a:srgbClr val="FFFFFF"/>
                </a:solidFill>
                <a:latin typeface="Arial"/>
                <a:cs typeface="Arial"/>
              </a:rPr>
              <a:t>3</a:t>
            </a:r>
          </a:p>
        </p:txBody>
      </p:sp>
      <p:sp>
        <p:nvSpPr>
          <p:cNvPr id="15" name="TextBox 14"/>
          <p:cNvSpPr txBox="1"/>
          <p:nvPr/>
        </p:nvSpPr>
        <p:spPr>
          <a:xfrm>
            <a:off x="8183879" y="4797551"/>
            <a:ext cx="2681935" cy="594360"/>
          </a:xfrm>
          <a:prstGeom prst="rect">
            <a:avLst/>
          </a:prstGeom>
          <a:noFill/>
        </p:spPr>
        <p:txBody>
          <a:bodyPr wrap="square" lIns="45720" rIns="45720" tIns="27432" bIns="27432" anchor="ctr">
            <a:spAutoFit/>
          </a:bodyPr>
          <a:lstStyle/>
          <a:p>
            <a:pPr rtl="1" algn="r">
              <a:lnSpc>
                <a:spcPct val="100000"/>
              </a:lnSpc>
              <a:spcBef>
                <a:spcPts val="0"/>
              </a:spcBef>
              <a:spcAft>
                <a:spcPts val="0"/>
              </a:spcAft>
            </a:pPr>
            <a:r>
              <a:rPr sz="2100" b="1" i="0" lang="ar-SA">
                <a:solidFill>
                  <a:srgbClr val="134E4A"/>
                </a:solidFill>
                <a:latin typeface="Arial"/>
                <a:cs typeface="Arial"/>
              </a:rPr>
              <a:t>اتساع التوصيات والتشخيص</a:t>
            </a:r>
          </a:p>
        </p:txBody>
      </p:sp>
      <p:sp>
        <p:nvSpPr>
          <p:cNvPr id="16" name="TextBox 15"/>
          <p:cNvSpPr txBox="1"/>
          <p:nvPr/>
        </p:nvSpPr>
        <p:spPr>
          <a:xfrm>
            <a:off x="8183879" y="5437632"/>
            <a:ext cx="3322015" cy="670560"/>
          </a:xfrm>
          <a:prstGeom prst="rect">
            <a:avLst/>
          </a:prstGeom>
          <a:noFill/>
        </p:spPr>
        <p:txBody>
          <a:bodyPr wrap="square" lIns="45720" rIns="45720" tIns="27432" bIns="27432" anchor="t">
            <a:spAutoFit/>
          </a:bodyPr>
          <a:lstStyle/>
          <a:p>
            <a:pPr rtl="1" algn="r">
              <a:lnSpc>
                <a:spcPct val="110000"/>
              </a:lnSpc>
              <a:spcBef>
                <a:spcPts val="0"/>
              </a:spcBef>
              <a:spcAft>
                <a:spcPts val="0"/>
              </a:spcAft>
            </a:pPr>
            <a:r>
              <a:rPr sz="1700" b="0" i="0" lang="ar-SA">
                <a:solidFill>
                  <a:srgbClr val="475569"/>
                </a:solidFill>
                <a:latin typeface="Arial"/>
                <a:cs typeface="Arial"/>
              </a:rPr>
              <a:t>بطاقة اتساع وتشخيص التجميع الداخلي</a:t>
            </a:r>
          </a:p>
        </p:txBody>
      </p:sp>
      <p:sp>
        <p:nvSpPr>
          <p:cNvPr id="17" name="شعار الجامعة"/>
          <p:cNvSpPr/>
          <p:nvPr/>
        </p:nvSpPr>
        <p:spPr>
          <a:xfrm>
            <a:off x="10957255" y="6382512"/>
            <a:ext cx="685800" cy="292608"/>
          </a:xfrm>
          <a:prstGeom prst="roundRect">
            <a:avLst>
              <a:gd name="adj" fmla="val 50000"/>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rtl="1"/>
            <a:r>
              <a:rPr sz="1200" b="1" i="0" lang="ar-SA">
                <a:solidFill>
                  <a:srgbClr val="FFFFFF"/>
                </a:solidFill>
                <a:latin typeface="Arial"/>
                <a:cs typeface="Arial"/>
              </a:rPr>
              <a:t>SVU</a:t>
            </a:r>
          </a:p>
        </p:txBody>
      </p:sp>
      <p:sp>
        <p:nvSpPr>
          <p:cNvPr id="18" name="تذييل"/>
          <p:cNvSpPr txBox="1"/>
          <p:nvPr/>
        </p:nvSpPr>
        <p:spPr>
          <a:xfrm>
            <a:off x="5287975" y="6373368"/>
            <a:ext cx="5577840" cy="310896"/>
          </a:xfrm>
          <a:prstGeom prst="rect">
            <a:avLst/>
          </a:prstGeom>
          <a:noFill/>
        </p:spPr>
        <p:txBody>
          <a:bodyPr wrap="square" lIns="45720" rIns="45720" tIns="27432" bIns="27432" anchor="ctr">
            <a:spAutoFit/>
          </a:bodyPr>
          <a:lstStyle/>
          <a:p>
            <a:pPr rtl="1" algn="r">
              <a:lnSpc>
                <a:spcPct val="115000"/>
              </a:lnSpc>
              <a:spcBef>
                <a:spcPts val="0"/>
              </a:spcBef>
              <a:spcAft>
                <a:spcPts val="0"/>
              </a:spcAft>
            </a:pPr>
            <a:r>
              <a:rPr sz="1200" b="0" i="0" lang="ar-SA">
                <a:solidFill>
                  <a:srgbClr val="475569"/>
                </a:solidFill>
                <a:latin typeface="Arial"/>
                <a:cs typeface="Arial"/>
              </a:rPr>
              <a:t>الجامعة الافتراضية السورية  |  ماجستير علوم الوب</a:t>
            </a:r>
          </a:p>
        </p:txBody>
      </p:sp>
      <p:sp>
        <p:nvSpPr>
          <p:cNvPr id="19" name="رقم الشريحة"/>
          <p:cNvSpPr txBox="1"/>
          <p:nvPr/>
        </p:nvSpPr>
        <p:spPr>
          <a:xfrm>
            <a:off x="548640" y="6373368"/>
            <a:ext cx="914400" cy="310896"/>
          </a:xfrm>
          <a:prstGeom prst="rect">
            <a:avLst/>
          </a:prstGeom>
          <a:noFill/>
        </p:spPr>
        <p:txBody>
          <a:bodyPr wrap="none">
            <a:spAutoFit/>
          </a:bodyPr>
          <a:lstStyle/>
          <a:p>
            <a:pPr rtl="1" algn="l"/>
            <a:fld id="{B6F15528-21DE-4FAA-801E-634DDDAF4B2B}" type="slidenum">
              <a:rPr lang="en-US" sz="1200">
                <a:solidFill>
                  <a:srgbClr val="475569"/>
                </a:solidFill>
                <a:latin typeface="Arial"/>
              </a:rPr>
              <a:t>‹#›</a:t>
            </a:fld>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العنوان"/>
          <p:cNvSpPr txBox="1"/>
          <p:nvPr/>
        </p:nvSpPr>
        <p:spPr>
          <a:xfrm>
            <a:off x="548640" y="347472"/>
            <a:ext cx="11094415" cy="868680"/>
          </a:xfrm>
          <a:prstGeom prst="rect">
            <a:avLst/>
          </a:prstGeom>
          <a:noFill/>
        </p:spPr>
        <p:txBody>
          <a:bodyPr wrap="square" lIns="45720" rIns="45720" tIns="27432" bIns="27432" anchor="ctr">
            <a:spAutoFit/>
          </a:bodyPr>
          <a:lstStyle/>
          <a:p>
            <a:pPr rtl="1" algn="r">
              <a:lnSpc>
                <a:spcPct val="115000"/>
              </a:lnSpc>
              <a:spcBef>
                <a:spcPts val="0"/>
              </a:spcBef>
              <a:spcAft>
                <a:spcPts val="0"/>
              </a:spcAft>
            </a:pPr>
            <a:r>
              <a:rPr sz="3000" b="1" i="0" lang="ar-SA">
                <a:solidFill>
                  <a:srgbClr val="134E4A"/>
                </a:solidFill>
                <a:latin typeface="Arial"/>
                <a:cs typeface="Arial"/>
              </a:rPr>
              <a:t>نتائج التطوير 2013 — وصفية</a:t>
            </a:r>
          </a:p>
        </p:txBody>
      </p:sp>
      <p:sp>
        <p:nvSpPr>
          <p:cNvPr id="3" name="شريط الحالة"/>
          <p:cNvSpPr/>
          <p:nvPr/>
        </p:nvSpPr>
        <p:spPr>
          <a:xfrm>
            <a:off x="548640" y="1261872"/>
            <a:ext cx="11094415" cy="420624"/>
          </a:xfrm>
          <a:prstGeom prst="roundRect">
            <a:avLst>
              <a:gd name="adj" fmla="val 25000"/>
            </a:avLst>
          </a:prstGeom>
          <a:solidFill>
            <a:srgbClr val="CCFBF1"/>
          </a:solidFill>
          <a:ln w="12700">
            <a:solidFill>
              <a:srgbClr val="0F766E"/>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228600" tIns="18288" bIns="18288"/>
          <a:lstStyle/>
          <a:p>
            <a:pPr algn="r" rtl="1"/>
            <a:r>
              <a:rPr sz="1500" b="1" i="0" lang="ar-SA">
                <a:solidFill>
                  <a:srgbClr val="134E4A"/>
                </a:solidFill>
                <a:latin typeface="Arial"/>
                <a:cs typeface="Arial"/>
              </a:rPr>
              <a:t>تطوير — وصفي: ليست اختباراً للفرضيات</a:t>
            </a:r>
          </a:p>
        </p:txBody>
      </p:sp>
      <p:sp>
        <p:nvSpPr>
          <p:cNvPr id="4" name="عنوان المخطط"/>
          <p:cNvSpPr txBox="1"/>
          <p:nvPr/>
        </p:nvSpPr>
        <p:spPr>
          <a:xfrm>
            <a:off x="4480559" y="1874519"/>
            <a:ext cx="7162495" cy="411480"/>
          </a:xfrm>
          <a:prstGeom prst="rect">
            <a:avLst/>
          </a:prstGeom>
          <a:noFill/>
        </p:spPr>
        <p:txBody>
          <a:bodyPr wrap="square" lIns="45720" rIns="45720" tIns="27432" bIns="27432" anchor="ctr">
            <a:spAutoFit/>
          </a:bodyPr>
          <a:lstStyle/>
          <a:p>
            <a:pPr rtl="1" algn="r">
              <a:lnSpc>
                <a:spcPct val="115000"/>
              </a:lnSpc>
              <a:spcBef>
                <a:spcPts val="0"/>
              </a:spcBef>
              <a:spcAft>
                <a:spcPts val="0"/>
              </a:spcAft>
            </a:pPr>
            <a:r>
              <a:rPr sz="1600" b="1" i="0" lang="ar-SA">
                <a:solidFill>
                  <a:srgbClr val="134E4A"/>
                </a:solidFill>
                <a:latin typeface="Arial"/>
                <a:cs typeface="Arial"/>
              </a:rPr>
              <a:t>الموارد الجديدة: متوسط NDCG@10 عبر 9 عروض</a:t>
            </a:r>
          </a:p>
        </p:txBody>
      </p:sp>
      <p:graphicFrame>
        <p:nvGraphicFramePr>
          <p:cNvPr id="5" name="مخطط أعمدة"/>
          <p:cNvGraphicFramePr>
            <a:graphicFrameLocks noGrp="1"/>
          </p:cNvGraphicFramePr>
          <p:nvPr/>
        </p:nvGraphicFramePr>
        <p:xfrm>
          <a:off x="4480559" y="2331720"/>
          <a:ext cx="7162495" cy="3429000"/>
        </p:xfrm>
        <a:graphic>
          <a:graphicData uri="http://schemas.openxmlformats.org/drawingml/2006/chart">
            <c:chart xmlns:c="http://schemas.openxmlformats.org/drawingml/2006/chart" r:id="rId2"/>
          </a:graphicData>
        </a:graphic>
      </p:graphicFrame>
      <p:sp>
        <p:nvSpPr>
          <p:cNvPr id="6" name="بطاقة"/>
          <p:cNvSpPr/>
          <p:nvPr/>
        </p:nvSpPr>
        <p:spPr>
          <a:xfrm>
            <a:off x="548640" y="1874519"/>
            <a:ext cx="3657600" cy="1143000"/>
          </a:xfrm>
          <a:prstGeom prst="roundRect">
            <a:avLst>
              <a:gd name="adj" fmla="val 6000"/>
            </a:avLst>
          </a:prstGeom>
          <a:solidFill>
            <a:srgbClr val="FFFFFF"/>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40080" y="1920239"/>
            <a:ext cx="3474720" cy="434340"/>
          </a:xfrm>
          <a:prstGeom prst="rect">
            <a:avLst/>
          </a:prstGeom>
          <a:noFill/>
        </p:spPr>
        <p:txBody>
          <a:bodyPr wrap="square" lIns="45720" rIns="45720" tIns="27432" bIns="27432" anchor="ctr">
            <a:spAutoFit/>
          </a:bodyPr>
          <a:lstStyle/>
          <a:p>
            <a:pPr rtl="1" algn="ctr">
              <a:lnSpc>
                <a:spcPct val="115000"/>
              </a:lnSpc>
              <a:spcBef>
                <a:spcPts val="0"/>
              </a:spcBef>
              <a:spcAft>
                <a:spcPts val="0"/>
              </a:spcAft>
            </a:pPr>
            <a:r>
              <a:rPr sz="3200" b="1" i="0" lang="ar-SA">
                <a:solidFill>
                  <a:srgbClr val="B45309"/>
                </a:solidFill>
                <a:latin typeface="Arial"/>
                <a:cs typeface="Arial"/>
              </a:rPr>
              <a:t>‎0.541‎</a:t>
            </a:r>
          </a:p>
        </p:txBody>
      </p:sp>
      <p:sp>
        <p:nvSpPr>
          <p:cNvPr id="8" name="TextBox 7"/>
          <p:cNvSpPr txBox="1"/>
          <p:nvPr/>
        </p:nvSpPr>
        <p:spPr>
          <a:xfrm>
            <a:off x="685800" y="2354579"/>
            <a:ext cx="3383280" cy="640080"/>
          </a:xfrm>
          <a:prstGeom prst="rect">
            <a:avLst/>
          </a:prstGeom>
          <a:noFill/>
        </p:spPr>
        <p:txBody>
          <a:bodyPr wrap="square" lIns="45720" rIns="45720" tIns="27432" bIns="27432" anchor="t">
            <a:spAutoFit/>
          </a:bodyPr>
          <a:lstStyle/>
          <a:p>
            <a:pPr rtl="1" algn="ctr">
              <a:lnSpc>
                <a:spcPct val="105000"/>
              </a:lnSpc>
              <a:spcBef>
                <a:spcPts val="0"/>
              </a:spcBef>
              <a:spcAft>
                <a:spcPts val="0"/>
              </a:spcAft>
            </a:pPr>
            <a:r>
              <a:rPr sz="1400" b="0" i="0" lang="ar-SA">
                <a:solidFill>
                  <a:srgbClr val="475569"/>
                </a:solidFill>
                <a:latin typeface="Arial"/>
                <a:cs typeface="Arial"/>
              </a:rPr>
              <a:t>الشعبية الآنية B3: أعلى خط أساس</a:t>
            </a:r>
          </a:p>
        </p:txBody>
      </p:sp>
      <p:sp>
        <p:nvSpPr>
          <p:cNvPr id="9" name="بطاقة"/>
          <p:cNvSpPr/>
          <p:nvPr/>
        </p:nvSpPr>
        <p:spPr>
          <a:xfrm>
            <a:off x="548640" y="3246120"/>
            <a:ext cx="3657600" cy="1143000"/>
          </a:xfrm>
          <a:prstGeom prst="roundRect">
            <a:avLst>
              <a:gd name="adj" fmla="val 6000"/>
            </a:avLst>
          </a:prstGeom>
          <a:solidFill>
            <a:srgbClr val="FFFFFF"/>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 y="3291839"/>
            <a:ext cx="3474720" cy="434340"/>
          </a:xfrm>
          <a:prstGeom prst="rect">
            <a:avLst/>
          </a:prstGeom>
          <a:noFill/>
        </p:spPr>
        <p:txBody>
          <a:bodyPr wrap="square" lIns="45720" rIns="45720" tIns="27432" bIns="27432" anchor="ctr">
            <a:spAutoFit/>
          </a:bodyPr>
          <a:lstStyle/>
          <a:p>
            <a:pPr rtl="1" algn="ctr">
              <a:lnSpc>
                <a:spcPct val="115000"/>
              </a:lnSpc>
              <a:spcBef>
                <a:spcPts val="0"/>
              </a:spcBef>
              <a:spcAft>
                <a:spcPts val="0"/>
              </a:spcAft>
            </a:pPr>
            <a:r>
              <a:rPr sz="3200" b="1" i="0" lang="ar-SA">
                <a:solidFill>
                  <a:srgbClr val="0F766E"/>
                </a:solidFill>
                <a:latin typeface="Arial"/>
                <a:cs typeface="Arial"/>
              </a:rPr>
              <a:t>‎0.531‎</a:t>
            </a:r>
          </a:p>
        </p:txBody>
      </p:sp>
      <p:sp>
        <p:nvSpPr>
          <p:cNvPr id="11" name="TextBox 10"/>
          <p:cNvSpPr txBox="1"/>
          <p:nvPr/>
        </p:nvSpPr>
        <p:spPr>
          <a:xfrm>
            <a:off x="685800" y="3726180"/>
            <a:ext cx="3383280" cy="640080"/>
          </a:xfrm>
          <a:prstGeom prst="rect">
            <a:avLst/>
          </a:prstGeom>
          <a:noFill/>
        </p:spPr>
        <p:txBody>
          <a:bodyPr wrap="square" lIns="45720" rIns="45720" tIns="27432" bIns="27432" anchor="t">
            <a:spAutoFit/>
          </a:bodyPr>
          <a:lstStyle/>
          <a:p>
            <a:pPr rtl="1" algn="ctr">
              <a:lnSpc>
                <a:spcPct val="105000"/>
              </a:lnSpc>
              <a:spcBef>
                <a:spcPts val="0"/>
              </a:spcBef>
              <a:spcAft>
                <a:spcPts val="0"/>
              </a:spcAft>
            </a:pPr>
            <a:r>
              <a:rPr sz="1400" b="0" i="0" lang="ar-SA">
                <a:solidFill>
                  <a:srgbClr val="475569"/>
                </a:solidFill>
                <a:latin typeface="Arial"/>
                <a:cs typeface="Arial"/>
              </a:rPr>
              <a:t>SKNN: أفضل نموذج شخصي، والفرق عن B3 فاصله يشمل الصفر</a:t>
            </a:r>
          </a:p>
        </p:txBody>
      </p:sp>
      <p:sp>
        <p:nvSpPr>
          <p:cNvPr id="12" name="بطاقة"/>
          <p:cNvSpPr/>
          <p:nvPr/>
        </p:nvSpPr>
        <p:spPr>
          <a:xfrm>
            <a:off x="548640" y="4617720"/>
            <a:ext cx="3657600" cy="1143000"/>
          </a:xfrm>
          <a:prstGeom prst="roundRect">
            <a:avLst>
              <a:gd name="adj" fmla="val 6000"/>
            </a:avLst>
          </a:prstGeom>
          <a:solidFill>
            <a:srgbClr val="FFFFFF"/>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0080" y="4663440"/>
            <a:ext cx="3474720" cy="434340"/>
          </a:xfrm>
          <a:prstGeom prst="rect">
            <a:avLst/>
          </a:prstGeom>
          <a:noFill/>
        </p:spPr>
        <p:txBody>
          <a:bodyPr wrap="square" lIns="45720" rIns="45720" tIns="27432" bIns="27432" anchor="ctr">
            <a:spAutoFit/>
          </a:bodyPr>
          <a:lstStyle/>
          <a:p>
            <a:pPr rtl="1" algn="ctr">
              <a:lnSpc>
                <a:spcPct val="115000"/>
              </a:lnSpc>
              <a:spcBef>
                <a:spcPts val="0"/>
              </a:spcBef>
              <a:spcAft>
                <a:spcPts val="0"/>
              </a:spcAft>
            </a:pPr>
            <a:r>
              <a:rPr sz="3200" b="1" i="0" lang="ar-SA">
                <a:solidFill>
                  <a:srgbClr val="0F766E"/>
                </a:solidFill>
                <a:latin typeface="Arial"/>
                <a:cs typeface="Arial"/>
              </a:rPr>
              <a:t>‎0.561‎</a:t>
            </a:r>
          </a:p>
        </p:txBody>
      </p:sp>
      <p:sp>
        <p:nvSpPr>
          <p:cNvPr id="14" name="TextBox 13"/>
          <p:cNvSpPr txBox="1"/>
          <p:nvPr/>
        </p:nvSpPr>
        <p:spPr>
          <a:xfrm>
            <a:off x="685800" y="5097780"/>
            <a:ext cx="3383280" cy="640080"/>
          </a:xfrm>
          <a:prstGeom prst="rect">
            <a:avLst/>
          </a:prstGeom>
          <a:noFill/>
        </p:spPr>
        <p:txBody>
          <a:bodyPr wrap="square" lIns="45720" rIns="45720" tIns="27432" bIns="27432" anchor="t">
            <a:spAutoFit/>
          </a:bodyPr>
          <a:lstStyle/>
          <a:p>
            <a:pPr rtl="1" algn="ctr">
              <a:lnSpc>
                <a:spcPct val="105000"/>
              </a:lnSpc>
              <a:spcBef>
                <a:spcPts val="0"/>
              </a:spcBef>
              <a:spcAft>
                <a:spcPts val="0"/>
              </a:spcAft>
            </a:pPr>
            <a:r>
              <a:rPr sz="1400" b="0" i="0" lang="ar-SA">
                <a:solidFill>
                  <a:srgbClr val="475569"/>
                </a:solidFill>
                <a:latin typeface="Arial"/>
                <a:cs typeface="Arial"/>
              </a:rPr>
              <a:t>الهجين المجمَّد: الفرق عن B3 صغير وفاصله يشمل الصفر</a:t>
            </a:r>
          </a:p>
        </p:txBody>
      </p:sp>
      <p:sp>
        <p:nvSpPr>
          <p:cNvPr id="15" name="TextBox 14"/>
          <p:cNvSpPr txBox="1"/>
          <p:nvPr/>
        </p:nvSpPr>
        <p:spPr>
          <a:xfrm>
            <a:off x="548640" y="5806440"/>
            <a:ext cx="11094415" cy="411480"/>
          </a:xfrm>
          <a:prstGeom prst="rect">
            <a:avLst/>
          </a:prstGeom>
          <a:noFill/>
        </p:spPr>
        <p:txBody>
          <a:bodyPr wrap="square" lIns="45720" rIns="45720" tIns="27432" bIns="27432" anchor="ctr">
            <a:spAutoFit/>
          </a:bodyPr>
          <a:lstStyle/>
          <a:p>
            <a:pPr rtl="1" algn="r">
              <a:lnSpc>
                <a:spcPct val="115000"/>
              </a:lnSpc>
              <a:spcBef>
                <a:spcPts val="0"/>
              </a:spcBef>
              <a:spcAft>
                <a:spcPts val="0"/>
              </a:spcAft>
            </a:pPr>
            <a:r>
              <a:rPr sz="1300" b="0" i="0" lang="ar-SA">
                <a:solidFill>
                  <a:srgbClr val="475569"/>
                </a:solidFill>
                <a:latin typeface="Arial"/>
                <a:cs typeface="Arial"/>
              </a:rPr>
              <a:t>المصدر: results/dev2013/summary.md وhybrid_acceptance.md؛ تطوير — وصفي</a:t>
            </a:r>
          </a:p>
        </p:txBody>
      </p:sp>
      <p:sp>
        <p:nvSpPr>
          <p:cNvPr id="16" name="شعار الجامعة"/>
          <p:cNvSpPr/>
          <p:nvPr/>
        </p:nvSpPr>
        <p:spPr>
          <a:xfrm>
            <a:off x="10957255" y="6382512"/>
            <a:ext cx="685800" cy="292608"/>
          </a:xfrm>
          <a:prstGeom prst="roundRect">
            <a:avLst>
              <a:gd name="adj" fmla="val 50000"/>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rtl="1"/>
            <a:r>
              <a:rPr sz="1200" b="1" i="0" lang="ar-SA">
                <a:solidFill>
                  <a:srgbClr val="FFFFFF"/>
                </a:solidFill>
                <a:latin typeface="Arial"/>
                <a:cs typeface="Arial"/>
              </a:rPr>
              <a:t>SVU</a:t>
            </a:r>
          </a:p>
        </p:txBody>
      </p:sp>
      <p:sp>
        <p:nvSpPr>
          <p:cNvPr id="17" name="تذييل"/>
          <p:cNvSpPr txBox="1"/>
          <p:nvPr/>
        </p:nvSpPr>
        <p:spPr>
          <a:xfrm>
            <a:off x="5287975" y="6373368"/>
            <a:ext cx="5577840" cy="310896"/>
          </a:xfrm>
          <a:prstGeom prst="rect">
            <a:avLst/>
          </a:prstGeom>
          <a:noFill/>
        </p:spPr>
        <p:txBody>
          <a:bodyPr wrap="square" lIns="45720" rIns="45720" tIns="27432" bIns="27432" anchor="ctr">
            <a:spAutoFit/>
          </a:bodyPr>
          <a:lstStyle/>
          <a:p>
            <a:pPr rtl="1" algn="r">
              <a:lnSpc>
                <a:spcPct val="115000"/>
              </a:lnSpc>
              <a:spcBef>
                <a:spcPts val="0"/>
              </a:spcBef>
              <a:spcAft>
                <a:spcPts val="0"/>
              </a:spcAft>
            </a:pPr>
            <a:r>
              <a:rPr sz="1200" b="0" i="0" lang="ar-SA">
                <a:solidFill>
                  <a:srgbClr val="475569"/>
                </a:solidFill>
                <a:latin typeface="Arial"/>
                <a:cs typeface="Arial"/>
              </a:rPr>
              <a:t>الجامعة الافتراضية السورية  |  ماجستير علوم الوب</a:t>
            </a:r>
          </a:p>
        </p:txBody>
      </p:sp>
      <p:sp>
        <p:nvSpPr>
          <p:cNvPr id="18" name="رقم الشريحة"/>
          <p:cNvSpPr txBox="1"/>
          <p:nvPr/>
        </p:nvSpPr>
        <p:spPr>
          <a:xfrm>
            <a:off x="548640" y="6373368"/>
            <a:ext cx="914400" cy="310896"/>
          </a:xfrm>
          <a:prstGeom prst="rect">
            <a:avLst/>
          </a:prstGeom>
          <a:noFill/>
        </p:spPr>
        <p:txBody>
          <a:bodyPr wrap="none">
            <a:spAutoFit/>
          </a:bodyPr>
          <a:lstStyle/>
          <a:p>
            <a:pPr rtl="1" algn="l"/>
            <a:fld id="{B6F15528-21DE-4FAA-801E-634DDDAF4B2B}" type="slidenum">
              <a:rPr lang="en-US" sz="1200">
                <a:solidFill>
                  <a:srgbClr val="475569"/>
                </a:solidFill>
                <a:latin typeface="Arial"/>
              </a:rPr>
              <a:t>‹#›</a:t>
            </a:fld>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العنوان"/>
          <p:cNvSpPr txBox="1"/>
          <p:nvPr/>
        </p:nvSpPr>
        <p:spPr>
          <a:xfrm>
            <a:off x="548640" y="347472"/>
            <a:ext cx="11094415" cy="868680"/>
          </a:xfrm>
          <a:prstGeom prst="rect">
            <a:avLst/>
          </a:prstGeom>
          <a:noFill/>
        </p:spPr>
        <p:txBody>
          <a:bodyPr wrap="square" lIns="45720" rIns="45720" tIns="27432" bIns="27432" anchor="ctr">
            <a:spAutoFit/>
          </a:bodyPr>
          <a:lstStyle/>
          <a:p>
            <a:pPr rtl="1" algn="r">
              <a:lnSpc>
                <a:spcPct val="115000"/>
              </a:lnSpc>
              <a:spcBef>
                <a:spcPts val="0"/>
              </a:spcBef>
              <a:spcAft>
                <a:spcPts val="0"/>
              </a:spcAft>
            </a:pPr>
            <a:r>
              <a:rPr sz="3000" b="1" i="0" lang="ar-SA">
                <a:solidFill>
                  <a:srgbClr val="134E4A"/>
                </a:solidFill>
                <a:latin typeface="Arial"/>
                <a:cs typeface="Arial"/>
              </a:rPr>
              <a:t>نتائج التأكيد 2014: أحكام الفرضيات الأربع</a:t>
            </a:r>
          </a:p>
        </p:txBody>
      </p:sp>
      <p:sp>
        <p:nvSpPr>
          <p:cNvPr id="3" name="شريط الحالة"/>
          <p:cNvSpPr/>
          <p:nvPr/>
        </p:nvSpPr>
        <p:spPr>
          <a:xfrm>
            <a:off x="548640" y="1261872"/>
            <a:ext cx="11094415" cy="420624"/>
          </a:xfrm>
          <a:prstGeom prst="roundRect">
            <a:avLst>
              <a:gd name="adj" fmla="val 25000"/>
            </a:avLst>
          </a:prstGeom>
          <a:solidFill>
            <a:srgbClr val="FEF3C7"/>
          </a:solidFill>
          <a:ln w="12700">
            <a:solidFill>
              <a:srgbClr val="B45309"/>
            </a:solidFill>
            <a:prstDash val="dash"/>
          </a:ln>
          <a:effectLst/>
        </p:spPr>
        <p:style>
          <a:lnRef idx="1">
            <a:schemeClr val="accent1"/>
          </a:lnRef>
          <a:fillRef idx="3">
            <a:schemeClr val="accent1"/>
          </a:fillRef>
          <a:effectRef idx="2">
            <a:schemeClr val="accent1"/>
          </a:effectRef>
          <a:fontRef idx="minor">
            <a:schemeClr val="lt1"/>
          </a:fontRef>
        </p:style>
        <p:txBody>
          <a:bodyPr rtlCol="0" anchor="ctr" wrap="square" lIns="54864" rIns="228600" tIns="18288" bIns="18288"/>
          <a:lstStyle/>
          <a:p>
            <a:pPr algn="r" rtl="1"/>
            <a:r>
              <a:rPr sz="1500" b="1" i="0" lang="ar-SA">
                <a:solidFill>
                  <a:srgbClr val="92400E"/>
                </a:solidFill>
                <a:latin typeface="Arial"/>
                <a:cs typeface="Arial"/>
              </a:rPr>
              <a:t>[2014] قيد الاستكمال: تُملأ من نتائج التشغيل التأكيدي الوحيد</a:t>
            </a:r>
          </a:p>
        </p:txBody>
      </p:sp>
      <p:graphicFrame>
        <p:nvGraphicFramePr>
          <p:cNvPr id="4" name="جدول"/>
          <p:cNvGraphicFramePr>
            <a:graphicFrameLocks noGrp="1"/>
          </p:cNvGraphicFramePr>
          <p:nvPr/>
        </p:nvGraphicFramePr>
        <p:xfrm>
          <a:off x="548640" y="1874519"/>
          <a:ext cx="11094412" cy="3657600"/>
        </p:xfrm>
        <a:graphic>
          <a:graphicData uri="http://schemas.openxmlformats.org/drawingml/2006/table">
            <a:tbl>
              <a:tblPr firstRow="1" bandRow="0">
                <a:tableStyleId>{5C22544A-7EE6-4342-B048-85BDC9FD1C3A}</a:tableStyleId>
              </a:tblPr>
              <a:tblGrid>
                <a:gridCol w="1636880"/>
                <a:gridCol w="1545943"/>
                <a:gridCol w="1455005"/>
                <a:gridCol w="1818756"/>
                <a:gridCol w="1364067"/>
                <a:gridCol w="3273761"/>
              </a:tblGrid>
              <a:tr h="731520">
                <a:tc>
                  <a:txBody>
                    <a:bodyPr wrap="square"/>
                    <a:lstStyle/>
                    <a:p>
                      <a:pPr rtl="1" algn="r"/>
                      <a:r>
                        <a:rPr sz="1500" b="1" i="0" lang="ar-SA">
                          <a:solidFill>
                            <a:srgbClr val="FFFFFF"/>
                          </a:solidFill>
                          <a:latin typeface="Arial"/>
                          <a:cs typeface="Arial"/>
                        </a:rPr>
                        <a:t>الحكم</a:t>
                      </a:r>
                    </a:p>
                  </a:txBody>
                  <a:tcPr anchor="ctr" marL="91440" marR="91440" marT="36576" marB="36576">
                    <a:solidFill>
                      <a:srgbClr val="0F766E"/>
                    </a:solidFill>
                  </a:tcPr>
                </a:tc>
                <a:tc>
                  <a:txBody>
                    <a:bodyPr wrap="square"/>
                    <a:lstStyle/>
                    <a:p>
                      <a:pPr rtl="1" algn="r"/>
                      <a:r>
                        <a:rPr sz="1500" b="1" i="0" lang="ar-SA">
                          <a:solidFill>
                            <a:srgbClr val="FFFFFF"/>
                          </a:solidFill>
                          <a:latin typeface="Arial"/>
                          <a:cs typeface="Arial"/>
                        </a:rPr>
                        <a:t>MDE80 المجمَّد</a:t>
                      </a:r>
                    </a:p>
                  </a:txBody>
                  <a:tcPr anchor="ctr" marL="91440" marR="91440" marT="36576" marB="36576">
                    <a:solidFill>
                      <a:srgbClr val="0F766E"/>
                    </a:solidFill>
                  </a:tcPr>
                </a:tc>
                <a:tc>
                  <a:txBody>
                    <a:bodyPr wrap="square"/>
                    <a:lstStyle/>
                    <a:p>
                      <a:pPr rtl="1" algn="r"/>
                      <a:r>
                        <a:rPr sz="1500" b="1" i="0" lang="ar-SA">
                          <a:solidFill>
                            <a:srgbClr val="FFFFFF"/>
                          </a:solidFill>
                          <a:latin typeface="Arial"/>
                          <a:cs typeface="Arial"/>
                        </a:rPr>
                        <a:t>p المصحَّحة</a:t>
                      </a:r>
                    </a:p>
                  </a:txBody>
                  <a:tcPr anchor="ctr" marL="91440" marR="91440" marT="36576" marB="36576">
                    <a:solidFill>
                      <a:srgbClr val="0F766E"/>
                    </a:solidFill>
                  </a:tcPr>
                </a:tc>
                <a:tc>
                  <a:txBody>
                    <a:bodyPr wrap="square"/>
                    <a:lstStyle/>
                    <a:p>
                      <a:pPr rtl="1" algn="r"/>
                      <a:r>
                        <a:rPr sz="1500" b="1" i="0" lang="ar-SA">
                          <a:solidFill>
                            <a:srgbClr val="FFFFFF"/>
                          </a:solidFill>
                          <a:latin typeface="Arial"/>
                          <a:cs typeface="Arial"/>
                        </a:rPr>
                        <a:t>فاصل الثقة 95%</a:t>
                      </a:r>
                    </a:p>
                  </a:txBody>
                  <a:tcPr anchor="ctr" marL="91440" marR="91440" marT="36576" marB="36576">
                    <a:solidFill>
                      <a:srgbClr val="0F766E"/>
                    </a:solidFill>
                  </a:tcPr>
                </a:tc>
                <a:tc>
                  <a:txBody>
                    <a:bodyPr wrap="square"/>
                    <a:lstStyle/>
                    <a:p>
                      <a:pPr rtl="1" algn="r"/>
                      <a:r>
                        <a:rPr sz="1500" b="1" i="0" lang="ar-SA">
                          <a:solidFill>
                            <a:srgbClr val="FFFFFF"/>
                          </a:solidFill>
                          <a:latin typeface="Arial"/>
                          <a:cs typeface="Arial"/>
                        </a:rPr>
                        <a:t>الفرق Δ̄</a:t>
                      </a:r>
                    </a:p>
                  </a:txBody>
                  <a:tcPr anchor="ctr" marL="91440" marR="91440" marT="36576" marB="36576">
                    <a:solidFill>
                      <a:srgbClr val="0F766E"/>
                    </a:solidFill>
                  </a:tcPr>
                </a:tc>
                <a:tc>
                  <a:txBody>
                    <a:bodyPr wrap="square"/>
                    <a:lstStyle/>
                    <a:p>
                      <a:pPr rtl="1" algn="r"/>
                      <a:r>
                        <a:rPr sz="1500" b="1" i="0" lang="ar-SA">
                          <a:solidFill>
                            <a:srgbClr val="FFFFFF"/>
                          </a:solidFill>
                          <a:latin typeface="Arial"/>
                          <a:cs typeface="Arial"/>
                        </a:rPr>
                        <a:t>الفرضية</a:t>
                      </a:r>
                    </a:p>
                  </a:txBody>
                  <a:tcPr anchor="ctr" marL="91440" marR="91440" marT="36576" marB="36576">
                    <a:solidFill>
                      <a:srgbClr val="0F766E"/>
                    </a:solidFill>
                  </a:tcPr>
                </a:tc>
              </a:tr>
              <a:tr h="731520">
                <a:tc>
                  <a:txBody>
                    <a:bodyPr wrap="square"/>
                    <a:lstStyle/>
                    <a:p>
                      <a:pPr rtl="1" algn="ctr"/>
                      <a:r>
                        <a:rPr sz="1500" b="0" i="1" lang="ar-SA">
                          <a:solidFill>
                            <a:srgbClr val="92400E"/>
                          </a:solidFill>
                          <a:latin typeface="Arial"/>
                          <a:cs typeface="Arial"/>
                        </a:rPr>
                        <a:t>[2014]</a:t>
                      </a:r>
                    </a:p>
                  </a:txBody>
                  <a:tcPr anchor="ctr" marL="91440" marR="91440" marT="36576" marB="36576">
                    <a:solidFill>
                      <a:srgbClr val="FEF3C7"/>
                    </a:solidFill>
                  </a:tcPr>
                </a:tc>
                <a:tc>
                  <a:txBody>
                    <a:bodyPr wrap="square"/>
                    <a:lstStyle/>
                    <a:p>
                      <a:pPr rtl="1" algn="r"/>
                      <a:r>
                        <a:rPr sz="1500" b="0" i="0" lang="ar-SA">
                          <a:solidFill>
                            <a:srgbClr val="134E4A"/>
                          </a:solidFill>
                          <a:latin typeface="Arial"/>
                          <a:cs typeface="Arial"/>
                        </a:rPr>
                        <a:t>0.0375</a:t>
                      </a:r>
                    </a:p>
                  </a:txBody>
                  <a:tcPr anchor="ctr" marL="91440" marR="91440" marT="36576" marB="36576">
                    <a:solidFill>
                      <a:srgbClr val="FFFFFF"/>
                    </a:solidFill>
                  </a:tcPr>
                </a:tc>
                <a:tc>
                  <a:txBody>
                    <a:bodyPr wrap="square"/>
                    <a:lstStyle/>
                    <a:p>
                      <a:pPr rtl="1" algn="ctr"/>
                      <a:r>
                        <a:rPr sz="1500" b="0" i="1" lang="ar-SA">
                          <a:solidFill>
                            <a:srgbClr val="92400E"/>
                          </a:solidFill>
                          <a:latin typeface="Arial"/>
                          <a:cs typeface="Arial"/>
                        </a:rPr>
                        <a:t>[2014]</a:t>
                      </a:r>
                    </a:p>
                  </a:txBody>
                  <a:tcPr anchor="ctr" marL="91440" marR="91440" marT="36576" marB="36576">
                    <a:solidFill>
                      <a:srgbClr val="FEF3C7"/>
                    </a:solidFill>
                  </a:tcPr>
                </a:tc>
                <a:tc>
                  <a:txBody>
                    <a:bodyPr wrap="square"/>
                    <a:lstStyle/>
                    <a:p>
                      <a:pPr rtl="1" algn="ctr"/>
                      <a:r>
                        <a:rPr sz="1500" b="0" i="1" lang="ar-SA">
                          <a:solidFill>
                            <a:srgbClr val="92400E"/>
                          </a:solidFill>
                          <a:latin typeface="Arial"/>
                          <a:cs typeface="Arial"/>
                        </a:rPr>
                        <a:t>[2014]</a:t>
                      </a:r>
                    </a:p>
                  </a:txBody>
                  <a:tcPr anchor="ctr" marL="91440" marR="91440" marT="36576" marB="36576">
                    <a:solidFill>
                      <a:srgbClr val="FEF3C7"/>
                    </a:solidFill>
                  </a:tcPr>
                </a:tc>
                <a:tc>
                  <a:txBody>
                    <a:bodyPr wrap="square"/>
                    <a:lstStyle/>
                    <a:p>
                      <a:pPr rtl="1" algn="ctr"/>
                      <a:r>
                        <a:rPr sz="1500" b="0" i="1" lang="ar-SA">
                          <a:solidFill>
                            <a:srgbClr val="92400E"/>
                          </a:solidFill>
                          <a:latin typeface="Arial"/>
                          <a:cs typeface="Arial"/>
                        </a:rPr>
                        <a:t>[2014]</a:t>
                      </a:r>
                    </a:p>
                  </a:txBody>
                  <a:tcPr anchor="ctr" marL="91440" marR="91440" marT="36576" marB="36576">
                    <a:solidFill>
                      <a:srgbClr val="FEF3C7"/>
                    </a:solidFill>
                  </a:tcPr>
                </a:tc>
                <a:tc>
                  <a:txBody>
                    <a:bodyPr wrap="square"/>
                    <a:lstStyle/>
                    <a:p>
                      <a:pPr rtl="1" algn="r"/>
                      <a:r>
                        <a:rPr sz="1500" b="1" i="0" lang="ar-SA">
                          <a:solidFill>
                            <a:srgbClr val="134E4A"/>
                          </a:solidFill>
                          <a:latin typeface="Arial"/>
                          <a:cs typeface="Arial"/>
                        </a:rPr>
                        <a:t>H1 · الهجين مقابل أقوى خط أساس غير شخصي</a:t>
                      </a:r>
                    </a:p>
                  </a:txBody>
                  <a:tcPr anchor="ctr" marL="91440" marR="91440" marT="36576" marB="36576">
                    <a:solidFill>
                      <a:srgbClr val="FFFFFF"/>
                    </a:solidFill>
                  </a:tcPr>
                </a:tc>
              </a:tr>
              <a:tr h="731520">
                <a:tc>
                  <a:txBody>
                    <a:bodyPr wrap="square"/>
                    <a:lstStyle/>
                    <a:p>
                      <a:pPr rtl="1" algn="ctr"/>
                      <a:r>
                        <a:rPr sz="1500" b="0" i="1" lang="ar-SA">
                          <a:solidFill>
                            <a:srgbClr val="92400E"/>
                          </a:solidFill>
                          <a:latin typeface="Arial"/>
                          <a:cs typeface="Arial"/>
                        </a:rPr>
                        <a:t>[2014]</a:t>
                      </a:r>
                    </a:p>
                  </a:txBody>
                  <a:tcPr anchor="ctr" marL="91440" marR="91440" marT="36576" marB="36576">
                    <a:solidFill>
                      <a:srgbClr val="FEF3C7"/>
                    </a:solidFill>
                  </a:tcPr>
                </a:tc>
                <a:tc>
                  <a:txBody>
                    <a:bodyPr wrap="square"/>
                    <a:lstStyle/>
                    <a:p>
                      <a:pPr rtl="1" algn="r"/>
                      <a:r>
                        <a:rPr sz="1500" b="0" i="0" lang="ar-SA">
                          <a:solidFill>
                            <a:srgbClr val="134E4A"/>
                          </a:solidFill>
                          <a:latin typeface="Arial"/>
                          <a:cs typeface="Arial"/>
                        </a:rPr>
                        <a:t>0.045</a:t>
                      </a:r>
                    </a:p>
                  </a:txBody>
                  <a:tcPr anchor="ctr" marL="91440" marR="91440" marT="36576" marB="36576">
                    <a:solidFill>
                      <a:srgbClr val="EEF2F6"/>
                    </a:solidFill>
                  </a:tcPr>
                </a:tc>
                <a:tc>
                  <a:txBody>
                    <a:bodyPr wrap="square"/>
                    <a:lstStyle/>
                    <a:p>
                      <a:pPr rtl="1" algn="ctr"/>
                      <a:r>
                        <a:rPr sz="1500" b="0" i="1" lang="ar-SA">
                          <a:solidFill>
                            <a:srgbClr val="92400E"/>
                          </a:solidFill>
                          <a:latin typeface="Arial"/>
                          <a:cs typeface="Arial"/>
                        </a:rPr>
                        <a:t>[2014]</a:t>
                      </a:r>
                    </a:p>
                  </a:txBody>
                  <a:tcPr anchor="ctr" marL="91440" marR="91440" marT="36576" marB="36576">
                    <a:solidFill>
                      <a:srgbClr val="FEF3C7"/>
                    </a:solidFill>
                  </a:tcPr>
                </a:tc>
                <a:tc>
                  <a:txBody>
                    <a:bodyPr wrap="square"/>
                    <a:lstStyle/>
                    <a:p>
                      <a:pPr rtl="1" algn="ctr"/>
                      <a:r>
                        <a:rPr sz="1500" b="0" i="1" lang="ar-SA">
                          <a:solidFill>
                            <a:srgbClr val="92400E"/>
                          </a:solidFill>
                          <a:latin typeface="Arial"/>
                          <a:cs typeface="Arial"/>
                        </a:rPr>
                        <a:t>[2014]</a:t>
                      </a:r>
                    </a:p>
                  </a:txBody>
                  <a:tcPr anchor="ctr" marL="91440" marR="91440" marT="36576" marB="36576">
                    <a:solidFill>
                      <a:srgbClr val="FEF3C7"/>
                    </a:solidFill>
                  </a:tcPr>
                </a:tc>
                <a:tc>
                  <a:txBody>
                    <a:bodyPr wrap="square"/>
                    <a:lstStyle/>
                    <a:p>
                      <a:pPr rtl="1" algn="ctr"/>
                      <a:r>
                        <a:rPr sz="1500" b="0" i="1" lang="ar-SA">
                          <a:solidFill>
                            <a:srgbClr val="92400E"/>
                          </a:solidFill>
                          <a:latin typeface="Arial"/>
                          <a:cs typeface="Arial"/>
                        </a:rPr>
                        <a:t>[2014]</a:t>
                      </a:r>
                    </a:p>
                  </a:txBody>
                  <a:tcPr anchor="ctr" marL="91440" marR="91440" marT="36576" marB="36576">
                    <a:solidFill>
                      <a:srgbClr val="FEF3C7"/>
                    </a:solidFill>
                  </a:tcPr>
                </a:tc>
                <a:tc>
                  <a:txBody>
                    <a:bodyPr wrap="square"/>
                    <a:lstStyle/>
                    <a:p>
                      <a:pPr rtl="1" algn="r"/>
                      <a:r>
                        <a:rPr sz="1500" b="1" i="0" lang="ar-SA">
                          <a:solidFill>
                            <a:srgbClr val="134E4A"/>
                          </a:solidFill>
                          <a:latin typeface="Arial"/>
                          <a:cs typeface="Arial"/>
                        </a:rPr>
                        <a:t>H2-أ · WRMF بالإشارة الموزونة مقابل الثنائية</a:t>
                      </a:r>
                    </a:p>
                  </a:txBody>
                  <a:tcPr anchor="ctr" marL="91440" marR="91440" marT="36576" marB="36576">
                    <a:solidFill>
                      <a:srgbClr val="EEF2F6"/>
                    </a:solidFill>
                  </a:tcPr>
                </a:tc>
              </a:tr>
              <a:tr h="731520">
                <a:tc>
                  <a:txBody>
                    <a:bodyPr wrap="square"/>
                    <a:lstStyle/>
                    <a:p>
                      <a:pPr rtl="1" algn="ctr"/>
                      <a:r>
                        <a:rPr sz="1500" b="0" i="1" lang="ar-SA">
                          <a:solidFill>
                            <a:srgbClr val="92400E"/>
                          </a:solidFill>
                          <a:latin typeface="Arial"/>
                          <a:cs typeface="Arial"/>
                        </a:rPr>
                        <a:t>[2014]</a:t>
                      </a:r>
                    </a:p>
                  </a:txBody>
                  <a:tcPr anchor="ctr" marL="91440" marR="91440" marT="36576" marB="36576">
                    <a:solidFill>
                      <a:srgbClr val="FEF3C7"/>
                    </a:solidFill>
                  </a:tcPr>
                </a:tc>
                <a:tc>
                  <a:txBody>
                    <a:bodyPr wrap="square"/>
                    <a:lstStyle/>
                    <a:p>
                      <a:pPr rtl="1" algn="r"/>
                      <a:r>
                        <a:rPr sz="1500" b="0" i="0" lang="ar-SA">
                          <a:solidFill>
                            <a:srgbClr val="134E4A"/>
                          </a:solidFill>
                          <a:latin typeface="Arial"/>
                          <a:cs typeface="Arial"/>
                        </a:rPr>
                        <a:t>0.050</a:t>
                      </a:r>
                    </a:p>
                  </a:txBody>
                  <a:tcPr anchor="ctr" marL="91440" marR="91440" marT="36576" marB="36576">
                    <a:solidFill>
                      <a:srgbClr val="FFFFFF"/>
                    </a:solidFill>
                  </a:tcPr>
                </a:tc>
                <a:tc>
                  <a:txBody>
                    <a:bodyPr wrap="square"/>
                    <a:lstStyle/>
                    <a:p>
                      <a:pPr rtl="1" algn="ctr"/>
                      <a:r>
                        <a:rPr sz="1500" b="0" i="1" lang="ar-SA">
                          <a:solidFill>
                            <a:srgbClr val="92400E"/>
                          </a:solidFill>
                          <a:latin typeface="Arial"/>
                          <a:cs typeface="Arial"/>
                        </a:rPr>
                        <a:t>[2014]</a:t>
                      </a:r>
                    </a:p>
                  </a:txBody>
                  <a:tcPr anchor="ctr" marL="91440" marR="91440" marT="36576" marB="36576">
                    <a:solidFill>
                      <a:srgbClr val="FEF3C7"/>
                    </a:solidFill>
                  </a:tcPr>
                </a:tc>
                <a:tc>
                  <a:txBody>
                    <a:bodyPr wrap="square"/>
                    <a:lstStyle/>
                    <a:p>
                      <a:pPr rtl="1" algn="ctr"/>
                      <a:r>
                        <a:rPr sz="1500" b="0" i="1" lang="ar-SA">
                          <a:solidFill>
                            <a:srgbClr val="92400E"/>
                          </a:solidFill>
                          <a:latin typeface="Arial"/>
                          <a:cs typeface="Arial"/>
                        </a:rPr>
                        <a:t>[2014]</a:t>
                      </a:r>
                    </a:p>
                  </a:txBody>
                  <a:tcPr anchor="ctr" marL="91440" marR="91440" marT="36576" marB="36576">
                    <a:solidFill>
                      <a:srgbClr val="FEF3C7"/>
                    </a:solidFill>
                  </a:tcPr>
                </a:tc>
                <a:tc>
                  <a:txBody>
                    <a:bodyPr wrap="square"/>
                    <a:lstStyle/>
                    <a:p>
                      <a:pPr rtl="1" algn="ctr"/>
                      <a:r>
                        <a:rPr sz="1500" b="0" i="1" lang="ar-SA">
                          <a:solidFill>
                            <a:srgbClr val="92400E"/>
                          </a:solidFill>
                          <a:latin typeface="Arial"/>
                          <a:cs typeface="Arial"/>
                        </a:rPr>
                        <a:t>[2014]</a:t>
                      </a:r>
                    </a:p>
                  </a:txBody>
                  <a:tcPr anchor="ctr" marL="91440" marR="91440" marT="36576" marB="36576">
                    <a:solidFill>
                      <a:srgbClr val="FEF3C7"/>
                    </a:solidFill>
                  </a:tcPr>
                </a:tc>
                <a:tc>
                  <a:txBody>
                    <a:bodyPr wrap="square"/>
                    <a:lstStyle/>
                    <a:p>
                      <a:pPr rtl="1" algn="r"/>
                      <a:r>
                        <a:rPr sz="1500" b="1" i="0" lang="ar-SA">
                          <a:solidFill>
                            <a:srgbClr val="134E4A"/>
                          </a:solidFill>
                          <a:latin typeface="Arial"/>
                          <a:cs typeface="Arial"/>
                        </a:rPr>
                        <a:t>H3 · GRU-lite مقابل أفضل تسلسلي غير عصبوني</a:t>
                      </a:r>
                    </a:p>
                  </a:txBody>
                  <a:tcPr anchor="ctr" marL="91440" marR="91440" marT="36576" marB="36576">
                    <a:solidFill>
                      <a:srgbClr val="FFFFFF"/>
                    </a:solidFill>
                  </a:tcPr>
                </a:tc>
              </a:tr>
              <a:tr h="731520">
                <a:tc>
                  <a:txBody>
                    <a:bodyPr wrap="square"/>
                    <a:lstStyle/>
                    <a:p>
                      <a:pPr rtl="1" algn="ctr"/>
                      <a:r>
                        <a:rPr sz="1500" b="0" i="1" lang="ar-SA">
                          <a:solidFill>
                            <a:srgbClr val="92400E"/>
                          </a:solidFill>
                          <a:latin typeface="Arial"/>
                          <a:cs typeface="Arial"/>
                        </a:rPr>
                        <a:t>[2014]</a:t>
                      </a:r>
                    </a:p>
                  </a:txBody>
                  <a:tcPr anchor="ctr" marL="91440" marR="91440" marT="36576" marB="36576">
                    <a:solidFill>
                      <a:srgbClr val="FEF3C7"/>
                    </a:solidFill>
                  </a:tcPr>
                </a:tc>
                <a:tc>
                  <a:txBody>
                    <a:bodyPr wrap="square"/>
                    <a:lstStyle/>
                    <a:p>
                      <a:pPr rtl="1" algn="r"/>
                      <a:r>
                        <a:rPr sz="1500" b="0" i="0" lang="ar-SA">
                          <a:solidFill>
                            <a:srgbClr val="134E4A"/>
                          </a:solidFill>
                          <a:latin typeface="Arial"/>
                          <a:cs typeface="Arial"/>
                        </a:rPr>
                        <a:t>0.0225</a:t>
                      </a:r>
                    </a:p>
                  </a:txBody>
                  <a:tcPr anchor="ctr" marL="91440" marR="91440" marT="36576" marB="36576">
                    <a:solidFill>
                      <a:srgbClr val="EEF2F6"/>
                    </a:solidFill>
                  </a:tcPr>
                </a:tc>
                <a:tc>
                  <a:txBody>
                    <a:bodyPr wrap="square"/>
                    <a:lstStyle/>
                    <a:p>
                      <a:pPr rtl="1" algn="ctr"/>
                      <a:r>
                        <a:rPr sz="1500" b="0" i="1" lang="ar-SA">
                          <a:solidFill>
                            <a:srgbClr val="92400E"/>
                          </a:solidFill>
                          <a:latin typeface="Arial"/>
                          <a:cs typeface="Arial"/>
                        </a:rPr>
                        <a:t>[2014]</a:t>
                      </a:r>
                    </a:p>
                  </a:txBody>
                  <a:tcPr anchor="ctr" marL="91440" marR="91440" marT="36576" marB="36576">
                    <a:solidFill>
                      <a:srgbClr val="FEF3C7"/>
                    </a:solidFill>
                  </a:tcPr>
                </a:tc>
                <a:tc>
                  <a:txBody>
                    <a:bodyPr wrap="square"/>
                    <a:lstStyle/>
                    <a:p>
                      <a:pPr rtl="1" algn="ctr"/>
                      <a:r>
                        <a:rPr sz="1500" b="0" i="1" lang="ar-SA">
                          <a:solidFill>
                            <a:srgbClr val="92400E"/>
                          </a:solidFill>
                          <a:latin typeface="Arial"/>
                          <a:cs typeface="Arial"/>
                        </a:rPr>
                        <a:t>[2014]</a:t>
                      </a:r>
                    </a:p>
                  </a:txBody>
                  <a:tcPr anchor="ctr" marL="91440" marR="91440" marT="36576" marB="36576">
                    <a:solidFill>
                      <a:srgbClr val="FEF3C7"/>
                    </a:solidFill>
                  </a:tcPr>
                </a:tc>
                <a:tc>
                  <a:txBody>
                    <a:bodyPr wrap="square"/>
                    <a:lstStyle/>
                    <a:p>
                      <a:pPr rtl="1" algn="ctr"/>
                      <a:r>
                        <a:rPr sz="1500" b="0" i="1" lang="ar-SA">
                          <a:solidFill>
                            <a:srgbClr val="92400E"/>
                          </a:solidFill>
                          <a:latin typeface="Arial"/>
                          <a:cs typeface="Arial"/>
                        </a:rPr>
                        <a:t>[2014]</a:t>
                      </a:r>
                    </a:p>
                  </a:txBody>
                  <a:tcPr anchor="ctr" marL="91440" marR="91440" marT="36576" marB="36576">
                    <a:solidFill>
                      <a:srgbClr val="FEF3C7"/>
                    </a:solidFill>
                  </a:tcPr>
                </a:tc>
                <a:tc>
                  <a:txBody>
                    <a:bodyPr wrap="square"/>
                    <a:lstStyle/>
                    <a:p>
                      <a:pPr rtl="1" algn="r"/>
                      <a:r>
                        <a:rPr sz="1500" b="1" i="0" lang="ar-SA">
                          <a:solidFill>
                            <a:srgbClr val="134E4A"/>
                          </a:solidFill>
                          <a:latin typeface="Arial"/>
                          <a:cs typeface="Arial"/>
                        </a:rPr>
                        <a:t>H4-أ · ملامح VLE مقابل مجموع النقرات (AUC)</a:t>
                      </a:r>
                    </a:p>
                  </a:txBody>
                  <a:tcPr anchor="ctr" marL="91440" marR="91440" marT="36576" marB="36576">
                    <a:solidFill>
                      <a:srgbClr val="EEF2F6"/>
                    </a:solidFill>
                  </a:tcPr>
                </a:tc>
              </a:tr>
            </a:tbl>
          </a:graphicData>
        </a:graphic>
      </p:graphicFrame>
      <p:sp>
        <p:nvSpPr>
          <p:cNvPr id="5" name="TextBox 4"/>
          <p:cNvSpPr txBox="1"/>
          <p:nvPr/>
        </p:nvSpPr>
        <p:spPr>
          <a:xfrm>
            <a:off x="548640" y="5623559"/>
            <a:ext cx="11094415" cy="502920"/>
          </a:xfrm>
          <a:prstGeom prst="rect">
            <a:avLst/>
          </a:prstGeom>
          <a:noFill/>
        </p:spPr>
        <p:txBody>
          <a:bodyPr wrap="square" lIns="45720" rIns="45720" tIns="27432" bIns="27432" anchor="ctr">
            <a:spAutoFit/>
          </a:bodyPr>
          <a:lstStyle/>
          <a:p>
            <a:pPr rtl="1" algn="r">
              <a:lnSpc>
                <a:spcPct val="115000"/>
              </a:lnSpc>
              <a:spcBef>
                <a:spcPts val="0"/>
              </a:spcBef>
              <a:spcAft>
                <a:spcPts val="0"/>
              </a:spcAft>
            </a:pPr>
            <a:r>
              <a:rPr sz="1400" b="0" i="0" lang="ar-SA">
                <a:solidFill>
                  <a:srgbClr val="475569"/>
                </a:solidFill>
                <a:latin typeface="Arial"/>
                <a:cs typeface="Arial"/>
              </a:rPr>
              <a:t>13 عرضاً؛ δ = 0.02؛ هولم على الأربع. «غير حاسمة: لا يكشف التصميم بقوة 80% أثراً أصغر من MDE80 = x»؛ ويُكتب صراحةً حين يتجاوز MDE80 ضعف δ (H2-أ وH3).</a:t>
            </a:r>
          </a:p>
        </p:txBody>
      </p:sp>
      <p:sp>
        <p:nvSpPr>
          <p:cNvPr id="6" name="شعار الجامعة"/>
          <p:cNvSpPr/>
          <p:nvPr/>
        </p:nvSpPr>
        <p:spPr>
          <a:xfrm>
            <a:off x="10957255" y="6382512"/>
            <a:ext cx="685800" cy="292608"/>
          </a:xfrm>
          <a:prstGeom prst="roundRect">
            <a:avLst>
              <a:gd name="adj" fmla="val 50000"/>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rtl="1"/>
            <a:r>
              <a:rPr sz="1200" b="1" i="0" lang="ar-SA">
                <a:solidFill>
                  <a:srgbClr val="FFFFFF"/>
                </a:solidFill>
                <a:latin typeface="Arial"/>
                <a:cs typeface="Arial"/>
              </a:rPr>
              <a:t>SVU</a:t>
            </a:r>
          </a:p>
        </p:txBody>
      </p:sp>
      <p:sp>
        <p:nvSpPr>
          <p:cNvPr id="7" name="تذييل"/>
          <p:cNvSpPr txBox="1"/>
          <p:nvPr/>
        </p:nvSpPr>
        <p:spPr>
          <a:xfrm>
            <a:off x="5287975" y="6373368"/>
            <a:ext cx="5577840" cy="310896"/>
          </a:xfrm>
          <a:prstGeom prst="rect">
            <a:avLst/>
          </a:prstGeom>
          <a:noFill/>
        </p:spPr>
        <p:txBody>
          <a:bodyPr wrap="square" lIns="45720" rIns="45720" tIns="27432" bIns="27432" anchor="ctr">
            <a:spAutoFit/>
          </a:bodyPr>
          <a:lstStyle/>
          <a:p>
            <a:pPr rtl="1" algn="r">
              <a:lnSpc>
                <a:spcPct val="115000"/>
              </a:lnSpc>
              <a:spcBef>
                <a:spcPts val="0"/>
              </a:spcBef>
              <a:spcAft>
                <a:spcPts val="0"/>
              </a:spcAft>
            </a:pPr>
            <a:r>
              <a:rPr sz="1200" b="0" i="0" lang="ar-SA">
                <a:solidFill>
                  <a:srgbClr val="475569"/>
                </a:solidFill>
                <a:latin typeface="Arial"/>
                <a:cs typeface="Arial"/>
              </a:rPr>
              <a:t>الجامعة الافتراضية السورية  |  ماجستير علوم الوب</a:t>
            </a:r>
          </a:p>
        </p:txBody>
      </p:sp>
      <p:sp>
        <p:nvSpPr>
          <p:cNvPr id="8" name="رقم الشريحة"/>
          <p:cNvSpPr txBox="1"/>
          <p:nvPr/>
        </p:nvSpPr>
        <p:spPr>
          <a:xfrm>
            <a:off x="548640" y="6373368"/>
            <a:ext cx="914400" cy="310896"/>
          </a:xfrm>
          <a:prstGeom prst="rect">
            <a:avLst/>
          </a:prstGeom>
          <a:noFill/>
        </p:spPr>
        <p:txBody>
          <a:bodyPr wrap="none">
            <a:spAutoFit/>
          </a:bodyPr>
          <a:lstStyle/>
          <a:p>
            <a:pPr rtl="1" algn="l"/>
            <a:fld id="{B6F15528-21DE-4FAA-801E-634DDDAF4B2B}" type="slidenum">
              <a:rPr lang="en-US" sz="1200">
                <a:solidFill>
                  <a:srgbClr val="475569"/>
                </a:solidFill>
                <a:latin typeface="Arial"/>
              </a:rPr>
              <a:t>‹#›</a:t>
            </a:fld>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العنوان"/>
          <p:cNvSpPr txBox="1"/>
          <p:nvPr/>
        </p:nvSpPr>
        <p:spPr>
          <a:xfrm>
            <a:off x="548640" y="347472"/>
            <a:ext cx="11094415" cy="868680"/>
          </a:xfrm>
          <a:prstGeom prst="rect">
            <a:avLst/>
          </a:prstGeom>
          <a:noFill/>
        </p:spPr>
        <p:txBody>
          <a:bodyPr wrap="square" lIns="45720" rIns="45720" tIns="27432" bIns="27432" anchor="ctr">
            <a:spAutoFit/>
          </a:bodyPr>
          <a:lstStyle/>
          <a:p>
            <a:pPr rtl="1" algn="r">
              <a:lnSpc>
                <a:spcPct val="115000"/>
              </a:lnSpc>
              <a:spcBef>
                <a:spcPts val="0"/>
              </a:spcBef>
              <a:spcAft>
                <a:spcPts val="0"/>
              </a:spcAft>
            </a:pPr>
            <a:r>
              <a:rPr sz="3000" b="1" i="0" lang="ar-SA">
                <a:solidFill>
                  <a:srgbClr val="134E4A"/>
                </a:solidFill>
                <a:latin typeface="Arial"/>
                <a:cs typeface="Arial"/>
              </a:rPr>
              <a:t>H4-ب (استكشافية): الربع الأقل تاريخاً</a:t>
            </a:r>
          </a:p>
        </p:txBody>
      </p:sp>
      <p:sp>
        <p:nvSpPr>
          <p:cNvPr id="3" name="شريط الحالة"/>
          <p:cNvSpPr/>
          <p:nvPr/>
        </p:nvSpPr>
        <p:spPr>
          <a:xfrm>
            <a:off x="548640" y="1261872"/>
            <a:ext cx="11094415" cy="420624"/>
          </a:xfrm>
          <a:prstGeom prst="roundRect">
            <a:avLst>
              <a:gd name="adj" fmla="val 25000"/>
            </a:avLst>
          </a:prstGeom>
          <a:solidFill>
            <a:srgbClr val="FEF3C7"/>
          </a:solidFill>
          <a:ln w="12700">
            <a:solidFill>
              <a:srgbClr val="B45309"/>
            </a:solidFill>
            <a:prstDash val="dash"/>
          </a:ln>
          <a:effectLst/>
        </p:spPr>
        <p:style>
          <a:lnRef idx="1">
            <a:schemeClr val="accent1"/>
          </a:lnRef>
          <a:fillRef idx="3">
            <a:schemeClr val="accent1"/>
          </a:fillRef>
          <a:effectRef idx="2">
            <a:schemeClr val="accent1"/>
          </a:effectRef>
          <a:fontRef idx="minor">
            <a:schemeClr val="lt1"/>
          </a:fontRef>
        </p:style>
        <p:txBody>
          <a:bodyPr rtlCol="0" anchor="ctr" wrap="square" lIns="54864" rIns="228600" tIns="18288" bIns="18288"/>
          <a:lstStyle/>
          <a:p>
            <a:pPr algn="r" rtl="1"/>
            <a:r>
              <a:rPr sz="1500" b="1" i="0" lang="ar-SA">
                <a:solidFill>
                  <a:srgbClr val="92400E"/>
                </a:solidFill>
                <a:latin typeface="Arial"/>
                <a:cs typeface="Arial"/>
              </a:rPr>
              <a:t>[2014] قيد الاستكمال: فاصل ثقة وp غير مصحَّحة، بلا حكم تأكيدي</a:t>
            </a:r>
          </a:p>
        </p:txBody>
      </p:sp>
      <p:sp>
        <p:nvSpPr>
          <p:cNvPr id="4" name="لوحة"/>
          <p:cNvSpPr/>
          <p:nvPr/>
        </p:nvSpPr>
        <p:spPr>
          <a:xfrm>
            <a:off x="8127796" y="1874519"/>
            <a:ext cx="3515258" cy="3246120"/>
          </a:xfrm>
          <a:prstGeom prst="roundRect">
            <a:avLst>
              <a:gd name="adj" fmla="val 6000"/>
            </a:avLst>
          </a:prstGeom>
          <a:solidFill>
            <a:srgbClr val="FFFFFF"/>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264956" y="1965960"/>
            <a:ext cx="3240938" cy="685800"/>
          </a:xfrm>
          <a:prstGeom prst="rect">
            <a:avLst/>
          </a:prstGeom>
          <a:noFill/>
        </p:spPr>
        <p:txBody>
          <a:bodyPr wrap="square" lIns="45720" rIns="45720" tIns="27432" bIns="27432" anchor="ctr">
            <a:spAutoFit/>
          </a:bodyPr>
          <a:lstStyle/>
          <a:p>
            <a:pPr rtl="1" algn="r">
              <a:lnSpc>
                <a:spcPct val="100000"/>
              </a:lnSpc>
              <a:spcBef>
                <a:spcPts val="0"/>
              </a:spcBef>
              <a:spcAft>
                <a:spcPts val="0"/>
              </a:spcAft>
            </a:pPr>
            <a:r>
              <a:rPr sz="2000" b="1" i="0" lang="ar-SA">
                <a:solidFill>
                  <a:srgbClr val="134E4A"/>
                </a:solidFill>
                <a:latin typeface="Arial"/>
                <a:cs typeface="Arial"/>
              </a:rPr>
              <a:t>الربع الأقل تاريخاً</a:t>
            </a:r>
          </a:p>
        </p:txBody>
      </p:sp>
      <p:sp>
        <p:nvSpPr>
          <p:cNvPr id="6" name="TextBox 5"/>
          <p:cNvSpPr txBox="1"/>
          <p:nvPr/>
        </p:nvSpPr>
        <p:spPr>
          <a:xfrm>
            <a:off x="8264956" y="2697479"/>
            <a:ext cx="3240938" cy="822960"/>
          </a:xfrm>
          <a:prstGeom prst="rect">
            <a:avLst/>
          </a:prstGeom>
          <a:noFill/>
        </p:spPr>
        <p:txBody>
          <a:bodyPr wrap="square" lIns="45720" rIns="45720" tIns="27432" bIns="27432" anchor="t">
            <a:spAutoFit/>
          </a:bodyPr>
          <a:lstStyle/>
          <a:p>
            <a:pPr rtl="1" algn="r">
              <a:lnSpc>
                <a:spcPct val="105000"/>
              </a:lnSpc>
              <a:spcBef>
                <a:spcPts val="0"/>
              </a:spcBef>
              <a:spcAft>
                <a:spcPts val="0"/>
              </a:spcAft>
            </a:pPr>
            <a:r>
              <a:rPr sz="1500" b="0" i="0" lang="ar-SA">
                <a:solidFill>
                  <a:srgbClr val="475569"/>
                </a:solidFill>
                <a:latin typeface="Arial"/>
                <a:cs typeface="Arial"/>
              </a:rPr>
              <a:t>الهجين مع شعبية العنقود مقابل SKNN وحده</a:t>
            </a:r>
          </a:p>
        </p:txBody>
      </p:sp>
      <p:sp>
        <p:nvSpPr>
          <p:cNvPr id="7" name="مكان النتيجة"/>
          <p:cNvSpPr/>
          <p:nvPr/>
        </p:nvSpPr>
        <p:spPr>
          <a:xfrm>
            <a:off x="8310676" y="3611879"/>
            <a:ext cx="3149498" cy="1325879"/>
          </a:xfrm>
          <a:prstGeom prst="roundRect">
            <a:avLst>
              <a:gd name="adj" fmla="val 8000"/>
            </a:avLst>
          </a:prstGeom>
          <a:solidFill>
            <a:srgbClr val="FEF3C7"/>
          </a:solidFill>
          <a:ln w="19050">
            <a:solidFill>
              <a:srgbClr val="B45309"/>
            </a:solidFill>
            <a:prstDash val="dash"/>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rtl="1"/>
            <a:r>
              <a:rPr sz="1800" b="1" i="1" lang="ar-SA">
                <a:solidFill>
                  <a:srgbClr val="92400E"/>
                </a:solidFill>
                <a:latin typeface="Arial"/>
                <a:cs typeface="Arial"/>
              </a:rPr>
              <a:t>[2014] Δ وفاصل 95% وp</a:t>
            </a:r>
          </a:p>
        </p:txBody>
      </p:sp>
      <p:sp>
        <p:nvSpPr>
          <p:cNvPr id="8" name="لوحة"/>
          <p:cNvSpPr/>
          <p:nvPr/>
        </p:nvSpPr>
        <p:spPr>
          <a:xfrm>
            <a:off x="4338218" y="1874519"/>
            <a:ext cx="3515258" cy="3246120"/>
          </a:xfrm>
          <a:prstGeom prst="roundRect">
            <a:avLst>
              <a:gd name="adj" fmla="val 6000"/>
            </a:avLst>
          </a:prstGeom>
          <a:solidFill>
            <a:srgbClr val="FFFFFF"/>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4475378" y="1965960"/>
            <a:ext cx="3240938" cy="685800"/>
          </a:xfrm>
          <a:prstGeom prst="rect">
            <a:avLst/>
          </a:prstGeom>
          <a:noFill/>
        </p:spPr>
        <p:txBody>
          <a:bodyPr wrap="square" lIns="45720" rIns="45720" tIns="27432" bIns="27432" anchor="ctr">
            <a:spAutoFit/>
          </a:bodyPr>
          <a:lstStyle/>
          <a:p>
            <a:pPr rtl="1" algn="r">
              <a:lnSpc>
                <a:spcPct val="100000"/>
              </a:lnSpc>
              <a:spcBef>
                <a:spcPts val="0"/>
              </a:spcBef>
              <a:spcAft>
                <a:spcPts val="0"/>
              </a:spcAft>
            </a:pPr>
            <a:r>
              <a:rPr sz="2000" b="1" i="0" lang="ar-SA">
                <a:solidFill>
                  <a:srgbClr val="134E4A"/>
                </a:solidFill>
                <a:latin typeface="Arial"/>
                <a:cs typeface="Arial"/>
              </a:rPr>
              <a:t>الربع الأعلى تاريخاً</a:t>
            </a:r>
          </a:p>
        </p:txBody>
      </p:sp>
      <p:sp>
        <p:nvSpPr>
          <p:cNvPr id="10" name="TextBox 9"/>
          <p:cNvSpPr txBox="1"/>
          <p:nvPr/>
        </p:nvSpPr>
        <p:spPr>
          <a:xfrm>
            <a:off x="4475378" y="2697479"/>
            <a:ext cx="3240938" cy="822960"/>
          </a:xfrm>
          <a:prstGeom prst="rect">
            <a:avLst/>
          </a:prstGeom>
          <a:noFill/>
        </p:spPr>
        <p:txBody>
          <a:bodyPr wrap="square" lIns="45720" rIns="45720" tIns="27432" bIns="27432" anchor="t">
            <a:spAutoFit/>
          </a:bodyPr>
          <a:lstStyle/>
          <a:p>
            <a:pPr rtl="1" algn="r">
              <a:lnSpc>
                <a:spcPct val="105000"/>
              </a:lnSpc>
              <a:spcBef>
                <a:spcPts val="0"/>
              </a:spcBef>
              <a:spcAft>
                <a:spcPts val="0"/>
              </a:spcAft>
            </a:pPr>
            <a:r>
              <a:rPr sz="1500" b="0" i="0" lang="ar-SA">
                <a:solidFill>
                  <a:srgbClr val="475569"/>
                </a:solidFill>
                <a:latin typeface="Arial"/>
                <a:cs typeface="Arial"/>
              </a:rPr>
              <a:t>مقارنة: هل الأثر خاص بالأقل تاريخاً؟</a:t>
            </a:r>
          </a:p>
        </p:txBody>
      </p:sp>
      <p:sp>
        <p:nvSpPr>
          <p:cNvPr id="11" name="مكان النتيجة"/>
          <p:cNvSpPr/>
          <p:nvPr/>
        </p:nvSpPr>
        <p:spPr>
          <a:xfrm>
            <a:off x="4521098" y="3611879"/>
            <a:ext cx="3149498" cy="1325879"/>
          </a:xfrm>
          <a:prstGeom prst="roundRect">
            <a:avLst>
              <a:gd name="adj" fmla="val 8000"/>
            </a:avLst>
          </a:prstGeom>
          <a:solidFill>
            <a:srgbClr val="FEF3C7"/>
          </a:solidFill>
          <a:ln w="19050">
            <a:solidFill>
              <a:srgbClr val="B45309"/>
            </a:solidFill>
            <a:prstDash val="dash"/>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rtl="1"/>
            <a:r>
              <a:rPr sz="1800" b="1" i="1" lang="ar-SA">
                <a:solidFill>
                  <a:srgbClr val="92400E"/>
                </a:solidFill>
                <a:latin typeface="Arial"/>
                <a:cs typeface="Arial"/>
              </a:rPr>
              <a:t>[2014] Δ وفاصل 95% وp</a:t>
            </a:r>
          </a:p>
        </p:txBody>
      </p:sp>
      <p:sp>
        <p:nvSpPr>
          <p:cNvPr id="12" name="لوحة"/>
          <p:cNvSpPr/>
          <p:nvPr/>
        </p:nvSpPr>
        <p:spPr>
          <a:xfrm>
            <a:off x="548639" y="1874519"/>
            <a:ext cx="3515258" cy="3246120"/>
          </a:xfrm>
          <a:prstGeom prst="roundRect">
            <a:avLst>
              <a:gd name="adj" fmla="val 6000"/>
            </a:avLst>
          </a:prstGeom>
          <a:solidFill>
            <a:srgbClr val="FFFFFF"/>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85799" y="1965960"/>
            <a:ext cx="3240938" cy="685800"/>
          </a:xfrm>
          <a:prstGeom prst="rect">
            <a:avLst/>
          </a:prstGeom>
          <a:noFill/>
        </p:spPr>
        <p:txBody>
          <a:bodyPr wrap="square" lIns="45720" rIns="45720" tIns="27432" bIns="27432" anchor="ctr">
            <a:spAutoFit/>
          </a:bodyPr>
          <a:lstStyle/>
          <a:p>
            <a:pPr rtl="1" algn="r">
              <a:lnSpc>
                <a:spcPct val="100000"/>
              </a:lnSpc>
              <a:spcBef>
                <a:spcPts val="0"/>
              </a:spcBef>
              <a:spcAft>
                <a:spcPts val="0"/>
              </a:spcAft>
            </a:pPr>
            <a:r>
              <a:rPr sz="2000" b="1" i="0" lang="ar-SA">
                <a:solidFill>
                  <a:srgbClr val="134E4A"/>
                </a:solidFill>
                <a:latin typeface="Arial"/>
                <a:cs typeface="Arial"/>
              </a:rPr>
              <a:t>حجم الشريحة</a:t>
            </a:r>
          </a:p>
        </p:txBody>
      </p:sp>
      <p:sp>
        <p:nvSpPr>
          <p:cNvPr id="14" name="TextBox 13"/>
          <p:cNvSpPr txBox="1"/>
          <p:nvPr/>
        </p:nvSpPr>
        <p:spPr>
          <a:xfrm>
            <a:off x="685799" y="2697479"/>
            <a:ext cx="3240938" cy="822960"/>
          </a:xfrm>
          <a:prstGeom prst="rect">
            <a:avLst/>
          </a:prstGeom>
          <a:noFill/>
        </p:spPr>
        <p:txBody>
          <a:bodyPr wrap="square" lIns="45720" rIns="45720" tIns="27432" bIns="27432" anchor="t">
            <a:spAutoFit/>
          </a:bodyPr>
          <a:lstStyle/>
          <a:p>
            <a:pPr rtl="1" algn="r">
              <a:lnSpc>
                <a:spcPct val="105000"/>
              </a:lnSpc>
              <a:spcBef>
                <a:spcPts val="0"/>
              </a:spcBef>
              <a:spcAft>
                <a:spcPts val="0"/>
              </a:spcAft>
            </a:pPr>
            <a:r>
              <a:rPr sz="1500" b="0" i="0" lang="ar-SA">
                <a:solidFill>
                  <a:srgbClr val="475569"/>
                </a:solidFill>
                <a:latin typeface="Arial"/>
                <a:cs typeface="Arial"/>
              </a:rPr>
              <a:t>حصة الربع الفعلية وعدد المقيَّمين</a:t>
            </a:r>
          </a:p>
        </p:txBody>
      </p:sp>
      <p:sp>
        <p:nvSpPr>
          <p:cNvPr id="15" name="مكان النتيجة"/>
          <p:cNvSpPr/>
          <p:nvPr/>
        </p:nvSpPr>
        <p:spPr>
          <a:xfrm>
            <a:off x="731519" y="3611879"/>
            <a:ext cx="3149498" cy="1325879"/>
          </a:xfrm>
          <a:prstGeom prst="roundRect">
            <a:avLst>
              <a:gd name="adj" fmla="val 8000"/>
            </a:avLst>
          </a:prstGeom>
          <a:solidFill>
            <a:srgbClr val="FEF3C7"/>
          </a:solidFill>
          <a:ln w="19050">
            <a:solidFill>
              <a:srgbClr val="B45309"/>
            </a:solidFill>
            <a:prstDash val="dash"/>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rtl="1"/>
            <a:r>
              <a:rPr sz="1800" b="1" i="1" lang="ar-SA">
                <a:solidFill>
                  <a:srgbClr val="92400E"/>
                </a:solidFill>
                <a:latin typeface="Arial"/>
                <a:cs typeface="Arial"/>
              </a:rPr>
              <a:t>[2014] الحصة والعدد</a:t>
            </a:r>
          </a:p>
        </p:txBody>
      </p:sp>
      <p:sp>
        <p:nvSpPr>
          <p:cNvPr id="16" name="خلاصة"/>
          <p:cNvSpPr/>
          <p:nvPr/>
        </p:nvSpPr>
        <p:spPr>
          <a:xfrm>
            <a:off x="548640" y="5257800"/>
            <a:ext cx="11094415" cy="868680"/>
          </a:xfrm>
          <a:prstGeom prst="roundRect">
            <a:avLst>
              <a:gd name="adj" fmla="val 12000"/>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74320" tIns="18288" bIns="18288"/>
          <a:lstStyle/>
          <a:p>
            <a:pPr algn="r" rtl="1"/>
            <a:r>
              <a:rPr sz="2200" b="1" i="0" lang="ar-SA">
                <a:solidFill>
                  <a:srgbClr val="FFFFFF"/>
                </a:solidFill>
                <a:latin typeface="Arial"/>
                <a:cs typeface="Arial"/>
              </a:rPr>
              <a:t>استكشافية: تُبلَّغ بفاصل ثقة وp غير مصحَّحة، ولا تدخل عائلة هولم</a:t>
            </a:r>
          </a:p>
        </p:txBody>
      </p:sp>
      <p:sp>
        <p:nvSpPr>
          <p:cNvPr id="17" name="شعار الجامعة"/>
          <p:cNvSpPr/>
          <p:nvPr/>
        </p:nvSpPr>
        <p:spPr>
          <a:xfrm>
            <a:off x="10957255" y="6382512"/>
            <a:ext cx="685800" cy="292608"/>
          </a:xfrm>
          <a:prstGeom prst="roundRect">
            <a:avLst>
              <a:gd name="adj" fmla="val 50000"/>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rtl="1"/>
            <a:r>
              <a:rPr sz="1200" b="1" i="0" lang="ar-SA">
                <a:solidFill>
                  <a:srgbClr val="FFFFFF"/>
                </a:solidFill>
                <a:latin typeface="Arial"/>
                <a:cs typeface="Arial"/>
              </a:rPr>
              <a:t>SVU</a:t>
            </a:r>
          </a:p>
        </p:txBody>
      </p:sp>
      <p:sp>
        <p:nvSpPr>
          <p:cNvPr id="18" name="تذييل"/>
          <p:cNvSpPr txBox="1"/>
          <p:nvPr/>
        </p:nvSpPr>
        <p:spPr>
          <a:xfrm>
            <a:off x="5287975" y="6373368"/>
            <a:ext cx="5577840" cy="310896"/>
          </a:xfrm>
          <a:prstGeom prst="rect">
            <a:avLst/>
          </a:prstGeom>
          <a:noFill/>
        </p:spPr>
        <p:txBody>
          <a:bodyPr wrap="square" lIns="45720" rIns="45720" tIns="27432" bIns="27432" anchor="ctr">
            <a:spAutoFit/>
          </a:bodyPr>
          <a:lstStyle/>
          <a:p>
            <a:pPr rtl="1" algn="r">
              <a:lnSpc>
                <a:spcPct val="115000"/>
              </a:lnSpc>
              <a:spcBef>
                <a:spcPts val="0"/>
              </a:spcBef>
              <a:spcAft>
                <a:spcPts val="0"/>
              </a:spcAft>
            </a:pPr>
            <a:r>
              <a:rPr sz="1200" b="0" i="0" lang="ar-SA">
                <a:solidFill>
                  <a:srgbClr val="475569"/>
                </a:solidFill>
                <a:latin typeface="Arial"/>
                <a:cs typeface="Arial"/>
              </a:rPr>
              <a:t>الجامعة الافتراضية السورية  |  ماجستير علوم الوب</a:t>
            </a:r>
          </a:p>
        </p:txBody>
      </p:sp>
      <p:sp>
        <p:nvSpPr>
          <p:cNvPr id="19" name="رقم الشريحة"/>
          <p:cNvSpPr txBox="1"/>
          <p:nvPr/>
        </p:nvSpPr>
        <p:spPr>
          <a:xfrm>
            <a:off x="548640" y="6373368"/>
            <a:ext cx="914400" cy="310896"/>
          </a:xfrm>
          <a:prstGeom prst="rect">
            <a:avLst/>
          </a:prstGeom>
          <a:noFill/>
        </p:spPr>
        <p:txBody>
          <a:bodyPr wrap="none">
            <a:spAutoFit/>
          </a:bodyPr>
          <a:lstStyle/>
          <a:p>
            <a:pPr rtl="1" algn="l"/>
            <a:fld id="{B6F15528-21DE-4FAA-801E-634DDDAF4B2B}" type="slidenum">
              <a:rPr lang="en-US" sz="1200">
                <a:solidFill>
                  <a:srgbClr val="475569"/>
                </a:solidFill>
                <a:latin typeface="Arial"/>
              </a:rPr>
              <a:t>‹#›</a:t>
            </a:fld>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العنوان"/>
          <p:cNvSpPr txBox="1"/>
          <p:nvPr/>
        </p:nvSpPr>
        <p:spPr>
          <a:xfrm>
            <a:off x="548640" y="347472"/>
            <a:ext cx="11094415" cy="868680"/>
          </a:xfrm>
          <a:prstGeom prst="rect">
            <a:avLst/>
          </a:prstGeom>
          <a:noFill/>
        </p:spPr>
        <p:txBody>
          <a:bodyPr wrap="square" lIns="45720" rIns="45720" tIns="27432" bIns="27432" anchor="ctr">
            <a:spAutoFit/>
          </a:bodyPr>
          <a:lstStyle/>
          <a:p>
            <a:pPr rtl="1" algn="r">
              <a:lnSpc>
                <a:spcPct val="115000"/>
              </a:lnSpc>
              <a:spcBef>
                <a:spcPts val="0"/>
              </a:spcBef>
              <a:spcAft>
                <a:spcPts val="0"/>
              </a:spcAft>
            </a:pPr>
            <a:r>
              <a:rPr sz="3000" b="1" i="0" lang="ar-SA">
                <a:solidFill>
                  <a:srgbClr val="134E4A"/>
                </a:solidFill>
                <a:latin typeface="Arial"/>
                <a:cs typeface="Arial"/>
              </a:rPr>
              <a:t>الأشكال: الاستئصال والحساسيات</a:t>
            </a:r>
          </a:p>
        </p:txBody>
      </p:sp>
      <p:sp>
        <p:nvSpPr>
          <p:cNvPr id="3" name="شريط الحالة"/>
          <p:cNvSpPr/>
          <p:nvPr/>
        </p:nvSpPr>
        <p:spPr>
          <a:xfrm>
            <a:off x="548640" y="1261872"/>
            <a:ext cx="11094415" cy="420624"/>
          </a:xfrm>
          <a:prstGeom prst="roundRect">
            <a:avLst>
              <a:gd name="adj" fmla="val 25000"/>
            </a:avLst>
          </a:prstGeom>
          <a:solidFill>
            <a:srgbClr val="FEF3C7"/>
          </a:solidFill>
          <a:ln w="12700">
            <a:solidFill>
              <a:srgbClr val="B45309"/>
            </a:solidFill>
            <a:prstDash val="dash"/>
          </a:ln>
          <a:effectLst/>
        </p:spPr>
        <p:style>
          <a:lnRef idx="1">
            <a:schemeClr val="accent1"/>
          </a:lnRef>
          <a:fillRef idx="3">
            <a:schemeClr val="accent1"/>
          </a:fillRef>
          <a:effectRef idx="2">
            <a:schemeClr val="accent1"/>
          </a:effectRef>
          <a:fontRef idx="minor">
            <a:schemeClr val="lt1"/>
          </a:fontRef>
        </p:style>
        <p:txBody>
          <a:bodyPr rtlCol="0" anchor="ctr" wrap="square" lIns="54864" rIns="228600" tIns="18288" bIns="18288"/>
          <a:lstStyle/>
          <a:p>
            <a:pPr algn="r" rtl="1"/>
            <a:r>
              <a:rPr sz="1500" b="1" i="0" lang="ar-SA">
                <a:solidFill>
                  <a:srgbClr val="92400E"/>
                </a:solidFill>
                <a:latin typeface="Arial"/>
                <a:cs typeface="Arial"/>
              </a:rPr>
              <a:t>[2014] قيد الاستكمال: تُملأ بأشكال PNG من results/conf2014/</a:t>
            </a:r>
          </a:p>
        </p:txBody>
      </p:sp>
      <p:sp>
        <p:nvSpPr>
          <p:cNvPr id="4" name="لوحة"/>
          <p:cNvSpPr/>
          <p:nvPr/>
        </p:nvSpPr>
        <p:spPr>
          <a:xfrm>
            <a:off x="8127796" y="1874519"/>
            <a:ext cx="3515258" cy="4297680"/>
          </a:xfrm>
          <a:prstGeom prst="roundRect">
            <a:avLst>
              <a:gd name="adj" fmla="val 6000"/>
            </a:avLst>
          </a:prstGeom>
          <a:solidFill>
            <a:srgbClr val="FFFFFF"/>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264956" y="1965960"/>
            <a:ext cx="3240938" cy="685800"/>
          </a:xfrm>
          <a:prstGeom prst="rect">
            <a:avLst/>
          </a:prstGeom>
          <a:noFill/>
        </p:spPr>
        <p:txBody>
          <a:bodyPr wrap="square" lIns="45720" rIns="45720" tIns="27432" bIns="27432" anchor="ctr">
            <a:spAutoFit/>
          </a:bodyPr>
          <a:lstStyle/>
          <a:p>
            <a:pPr rtl="1" algn="r">
              <a:lnSpc>
                <a:spcPct val="100000"/>
              </a:lnSpc>
              <a:spcBef>
                <a:spcPts val="0"/>
              </a:spcBef>
              <a:spcAft>
                <a:spcPts val="0"/>
              </a:spcAft>
            </a:pPr>
            <a:r>
              <a:rPr sz="2000" b="1" i="0" lang="ar-SA">
                <a:solidFill>
                  <a:srgbClr val="134E4A"/>
                </a:solidFill>
                <a:latin typeface="Arial"/>
                <a:cs typeface="Arial"/>
              </a:rPr>
              <a:t>استئصال الإشارة</a:t>
            </a:r>
          </a:p>
        </p:txBody>
      </p:sp>
      <p:sp>
        <p:nvSpPr>
          <p:cNvPr id="6" name="TextBox 5"/>
          <p:cNvSpPr txBox="1"/>
          <p:nvPr/>
        </p:nvSpPr>
        <p:spPr>
          <a:xfrm>
            <a:off x="8264956" y="2697479"/>
            <a:ext cx="3240938" cy="822960"/>
          </a:xfrm>
          <a:prstGeom prst="rect">
            <a:avLst/>
          </a:prstGeom>
          <a:noFill/>
        </p:spPr>
        <p:txBody>
          <a:bodyPr wrap="square" lIns="45720" rIns="45720" tIns="27432" bIns="27432" anchor="t">
            <a:spAutoFit/>
          </a:bodyPr>
          <a:lstStyle/>
          <a:p>
            <a:pPr rtl="1" algn="r">
              <a:lnSpc>
                <a:spcPct val="105000"/>
              </a:lnSpc>
              <a:spcBef>
                <a:spcPts val="0"/>
              </a:spcBef>
              <a:spcAft>
                <a:spcPts val="0"/>
              </a:spcAft>
            </a:pPr>
            <a:r>
              <a:rPr sz="1500" b="0" i="0" lang="ar-SA">
                <a:solidFill>
                  <a:srgbClr val="475569"/>
                </a:solidFill>
                <a:latin typeface="Arial"/>
                <a:cs typeface="Arial"/>
              </a:rPr>
              <a:t>L0 ⊂ L1 ⊂ L2 ⊂ L3 في WRMF وItem-kNN</a:t>
            </a:r>
          </a:p>
        </p:txBody>
      </p:sp>
      <p:sp>
        <p:nvSpPr>
          <p:cNvPr id="7" name="مكان النتيجة"/>
          <p:cNvSpPr/>
          <p:nvPr/>
        </p:nvSpPr>
        <p:spPr>
          <a:xfrm>
            <a:off x="8310676" y="3611879"/>
            <a:ext cx="3149498" cy="2377440"/>
          </a:xfrm>
          <a:prstGeom prst="roundRect">
            <a:avLst>
              <a:gd name="adj" fmla="val 8000"/>
            </a:avLst>
          </a:prstGeom>
          <a:solidFill>
            <a:srgbClr val="FEF3C7"/>
          </a:solidFill>
          <a:ln w="19050">
            <a:solidFill>
              <a:srgbClr val="B45309"/>
            </a:solidFill>
            <a:prstDash val="dash"/>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rtl="1"/>
            <a:r>
              <a:rPr sz="1800" b="1" i="1" lang="ar-SA">
                <a:solidFill>
                  <a:srgbClr val="92400E"/>
                </a:solidFill>
                <a:latin typeface="Arial"/>
                <a:cs typeface="Arial"/>
              </a:rPr>
              <a:t>[2014] شكل</a:t>
            </a:r>
          </a:p>
        </p:txBody>
      </p:sp>
      <p:sp>
        <p:nvSpPr>
          <p:cNvPr id="8" name="لوحة"/>
          <p:cNvSpPr/>
          <p:nvPr/>
        </p:nvSpPr>
        <p:spPr>
          <a:xfrm>
            <a:off x="4338218" y="1874519"/>
            <a:ext cx="3515258" cy="4297680"/>
          </a:xfrm>
          <a:prstGeom prst="roundRect">
            <a:avLst>
              <a:gd name="adj" fmla="val 6000"/>
            </a:avLst>
          </a:prstGeom>
          <a:solidFill>
            <a:srgbClr val="FFFFFF"/>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4475378" y="1965960"/>
            <a:ext cx="3240938" cy="685800"/>
          </a:xfrm>
          <a:prstGeom prst="rect">
            <a:avLst/>
          </a:prstGeom>
          <a:noFill/>
        </p:spPr>
        <p:txBody>
          <a:bodyPr wrap="square" lIns="45720" rIns="45720" tIns="27432" bIns="27432" anchor="ctr">
            <a:spAutoFit/>
          </a:bodyPr>
          <a:lstStyle/>
          <a:p>
            <a:pPr rtl="1" algn="r">
              <a:lnSpc>
                <a:spcPct val="100000"/>
              </a:lnSpc>
              <a:spcBef>
                <a:spcPts val="0"/>
              </a:spcBef>
              <a:spcAft>
                <a:spcPts val="0"/>
              </a:spcAft>
            </a:pPr>
            <a:r>
              <a:rPr sz="2000" b="1" i="0" lang="ar-SA">
                <a:solidFill>
                  <a:srgbClr val="134E4A"/>
                </a:solidFill>
                <a:latin typeface="Arial"/>
                <a:cs typeface="Arial"/>
              </a:rPr>
              <a:t>استئصال مكوّنات الهجين</a:t>
            </a:r>
          </a:p>
        </p:txBody>
      </p:sp>
      <p:sp>
        <p:nvSpPr>
          <p:cNvPr id="10" name="TextBox 9"/>
          <p:cNvSpPr txBox="1"/>
          <p:nvPr/>
        </p:nvSpPr>
        <p:spPr>
          <a:xfrm>
            <a:off x="4475378" y="2697479"/>
            <a:ext cx="3240938" cy="822960"/>
          </a:xfrm>
          <a:prstGeom prst="rect">
            <a:avLst/>
          </a:prstGeom>
          <a:noFill/>
        </p:spPr>
        <p:txBody>
          <a:bodyPr wrap="square" lIns="45720" rIns="45720" tIns="27432" bIns="27432" anchor="t">
            <a:spAutoFit/>
          </a:bodyPr>
          <a:lstStyle/>
          <a:p>
            <a:pPr rtl="1" algn="r">
              <a:lnSpc>
                <a:spcPct val="105000"/>
              </a:lnSpc>
              <a:spcBef>
                <a:spcPts val="0"/>
              </a:spcBef>
              <a:spcAft>
                <a:spcPts val="0"/>
              </a:spcAft>
            </a:pPr>
            <a:r>
              <a:rPr sz="1500" b="0" i="0" lang="ar-SA">
                <a:solidFill>
                  <a:srgbClr val="475569"/>
                </a:solidFill>
                <a:latin typeface="Arial"/>
                <a:cs typeface="Arial"/>
              </a:rPr>
              <a:t>حذف كل مكوّن مع إعادة ضبط الأوزان</a:t>
            </a:r>
          </a:p>
        </p:txBody>
      </p:sp>
      <p:sp>
        <p:nvSpPr>
          <p:cNvPr id="11" name="مكان النتيجة"/>
          <p:cNvSpPr/>
          <p:nvPr/>
        </p:nvSpPr>
        <p:spPr>
          <a:xfrm>
            <a:off x="4521098" y="3611879"/>
            <a:ext cx="3149498" cy="2377440"/>
          </a:xfrm>
          <a:prstGeom prst="roundRect">
            <a:avLst>
              <a:gd name="adj" fmla="val 8000"/>
            </a:avLst>
          </a:prstGeom>
          <a:solidFill>
            <a:srgbClr val="FEF3C7"/>
          </a:solidFill>
          <a:ln w="19050">
            <a:solidFill>
              <a:srgbClr val="B45309"/>
            </a:solidFill>
            <a:prstDash val="dash"/>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rtl="1"/>
            <a:r>
              <a:rPr sz="1800" b="1" i="1" lang="ar-SA">
                <a:solidFill>
                  <a:srgbClr val="92400E"/>
                </a:solidFill>
                <a:latin typeface="Arial"/>
                <a:cs typeface="Arial"/>
              </a:rPr>
              <a:t>[2014] شكل</a:t>
            </a:r>
          </a:p>
        </p:txBody>
      </p:sp>
      <p:sp>
        <p:nvSpPr>
          <p:cNvPr id="12" name="لوحة"/>
          <p:cNvSpPr/>
          <p:nvPr/>
        </p:nvSpPr>
        <p:spPr>
          <a:xfrm>
            <a:off x="548639" y="1874519"/>
            <a:ext cx="3515258" cy="4297680"/>
          </a:xfrm>
          <a:prstGeom prst="roundRect">
            <a:avLst>
              <a:gd name="adj" fmla="val 6000"/>
            </a:avLst>
          </a:prstGeom>
          <a:solidFill>
            <a:srgbClr val="FFFFFF"/>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85799" y="1965960"/>
            <a:ext cx="3240938" cy="685800"/>
          </a:xfrm>
          <a:prstGeom prst="rect">
            <a:avLst/>
          </a:prstGeom>
          <a:noFill/>
        </p:spPr>
        <p:txBody>
          <a:bodyPr wrap="square" lIns="45720" rIns="45720" tIns="27432" bIns="27432" anchor="ctr">
            <a:spAutoFit/>
          </a:bodyPr>
          <a:lstStyle/>
          <a:p>
            <a:pPr rtl="1" algn="r">
              <a:lnSpc>
                <a:spcPct val="100000"/>
              </a:lnSpc>
              <a:spcBef>
                <a:spcPts val="0"/>
              </a:spcBef>
              <a:spcAft>
                <a:spcPts val="0"/>
              </a:spcAft>
            </a:pPr>
            <a:r>
              <a:rPr sz="2000" b="1" i="0" lang="ar-SA">
                <a:solidFill>
                  <a:srgbClr val="134E4A"/>
                </a:solidFill>
                <a:latin typeface="Arial"/>
                <a:cs typeface="Arial"/>
              </a:rPr>
              <a:t>حساسيات مسجّلة مسبقاً</a:t>
            </a:r>
          </a:p>
        </p:txBody>
      </p:sp>
      <p:sp>
        <p:nvSpPr>
          <p:cNvPr id="14" name="TextBox 13"/>
          <p:cNvSpPr txBox="1"/>
          <p:nvPr/>
        </p:nvSpPr>
        <p:spPr>
          <a:xfrm>
            <a:off x="685799" y="2697479"/>
            <a:ext cx="3240938" cy="822960"/>
          </a:xfrm>
          <a:prstGeom prst="rect">
            <a:avLst/>
          </a:prstGeom>
          <a:noFill/>
        </p:spPr>
        <p:txBody>
          <a:bodyPr wrap="square" lIns="45720" rIns="45720" tIns="27432" bIns="27432" anchor="t">
            <a:spAutoFit/>
          </a:bodyPr>
          <a:lstStyle/>
          <a:p>
            <a:pPr rtl="1" algn="r">
              <a:lnSpc>
                <a:spcPct val="105000"/>
              </a:lnSpc>
              <a:spcBef>
                <a:spcPts val="0"/>
              </a:spcBef>
              <a:spcAft>
                <a:spcPts val="0"/>
              </a:spcAft>
            </a:pPr>
            <a:r>
              <a:rPr sz="1500" b="0" i="0" lang="ar-SA">
                <a:solidFill>
                  <a:srgbClr val="475569"/>
                </a:solidFill>
                <a:latin typeface="Arial"/>
                <a:cs typeface="Arial"/>
              </a:rPr>
              <a:t>الأنواع المستبعدة، نقاط القطع، السوالب المعيَّنة، سعة GRU</a:t>
            </a:r>
          </a:p>
        </p:txBody>
      </p:sp>
      <p:sp>
        <p:nvSpPr>
          <p:cNvPr id="15" name="مكان النتيجة"/>
          <p:cNvSpPr/>
          <p:nvPr/>
        </p:nvSpPr>
        <p:spPr>
          <a:xfrm>
            <a:off x="731519" y="3611879"/>
            <a:ext cx="3149498" cy="2377440"/>
          </a:xfrm>
          <a:prstGeom prst="roundRect">
            <a:avLst>
              <a:gd name="adj" fmla="val 8000"/>
            </a:avLst>
          </a:prstGeom>
          <a:solidFill>
            <a:srgbClr val="FEF3C7"/>
          </a:solidFill>
          <a:ln w="19050">
            <a:solidFill>
              <a:srgbClr val="B45309"/>
            </a:solidFill>
            <a:prstDash val="dash"/>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rtl="1"/>
            <a:r>
              <a:rPr sz="1800" b="1" i="1" lang="ar-SA">
                <a:solidFill>
                  <a:srgbClr val="92400E"/>
                </a:solidFill>
                <a:latin typeface="Arial"/>
                <a:cs typeface="Arial"/>
              </a:rPr>
              <a:t>[2014] شكل</a:t>
            </a:r>
          </a:p>
        </p:txBody>
      </p:sp>
      <p:sp>
        <p:nvSpPr>
          <p:cNvPr id="16" name="شعار الجامعة"/>
          <p:cNvSpPr/>
          <p:nvPr/>
        </p:nvSpPr>
        <p:spPr>
          <a:xfrm>
            <a:off x="10957255" y="6382512"/>
            <a:ext cx="685800" cy="292608"/>
          </a:xfrm>
          <a:prstGeom prst="roundRect">
            <a:avLst>
              <a:gd name="adj" fmla="val 50000"/>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rtl="1"/>
            <a:r>
              <a:rPr sz="1200" b="1" i="0" lang="ar-SA">
                <a:solidFill>
                  <a:srgbClr val="FFFFFF"/>
                </a:solidFill>
                <a:latin typeface="Arial"/>
                <a:cs typeface="Arial"/>
              </a:rPr>
              <a:t>SVU</a:t>
            </a:r>
          </a:p>
        </p:txBody>
      </p:sp>
      <p:sp>
        <p:nvSpPr>
          <p:cNvPr id="17" name="تذييل"/>
          <p:cNvSpPr txBox="1"/>
          <p:nvPr/>
        </p:nvSpPr>
        <p:spPr>
          <a:xfrm>
            <a:off x="5287975" y="6373368"/>
            <a:ext cx="5577840" cy="310896"/>
          </a:xfrm>
          <a:prstGeom prst="rect">
            <a:avLst/>
          </a:prstGeom>
          <a:noFill/>
        </p:spPr>
        <p:txBody>
          <a:bodyPr wrap="square" lIns="45720" rIns="45720" tIns="27432" bIns="27432" anchor="ctr">
            <a:spAutoFit/>
          </a:bodyPr>
          <a:lstStyle/>
          <a:p>
            <a:pPr rtl="1" algn="r">
              <a:lnSpc>
                <a:spcPct val="115000"/>
              </a:lnSpc>
              <a:spcBef>
                <a:spcPts val="0"/>
              </a:spcBef>
              <a:spcAft>
                <a:spcPts val="0"/>
              </a:spcAft>
            </a:pPr>
            <a:r>
              <a:rPr sz="1200" b="0" i="0" lang="ar-SA">
                <a:solidFill>
                  <a:srgbClr val="475569"/>
                </a:solidFill>
                <a:latin typeface="Arial"/>
                <a:cs typeface="Arial"/>
              </a:rPr>
              <a:t>الجامعة الافتراضية السورية  |  ماجستير علوم الوب</a:t>
            </a:r>
          </a:p>
        </p:txBody>
      </p:sp>
      <p:sp>
        <p:nvSpPr>
          <p:cNvPr id="18" name="رقم الشريحة"/>
          <p:cNvSpPr txBox="1"/>
          <p:nvPr/>
        </p:nvSpPr>
        <p:spPr>
          <a:xfrm>
            <a:off x="548640" y="6373368"/>
            <a:ext cx="914400" cy="310896"/>
          </a:xfrm>
          <a:prstGeom prst="rect">
            <a:avLst/>
          </a:prstGeom>
          <a:noFill/>
        </p:spPr>
        <p:txBody>
          <a:bodyPr wrap="none">
            <a:spAutoFit/>
          </a:bodyPr>
          <a:lstStyle/>
          <a:p>
            <a:pPr rtl="1" algn="l"/>
            <a:fld id="{B6F15528-21DE-4FAA-801E-634DDDAF4B2B}" type="slidenum">
              <a:rPr lang="en-US" sz="1200">
                <a:solidFill>
                  <a:srgbClr val="475569"/>
                </a:solidFill>
                <a:latin typeface="Arial"/>
              </a:rPr>
              <a:t>‹#›</a:t>
            </a:fld>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العنوان"/>
          <p:cNvSpPr txBox="1"/>
          <p:nvPr/>
        </p:nvSpPr>
        <p:spPr>
          <a:xfrm>
            <a:off x="548640" y="347472"/>
            <a:ext cx="11094415" cy="868680"/>
          </a:xfrm>
          <a:prstGeom prst="rect">
            <a:avLst/>
          </a:prstGeom>
          <a:noFill/>
        </p:spPr>
        <p:txBody>
          <a:bodyPr wrap="square" lIns="45720" rIns="45720" tIns="27432" bIns="27432" anchor="ctr">
            <a:spAutoFit/>
          </a:bodyPr>
          <a:lstStyle/>
          <a:p>
            <a:pPr rtl="1" algn="r">
              <a:lnSpc>
                <a:spcPct val="115000"/>
              </a:lnSpc>
              <a:spcBef>
                <a:spcPts val="0"/>
              </a:spcBef>
              <a:spcAft>
                <a:spcPts val="0"/>
              </a:spcAft>
            </a:pPr>
            <a:r>
              <a:rPr sz="3000" b="1" i="0" lang="ar-SA">
                <a:solidFill>
                  <a:srgbClr val="134E4A"/>
                </a:solidFill>
                <a:latin typeface="Arial"/>
                <a:cs typeface="Arial"/>
              </a:rPr>
              <a:t>المناقشة</a:t>
            </a:r>
          </a:p>
        </p:txBody>
      </p:sp>
      <p:sp>
        <p:nvSpPr>
          <p:cNvPr id="3" name="شريط الحالة"/>
          <p:cNvSpPr/>
          <p:nvPr/>
        </p:nvSpPr>
        <p:spPr>
          <a:xfrm>
            <a:off x="548640" y="1261872"/>
            <a:ext cx="11094415" cy="420624"/>
          </a:xfrm>
          <a:prstGeom prst="roundRect">
            <a:avLst>
              <a:gd name="adj" fmla="val 25000"/>
            </a:avLst>
          </a:prstGeom>
          <a:solidFill>
            <a:srgbClr val="FEF3C7"/>
          </a:solidFill>
          <a:ln w="12700">
            <a:solidFill>
              <a:srgbClr val="B45309"/>
            </a:solidFill>
            <a:prstDash val="dash"/>
          </a:ln>
          <a:effectLst/>
        </p:spPr>
        <p:style>
          <a:lnRef idx="1">
            <a:schemeClr val="accent1"/>
          </a:lnRef>
          <a:fillRef idx="3">
            <a:schemeClr val="accent1"/>
          </a:fillRef>
          <a:effectRef idx="2">
            <a:schemeClr val="accent1"/>
          </a:effectRef>
          <a:fontRef idx="minor">
            <a:schemeClr val="lt1"/>
          </a:fontRef>
        </p:style>
        <p:txBody>
          <a:bodyPr rtlCol="0" anchor="ctr" wrap="square" lIns="54864" rIns="228600" tIns="18288" bIns="18288"/>
          <a:lstStyle/>
          <a:p>
            <a:pPr algn="r" rtl="1"/>
            <a:r>
              <a:rPr sz="1500" b="1" i="0" lang="ar-SA">
                <a:solidFill>
                  <a:srgbClr val="92400E"/>
                </a:solidFill>
                <a:latin typeface="Arial"/>
                <a:cs typeface="Arial"/>
              </a:rPr>
              <a:t>قيد الاستكمال: تُكتب بعد النتائج التأكيدية</a:t>
            </a:r>
          </a:p>
        </p:txBody>
      </p:sp>
      <p:sp>
        <p:nvSpPr>
          <p:cNvPr id="4" name="لوحة"/>
          <p:cNvSpPr/>
          <p:nvPr/>
        </p:nvSpPr>
        <p:spPr>
          <a:xfrm>
            <a:off x="9075191" y="1874519"/>
            <a:ext cx="2567863" cy="3246120"/>
          </a:xfrm>
          <a:prstGeom prst="roundRect">
            <a:avLst>
              <a:gd name="adj" fmla="val 6000"/>
            </a:avLst>
          </a:prstGeom>
          <a:solidFill>
            <a:srgbClr val="FFFFFF"/>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212351" y="1965960"/>
            <a:ext cx="2293543" cy="685800"/>
          </a:xfrm>
          <a:prstGeom prst="rect">
            <a:avLst/>
          </a:prstGeom>
          <a:noFill/>
        </p:spPr>
        <p:txBody>
          <a:bodyPr wrap="square" lIns="45720" rIns="45720" tIns="27432" bIns="27432" anchor="ctr">
            <a:spAutoFit/>
          </a:bodyPr>
          <a:lstStyle/>
          <a:p>
            <a:pPr rtl="1" algn="r">
              <a:lnSpc>
                <a:spcPct val="100000"/>
              </a:lnSpc>
              <a:spcBef>
                <a:spcPts val="0"/>
              </a:spcBef>
              <a:spcAft>
                <a:spcPts val="0"/>
              </a:spcAft>
            </a:pPr>
            <a:r>
              <a:rPr sz="1800" b="1" i="0" lang="ar-SA">
                <a:solidFill>
                  <a:srgbClr val="134E4A"/>
                </a:solidFill>
                <a:latin typeface="Arial"/>
                <a:cs typeface="Arial"/>
              </a:rPr>
              <a:t>الجدول الدراسي والشعبية الآنية</a:t>
            </a:r>
          </a:p>
        </p:txBody>
      </p:sp>
      <p:sp>
        <p:nvSpPr>
          <p:cNvPr id="6" name="TextBox 5"/>
          <p:cNvSpPr txBox="1"/>
          <p:nvPr/>
        </p:nvSpPr>
        <p:spPr>
          <a:xfrm>
            <a:off x="9212351" y="2697479"/>
            <a:ext cx="2293543" cy="822960"/>
          </a:xfrm>
          <a:prstGeom prst="rect">
            <a:avLst/>
          </a:prstGeom>
          <a:noFill/>
        </p:spPr>
        <p:txBody>
          <a:bodyPr wrap="square" lIns="45720" rIns="45720" tIns="27432" bIns="27432" anchor="t">
            <a:spAutoFit/>
          </a:bodyPr>
          <a:lstStyle/>
          <a:p>
            <a:pPr rtl="1" algn="r">
              <a:lnSpc>
                <a:spcPct val="105000"/>
              </a:lnSpc>
              <a:spcBef>
                <a:spcPts val="0"/>
              </a:spcBef>
              <a:spcAft>
                <a:spcPts val="0"/>
              </a:spcAft>
            </a:pPr>
            <a:r>
              <a:rPr sz="1500" b="0" i="0" lang="ar-SA">
                <a:solidFill>
                  <a:srgbClr val="475569"/>
                </a:solidFill>
                <a:latin typeface="Arial"/>
                <a:cs typeface="Arial"/>
              </a:rPr>
              <a:t>كم يفرض الجدول على الوصول؟</a:t>
            </a:r>
          </a:p>
        </p:txBody>
      </p:sp>
      <p:sp>
        <p:nvSpPr>
          <p:cNvPr id="7" name="مكان النتيجة"/>
          <p:cNvSpPr/>
          <p:nvPr/>
        </p:nvSpPr>
        <p:spPr>
          <a:xfrm>
            <a:off x="9258071" y="3611879"/>
            <a:ext cx="2202103" cy="1325879"/>
          </a:xfrm>
          <a:prstGeom prst="roundRect">
            <a:avLst>
              <a:gd name="adj" fmla="val 8000"/>
            </a:avLst>
          </a:prstGeom>
          <a:solidFill>
            <a:srgbClr val="FEF3C7"/>
          </a:solidFill>
          <a:ln w="19050">
            <a:solidFill>
              <a:srgbClr val="B45309"/>
            </a:solidFill>
            <a:prstDash val="dash"/>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rtl="1"/>
            <a:r>
              <a:rPr sz="1800" b="1" i="1" lang="ar-SA">
                <a:solidFill>
                  <a:srgbClr val="92400E"/>
                </a:solidFill>
                <a:latin typeface="Arial"/>
                <a:cs typeface="Arial"/>
              </a:rPr>
              <a:t>[ تُكتب بعد النتائج ]</a:t>
            </a:r>
          </a:p>
        </p:txBody>
      </p:sp>
      <p:sp>
        <p:nvSpPr>
          <p:cNvPr id="8" name="لوحة"/>
          <p:cNvSpPr/>
          <p:nvPr/>
        </p:nvSpPr>
        <p:spPr>
          <a:xfrm>
            <a:off x="6233007" y="1874519"/>
            <a:ext cx="2567863" cy="3246120"/>
          </a:xfrm>
          <a:prstGeom prst="roundRect">
            <a:avLst>
              <a:gd name="adj" fmla="val 6000"/>
            </a:avLst>
          </a:prstGeom>
          <a:solidFill>
            <a:srgbClr val="FFFFFF"/>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370167" y="1965960"/>
            <a:ext cx="2293543" cy="685800"/>
          </a:xfrm>
          <a:prstGeom prst="rect">
            <a:avLst/>
          </a:prstGeom>
          <a:noFill/>
        </p:spPr>
        <p:txBody>
          <a:bodyPr wrap="square" lIns="45720" rIns="45720" tIns="27432" bIns="27432" anchor="ctr">
            <a:spAutoFit/>
          </a:bodyPr>
          <a:lstStyle/>
          <a:p>
            <a:pPr rtl="1" algn="r">
              <a:lnSpc>
                <a:spcPct val="100000"/>
              </a:lnSpc>
              <a:spcBef>
                <a:spcPts val="0"/>
              </a:spcBef>
              <a:spcAft>
                <a:spcPts val="0"/>
              </a:spcAft>
            </a:pPr>
            <a:r>
              <a:rPr sz="1800" b="1" i="0" lang="ar-SA">
                <a:solidFill>
                  <a:srgbClr val="134E4A"/>
                </a:solidFill>
                <a:latin typeface="Arial"/>
                <a:cs typeface="Arial"/>
              </a:rPr>
              <a:t>قيمة ترجيح الإشارات</a:t>
            </a:r>
          </a:p>
        </p:txBody>
      </p:sp>
      <p:sp>
        <p:nvSpPr>
          <p:cNvPr id="10" name="TextBox 9"/>
          <p:cNvSpPr txBox="1"/>
          <p:nvPr/>
        </p:nvSpPr>
        <p:spPr>
          <a:xfrm>
            <a:off x="6370167" y="2697479"/>
            <a:ext cx="2293543" cy="822960"/>
          </a:xfrm>
          <a:prstGeom prst="rect">
            <a:avLst/>
          </a:prstGeom>
          <a:noFill/>
        </p:spPr>
        <p:txBody>
          <a:bodyPr wrap="square" lIns="45720" rIns="45720" tIns="27432" bIns="27432" anchor="t">
            <a:spAutoFit/>
          </a:bodyPr>
          <a:lstStyle/>
          <a:p>
            <a:pPr rtl="1" algn="r">
              <a:lnSpc>
                <a:spcPct val="105000"/>
              </a:lnSpc>
              <a:spcBef>
                <a:spcPts val="0"/>
              </a:spcBef>
              <a:spcAft>
                <a:spcPts val="0"/>
              </a:spcAft>
            </a:pPr>
            <a:r>
              <a:rPr sz="1500" b="0" i="0" lang="ar-SA">
                <a:solidFill>
                  <a:srgbClr val="475569"/>
                </a:solidFill>
                <a:latin typeface="Arial"/>
                <a:cs typeface="Arial"/>
              </a:rPr>
              <a:t>أي مستوى حمل الأثر إن وُجد؟</a:t>
            </a:r>
          </a:p>
        </p:txBody>
      </p:sp>
      <p:sp>
        <p:nvSpPr>
          <p:cNvPr id="11" name="مكان النتيجة"/>
          <p:cNvSpPr/>
          <p:nvPr/>
        </p:nvSpPr>
        <p:spPr>
          <a:xfrm>
            <a:off x="6415887" y="3611879"/>
            <a:ext cx="2202103" cy="1325879"/>
          </a:xfrm>
          <a:prstGeom prst="roundRect">
            <a:avLst>
              <a:gd name="adj" fmla="val 8000"/>
            </a:avLst>
          </a:prstGeom>
          <a:solidFill>
            <a:srgbClr val="FEF3C7"/>
          </a:solidFill>
          <a:ln w="19050">
            <a:solidFill>
              <a:srgbClr val="B45309"/>
            </a:solidFill>
            <a:prstDash val="dash"/>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rtl="1"/>
            <a:r>
              <a:rPr sz="1800" b="1" i="1" lang="ar-SA">
                <a:solidFill>
                  <a:srgbClr val="92400E"/>
                </a:solidFill>
                <a:latin typeface="Arial"/>
                <a:cs typeface="Arial"/>
              </a:rPr>
              <a:t>[ تُكتب بعد النتائج ]</a:t>
            </a:r>
          </a:p>
        </p:txBody>
      </p:sp>
      <p:sp>
        <p:nvSpPr>
          <p:cNvPr id="12" name="لوحة"/>
          <p:cNvSpPr/>
          <p:nvPr/>
        </p:nvSpPr>
        <p:spPr>
          <a:xfrm>
            <a:off x="3390823" y="1874519"/>
            <a:ext cx="2567863" cy="3246120"/>
          </a:xfrm>
          <a:prstGeom prst="roundRect">
            <a:avLst>
              <a:gd name="adj" fmla="val 6000"/>
            </a:avLst>
          </a:prstGeom>
          <a:solidFill>
            <a:srgbClr val="FFFFFF"/>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3527983" y="1965960"/>
            <a:ext cx="2293543" cy="685800"/>
          </a:xfrm>
          <a:prstGeom prst="rect">
            <a:avLst/>
          </a:prstGeom>
          <a:noFill/>
        </p:spPr>
        <p:txBody>
          <a:bodyPr wrap="square" lIns="45720" rIns="45720" tIns="27432" bIns="27432" anchor="ctr">
            <a:spAutoFit/>
          </a:bodyPr>
          <a:lstStyle/>
          <a:p>
            <a:pPr rtl="1" algn="r">
              <a:lnSpc>
                <a:spcPct val="100000"/>
              </a:lnSpc>
              <a:spcBef>
                <a:spcPts val="0"/>
              </a:spcBef>
              <a:spcAft>
                <a:spcPts val="0"/>
              </a:spcAft>
            </a:pPr>
            <a:r>
              <a:rPr sz="1800" b="1" i="0" lang="ar-SA">
                <a:solidFill>
                  <a:srgbClr val="134E4A"/>
                </a:solidFill>
                <a:latin typeface="Arial"/>
                <a:cs typeface="Arial"/>
              </a:rPr>
              <a:t>التسلسل العصبوني</a:t>
            </a:r>
          </a:p>
        </p:txBody>
      </p:sp>
      <p:sp>
        <p:nvSpPr>
          <p:cNvPr id="14" name="TextBox 13"/>
          <p:cNvSpPr txBox="1"/>
          <p:nvPr/>
        </p:nvSpPr>
        <p:spPr>
          <a:xfrm>
            <a:off x="3527983" y="2697479"/>
            <a:ext cx="2293543" cy="822960"/>
          </a:xfrm>
          <a:prstGeom prst="rect">
            <a:avLst/>
          </a:prstGeom>
          <a:noFill/>
        </p:spPr>
        <p:txBody>
          <a:bodyPr wrap="square" lIns="45720" rIns="45720" tIns="27432" bIns="27432" anchor="t">
            <a:spAutoFit/>
          </a:bodyPr>
          <a:lstStyle/>
          <a:p>
            <a:pPr rtl="1" algn="r">
              <a:lnSpc>
                <a:spcPct val="105000"/>
              </a:lnSpc>
              <a:spcBef>
                <a:spcPts val="0"/>
              </a:spcBef>
              <a:spcAft>
                <a:spcPts val="0"/>
              </a:spcAft>
            </a:pPr>
            <a:r>
              <a:rPr sz="1500" b="0" i="0" lang="ar-SA">
                <a:solidFill>
                  <a:srgbClr val="475569"/>
                </a:solidFill>
                <a:latin typeface="Arial"/>
                <a:cs typeface="Arial"/>
              </a:rPr>
              <a:t>GRU-lite مقابل الجيران على السلال</a:t>
            </a:r>
          </a:p>
        </p:txBody>
      </p:sp>
      <p:sp>
        <p:nvSpPr>
          <p:cNvPr id="15" name="مكان النتيجة"/>
          <p:cNvSpPr/>
          <p:nvPr/>
        </p:nvSpPr>
        <p:spPr>
          <a:xfrm>
            <a:off x="3573703" y="3611879"/>
            <a:ext cx="2202103" cy="1325879"/>
          </a:xfrm>
          <a:prstGeom prst="roundRect">
            <a:avLst>
              <a:gd name="adj" fmla="val 8000"/>
            </a:avLst>
          </a:prstGeom>
          <a:solidFill>
            <a:srgbClr val="FEF3C7"/>
          </a:solidFill>
          <a:ln w="19050">
            <a:solidFill>
              <a:srgbClr val="B45309"/>
            </a:solidFill>
            <a:prstDash val="dash"/>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rtl="1"/>
            <a:r>
              <a:rPr sz="1800" b="1" i="1" lang="ar-SA">
                <a:solidFill>
                  <a:srgbClr val="92400E"/>
                </a:solidFill>
                <a:latin typeface="Arial"/>
                <a:cs typeface="Arial"/>
              </a:rPr>
              <a:t>[ تُكتب بعد النتائج ]</a:t>
            </a:r>
          </a:p>
        </p:txBody>
      </p:sp>
      <p:sp>
        <p:nvSpPr>
          <p:cNvPr id="16" name="لوحة"/>
          <p:cNvSpPr/>
          <p:nvPr/>
        </p:nvSpPr>
        <p:spPr>
          <a:xfrm>
            <a:off x="548640" y="1874519"/>
            <a:ext cx="2567863" cy="3246120"/>
          </a:xfrm>
          <a:prstGeom prst="roundRect">
            <a:avLst>
              <a:gd name="adj" fmla="val 6000"/>
            </a:avLst>
          </a:prstGeom>
          <a:solidFill>
            <a:srgbClr val="FFFFFF"/>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85800" y="1965960"/>
            <a:ext cx="2293543" cy="685800"/>
          </a:xfrm>
          <a:prstGeom prst="rect">
            <a:avLst/>
          </a:prstGeom>
          <a:noFill/>
        </p:spPr>
        <p:txBody>
          <a:bodyPr wrap="square" lIns="45720" rIns="45720" tIns="27432" bIns="27432" anchor="ctr">
            <a:spAutoFit/>
          </a:bodyPr>
          <a:lstStyle/>
          <a:p>
            <a:pPr rtl="1" algn="r">
              <a:lnSpc>
                <a:spcPct val="100000"/>
              </a:lnSpc>
              <a:spcBef>
                <a:spcPts val="0"/>
              </a:spcBef>
              <a:spcAft>
                <a:spcPts val="0"/>
              </a:spcAft>
            </a:pPr>
            <a:r>
              <a:rPr sz="1800" b="1" i="0" lang="ar-SA">
                <a:solidFill>
                  <a:srgbClr val="134E4A"/>
                </a:solidFill>
                <a:latin typeface="Arial"/>
                <a:cs typeface="Arial"/>
              </a:rPr>
              <a:t>المتعلمون والبدء البارد</a:t>
            </a:r>
          </a:p>
        </p:txBody>
      </p:sp>
      <p:sp>
        <p:nvSpPr>
          <p:cNvPr id="18" name="TextBox 17"/>
          <p:cNvSpPr txBox="1"/>
          <p:nvPr/>
        </p:nvSpPr>
        <p:spPr>
          <a:xfrm>
            <a:off x="685800" y="2697479"/>
            <a:ext cx="2293543" cy="822960"/>
          </a:xfrm>
          <a:prstGeom prst="rect">
            <a:avLst/>
          </a:prstGeom>
          <a:noFill/>
        </p:spPr>
        <p:txBody>
          <a:bodyPr wrap="square" lIns="45720" rIns="45720" tIns="27432" bIns="27432" anchor="t">
            <a:spAutoFit/>
          </a:bodyPr>
          <a:lstStyle/>
          <a:p>
            <a:pPr rtl="1" algn="r">
              <a:lnSpc>
                <a:spcPct val="105000"/>
              </a:lnSpc>
              <a:spcBef>
                <a:spcPts val="0"/>
              </a:spcBef>
              <a:spcAft>
                <a:spcPts val="0"/>
              </a:spcAft>
            </a:pPr>
            <a:r>
              <a:rPr sz="1500" b="0" i="0" lang="ar-SA">
                <a:solidFill>
                  <a:srgbClr val="475569"/>
                </a:solidFill>
                <a:latin typeface="Arial"/>
                <a:cs typeface="Arial"/>
              </a:rPr>
              <a:t>الخطر المبكر وسياق العنقود</a:t>
            </a:r>
          </a:p>
        </p:txBody>
      </p:sp>
      <p:sp>
        <p:nvSpPr>
          <p:cNvPr id="19" name="مكان النتيجة"/>
          <p:cNvSpPr/>
          <p:nvPr/>
        </p:nvSpPr>
        <p:spPr>
          <a:xfrm>
            <a:off x="731520" y="3611879"/>
            <a:ext cx="2202103" cy="1325879"/>
          </a:xfrm>
          <a:prstGeom prst="roundRect">
            <a:avLst>
              <a:gd name="adj" fmla="val 8000"/>
            </a:avLst>
          </a:prstGeom>
          <a:solidFill>
            <a:srgbClr val="FEF3C7"/>
          </a:solidFill>
          <a:ln w="19050">
            <a:solidFill>
              <a:srgbClr val="B45309"/>
            </a:solidFill>
            <a:prstDash val="dash"/>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rtl="1"/>
            <a:r>
              <a:rPr sz="1800" b="1" i="1" lang="ar-SA">
                <a:solidFill>
                  <a:srgbClr val="92400E"/>
                </a:solidFill>
                <a:latin typeface="Arial"/>
                <a:cs typeface="Arial"/>
              </a:rPr>
              <a:t>[ تُكتب بعد النتائج ]</a:t>
            </a:r>
          </a:p>
        </p:txBody>
      </p:sp>
      <p:sp>
        <p:nvSpPr>
          <p:cNvPr id="20" name="خلاصة"/>
          <p:cNvSpPr/>
          <p:nvPr/>
        </p:nvSpPr>
        <p:spPr>
          <a:xfrm>
            <a:off x="548640" y="5257800"/>
            <a:ext cx="11094415" cy="868680"/>
          </a:xfrm>
          <a:prstGeom prst="roundRect">
            <a:avLst>
              <a:gd name="adj" fmla="val 12000"/>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74320" tIns="18288" bIns="18288"/>
          <a:lstStyle/>
          <a:p>
            <a:pPr algn="r" rtl="1"/>
            <a:r>
              <a:rPr sz="2200" b="1" i="0" lang="ar-SA">
                <a:solidFill>
                  <a:srgbClr val="FFFFFF"/>
                </a:solidFill>
                <a:latin typeface="Arial"/>
                <a:cs typeface="Arial"/>
              </a:rPr>
              <a:t>سياسة النتيجة السلبية: تفوّق الشعبية الآنية نتيجة رئيسية تُبلَّغ وتُحلَّل أسبابها</a:t>
            </a:r>
          </a:p>
        </p:txBody>
      </p:sp>
      <p:sp>
        <p:nvSpPr>
          <p:cNvPr id="21" name="شعار الجامعة"/>
          <p:cNvSpPr/>
          <p:nvPr/>
        </p:nvSpPr>
        <p:spPr>
          <a:xfrm>
            <a:off x="10957255" y="6382512"/>
            <a:ext cx="685800" cy="292608"/>
          </a:xfrm>
          <a:prstGeom prst="roundRect">
            <a:avLst>
              <a:gd name="adj" fmla="val 50000"/>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rtl="1"/>
            <a:r>
              <a:rPr sz="1200" b="1" i="0" lang="ar-SA">
                <a:solidFill>
                  <a:srgbClr val="FFFFFF"/>
                </a:solidFill>
                <a:latin typeface="Arial"/>
                <a:cs typeface="Arial"/>
              </a:rPr>
              <a:t>SVU</a:t>
            </a:r>
          </a:p>
        </p:txBody>
      </p:sp>
      <p:sp>
        <p:nvSpPr>
          <p:cNvPr id="22" name="تذييل"/>
          <p:cNvSpPr txBox="1"/>
          <p:nvPr/>
        </p:nvSpPr>
        <p:spPr>
          <a:xfrm>
            <a:off x="5287975" y="6373368"/>
            <a:ext cx="5577840" cy="310896"/>
          </a:xfrm>
          <a:prstGeom prst="rect">
            <a:avLst/>
          </a:prstGeom>
          <a:noFill/>
        </p:spPr>
        <p:txBody>
          <a:bodyPr wrap="square" lIns="45720" rIns="45720" tIns="27432" bIns="27432" anchor="ctr">
            <a:spAutoFit/>
          </a:bodyPr>
          <a:lstStyle/>
          <a:p>
            <a:pPr rtl="1" algn="r">
              <a:lnSpc>
                <a:spcPct val="115000"/>
              </a:lnSpc>
              <a:spcBef>
                <a:spcPts val="0"/>
              </a:spcBef>
              <a:spcAft>
                <a:spcPts val="0"/>
              </a:spcAft>
            </a:pPr>
            <a:r>
              <a:rPr sz="1200" b="0" i="0" lang="ar-SA">
                <a:solidFill>
                  <a:srgbClr val="475569"/>
                </a:solidFill>
                <a:latin typeface="Arial"/>
                <a:cs typeface="Arial"/>
              </a:rPr>
              <a:t>الجامعة الافتراضية السورية  |  ماجستير علوم الوب</a:t>
            </a:r>
          </a:p>
        </p:txBody>
      </p:sp>
      <p:sp>
        <p:nvSpPr>
          <p:cNvPr id="23" name="رقم الشريحة"/>
          <p:cNvSpPr txBox="1"/>
          <p:nvPr/>
        </p:nvSpPr>
        <p:spPr>
          <a:xfrm>
            <a:off x="548640" y="6373368"/>
            <a:ext cx="914400" cy="310896"/>
          </a:xfrm>
          <a:prstGeom prst="rect">
            <a:avLst/>
          </a:prstGeom>
          <a:noFill/>
        </p:spPr>
        <p:txBody>
          <a:bodyPr wrap="none">
            <a:spAutoFit/>
          </a:bodyPr>
          <a:lstStyle/>
          <a:p>
            <a:pPr rtl="1" algn="l"/>
            <a:fld id="{B6F15528-21DE-4FAA-801E-634DDDAF4B2B}" type="slidenum">
              <a:rPr lang="en-US" sz="1200">
                <a:solidFill>
                  <a:srgbClr val="475569"/>
                </a:solidFill>
                <a:latin typeface="Arial"/>
              </a:rPr>
              <a:t>‹#›</a:t>
            </a:fld>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العنوان"/>
          <p:cNvSpPr txBox="1"/>
          <p:nvPr/>
        </p:nvSpPr>
        <p:spPr>
          <a:xfrm>
            <a:off x="548640" y="347472"/>
            <a:ext cx="11094415" cy="868680"/>
          </a:xfrm>
          <a:prstGeom prst="rect">
            <a:avLst/>
          </a:prstGeom>
          <a:noFill/>
        </p:spPr>
        <p:txBody>
          <a:bodyPr wrap="square" lIns="45720" rIns="45720" tIns="27432" bIns="27432" anchor="ctr">
            <a:spAutoFit/>
          </a:bodyPr>
          <a:lstStyle/>
          <a:p>
            <a:pPr rtl="1" algn="r">
              <a:lnSpc>
                <a:spcPct val="115000"/>
              </a:lnSpc>
              <a:spcBef>
                <a:spcPts val="0"/>
              </a:spcBef>
              <a:spcAft>
                <a:spcPts val="0"/>
              </a:spcAft>
            </a:pPr>
            <a:r>
              <a:rPr sz="3000" b="1" i="0" lang="ar-SA">
                <a:solidFill>
                  <a:srgbClr val="134E4A"/>
                </a:solidFill>
                <a:latin typeface="Arial"/>
                <a:cs typeface="Arial"/>
              </a:rPr>
              <a:t>القيود والعمل المستقبلي</a:t>
            </a:r>
          </a:p>
        </p:txBody>
      </p:sp>
      <p:sp>
        <p:nvSpPr>
          <p:cNvPr id="3" name="عمود"/>
          <p:cNvSpPr/>
          <p:nvPr/>
        </p:nvSpPr>
        <p:spPr>
          <a:xfrm>
            <a:off x="6233007" y="1463040"/>
            <a:ext cx="5410047" cy="4709160"/>
          </a:xfrm>
          <a:prstGeom prst="roundRect">
            <a:avLst>
              <a:gd name="adj" fmla="val 6000"/>
            </a:avLst>
          </a:prstGeom>
          <a:solidFill>
            <a:srgbClr val="FFFFFF"/>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عنوان العمود"/>
          <p:cNvSpPr/>
          <p:nvPr/>
        </p:nvSpPr>
        <p:spPr>
          <a:xfrm>
            <a:off x="6233007" y="1463040"/>
            <a:ext cx="5410047" cy="685800"/>
          </a:xfrm>
          <a:prstGeom prst="roundRect">
            <a:avLst>
              <a:gd name="adj" fmla="val 20000"/>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182880" tIns="18288" bIns="18288"/>
          <a:lstStyle/>
          <a:p>
            <a:pPr algn="r" rtl="1"/>
            <a:r>
              <a:rPr sz="2000" b="1" i="0" lang="ar-SA">
                <a:solidFill>
                  <a:srgbClr val="FFFFFF"/>
                </a:solidFill>
                <a:latin typeface="Arial"/>
                <a:cs typeface="Arial"/>
              </a:rPr>
              <a:t>القيود</a:t>
            </a:r>
          </a:p>
        </p:txBody>
      </p:sp>
      <p:sp>
        <p:nvSpPr>
          <p:cNvPr id="5" name="نقطة"/>
          <p:cNvSpPr/>
          <p:nvPr/>
        </p:nvSpPr>
        <p:spPr>
          <a:xfrm>
            <a:off x="11259007" y="2583180"/>
            <a:ext cx="164592" cy="164592"/>
          </a:xfrm>
          <a:prstGeom prst="ellipse">
            <a:avLst/>
          </a:prstGeom>
          <a:solidFill>
            <a:srgbClr val="B4530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370167" y="2286000"/>
            <a:ext cx="4769967" cy="758952"/>
          </a:xfrm>
          <a:prstGeom prst="rect">
            <a:avLst/>
          </a:prstGeom>
          <a:noFill/>
        </p:spPr>
        <p:txBody>
          <a:bodyPr wrap="square" lIns="45720" rIns="45720" tIns="27432" bIns="27432" anchor="ctr">
            <a:spAutoFit/>
          </a:bodyPr>
          <a:lstStyle/>
          <a:p>
            <a:pPr rtl="1" algn="r">
              <a:lnSpc>
                <a:spcPct val="105000"/>
              </a:lnSpc>
              <a:spcBef>
                <a:spcPts val="0"/>
              </a:spcBef>
              <a:spcAft>
                <a:spcPts val="0"/>
              </a:spcAft>
            </a:pPr>
            <a:r>
              <a:rPr sz="2000" b="0" i="0" lang="ar-SA">
                <a:solidFill>
                  <a:srgbClr val="134E4A"/>
                </a:solidFill>
                <a:latin typeface="Arial"/>
                <a:cs typeface="Arial"/>
              </a:rPr>
              <a:t>مؤسسة واحدة: التعميم من 2013 إلى 2014 فقط</a:t>
            </a:r>
          </a:p>
        </p:txBody>
      </p:sp>
      <p:sp>
        <p:nvSpPr>
          <p:cNvPr id="7" name="نقطة"/>
          <p:cNvSpPr/>
          <p:nvPr/>
        </p:nvSpPr>
        <p:spPr>
          <a:xfrm>
            <a:off x="11259007" y="3342132"/>
            <a:ext cx="164592" cy="164592"/>
          </a:xfrm>
          <a:prstGeom prst="ellipse">
            <a:avLst/>
          </a:prstGeom>
          <a:solidFill>
            <a:srgbClr val="B4530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370167" y="3044952"/>
            <a:ext cx="4769967" cy="758952"/>
          </a:xfrm>
          <a:prstGeom prst="rect">
            <a:avLst/>
          </a:prstGeom>
          <a:noFill/>
        </p:spPr>
        <p:txBody>
          <a:bodyPr wrap="square" lIns="45720" rIns="45720" tIns="27432" bIns="27432" anchor="ctr">
            <a:spAutoFit/>
          </a:bodyPr>
          <a:lstStyle/>
          <a:p>
            <a:pPr rtl="1" algn="r">
              <a:lnSpc>
                <a:spcPct val="105000"/>
              </a:lnSpc>
              <a:spcBef>
                <a:spcPts val="0"/>
              </a:spcBef>
              <a:spcAft>
                <a:spcPts val="0"/>
              </a:spcAft>
            </a:pPr>
            <a:r>
              <a:rPr sz="2000" b="0" i="0" lang="ar-SA">
                <a:solidFill>
                  <a:srgbClr val="134E4A"/>
                </a:solidFill>
                <a:latin typeface="Arial"/>
                <a:cs typeface="Arial"/>
              </a:rPr>
              <a:t>تقييم دون اتصال: لا دراسة مستخدمين ولا ادعاء أثر تعليمي</a:t>
            </a:r>
          </a:p>
        </p:txBody>
      </p:sp>
      <p:sp>
        <p:nvSpPr>
          <p:cNvPr id="9" name="نقطة"/>
          <p:cNvSpPr/>
          <p:nvPr/>
        </p:nvSpPr>
        <p:spPr>
          <a:xfrm>
            <a:off x="11259007" y="4101084"/>
            <a:ext cx="164592" cy="164592"/>
          </a:xfrm>
          <a:prstGeom prst="ellipse">
            <a:avLst/>
          </a:prstGeom>
          <a:solidFill>
            <a:srgbClr val="B4530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370167" y="3803904"/>
            <a:ext cx="4769967" cy="758952"/>
          </a:xfrm>
          <a:prstGeom prst="rect">
            <a:avLst/>
          </a:prstGeom>
          <a:noFill/>
        </p:spPr>
        <p:txBody>
          <a:bodyPr wrap="square" lIns="45720" rIns="45720" tIns="27432" bIns="27432" anchor="ctr">
            <a:spAutoFit/>
          </a:bodyPr>
          <a:lstStyle/>
          <a:p>
            <a:pPr rtl="1" algn="r">
              <a:lnSpc>
                <a:spcPct val="105000"/>
              </a:lnSpc>
              <a:spcBef>
                <a:spcPts val="0"/>
              </a:spcBef>
              <a:spcAft>
                <a:spcPts val="0"/>
              </a:spcAft>
            </a:pPr>
            <a:r>
              <a:rPr sz="2000" b="0" i="0" lang="ar-SA">
                <a:solidFill>
                  <a:srgbClr val="134E4A"/>
                </a:solidFill>
                <a:latin typeface="Arial"/>
                <a:cs typeface="Arial"/>
              </a:rPr>
              <a:t>سجلات بدقة يوم: لا ترتيب داخل اليوم</a:t>
            </a:r>
          </a:p>
        </p:txBody>
      </p:sp>
      <p:sp>
        <p:nvSpPr>
          <p:cNvPr id="11" name="نقطة"/>
          <p:cNvSpPr/>
          <p:nvPr/>
        </p:nvSpPr>
        <p:spPr>
          <a:xfrm>
            <a:off x="11259007" y="4860036"/>
            <a:ext cx="164592" cy="164592"/>
          </a:xfrm>
          <a:prstGeom prst="ellipse">
            <a:avLst/>
          </a:prstGeom>
          <a:solidFill>
            <a:srgbClr val="B4530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370167" y="4562856"/>
            <a:ext cx="4769967" cy="758952"/>
          </a:xfrm>
          <a:prstGeom prst="rect">
            <a:avLst/>
          </a:prstGeom>
          <a:noFill/>
        </p:spPr>
        <p:txBody>
          <a:bodyPr wrap="square" lIns="45720" rIns="45720" tIns="27432" bIns="27432" anchor="ctr">
            <a:spAutoFit/>
          </a:bodyPr>
          <a:lstStyle/>
          <a:p>
            <a:pPr rtl="1" algn="r">
              <a:lnSpc>
                <a:spcPct val="105000"/>
              </a:lnSpc>
              <a:spcBef>
                <a:spcPts val="0"/>
              </a:spcBef>
              <a:spcAft>
                <a:spcPts val="0"/>
              </a:spcAft>
            </a:pPr>
            <a:r>
              <a:rPr sz="2000" b="0" i="0" lang="ar-SA">
                <a:solidFill>
                  <a:srgbClr val="134E4A"/>
                </a:solidFill>
                <a:latin typeface="Arial"/>
                <a:cs typeface="Arial"/>
              </a:rPr>
              <a:t>numpy فقط: GRU بطبقة واحدة</a:t>
            </a:r>
          </a:p>
        </p:txBody>
      </p:sp>
      <p:sp>
        <p:nvSpPr>
          <p:cNvPr id="13" name="نقطة"/>
          <p:cNvSpPr/>
          <p:nvPr/>
        </p:nvSpPr>
        <p:spPr>
          <a:xfrm>
            <a:off x="11259007" y="5618988"/>
            <a:ext cx="164592" cy="164592"/>
          </a:xfrm>
          <a:prstGeom prst="ellipse">
            <a:avLst/>
          </a:prstGeom>
          <a:solidFill>
            <a:srgbClr val="B4530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370167" y="5321808"/>
            <a:ext cx="4769967" cy="758952"/>
          </a:xfrm>
          <a:prstGeom prst="rect">
            <a:avLst/>
          </a:prstGeom>
          <a:noFill/>
        </p:spPr>
        <p:txBody>
          <a:bodyPr wrap="square" lIns="45720" rIns="45720" tIns="27432" bIns="27432" anchor="ctr">
            <a:spAutoFit/>
          </a:bodyPr>
          <a:lstStyle/>
          <a:p>
            <a:pPr rtl="1" algn="r">
              <a:lnSpc>
                <a:spcPct val="105000"/>
              </a:lnSpc>
              <a:spcBef>
                <a:spcPts val="0"/>
              </a:spcBef>
              <a:spcAft>
                <a:spcPts val="0"/>
              </a:spcAft>
            </a:pPr>
            <a:r>
              <a:rPr sz="2000" b="0" i="0" lang="ar-SA">
                <a:solidFill>
                  <a:srgbClr val="134E4A"/>
                </a:solidFill>
                <a:latin typeface="Arial"/>
                <a:cs typeface="Arial"/>
              </a:rPr>
              <a:t>قراءة معرّفات 2014 مقصورة على ترشيح تدريب مصنِّفات الخطر (2013)</a:t>
            </a:r>
          </a:p>
        </p:txBody>
      </p:sp>
      <p:sp>
        <p:nvSpPr>
          <p:cNvPr id="15" name="عمود"/>
          <p:cNvSpPr/>
          <p:nvPr/>
        </p:nvSpPr>
        <p:spPr>
          <a:xfrm>
            <a:off x="548640" y="1463040"/>
            <a:ext cx="5410047" cy="4709160"/>
          </a:xfrm>
          <a:prstGeom prst="roundRect">
            <a:avLst>
              <a:gd name="adj" fmla="val 6000"/>
            </a:avLst>
          </a:prstGeom>
          <a:solidFill>
            <a:srgbClr val="FFFFFF"/>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عنوان العمود"/>
          <p:cNvSpPr/>
          <p:nvPr/>
        </p:nvSpPr>
        <p:spPr>
          <a:xfrm>
            <a:off x="548640" y="1463040"/>
            <a:ext cx="5410047" cy="685800"/>
          </a:xfrm>
          <a:prstGeom prst="roundRect">
            <a:avLst>
              <a:gd name="adj" fmla="val 20000"/>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182880" tIns="18288" bIns="18288"/>
          <a:lstStyle/>
          <a:p>
            <a:pPr algn="r" rtl="1"/>
            <a:r>
              <a:rPr sz="2000" b="1" i="0" lang="ar-SA">
                <a:solidFill>
                  <a:srgbClr val="FFFFFF"/>
                </a:solidFill>
                <a:latin typeface="Arial"/>
                <a:cs typeface="Arial"/>
              </a:rPr>
              <a:t>العمل المستقبلي</a:t>
            </a:r>
          </a:p>
        </p:txBody>
      </p:sp>
      <p:sp>
        <p:nvSpPr>
          <p:cNvPr id="17" name="نقطة"/>
          <p:cNvSpPr/>
          <p:nvPr/>
        </p:nvSpPr>
        <p:spPr>
          <a:xfrm>
            <a:off x="5574639" y="2678049"/>
            <a:ext cx="164592" cy="164592"/>
          </a:xfrm>
          <a:prstGeom prst="ellipse">
            <a:avLst/>
          </a:prstGeom>
          <a:solidFill>
            <a:srgbClr val="B4530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85800" y="2286000"/>
            <a:ext cx="4769967" cy="948690"/>
          </a:xfrm>
          <a:prstGeom prst="rect">
            <a:avLst/>
          </a:prstGeom>
          <a:noFill/>
        </p:spPr>
        <p:txBody>
          <a:bodyPr wrap="square" lIns="45720" rIns="45720" tIns="27432" bIns="27432" anchor="ctr">
            <a:spAutoFit/>
          </a:bodyPr>
          <a:lstStyle/>
          <a:p>
            <a:pPr rtl="1" algn="r">
              <a:lnSpc>
                <a:spcPct val="105000"/>
              </a:lnSpc>
              <a:spcBef>
                <a:spcPts val="0"/>
              </a:spcBef>
              <a:spcAft>
                <a:spcPts val="0"/>
              </a:spcAft>
            </a:pPr>
            <a:r>
              <a:rPr sz="2000" b="0" i="0" lang="ar-SA">
                <a:solidFill>
                  <a:srgbClr val="134E4A"/>
                </a:solidFill>
                <a:latin typeface="Arial"/>
                <a:cs typeface="Arial"/>
              </a:rPr>
              <a:t>تجربة حية ودراسة مستخدمين للتفسيرات</a:t>
            </a:r>
          </a:p>
        </p:txBody>
      </p:sp>
      <p:sp>
        <p:nvSpPr>
          <p:cNvPr id="19" name="نقطة"/>
          <p:cNvSpPr/>
          <p:nvPr/>
        </p:nvSpPr>
        <p:spPr>
          <a:xfrm>
            <a:off x="5574639" y="3626739"/>
            <a:ext cx="164592" cy="164592"/>
          </a:xfrm>
          <a:prstGeom prst="ellipse">
            <a:avLst/>
          </a:prstGeom>
          <a:solidFill>
            <a:srgbClr val="B4530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85800" y="3234690"/>
            <a:ext cx="4769967" cy="948690"/>
          </a:xfrm>
          <a:prstGeom prst="rect">
            <a:avLst/>
          </a:prstGeom>
          <a:noFill/>
        </p:spPr>
        <p:txBody>
          <a:bodyPr wrap="square" lIns="45720" rIns="45720" tIns="27432" bIns="27432" anchor="ctr">
            <a:spAutoFit/>
          </a:bodyPr>
          <a:lstStyle/>
          <a:p>
            <a:pPr rtl="1" algn="r">
              <a:lnSpc>
                <a:spcPct val="105000"/>
              </a:lnSpc>
              <a:spcBef>
                <a:spcPts val="0"/>
              </a:spcBef>
              <a:spcAft>
                <a:spcPts val="0"/>
              </a:spcAft>
            </a:pPr>
            <a:r>
              <a:rPr sz="2000" b="0" i="0" lang="ar-SA">
                <a:solidFill>
                  <a:srgbClr val="134E4A"/>
                </a:solidFill>
                <a:latin typeface="Arial"/>
                <a:cs typeface="Arial"/>
              </a:rPr>
              <a:t>إعادة البروتوكول على سجلات الجامعة الافتراضية السورية</a:t>
            </a:r>
          </a:p>
        </p:txBody>
      </p:sp>
      <p:sp>
        <p:nvSpPr>
          <p:cNvPr id="21" name="نقطة"/>
          <p:cNvSpPr/>
          <p:nvPr/>
        </p:nvSpPr>
        <p:spPr>
          <a:xfrm>
            <a:off x="5574639" y="4575429"/>
            <a:ext cx="164592" cy="164592"/>
          </a:xfrm>
          <a:prstGeom prst="ellipse">
            <a:avLst/>
          </a:prstGeom>
          <a:solidFill>
            <a:srgbClr val="B4530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85800" y="4183380"/>
            <a:ext cx="4769967" cy="948690"/>
          </a:xfrm>
          <a:prstGeom prst="rect">
            <a:avLst/>
          </a:prstGeom>
          <a:noFill/>
        </p:spPr>
        <p:txBody>
          <a:bodyPr wrap="square" lIns="45720" rIns="45720" tIns="27432" bIns="27432" anchor="ctr">
            <a:spAutoFit/>
          </a:bodyPr>
          <a:lstStyle/>
          <a:p>
            <a:pPr rtl="1" algn="r">
              <a:lnSpc>
                <a:spcPct val="105000"/>
              </a:lnSpc>
              <a:spcBef>
                <a:spcPts val="0"/>
              </a:spcBef>
              <a:spcAft>
                <a:spcPts val="0"/>
              </a:spcAft>
            </a:pPr>
            <a:r>
              <a:rPr sz="2000" b="0" i="0" lang="ar-SA">
                <a:solidFill>
                  <a:srgbClr val="134E4A"/>
                </a:solidFill>
                <a:latin typeface="Arial"/>
                <a:cs typeface="Arial"/>
              </a:rPr>
              <a:t>بيانات بوصف نصي للموارد لتفعيل المحتوى</a:t>
            </a:r>
          </a:p>
        </p:txBody>
      </p:sp>
      <p:sp>
        <p:nvSpPr>
          <p:cNvPr id="23" name="نقطة"/>
          <p:cNvSpPr/>
          <p:nvPr/>
        </p:nvSpPr>
        <p:spPr>
          <a:xfrm>
            <a:off x="5574639" y="5524119"/>
            <a:ext cx="164592" cy="164592"/>
          </a:xfrm>
          <a:prstGeom prst="ellipse">
            <a:avLst/>
          </a:prstGeom>
          <a:solidFill>
            <a:srgbClr val="B4530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85800" y="5132070"/>
            <a:ext cx="4769967" cy="948690"/>
          </a:xfrm>
          <a:prstGeom prst="rect">
            <a:avLst/>
          </a:prstGeom>
          <a:noFill/>
        </p:spPr>
        <p:txBody>
          <a:bodyPr wrap="square" lIns="45720" rIns="45720" tIns="27432" bIns="27432" anchor="ctr">
            <a:spAutoFit/>
          </a:bodyPr>
          <a:lstStyle/>
          <a:p>
            <a:pPr rtl="1" algn="r">
              <a:lnSpc>
                <a:spcPct val="105000"/>
              </a:lnSpc>
              <a:spcBef>
                <a:spcPts val="0"/>
              </a:spcBef>
              <a:spcAft>
                <a:spcPts val="0"/>
              </a:spcAft>
            </a:pPr>
            <a:r>
              <a:rPr sz="2000" b="0" i="0" lang="ar-SA">
                <a:solidFill>
                  <a:srgbClr val="134E4A"/>
                </a:solidFill>
                <a:latin typeface="Arial"/>
                <a:cs typeface="Arial"/>
              </a:rPr>
              <a:t>نماذج تسلسلية أعمق عند توفر المكتبات</a:t>
            </a:r>
          </a:p>
        </p:txBody>
      </p:sp>
      <p:sp>
        <p:nvSpPr>
          <p:cNvPr id="25" name="شعار الجامعة"/>
          <p:cNvSpPr/>
          <p:nvPr/>
        </p:nvSpPr>
        <p:spPr>
          <a:xfrm>
            <a:off x="10957255" y="6382512"/>
            <a:ext cx="685800" cy="292608"/>
          </a:xfrm>
          <a:prstGeom prst="roundRect">
            <a:avLst>
              <a:gd name="adj" fmla="val 50000"/>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rtl="1"/>
            <a:r>
              <a:rPr sz="1200" b="1" i="0" lang="ar-SA">
                <a:solidFill>
                  <a:srgbClr val="FFFFFF"/>
                </a:solidFill>
                <a:latin typeface="Arial"/>
                <a:cs typeface="Arial"/>
              </a:rPr>
              <a:t>SVU</a:t>
            </a:r>
          </a:p>
        </p:txBody>
      </p:sp>
      <p:sp>
        <p:nvSpPr>
          <p:cNvPr id="26" name="تذييل"/>
          <p:cNvSpPr txBox="1"/>
          <p:nvPr/>
        </p:nvSpPr>
        <p:spPr>
          <a:xfrm>
            <a:off x="5287975" y="6373368"/>
            <a:ext cx="5577840" cy="310896"/>
          </a:xfrm>
          <a:prstGeom prst="rect">
            <a:avLst/>
          </a:prstGeom>
          <a:noFill/>
        </p:spPr>
        <p:txBody>
          <a:bodyPr wrap="square" lIns="45720" rIns="45720" tIns="27432" bIns="27432" anchor="ctr">
            <a:spAutoFit/>
          </a:bodyPr>
          <a:lstStyle/>
          <a:p>
            <a:pPr rtl="1" algn="r">
              <a:lnSpc>
                <a:spcPct val="115000"/>
              </a:lnSpc>
              <a:spcBef>
                <a:spcPts val="0"/>
              </a:spcBef>
              <a:spcAft>
                <a:spcPts val="0"/>
              </a:spcAft>
            </a:pPr>
            <a:r>
              <a:rPr sz="1200" b="0" i="0" lang="ar-SA">
                <a:solidFill>
                  <a:srgbClr val="475569"/>
                </a:solidFill>
                <a:latin typeface="Arial"/>
                <a:cs typeface="Arial"/>
              </a:rPr>
              <a:t>الجامعة الافتراضية السورية  |  ماجستير علوم الوب</a:t>
            </a:r>
          </a:p>
        </p:txBody>
      </p:sp>
      <p:sp>
        <p:nvSpPr>
          <p:cNvPr id="27" name="رقم الشريحة"/>
          <p:cNvSpPr txBox="1"/>
          <p:nvPr/>
        </p:nvSpPr>
        <p:spPr>
          <a:xfrm>
            <a:off x="548640" y="6373368"/>
            <a:ext cx="914400" cy="310896"/>
          </a:xfrm>
          <a:prstGeom prst="rect">
            <a:avLst/>
          </a:prstGeom>
          <a:noFill/>
        </p:spPr>
        <p:txBody>
          <a:bodyPr wrap="none">
            <a:spAutoFit/>
          </a:bodyPr>
          <a:lstStyle/>
          <a:p>
            <a:pPr rtl="1" algn="l"/>
            <a:fld id="{B6F15528-21DE-4FAA-801E-634DDDAF4B2B}" type="slidenum">
              <a:rPr lang="en-US" sz="1200">
                <a:solidFill>
                  <a:srgbClr val="475569"/>
                </a:solidFill>
                <a:latin typeface="Arial"/>
              </a:rPr>
              <a:t>‹#›</a:t>
            </a:fld>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134E4A"/>
        </a:solidFill>
        <a:effectLst/>
      </p:bgPr>
    </p:bg>
    <p:spTree>
      <p:nvGrpSpPr>
        <p:cNvPr id="1" name=""/>
        <p:cNvGrpSpPr/>
        <p:nvPr/>
      </p:nvGrpSpPr>
      <p:grpSpPr/>
      <p:sp>
        <p:nvSpPr>
          <p:cNvPr id="2" name="العنوان"/>
          <p:cNvSpPr txBox="1"/>
          <p:nvPr/>
        </p:nvSpPr>
        <p:spPr>
          <a:xfrm>
            <a:off x="548640" y="347472"/>
            <a:ext cx="11094415" cy="868680"/>
          </a:xfrm>
          <a:prstGeom prst="rect">
            <a:avLst/>
          </a:prstGeom>
          <a:noFill/>
        </p:spPr>
        <p:txBody>
          <a:bodyPr wrap="square" lIns="45720" rIns="45720" tIns="27432" bIns="27432" anchor="ctr">
            <a:spAutoFit/>
          </a:bodyPr>
          <a:lstStyle/>
          <a:p>
            <a:pPr rtl="1" algn="r">
              <a:lnSpc>
                <a:spcPct val="115000"/>
              </a:lnSpc>
              <a:spcBef>
                <a:spcPts val="0"/>
              </a:spcBef>
              <a:spcAft>
                <a:spcPts val="0"/>
              </a:spcAft>
            </a:pPr>
            <a:r>
              <a:rPr sz="3000" b="1" i="0" lang="ar-SA">
                <a:solidFill>
                  <a:srgbClr val="FFFFFF"/>
                </a:solidFill>
                <a:latin typeface="Arial"/>
                <a:cs typeface="Arial"/>
              </a:rPr>
              <a:t>الخاتمة والمساهمات</a:t>
            </a:r>
          </a:p>
        </p:txBody>
      </p:sp>
      <p:sp>
        <p:nvSpPr>
          <p:cNvPr id="3" name="TextBox 2"/>
          <p:cNvSpPr txBox="1"/>
          <p:nvPr/>
        </p:nvSpPr>
        <p:spPr>
          <a:xfrm>
            <a:off x="548640" y="1417320"/>
            <a:ext cx="11094415" cy="457200"/>
          </a:xfrm>
          <a:prstGeom prst="rect">
            <a:avLst/>
          </a:prstGeom>
          <a:noFill/>
        </p:spPr>
        <p:txBody>
          <a:bodyPr wrap="square" lIns="45720" rIns="45720" tIns="27432" bIns="27432" anchor="ctr">
            <a:spAutoFit/>
          </a:bodyPr>
          <a:lstStyle/>
          <a:p>
            <a:pPr rtl="1" algn="r">
              <a:lnSpc>
                <a:spcPct val="115000"/>
              </a:lnSpc>
              <a:spcBef>
                <a:spcPts val="0"/>
              </a:spcBef>
              <a:spcAft>
                <a:spcPts val="0"/>
              </a:spcAft>
            </a:pPr>
            <a:r>
              <a:rPr sz="2000" b="1" i="0" lang="ar-SA">
                <a:solidFill>
                  <a:srgbClr val="CCFBF1"/>
                </a:solidFill>
                <a:latin typeface="Arial"/>
                <a:cs typeface="Arial"/>
              </a:rPr>
              <a:t>مساهمة تجريبية ومنهجية، لا خوارزمية جديدة</a:t>
            </a:r>
          </a:p>
        </p:txBody>
      </p:sp>
      <p:sp>
        <p:nvSpPr>
          <p:cNvPr id="4" name="بطاقة"/>
          <p:cNvSpPr/>
          <p:nvPr/>
        </p:nvSpPr>
        <p:spPr>
          <a:xfrm>
            <a:off x="6233007" y="2011680"/>
            <a:ext cx="5410047" cy="1943100"/>
          </a:xfrm>
          <a:prstGeom prst="roundRect">
            <a:avLst>
              <a:gd name="adj" fmla="val 6000"/>
            </a:avLst>
          </a:prstGeom>
          <a:solidFill>
            <a:srgbClr val="FFFFFF"/>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رقم"/>
          <p:cNvSpPr/>
          <p:nvPr/>
        </p:nvSpPr>
        <p:spPr>
          <a:xfrm>
            <a:off x="10957255" y="2194560"/>
            <a:ext cx="502920" cy="502920"/>
          </a:xfrm>
          <a:prstGeom prst="roundRect">
            <a:avLst>
              <a:gd name="adj" fmla="val 50000"/>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rtl="1"/>
            <a:r>
              <a:rPr sz="1600" b="1" i="0" lang="ar-SA">
                <a:solidFill>
                  <a:srgbClr val="FFFFFF"/>
                </a:solidFill>
                <a:latin typeface="Arial"/>
                <a:cs typeface="Arial"/>
              </a:rPr>
              <a:t>1</a:t>
            </a:r>
          </a:p>
        </p:txBody>
      </p:sp>
      <p:sp>
        <p:nvSpPr>
          <p:cNvPr id="6" name="TextBox 5"/>
          <p:cNvSpPr txBox="1"/>
          <p:nvPr/>
        </p:nvSpPr>
        <p:spPr>
          <a:xfrm>
            <a:off x="6370167" y="2121408"/>
            <a:ext cx="4495647" cy="685800"/>
          </a:xfrm>
          <a:prstGeom prst="rect">
            <a:avLst/>
          </a:prstGeom>
          <a:noFill/>
        </p:spPr>
        <p:txBody>
          <a:bodyPr wrap="square" lIns="45720" rIns="45720" tIns="27432" bIns="27432" anchor="ctr">
            <a:spAutoFit/>
          </a:bodyPr>
          <a:lstStyle/>
          <a:p>
            <a:pPr rtl="1" algn="r">
              <a:lnSpc>
                <a:spcPct val="100000"/>
              </a:lnSpc>
              <a:spcBef>
                <a:spcPts val="0"/>
              </a:spcBef>
              <a:spcAft>
                <a:spcPts val="0"/>
              </a:spcAft>
            </a:pPr>
            <a:r>
              <a:rPr sz="2400" b="1" i="0" lang="ar-SA">
                <a:solidFill>
                  <a:srgbClr val="134E4A"/>
                </a:solidFill>
                <a:latin typeface="Arial"/>
                <a:cs typeface="Arial"/>
              </a:rPr>
              <a:t>استئصال منضبط</a:t>
            </a:r>
          </a:p>
        </p:txBody>
      </p:sp>
      <p:sp>
        <p:nvSpPr>
          <p:cNvPr id="7" name="TextBox 6"/>
          <p:cNvSpPr txBox="1"/>
          <p:nvPr/>
        </p:nvSpPr>
        <p:spPr>
          <a:xfrm>
            <a:off x="6370167" y="2880360"/>
            <a:ext cx="5135727" cy="982980"/>
          </a:xfrm>
          <a:prstGeom prst="rect">
            <a:avLst/>
          </a:prstGeom>
          <a:noFill/>
        </p:spPr>
        <p:txBody>
          <a:bodyPr wrap="square" lIns="45720" rIns="45720" tIns="27432" bIns="27432" anchor="t">
            <a:spAutoFit/>
          </a:bodyPr>
          <a:lstStyle/>
          <a:p>
            <a:pPr rtl="1" algn="r">
              <a:lnSpc>
                <a:spcPct val="115000"/>
              </a:lnSpc>
              <a:spcBef>
                <a:spcPts val="0"/>
              </a:spcBef>
              <a:spcAft>
                <a:spcPts val="0"/>
              </a:spcAft>
            </a:pPr>
            <a:r>
              <a:rPr sz="2000" b="0" i="0" lang="ar-SA">
                <a:solidFill>
                  <a:srgbClr val="475569"/>
                </a:solidFill>
                <a:latin typeface="Arial"/>
                <a:cs typeface="Arial"/>
              </a:rPr>
              <a:t>اختبار قيمة ترجيح الإشارات بعائلة متداخلة من أربعة مستويات</a:t>
            </a:r>
          </a:p>
        </p:txBody>
      </p:sp>
      <p:sp>
        <p:nvSpPr>
          <p:cNvPr id="8" name="بطاقة"/>
          <p:cNvSpPr/>
          <p:nvPr/>
        </p:nvSpPr>
        <p:spPr>
          <a:xfrm>
            <a:off x="548640" y="2011680"/>
            <a:ext cx="5410047" cy="1943100"/>
          </a:xfrm>
          <a:prstGeom prst="roundRect">
            <a:avLst>
              <a:gd name="adj" fmla="val 6000"/>
            </a:avLst>
          </a:prstGeom>
          <a:solidFill>
            <a:srgbClr val="FFFFFF"/>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رقم"/>
          <p:cNvSpPr/>
          <p:nvPr/>
        </p:nvSpPr>
        <p:spPr>
          <a:xfrm>
            <a:off x="5272887" y="2194560"/>
            <a:ext cx="502920" cy="502920"/>
          </a:xfrm>
          <a:prstGeom prst="roundRect">
            <a:avLst>
              <a:gd name="adj" fmla="val 50000"/>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rtl="1"/>
            <a:r>
              <a:rPr sz="1600" b="1" i="0" lang="ar-SA">
                <a:solidFill>
                  <a:srgbClr val="FFFFFF"/>
                </a:solidFill>
                <a:latin typeface="Arial"/>
                <a:cs typeface="Arial"/>
              </a:rPr>
              <a:t>2</a:t>
            </a:r>
          </a:p>
        </p:txBody>
      </p:sp>
      <p:sp>
        <p:nvSpPr>
          <p:cNvPr id="10" name="TextBox 9"/>
          <p:cNvSpPr txBox="1"/>
          <p:nvPr/>
        </p:nvSpPr>
        <p:spPr>
          <a:xfrm>
            <a:off x="685800" y="2121408"/>
            <a:ext cx="4495647" cy="685800"/>
          </a:xfrm>
          <a:prstGeom prst="rect">
            <a:avLst/>
          </a:prstGeom>
          <a:noFill/>
        </p:spPr>
        <p:txBody>
          <a:bodyPr wrap="square" lIns="45720" rIns="45720" tIns="27432" bIns="27432" anchor="ctr">
            <a:spAutoFit/>
          </a:bodyPr>
          <a:lstStyle/>
          <a:p>
            <a:pPr rtl="1" algn="r">
              <a:lnSpc>
                <a:spcPct val="100000"/>
              </a:lnSpc>
              <a:spcBef>
                <a:spcPts val="0"/>
              </a:spcBef>
              <a:spcAft>
                <a:spcPts val="0"/>
              </a:spcAft>
            </a:pPr>
            <a:r>
              <a:rPr sz="2400" b="1" i="0" lang="ar-SA">
                <a:solidFill>
                  <a:srgbClr val="134E4A"/>
                </a:solidFill>
                <a:latin typeface="Arial"/>
                <a:cs typeface="Arial"/>
              </a:rPr>
              <a:t>بروتوكول مسجَّل مسبقاً</a:t>
            </a:r>
          </a:p>
        </p:txBody>
      </p:sp>
      <p:sp>
        <p:nvSpPr>
          <p:cNvPr id="11" name="TextBox 10"/>
          <p:cNvSpPr txBox="1"/>
          <p:nvPr/>
        </p:nvSpPr>
        <p:spPr>
          <a:xfrm>
            <a:off x="685800" y="2880360"/>
            <a:ext cx="5135727" cy="982980"/>
          </a:xfrm>
          <a:prstGeom prst="rect">
            <a:avLst/>
          </a:prstGeom>
          <a:noFill/>
        </p:spPr>
        <p:txBody>
          <a:bodyPr wrap="square" lIns="45720" rIns="45720" tIns="27432" bIns="27432" anchor="t">
            <a:spAutoFit/>
          </a:bodyPr>
          <a:lstStyle/>
          <a:p>
            <a:pPr rtl="1" algn="r">
              <a:lnSpc>
                <a:spcPct val="115000"/>
              </a:lnSpc>
              <a:spcBef>
                <a:spcPts val="0"/>
              </a:spcBef>
              <a:spcAft>
                <a:spcPts val="0"/>
              </a:spcAft>
            </a:pPr>
            <a:r>
              <a:rPr sz="2000" b="0" i="0" lang="ar-SA">
                <a:solidFill>
                  <a:srgbClr val="475569"/>
                </a:solidFill>
                <a:latin typeface="Arial"/>
                <a:cs typeface="Arial"/>
              </a:rPr>
              <a:t>تقسيم زمني وكتالوج كامل وعشرة خطوط أساس وإحصاء عنقودي</a:t>
            </a:r>
          </a:p>
        </p:txBody>
      </p:sp>
      <p:sp>
        <p:nvSpPr>
          <p:cNvPr id="12" name="بطاقة"/>
          <p:cNvSpPr/>
          <p:nvPr/>
        </p:nvSpPr>
        <p:spPr>
          <a:xfrm>
            <a:off x="6233007" y="4229100"/>
            <a:ext cx="5410047" cy="1943100"/>
          </a:xfrm>
          <a:prstGeom prst="roundRect">
            <a:avLst>
              <a:gd name="adj" fmla="val 6000"/>
            </a:avLst>
          </a:prstGeom>
          <a:solidFill>
            <a:srgbClr val="FFFFFF"/>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رقم"/>
          <p:cNvSpPr/>
          <p:nvPr/>
        </p:nvSpPr>
        <p:spPr>
          <a:xfrm>
            <a:off x="10957255" y="4411980"/>
            <a:ext cx="502920" cy="502920"/>
          </a:xfrm>
          <a:prstGeom prst="roundRect">
            <a:avLst>
              <a:gd name="adj" fmla="val 50000"/>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rtl="1"/>
            <a:r>
              <a:rPr sz="1600" b="1" i="0" lang="ar-SA">
                <a:solidFill>
                  <a:srgbClr val="FFFFFF"/>
                </a:solidFill>
                <a:latin typeface="Arial"/>
                <a:cs typeface="Arial"/>
              </a:rPr>
              <a:t>3</a:t>
            </a:r>
          </a:p>
        </p:txBody>
      </p:sp>
      <p:sp>
        <p:nvSpPr>
          <p:cNvPr id="14" name="TextBox 13"/>
          <p:cNvSpPr txBox="1"/>
          <p:nvPr/>
        </p:nvSpPr>
        <p:spPr>
          <a:xfrm>
            <a:off x="6370167" y="4338828"/>
            <a:ext cx="4495647" cy="685800"/>
          </a:xfrm>
          <a:prstGeom prst="rect">
            <a:avLst/>
          </a:prstGeom>
          <a:noFill/>
        </p:spPr>
        <p:txBody>
          <a:bodyPr wrap="square" lIns="45720" rIns="45720" tIns="27432" bIns="27432" anchor="ctr">
            <a:spAutoFit/>
          </a:bodyPr>
          <a:lstStyle/>
          <a:p>
            <a:pPr rtl="1" algn="r">
              <a:lnSpc>
                <a:spcPct val="100000"/>
              </a:lnSpc>
              <a:spcBef>
                <a:spcPts val="0"/>
              </a:spcBef>
              <a:spcAft>
                <a:spcPts val="0"/>
              </a:spcAft>
            </a:pPr>
            <a:r>
              <a:rPr sz="2400" b="1" i="0" lang="ar-SA">
                <a:solidFill>
                  <a:srgbClr val="134E4A"/>
                </a:solidFill>
                <a:latin typeface="Arial"/>
                <a:cs typeface="Arial"/>
              </a:rPr>
              <a:t>نظام قابل لإعادة الإنتاج</a:t>
            </a:r>
          </a:p>
        </p:txBody>
      </p:sp>
      <p:sp>
        <p:nvSpPr>
          <p:cNvPr id="15" name="TextBox 14"/>
          <p:cNvSpPr txBox="1"/>
          <p:nvPr/>
        </p:nvSpPr>
        <p:spPr>
          <a:xfrm>
            <a:off x="6370167" y="5097780"/>
            <a:ext cx="5135727" cy="982980"/>
          </a:xfrm>
          <a:prstGeom prst="rect">
            <a:avLst/>
          </a:prstGeom>
          <a:noFill/>
        </p:spPr>
        <p:txBody>
          <a:bodyPr wrap="square" lIns="45720" rIns="45720" tIns="27432" bIns="27432" anchor="t">
            <a:spAutoFit/>
          </a:bodyPr>
          <a:lstStyle/>
          <a:p>
            <a:pPr rtl="1" algn="r">
              <a:lnSpc>
                <a:spcPct val="115000"/>
              </a:lnSpc>
              <a:spcBef>
                <a:spcPts val="0"/>
              </a:spcBef>
              <a:spcAft>
                <a:spcPts val="0"/>
              </a:spcAft>
            </a:pPr>
            <a:r>
              <a:rPr sz="2000" b="0" i="0" lang="ar-SA">
                <a:solidFill>
                  <a:srgbClr val="475569"/>
                </a:solidFill>
                <a:latin typeface="Arial"/>
                <a:cs typeface="Arial"/>
              </a:rPr>
              <a:t>numpy وpandas مع اختبار تحقق لكل تنفيذ، وواجهتان للمتعلم والمدرّس</a:t>
            </a:r>
          </a:p>
        </p:txBody>
      </p:sp>
      <p:sp>
        <p:nvSpPr>
          <p:cNvPr id="16" name="بطاقة"/>
          <p:cNvSpPr/>
          <p:nvPr/>
        </p:nvSpPr>
        <p:spPr>
          <a:xfrm>
            <a:off x="548640" y="4229100"/>
            <a:ext cx="5410047" cy="1943100"/>
          </a:xfrm>
          <a:prstGeom prst="roundRect">
            <a:avLst>
              <a:gd name="adj" fmla="val 6000"/>
            </a:avLst>
          </a:prstGeom>
          <a:solidFill>
            <a:srgbClr val="FFFFFF"/>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رقم"/>
          <p:cNvSpPr/>
          <p:nvPr/>
        </p:nvSpPr>
        <p:spPr>
          <a:xfrm>
            <a:off x="5272887" y="4411980"/>
            <a:ext cx="502920" cy="502920"/>
          </a:xfrm>
          <a:prstGeom prst="roundRect">
            <a:avLst>
              <a:gd name="adj" fmla="val 50000"/>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rtl="1"/>
            <a:r>
              <a:rPr sz="1600" b="1" i="0" lang="ar-SA">
                <a:solidFill>
                  <a:srgbClr val="FFFFFF"/>
                </a:solidFill>
                <a:latin typeface="Arial"/>
                <a:cs typeface="Arial"/>
              </a:rPr>
              <a:t>4</a:t>
            </a:r>
          </a:p>
        </p:txBody>
      </p:sp>
      <p:sp>
        <p:nvSpPr>
          <p:cNvPr id="18" name="TextBox 17"/>
          <p:cNvSpPr txBox="1"/>
          <p:nvPr/>
        </p:nvSpPr>
        <p:spPr>
          <a:xfrm>
            <a:off x="685800" y="4338828"/>
            <a:ext cx="4495647" cy="685800"/>
          </a:xfrm>
          <a:prstGeom prst="rect">
            <a:avLst/>
          </a:prstGeom>
          <a:noFill/>
        </p:spPr>
        <p:txBody>
          <a:bodyPr wrap="square" lIns="45720" rIns="45720" tIns="27432" bIns="27432" anchor="ctr">
            <a:spAutoFit/>
          </a:bodyPr>
          <a:lstStyle/>
          <a:p>
            <a:pPr rtl="1" algn="r">
              <a:lnSpc>
                <a:spcPct val="100000"/>
              </a:lnSpc>
              <a:spcBef>
                <a:spcPts val="0"/>
              </a:spcBef>
              <a:spcAft>
                <a:spcPts val="0"/>
              </a:spcAft>
            </a:pPr>
            <a:r>
              <a:rPr sz="2400" b="1" i="0" lang="ar-SA">
                <a:solidFill>
                  <a:srgbClr val="134E4A"/>
                </a:solidFill>
                <a:latin typeface="Arial"/>
                <a:cs typeface="Arial"/>
              </a:rPr>
              <a:t>دليل على قوة الشعبية الآنية</a:t>
            </a:r>
          </a:p>
        </p:txBody>
      </p:sp>
      <p:sp>
        <p:nvSpPr>
          <p:cNvPr id="19" name="TextBox 18"/>
          <p:cNvSpPr txBox="1"/>
          <p:nvPr/>
        </p:nvSpPr>
        <p:spPr>
          <a:xfrm>
            <a:off x="685800" y="5097780"/>
            <a:ext cx="5135727" cy="982980"/>
          </a:xfrm>
          <a:prstGeom prst="rect">
            <a:avLst/>
          </a:prstGeom>
          <a:noFill/>
        </p:spPr>
        <p:txBody>
          <a:bodyPr wrap="square" lIns="45720" rIns="45720" tIns="27432" bIns="27432" anchor="t">
            <a:spAutoFit/>
          </a:bodyPr>
          <a:lstStyle/>
          <a:p>
            <a:pPr rtl="1" algn="r">
              <a:lnSpc>
                <a:spcPct val="115000"/>
              </a:lnSpc>
              <a:spcBef>
                <a:spcPts val="0"/>
              </a:spcBef>
              <a:spcAft>
                <a:spcPts val="0"/>
              </a:spcAft>
            </a:pPr>
            <a:r>
              <a:rPr sz="2000" b="0" i="0" lang="ar-SA">
                <a:solidFill>
                  <a:srgbClr val="475569"/>
                </a:solidFill>
                <a:latin typeface="Arial"/>
                <a:cs typeface="Arial"/>
              </a:rPr>
              <a:t>حجم ما يفرضه الجدول الدراسي على الوصول [يُستكمل بنتائج التأكيد]</a:t>
            </a:r>
          </a:p>
        </p:txBody>
      </p:sp>
      <p:sp>
        <p:nvSpPr>
          <p:cNvPr id="20" name="شعار الجامعة"/>
          <p:cNvSpPr/>
          <p:nvPr/>
        </p:nvSpPr>
        <p:spPr>
          <a:xfrm>
            <a:off x="10957255" y="6382512"/>
            <a:ext cx="685800" cy="292608"/>
          </a:xfrm>
          <a:prstGeom prst="roundRect">
            <a:avLst>
              <a:gd name="adj" fmla="val 50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rtl="1"/>
            <a:r>
              <a:rPr sz="1200" b="1" i="0" lang="ar-SA">
                <a:solidFill>
                  <a:srgbClr val="134E4A"/>
                </a:solidFill>
                <a:latin typeface="Arial"/>
                <a:cs typeface="Arial"/>
              </a:rPr>
              <a:t>SVU</a:t>
            </a:r>
          </a:p>
        </p:txBody>
      </p:sp>
      <p:sp>
        <p:nvSpPr>
          <p:cNvPr id="21" name="تذييل"/>
          <p:cNvSpPr txBox="1"/>
          <p:nvPr/>
        </p:nvSpPr>
        <p:spPr>
          <a:xfrm>
            <a:off x="5287975" y="6373368"/>
            <a:ext cx="5577840" cy="310896"/>
          </a:xfrm>
          <a:prstGeom prst="rect">
            <a:avLst/>
          </a:prstGeom>
          <a:noFill/>
        </p:spPr>
        <p:txBody>
          <a:bodyPr wrap="square" lIns="45720" rIns="45720" tIns="27432" bIns="27432" anchor="ctr">
            <a:spAutoFit/>
          </a:bodyPr>
          <a:lstStyle/>
          <a:p>
            <a:pPr rtl="1" algn="r">
              <a:lnSpc>
                <a:spcPct val="115000"/>
              </a:lnSpc>
              <a:spcBef>
                <a:spcPts val="0"/>
              </a:spcBef>
              <a:spcAft>
                <a:spcPts val="0"/>
              </a:spcAft>
            </a:pPr>
            <a:r>
              <a:rPr sz="1200" b="0" i="0" lang="ar-SA">
                <a:solidFill>
                  <a:srgbClr val="A7F3D0"/>
                </a:solidFill>
                <a:latin typeface="Arial"/>
                <a:cs typeface="Arial"/>
              </a:rPr>
              <a:t>الجامعة الافتراضية السورية  |  ماجستير علوم الوب</a:t>
            </a:r>
          </a:p>
        </p:txBody>
      </p:sp>
      <p:sp>
        <p:nvSpPr>
          <p:cNvPr id="22" name="رقم الشريحة"/>
          <p:cNvSpPr txBox="1"/>
          <p:nvPr/>
        </p:nvSpPr>
        <p:spPr>
          <a:xfrm>
            <a:off x="548640" y="6373368"/>
            <a:ext cx="914400" cy="310896"/>
          </a:xfrm>
          <a:prstGeom prst="rect">
            <a:avLst/>
          </a:prstGeom>
          <a:noFill/>
        </p:spPr>
        <p:txBody>
          <a:bodyPr wrap="none">
            <a:spAutoFit/>
          </a:bodyPr>
          <a:lstStyle/>
          <a:p>
            <a:pPr rtl="1" algn="l"/>
            <a:fld id="{B6F15528-21DE-4FAA-801E-634DDDAF4B2B}" type="slidenum">
              <a:rPr lang="en-US" sz="1200">
                <a:solidFill>
                  <a:srgbClr val="A7F3D0"/>
                </a:solidFill>
                <a:latin typeface="Arial"/>
              </a:rPr>
              <a:t>‹#›</a:t>
            </a:fld>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134E4A"/>
        </a:solidFill>
        <a:effectLst/>
      </p:bgPr>
    </p:bg>
    <p:spTree>
      <p:nvGrpSpPr>
        <p:cNvPr id="1" name=""/>
        <p:cNvGrpSpPr/>
        <p:nvPr/>
      </p:nvGrpSpPr>
      <p:grpSpPr/>
      <p:sp>
        <p:nvSpPr>
          <p:cNvPr id="2" name="زخرفة"/>
          <p:cNvSpPr/>
          <p:nvPr/>
        </p:nvSpPr>
        <p:spPr>
          <a:xfrm>
            <a:off x="-2011680" y="3108960"/>
            <a:ext cx="5669280" cy="5669280"/>
          </a:xfrm>
          <a:prstGeom prst="ellipse">
            <a:avLst/>
          </a:prstGeom>
          <a:solidFill>
            <a:srgbClr val="115E5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زخرفة"/>
          <p:cNvSpPr/>
          <p:nvPr/>
        </p:nvSpPr>
        <p:spPr>
          <a:xfrm>
            <a:off x="274320" y="-1463040"/>
            <a:ext cx="3291840" cy="3291840"/>
          </a:xfrm>
          <a:prstGeom prst="ellipse">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العنوان"/>
          <p:cNvSpPr txBox="1"/>
          <p:nvPr/>
        </p:nvSpPr>
        <p:spPr>
          <a:xfrm>
            <a:off x="3474720" y="1554480"/>
            <a:ext cx="8168335" cy="1280160"/>
          </a:xfrm>
          <a:prstGeom prst="rect">
            <a:avLst/>
          </a:prstGeom>
          <a:noFill/>
        </p:spPr>
        <p:txBody>
          <a:bodyPr wrap="square" lIns="45720" rIns="45720" tIns="27432" bIns="27432" anchor="ctr">
            <a:spAutoFit/>
          </a:bodyPr>
          <a:lstStyle/>
          <a:p>
            <a:pPr rtl="1" algn="r">
              <a:lnSpc>
                <a:spcPct val="115000"/>
              </a:lnSpc>
              <a:spcBef>
                <a:spcPts val="0"/>
              </a:spcBef>
              <a:spcAft>
                <a:spcPts val="0"/>
              </a:spcAft>
            </a:pPr>
            <a:r>
              <a:rPr sz="5400" b="1" i="0" lang="ar-SA">
                <a:solidFill>
                  <a:srgbClr val="FFFFFF"/>
                </a:solidFill>
                <a:latin typeface="Arial"/>
                <a:cs typeface="Arial"/>
              </a:rPr>
              <a:t>شكراً لكم</a:t>
            </a:r>
          </a:p>
        </p:txBody>
      </p:sp>
      <p:sp>
        <p:nvSpPr>
          <p:cNvPr id="5" name="أسئلة"/>
          <p:cNvSpPr/>
          <p:nvPr/>
        </p:nvSpPr>
        <p:spPr>
          <a:xfrm>
            <a:off x="8351215" y="3017520"/>
            <a:ext cx="3291840" cy="548640"/>
          </a:xfrm>
          <a:prstGeom prst="roundRect">
            <a:avLst>
              <a:gd name="adj" fmla="val 50000"/>
            </a:avLst>
          </a:prstGeom>
          <a:solidFill>
            <a:srgbClr val="B4530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rtl="1"/>
            <a:r>
              <a:rPr sz="2400" b="1" i="0" lang="ar-SA">
                <a:solidFill>
                  <a:srgbClr val="FFFFFF"/>
                </a:solidFill>
                <a:latin typeface="Arial"/>
                <a:cs typeface="Arial"/>
              </a:rPr>
              <a:t>الأسئلة والمناقشة</a:t>
            </a:r>
          </a:p>
        </p:txBody>
      </p:sp>
      <p:sp>
        <p:nvSpPr>
          <p:cNvPr id="6" name="TextBox 5"/>
          <p:cNvSpPr txBox="1"/>
          <p:nvPr/>
        </p:nvSpPr>
        <p:spPr>
          <a:xfrm>
            <a:off x="3474720" y="4114800"/>
            <a:ext cx="8168335" cy="1280160"/>
          </a:xfrm>
          <a:prstGeom prst="rect">
            <a:avLst/>
          </a:prstGeom>
          <a:noFill/>
        </p:spPr>
        <p:txBody>
          <a:bodyPr wrap="square" lIns="45720" rIns="45720" tIns="27432" bIns="27432" anchor="t">
            <a:spAutoFit/>
          </a:bodyPr>
          <a:lstStyle/>
          <a:p>
            <a:pPr rtl="1" algn="r">
              <a:lnSpc>
                <a:spcPct val="120000"/>
              </a:lnSpc>
              <a:spcBef>
                <a:spcPts val="0"/>
              </a:spcBef>
              <a:spcAft>
                <a:spcPts val="400"/>
              </a:spcAft>
            </a:pPr>
            <a:r>
              <a:rPr sz="2200" b="0" i="0" lang="ar-SA">
                <a:solidFill>
                  <a:srgbClr val="CCFBF1"/>
                </a:solidFill>
                <a:latin typeface="Arial"/>
                <a:cs typeface="Arial"/>
              </a:rPr>
              <a:t>كنان محمد قرحالي</a:t>
            </a:r>
          </a:p>
          <a:p>
            <a:pPr rtl="1" algn="r">
              <a:lnSpc>
                <a:spcPct val="120000"/>
              </a:lnSpc>
              <a:spcBef>
                <a:spcPts val="0"/>
              </a:spcBef>
              <a:spcAft>
                <a:spcPts val="400"/>
              </a:spcAft>
            </a:pPr>
            <a:r>
              <a:rPr sz="2200" b="0" i="0" lang="ar-SA">
                <a:solidFill>
                  <a:srgbClr val="CCFBF1"/>
                </a:solidFill>
                <a:latin typeface="Arial"/>
                <a:cs typeface="Arial"/>
              </a:rPr>
              <a:t>إشراف: د. باسل الخطيب</a:t>
            </a:r>
          </a:p>
        </p:txBody>
      </p:sp>
      <p:sp>
        <p:nvSpPr>
          <p:cNvPr id="7" name="شعار الجامعة"/>
          <p:cNvSpPr/>
          <p:nvPr/>
        </p:nvSpPr>
        <p:spPr>
          <a:xfrm>
            <a:off x="10957255" y="6382512"/>
            <a:ext cx="685800" cy="292608"/>
          </a:xfrm>
          <a:prstGeom prst="roundRect">
            <a:avLst>
              <a:gd name="adj" fmla="val 50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rtl="1"/>
            <a:r>
              <a:rPr sz="1200" b="1" i="0" lang="ar-SA">
                <a:solidFill>
                  <a:srgbClr val="134E4A"/>
                </a:solidFill>
                <a:latin typeface="Arial"/>
                <a:cs typeface="Arial"/>
              </a:rPr>
              <a:t>SVU</a:t>
            </a:r>
          </a:p>
        </p:txBody>
      </p:sp>
      <p:sp>
        <p:nvSpPr>
          <p:cNvPr id="8" name="تذييل"/>
          <p:cNvSpPr txBox="1"/>
          <p:nvPr/>
        </p:nvSpPr>
        <p:spPr>
          <a:xfrm>
            <a:off x="5287975" y="6373368"/>
            <a:ext cx="5577840" cy="310896"/>
          </a:xfrm>
          <a:prstGeom prst="rect">
            <a:avLst/>
          </a:prstGeom>
          <a:noFill/>
        </p:spPr>
        <p:txBody>
          <a:bodyPr wrap="square" lIns="45720" rIns="45720" tIns="27432" bIns="27432" anchor="ctr">
            <a:spAutoFit/>
          </a:bodyPr>
          <a:lstStyle/>
          <a:p>
            <a:pPr rtl="1" algn="r">
              <a:lnSpc>
                <a:spcPct val="115000"/>
              </a:lnSpc>
              <a:spcBef>
                <a:spcPts val="0"/>
              </a:spcBef>
              <a:spcAft>
                <a:spcPts val="0"/>
              </a:spcAft>
            </a:pPr>
            <a:r>
              <a:rPr sz="1200" b="0" i="0" lang="ar-SA">
                <a:solidFill>
                  <a:srgbClr val="A7F3D0"/>
                </a:solidFill>
                <a:latin typeface="Arial"/>
                <a:cs typeface="Arial"/>
              </a:rPr>
              <a:t>الجامعة الافتراضية السورية  |  ماجستير علوم الوب</a:t>
            </a:r>
          </a:p>
        </p:txBody>
      </p:sp>
      <p:sp>
        <p:nvSpPr>
          <p:cNvPr id="9" name="رقم الشريحة"/>
          <p:cNvSpPr txBox="1"/>
          <p:nvPr/>
        </p:nvSpPr>
        <p:spPr>
          <a:xfrm>
            <a:off x="548640" y="6373368"/>
            <a:ext cx="914400" cy="310896"/>
          </a:xfrm>
          <a:prstGeom prst="rect">
            <a:avLst/>
          </a:prstGeom>
          <a:noFill/>
        </p:spPr>
        <p:txBody>
          <a:bodyPr wrap="none">
            <a:spAutoFit/>
          </a:bodyPr>
          <a:lstStyle/>
          <a:p>
            <a:pPr rtl="1" algn="l"/>
            <a:fld id="{B6F15528-21DE-4FAA-801E-634DDDAF4B2B}" type="slidenum">
              <a:rPr lang="en-US" sz="1200">
                <a:solidFill>
                  <a:srgbClr val="A7F3D0"/>
                </a:solidFill>
                <a:latin typeface="Arial"/>
              </a:rPr>
              <a:t>‹#›</a:t>
            </a:fld>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العنوان"/>
          <p:cNvSpPr txBox="1"/>
          <p:nvPr/>
        </p:nvSpPr>
        <p:spPr>
          <a:xfrm>
            <a:off x="548640" y="347472"/>
            <a:ext cx="11094415" cy="868680"/>
          </a:xfrm>
          <a:prstGeom prst="rect">
            <a:avLst/>
          </a:prstGeom>
          <a:noFill/>
        </p:spPr>
        <p:txBody>
          <a:bodyPr wrap="square" lIns="45720" rIns="45720" tIns="27432" bIns="27432" anchor="ctr">
            <a:spAutoFit/>
          </a:bodyPr>
          <a:lstStyle/>
          <a:p>
            <a:pPr rtl="1" algn="r">
              <a:lnSpc>
                <a:spcPct val="115000"/>
              </a:lnSpc>
              <a:spcBef>
                <a:spcPts val="0"/>
              </a:spcBef>
              <a:spcAft>
                <a:spcPts val="0"/>
              </a:spcAft>
            </a:pPr>
            <a:r>
              <a:rPr sz="3000" b="1" i="0" lang="ar-SA">
                <a:solidFill>
                  <a:srgbClr val="134E4A"/>
                </a:solidFill>
                <a:latin typeface="Arial"/>
                <a:cs typeface="Arial"/>
              </a:rPr>
              <a:t>احتياطي: لماذا numpy فقط؟ ولماذا لا CNN؟</a:t>
            </a:r>
          </a:p>
        </p:txBody>
      </p:sp>
      <p:sp>
        <p:nvSpPr>
          <p:cNvPr id="3" name="بطاقة"/>
          <p:cNvSpPr/>
          <p:nvPr/>
        </p:nvSpPr>
        <p:spPr>
          <a:xfrm>
            <a:off x="6233007" y="1463040"/>
            <a:ext cx="5410047" cy="4709160"/>
          </a:xfrm>
          <a:prstGeom prst="roundRect">
            <a:avLst>
              <a:gd name="adj" fmla="val 6000"/>
            </a:avLst>
          </a:prstGeom>
          <a:solidFill>
            <a:srgbClr val="FFFFFF"/>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السؤال"/>
          <p:cNvSpPr/>
          <p:nvPr/>
        </p:nvSpPr>
        <p:spPr>
          <a:xfrm>
            <a:off x="6233007" y="1463040"/>
            <a:ext cx="5410047" cy="822960"/>
          </a:xfrm>
          <a:prstGeom prst="roundRect">
            <a:avLst>
              <a:gd name="adj" fmla="val 20000"/>
            </a:avLst>
          </a:prstGeom>
          <a:solidFill>
            <a:srgbClr val="CCFB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228600" tIns="18288" bIns="18288"/>
          <a:lstStyle/>
          <a:p>
            <a:pPr algn="r" rtl="1"/>
            <a:r>
              <a:rPr sz="2400" b="1" i="0" lang="ar-SA">
                <a:solidFill>
                  <a:srgbClr val="134E4A"/>
                </a:solidFill>
                <a:latin typeface="Arial"/>
                <a:cs typeface="Arial"/>
              </a:rPr>
              <a:t>س: لماذا numpy فقط؟</a:t>
            </a:r>
          </a:p>
        </p:txBody>
      </p:sp>
      <p:sp>
        <p:nvSpPr>
          <p:cNvPr id="5" name="نقطة"/>
          <p:cNvSpPr/>
          <p:nvPr/>
        </p:nvSpPr>
        <p:spPr>
          <a:xfrm>
            <a:off x="11259007" y="2792349"/>
            <a:ext cx="164592" cy="164592"/>
          </a:xfrm>
          <a:prstGeom prst="ellipse">
            <a:avLst/>
          </a:prstGeom>
          <a:solidFill>
            <a:srgbClr val="B4530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370167" y="2423160"/>
            <a:ext cx="4769967" cy="902970"/>
          </a:xfrm>
          <a:prstGeom prst="rect">
            <a:avLst/>
          </a:prstGeom>
          <a:noFill/>
        </p:spPr>
        <p:txBody>
          <a:bodyPr wrap="square" lIns="45720" rIns="45720" tIns="27432" bIns="27432" anchor="ctr">
            <a:spAutoFit/>
          </a:bodyPr>
          <a:lstStyle/>
          <a:p>
            <a:pPr rtl="1" algn="r">
              <a:lnSpc>
                <a:spcPct val="105000"/>
              </a:lnSpc>
              <a:spcBef>
                <a:spcPts val="0"/>
              </a:spcBef>
              <a:spcAft>
                <a:spcPts val="0"/>
              </a:spcAft>
            </a:pPr>
            <a:r>
              <a:rPr sz="1700" b="0" i="0" lang="ar-SA">
                <a:solidFill>
                  <a:srgbClr val="134E4A"/>
                </a:solidFill>
                <a:latin typeface="Arial"/>
                <a:cs typeface="Arial"/>
              </a:rPr>
              <a:t>بيئة التنفيذ لا تتيح TensorFlow ولا Keras ولا scikit-learn</a:t>
            </a:r>
          </a:p>
        </p:txBody>
      </p:sp>
      <p:sp>
        <p:nvSpPr>
          <p:cNvPr id="7" name="نقطة"/>
          <p:cNvSpPr/>
          <p:nvPr/>
        </p:nvSpPr>
        <p:spPr>
          <a:xfrm>
            <a:off x="11259007" y="3695319"/>
            <a:ext cx="164592" cy="164592"/>
          </a:xfrm>
          <a:prstGeom prst="ellipse">
            <a:avLst/>
          </a:prstGeom>
          <a:solidFill>
            <a:srgbClr val="B4530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370167" y="3326130"/>
            <a:ext cx="4769967" cy="902970"/>
          </a:xfrm>
          <a:prstGeom prst="rect">
            <a:avLst/>
          </a:prstGeom>
          <a:noFill/>
        </p:spPr>
        <p:txBody>
          <a:bodyPr wrap="square" lIns="45720" rIns="45720" tIns="27432" bIns="27432" anchor="ctr">
            <a:spAutoFit/>
          </a:bodyPr>
          <a:lstStyle/>
          <a:p>
            <a:pPr rtl="1" algn="r">
              <a:lnSpc>
                <a:spcPct val="105000"/>
              </a:lnSpc>
              <a:spcBef>
                <a:spcPts val="0"/>
              </a:spcBef>
              <a:spcAft>
                <a:spcPts val="0"/>
              </a:spcAft>
            </a:pPr>
            <a:r>
              <a:rPr sz="1700" b="0" i="0" lang="ar-SA">
                <a:solidFill>
                  <a:srgbClr val="134E4A"/>
                </a:solidFill>
                <a:latin typeface="Arial"/>
                <a:cs typeface="Arial"/>
              </a:rPr>
              <a:t>كُتبت الخوارزميات يدوياً مع اختبار تحقق لكل تنفيذ</a:t>
            </a:r>
          </a:p>
        </p:txBody>
      </p:sp>
      <p:sp>
        <p:nvSpPr>
          <p:cNvPr id="9" name="نقطة"/>
          <p:cNvSpPr/>
          <p:nvPr/>
        </p:nvSpPr>
        <p:spPr>
          <a:xfrm>
            <a:off x="11259007" y="4598289"/>
            <a:ext cx="164592" cy="164592"/>
          </a:xfrm>
          <a:prstGeom prst="ellipse">
            <a:avLst/>
          </a:prstGeom>
          <a:solidFill>
            <a:srgbClr val="B4530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370167" y="4229100"/>
            <a:ext cx="4769967" cy="902970"/>
          </a:xfrm>
          <a:prstGeom prst="rect">
            <a:avLst/>
          </a:prstGeom>
          <a:noFill/>
        </p:spPr>
        <p:txBody>
          <a:bodyPr wrap="square" lIns="45720" rIns="45720" tIns="27432" bIns="27432" anchor="ctr">
            <a:spAutoFit/>
          </a:bodyPr>
          <a:lstStyle/>
          <a:p>
            <a:pPr rtl="1" algn="r">
              <a:lnSpc>
                <a:spcPct val="105000"/>
              </a:lnSpc>
              <a:spcBef>
                <a:spcPts val="0"/>
              </a:spcBef>
              <a:spcAft>
                <a:spcPts val="0"/>
              </a:spcAft>
            </a:pPr>
            <a:r>
              <a:rPr sz="1700" b="0" i="0" lang="ar-SA">
                <a:solidFill>
                  <a:srgbClr val="134E4A"/>
                </a:solidFill>
                <a:latin typeface="Arial"/>
                <a:cs typeface="Arial"/>
              </a:rPr>
              <a:t>مثال: فحص تدرج GRU-lite بخطأ نسبي 4.3e-06</a:t>
            </a:r>
          </a:p>
        </p:txBody>
      </p:sp>
      <p:sp>
        <p:nvSpPr>
          <p:cNvPr id="11" name="نقطة"/>
          <p:cNvSpPr/>
          <p:nvPr/>
        </p:nvSpPr>
        <p:spPr>
          <a:xfrm>
            <a:off x="11259007" y="5501259"/>
            <a:ext cx="164592" cy="164592"/>
          </a:xfrm>
          <a:prstGeom prst="ellipse">
            <a:avLst/>
          </a:prstGeom>
          <a:solidFill>
            <a:srgbClr val="B4530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370167" y="5132070"/>
            <a:ext cx="4769967" cy="902970"/>
          </a:xfrm>
          <a:prstGeom prst="rect">
            <a:avLst/>
          </a:prstGeom>
          <a:noFill/>
        </p:spPr>
        <p:txBody>
          <a:bodyPr wrap="square" lIns="45720" rIns="45720" tIns="27432" bIns="27432" anchor="ctr">
            <a:spAutoFit/>
          </a:bodyPr>
          <a:lstStyle/>
          <a:p>
            <a:pPr rtl="1" algn="r">
              <a:lnSpc>
                <a:spcPct val="105000"/>
              </a:lnSpc>
              <a:spcBef>
                <a:spcPts val="0"/>
              </a:spcBef>
              <a:spcAft>
                <a:spcPts val="0"/>
              </a:spcAft>
            </a:pPr>
            <a:r>
              <a:rPr sz="1700" b="0" i="0" lang="ar-SA">
                <a:solidFill>
                  <a:srgbClr val="134E4A"/>
                </a:solidFill>
                <a:latin typeface="Arial"/>
                <a:cs typeface="Arial"/>
              </a:rPr>
              <a:t>القيد معلن في الفصل الثالث (3-6-3)</a:t>
            </a:r>
          </a:p>
        </p:txBody>
      </p:sp>
      <p:sp>
        <p:nvSpPr>
          <p:cNvPr id="13" name="بطاقة"/>
          <p:cNvSpPr/>
          <p:nvPr/>
        </p:nvSpPr>
        <p:spPr>
          <a:xfrm>
            <a:off x="548640" y="1463040"/>
            <a:ext cx="5410047" cy="4709160"/>
          </a:xfrm>
          <a:prstGeom prst="roundRect">
            <a:avLst>
              <a:gd name="adj" fmla="val 6000"/>
            </a:avLst>
          </a:prstGeom>
          <a:solidFill>
            <a:srgbClr val="FFFFFF"/>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السؤال"/>
          <p:cNvSpPr/>
          <p:nvPr/>
        </p:nvSpPr>
        <p:spPr>
          <a:xfrm>
            <a:off x="548640" y="1463040"/>
            <a:ext cx="5410047" cy="822960"/>
          </a:xfrm>
          <a:prstGeom prst="roundRect">
            <a:avLst>
              <a:gd name="adj" fmla="val 20000"/>
            </a:avLst>
          </a:prstGeom>
          <a:solidFill>
            <a:srgbClr val="CCFB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228600" tIns="18288" bIns="18288"/>
          <a:lstStyle/>
          <a:p>
            <a:pPr algn="r" rtl="1"/>
            <a:r>
              <a:rPr sz="2400" b="1" i="0" lang="ar-SA">
                <a:solidFill>
                  <a:srgbClr val="134E4A"/>
                </a:solidFill>
                <a:latin typeface="Arial"/>
                <a:cs typeface="Arial"/>
              </a:rPr>
              <a:t>س: لماذا لا CNN؟</a:t>
            </a:r>
          </a:p>
        </p:txBody>
      </p:sp>
      <p:sp>
        <p:nvSpPr>
          <p:cNvPr id="15" name="نقطة"/>
          <p:cNvSpPr/>
          <p:nvPr/>
        </p:nvSpPr>
        <p:spPr>
          <a:xfrm>
            <a:off x="5574639" y="2792349"/>
            <a:ext cx="164592" cy="164592"/>
          </a:xfrm>
          <a:prstGeom prst="ellipse">
            <a:avLst/>
          </a:prstGeom>
          <a:solidFill>
            <a:srgbClr val="B4530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85800" y="2423160"/>
            <a:ext cx="4769967" cy="902970"/>
          </a:xfrm>
          <a:prstGeom prst="rect">
            <a:avLst/>
          </a:prstGeom>
          <a:noFill/>
        </p:spPr>
        <p:txBody>
          <a:bodyPr wrap="square" lIns="45720" rIns="45720" tIns="27432" bIns="27432" anchor="ctr">
            <a:spAutoFit/>
          </a:bodyPr>
          <a:lstStyle/>
          <a:p>
            <a:pPr rtl="1" algn="r">
              <a:lnSpc>
                <a:spcPct val="105000"/>
              </a:lnSpc>
              <a:spcBef>
                <a:spcPts val="0"/>
              </a:spcBef>
              <a:spcAft>
                <a:spcPts val="0"/>
              </a:spcAft>
            </a:pPr>
            <a:r>
              <a:rPr sz="1700" b="0" i="0" lang="ar-SA">
                <a:solidFill>
                  <a:srgbClr val="134E4A"/>
                </a:solidFill>
                <a:latin typeface="Arial"/>
                <a:cs typeface="Arial"/>
              </a:rPr>
              <a:t>مرجعه الوحيد في الأدبيات المدروسة غير قابل للتكرار</a:t>
            </a:r>
          </a:p>
        </p:txBody>
      </p:sp>
      <p:sp>
        <p:nvSpPr>
          <p:cNvPr id="17" name="نقطة"/>
          <p:cNvSpPr/>
          <p:nvPr/>
        </p:nvSpPr>
        <p:spPr>
          <a:xfrm>
            <a:off x="5574639" y="3695319"/>
            <a:ext cx="164592" cy="164592"/>
          </a:xfrm>
          <a:prstGeom prst="ellipse">
            <a:avLst/>
          </a:prstGeom>
          <a:solidFill>
            <a:srgbClr val="B4530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85800" y="3326130"/>
            <a:ext cx="4769967" cy="902970"/>
          </a:xfrm>
          <a:prstGeom prst="rect">
            <a:avLst/>
          </a:prstGeom>
          <a:noFill/>
        </p:spPr>
        <p:txBody>
          <a:bodyPr wrap="square" lIns="45720" rIns="45720" tIns="27432" bIns="27432" anchor="ctr">
            <a:spAutoFit/>
          </a:bodyPr>
          <a:lstStyle/>
          <a:p>
            <a:pPr rtl="1" algn="r">
              <a:lnSpc>
                <a:spcPct val="105000"/>
              </a:lnSpc>
              <a:spcBef>
                <a:spcPts val="0"/>
              </a:spcBef>
              <a:spcAft>
                <a:spcPts val="0"/>
              </a:spcAft>
            </a:pPr>
            <a:r>
              <a:rPr sz="1700" b="0" i="0" lang="ar-SA">
                <a:solidFill>
                  <a:srgbClr val="134E4A"/>
                </a:solidFill>
                <a:latin typeface="Arial"/>
                <a:cs typeface="Arial"/>
              </a:rPr>
              <a:t>سلال الأيام غير مرتبة داخلياً: لا بنية محلية تستفيد منها التلافيف</a:t>
            </a:r>
          </a:p>
        </p:txBody>
      </p:sp>
      <p:sp>
        <p:nvSpPr>
          <p:cNvPr id="19" name="نقطة"/>
          <p:cNvSpPr/>
          <p:nvPr/>
        </p:nvSpPr>
        <p:spPr>
          <a:xfrm>
            <a:off x="5574639" y="4598289"/>
            <a:ext cx="164592" cy="164592"/>
          </a:xfrm>
          <a:prstGeom prst="ellipse">
            <a:avLst/>
          </a:prstGeom>
          <a:solidFill>
            <a:srgbClr val="B4530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85800" y="4229100"/>
            <a:ext cx="4769967" cy="902970"/>
          </a:xfrm>
          <a:prstGeom prst="rect">
            <a:avLst/>
          </a:prstGeom>
          <a:noFill/>
        </p:spPr>
        <p:txBody>
          <a:bodyPr wrap="square" lIns="45720" rIns="45720" tIns="27432" bIns="27432" anchor="ctr">
            <a:spAutoFit/>
          </a:bodyPr>
          <a:lstStyle/>
          <a:p>
            <a:pPr rtl="1" algn="r">
              <a:lnSpc>
                <a:spcPct val="105000"/>
              </a:lnSpc>
              <a:spcBef>
                <a:spcPts val="0"/>
              </a:spcBef>
              <a:spcAft>
                <a:spcPts val="0"/>
              </a:spcAft>
            </a:pPr>
            <a:r>
              <a:rPr sz="1700" b="0" i="0" lang="ar-SA">
                <a:solidFill>
                  <a:srgbClr val="134E4A"/>
                </a:solidFill>
                <a:latin typeface="Arial"/>
                <a:cs typeface="Arial"/>
              </a:rPr>
              <a:t>بقي الاتجاه العصبوني ممثلاً بـ GRU-lite</a:t>
            </a:r>
          </a:p>
        </p:txBody>
      </p:sp>
      <p:sp>
        <p:nvSpPr>
          <p:cNvPr id="21" name="نقطة"/>
          <p:cNvSpPr/>
          <p:nvPr/>
        </p:nvSpPr>
        <p:spPr>
          <a:xfrm>
            <a:off x="5574639" y="5501259"/>
            <a:ext cx="164592" cy="164592"/>
          </a:xfrm>
          <a:prstGeom prst="ellipse">
            <a:avLst/>
          </a:prstGeom>
          <a:solidFill>
            <a:srgbClr val="B4530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85800" y="5132070"/>
            <a:ext cx="4769967" cy="902970"/>
          </a:xfrm>
          <a:prstGeom prst="rect">
            <a:avLst/>
          </a:prstGeom>
          <a:noFill/>
        </p:spPr>
        <p:txBody>
          <a:bodyPr wrap="square" lIns="45720" rIns="45720" tIns="27432" bIns="27432" anchor="ctr">
            <a:spAutoFit/>
          </a:bodyPr>
          <a:lstStyle/>
          <a:p>
            <a:pPr rtl="1" algn="r">
              <a:lnSpc>
                <a:spcPct val="105000"/>
              </a:lnSpc>
              <a:spcBef>
                <a:spcPts val="0"/>
              </a:spcBef>
              <a:spcAft>
                <a:spcPts val="0"/>
              </a:spcAft>
            </a:pPr>
            <a:r>
              <a:rPr sz="1700" b="0" i="0" lang="ar-SA">
                <a:solidFill>
                  <a:srgbClr val="134E4A"/>
                </a:solidFill>
                <a:latin typeface="Arial"/>
                <a:cs typeface="Arial"/>
              </a:rPr>
              <a:t>الخطة نفسها تركت اختيار الأنسب أثناء البحث</a:t>
            </a:r>
          </a:p>
        </p:txBody>
      </p:sp>
      <p:sp>
        <p:nvSpPr>
          <p:cNvPr id="23" name="شعار الجامعة"/>
          <p:cNvSpPr/>
          <p:nvPr/>
        </p:nvSpPr>
        <p:spPr>
          <a:xfrm>
            <a:off x="10957255" y="6382512"/>
            <a:ext cx="685800" cy="292608"/>
          </a:xfrm>
          <a:prstGeom prst="roundRect">
            <a:avLst>
              <a:gd name="adj" fmla="val 50000"/>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rtl="1"/>
            <a:r>
              <a:rPr sz="1200" b="1" i="0" lang="ar-SA">
                <a:solidFill>
                  <a:srgbClr val="FFFFFF"/>
                </a:solidFill>
                <a:latin typeface="Arial"/>
                <a:cs typeface="Arial"/>
              </a:rPr>
              <a:t>SVU</a:t>
            </a:r>
          </a:p>
        </p:txBody>
      </p:sp>
      <p:sp>
        <p:nvSpPr>
          <p:cNvPr id="24" name="تذييل"/>
          <p:cNvSpPr txBox="1"/>
          <p:nvPr/>
        </p:nvSpPr>
        <p:spPr>
          <a:xfrm>
            <a:off x="5287975" y="6373368"/>
            <a:ext cx="5577840" cy="310896"/>
          </a:xfrm>
          <a:prstGeom prst="rect">
            <a:avLst/>
          </a:prstGeom>
          <a:noFill/>
        </p:spPr>
        <p:txBody>
          <a:bodyPr wrap="square" lIns="45720" rIns="45720" tIns="27432" bIns="27432" anchor="ctr">
            <a:spAutoFit/>
          </a:bodyPr>
          <a:lstStyle/>
          <a:p>
            <a:pPr rtl="1" algn="r">
              <a:lnSpc>
                <a:spcPct val="115000"/>
              </a:lnSpc>
              <a:spcBef>
                <a:spcPts val="0"/>
              </a:spcBef>
              <a:spcAft>
                <a:spcPts val="0"/>
              </a:spcAft>
            </a:pPr>
            <a:r>
              <a:rPr sz="1200" b="0" i="0" lang="ar-SA">
                <a:solidFill>
                  <a:srgbClr val="475569"/>
                </a:solidFill>
                <a:latin typeface="Arial"/>
                <a:cs typeface="Arial"/>
              </a:rPr>
              <a:t>الجامعة الافتراضية السورية  |  ماجستير علوم الوب</a:t>
            </a:r>
          </a:p>
        </p:txBody>
      </p:sp>
      <p:sp>
        <p:nvSpPr>
          <p:cNvPr id="25" name="رقم الشريحة"/>
          <p:cNvSpPr txBox="1"/>
          <p:nvPr/>
        </p:nvSpPr>
        <p:spPr>
          <a:xfrm>
            <a:off x="548640" y="6373368"/>
            <a:ext cx="914400" cy="310896"/>
          </a:xfrm>
          <a:prstGeom prst="rect">
            <a:avLst/>
          </a:prstGeom>
          <a:noFill/>
        </p:spPr>
        <p:txBody>
          <a:bodyPr wrap="none">
            <a:spAutoFit/>
          </a:bodyPr>
          <a:lstStyle/>
          <a:p>
            <a:pPr rtl="1" algn="l"/>
            <a:fld id="{B6F15528-21DE-4FAA-801E-634DDDAF4B2B}" type="slidenum">
              <a:rPr lang="en-US" sz="1200">
                <a:solidFill>
                  <a:srgbClr val="475569"/>
                </a:solidFill>
                <a:latin typeface="Arial"/>
              </a:rPr>
              <a:t>‹#›</a:t>
            </a:fld>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العنوان"/>
          <p:cNvSpPr txBox="1"/>
          <p:nvPr/>
        </p:nvSpPr>
        <p:spPr>
          <a:xfrm>
            <a:off x="548640" y="347472"/>
            <a:ext cx="11094415" cy="868680"/>
          </a:xfrm>
          <a:prstGeom prst="rect">
            <a:avLst/>
          </a:prstGeom>
          <a:noFill/>
        </p:spPr>
        <p:txBody>
          <a:bodyPr wrap="square" lIns="45720" rIns="45720" tIns="27432" bIns="27432" anchor="ctr">
            <a:spAutoFit/>
          </a:bodyPr>
          <a:lstStyle/>
          <a:p>
            <a:pPr rtl="1" algn="r">
              <a:lnSpc>
                <a:spcPct val="115000"/>
              </a:lnSpc>
              <a:spcBef>
                <a:spcPts val="0"/>
              </a:spcBef>
              <a:spcAft>
                <a:spcPts val="0"/>
              </a:spcAft>
            </a:pPr>
            <a:r>
              <a:rPr sz="3000" b="1" i="0" lang="ar-SA">
                <a:solidFill>
                  <a:srgbClr val="134E4A"/>
                </a:solidFill>
                <a:latin typeface="Arial"/>
                <a:cs typeface="Arial"/>
              </a:rPr>
              <a:t>احتياطي: ما الدلالة الإحصائية؟</a:t>
            </a:r>
          </a:p>
        </p:txBody>
      </p:sp>
      <p:sp>
        <p:nvSpPr>
          <p:cNvPr id="3" name="بطاقة"/>
          <p:cNvSpPr/>
          <p:nvPr/>
        </p:nvSpPr>
        <p:spPr>
          <a:xfrm>
            <a:off x="548639" y="1463040"/>
            <a:ext cx="11094415" cy="4709160"/>
          </a:xfrm>
          <a:prstGeom prst="roundRect">
            <a:avLst>
              <a:gd name="adj" fmla="val 6000"/>
            </a:avLst>
          </a:prstGeom>
          <a:solidFill>
            <a:srgbClr val="FFFFFF"/>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السؤال"/>
          <p:cNvSpPr/>
          <p:nvPr/>
        </p:nvSpPr>
        <p:spPr>
          <a:xfrm>
            <a:off x="548639" y="1463040"/>
            <a:ext cx="11094415" cy="822960"/>
          </a:xfrm>
          <a:prstGeom prst="roundRect">
            <a:avLst>
              <a:gd name="adj" fmla="val 20000"/>
            </a:avLst>
          </a:prstGeom>
          <a:solidFill>
            <a:srgbClr val="CCFB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228600" tIns="18288" bIns="18288"/>
          <a:lstStyle/>
          <a:p>
            <a:pPr algn="r" rtl="1"/>
            <a:r>
              <a:rPr sz="2400" b="1" i="0" lang="ar-SA">
                <a:solidFill>
                  <a:srgbClr val="134E4A"/>
                </a:solidFill>
                <a:latin typeface="Arial"/>
                <a:cs typeface="Arial"/>
              </a:rPr>
              <a:t>س: كيف يُحكم على الفرق بين نموذجين؟</a:t>
            </a:r>
          </a:p>
        </p:txBody>
      </p:sp>
      <p:sp>
        <p:nvSpPr>
          <p:cNvPr id="5" name="نقطة"/>
          <p:cNvSpPr/>
          <p:nvPr/>
        </p:nvSpPr>
        <p:spPr>
          <a:xfrm>
            <a:off x="11259007" y="2702052"/>
            <a:ext cx="164592" cy="164592"/>
          </a:xfrm>
          <a:prstGeom prst="ellipse">
            <a:avLst/>
          </a:prstGeom>
          <a:solidFill>
            <a:srgbClr val="B4530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85799" y="2423160"/>
            <a:ext cx="10454335" cy="722376"/>
          </a:xfrm>
          <a:prstGeom prst="rect">
            <a:avLst/>
          </a:prstGeom>
          <a:noFill/>
        </p:spPr>
        <p:txBody>
          <a:bodyPr wrap="square" lIns="45720" rIns="45720" tIns="27432" bIns="27432" anchor="ctr">
            <a:spAutoFit/>
          </a:bodyPr>
          <a:lstStyle/>
          <a:p>
            <a:pPr rtl="1" algn="r">
              <a:lnSpc>
                <a:spcPct val="105000"/>
              </a:lnSpc>
              <a:spcBef>
                <a:spcPts val="0"/>
              </a:spcBef>
              <a:spcAft>
                <a:spcPts val="0"/>
              </a:spcAft>
            </a:pPr>
            <a:r>
              <a:rPr sz="2000" b="0" i="0" lang="ar-SA">
                <a:solidFill>
                  <a:srgbClr val="134E4A"/>
                </a:solidFill>
                <a:latin typeface="Arial"/>
                <a:cs typeface="Arial"/>
              </a:rPr>
              <a:t>وحدة التحليل العرض: 13 عرضاً في 2014، ومتوسط الفروق على 3 قطوع</a:t>
            </a:r>
          </a:p>
        </p:txBody>
      </p:sp>
      <p:sp>
        <p:nvSpPr>
          <p:cNvPr id="7" name="نقطة"/>
          <p:cNvSpPr/>
          <p:nvPr/>
        </p:nvSpPr>
        <p:spPr>
          <a:xfrm>
            <a:off x="11259007" y="3424428"/>
            <a:ext cx="164592" cy="164592"/>
          </a:xfrm>
          <a:prstGeom prst="ellipse">
            <a:avLst/>
          </a:prstGeom>
          <a:solidFill>
            <a:srgbClr val="B4530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85799" y="3145536"/>
            <a:ext cx="10454335" cy="722376"/>
          </a:xfrm>
          <a:prstGeom prst="rect">
            <a:avLst/>
          </a:prstGeom>
          <a:noFill/>
        </p:spPr>
        <p:txBody>
          <a:bodyPr wrap="square" lIns="45720" rIns="45720" tIns="27432" bIns="27432" anchor="ctr">
            <a:spAutoFit/>
          </a:bodyPr>
          <a:lstStyle/>
          <a:p>
            <a:pPr rtl="1" algn="r">
              <a:lnSpc>
                <a:spcPct val="105000"/>
              </a:lnSpc>
              <a:spcBef>
                <a:spcPts val="0"/>
              </a:spcBef>
              <a:spcAft>
                <a:spcPts val="0"/>
              </a:spcAft>
            </a:pPr>
            <a:r>
              <a:rPr sz="2000" b="0" i="0" lang="ar-SA">
                <a:solidFill>
                  <a:srgbClr val="134E4A"/>
                </a:solidFill>
                <a:latin typeface="Arial"/>
                <a:cs typeface="Arial"/>
              </a:rPr>
              <a:t>فاصل ثقة 95% بـ bootstrap-t العنقودي المعيَّر، بعشرة آلاف إعادة</a:t>
            </a:r>
          </a:p>
        </p:txBody>
      </p:sp>
      <p:sp>
        <p:nvSpPr>
          <p:cNvPr id="9" name="نقطة"/>
          <p:cNvSpPr/>
          <p:nvPr/>
        </p:nvSpPr>
        <p:spPr>
          <a:xfrm>
            <a:off x="11259007" y="4146804"/>
            <a:ext cx="164592" cy="164592"/>
          </a:xfrm>
          <a:prstGeom prst="ellipse">
            <a:avLst/>
          </a:prstGeom>
          <a:solidFill>
            <a:srgbClr val="B4530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85799" y="3867912"/>
            <a:ext cx="10454335" cy="722376"/>
          </a:xfrm>
          <a:prstGeom prst="rect">
            <a:avLst/>
          </a:prstGeom>
          <a:noFill/>
        </p:spPr>
        <p:txBody>
          <a:bodyPr wrap="square" lIns="45720" rIns="45720" tIns="27432" bIns="27432" anchor="ctr">
            <a:spAutoFit/>
          </a:bodyPr>
          <a:lstStyle/>
          <a:p>
            <a:pPr rtl="1" algn="r">
              <a:lnSpc>
                <a:spcPct val="105000"/>
              </a:lnSpc>
              <a:spcBef>
                <a:spcPts val="0"/>
              </a:spcBef>
              <a:spcAft>
                <a:spcPts val="0"/>
              </a:spcAft>
            </a:pPr>
            <a:r>
              <a:rPr sz="2000" b="0" i="0" lang="ar-SA">
                <a:solidFill>
                  <a:srgbClr val="134E4A"/>
                </a:solidFill>
                <a:latin typeface="Arial"/>
                <a:cs typeface="Arial"/>
              </a:rPr>
              <a:t>قيمة p بقلب الإشارات الدقيق (8,192 تركيبة)، وتصحيح هولم على 4 فرضيات</a:t>
            </a:r>
          </a:p>
        </p:txBody>
      </p:sp>
      <p:sp>
        <p:nvSpPr>
          <p:cNvPr id="11" name="نقطة"/>
          <p:cNvSpPr/>
          <p:nvPr/>
        </p:nvSpPr>
        <p:spPr>
          <a:xfrm>
            <a:off x="11259007" y="4869179"/>
            <a:ext cx="164592" cy="164592"/>
          </a:xfrm>
          <a:prstGeom prst="ellipse">
            <a:avLst/>
          </a:prstGeom>
          <a:solidFill>
            <a:srgbClr val="B4530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85799" y="4590288"/>
            <a:ext cx="10454335" cy="722376"/>
          </a:xfrm>
          <a:prstGeom prst="rect">
            <a:avLst/>
          </a:prstGeom>
          <a:noFill/>
        </p:spPr>
        <p:txBody>
          <a:bodyPr wrap="square" lIns="45720" rIns="45720" tIns="27432" bIns="27432" anchor="ctr">
            <a:spAutoFit/>
          </a:bodyPr>
          <a:lstStyle/>
          <a:p>
            <a:pPr rtl="1" algn="r">
              <a:lnSpc>
                <a:spcPct val="105000"/>
              </a:lnSpc>
              <a:spcBef>
                <a:spcPts val="0"/>
              </a:spcBef>
              <a:spcAft>
                <a:spcPts val="0"/>
              </a:spcAft>
            </a:pPr>
            <a:r>
              <a:rPr sz="2000" b="0" i="0" lang="ar-SA">
                <a:solidFill>
                  <a:srgbClr val="134E4A"/>
                </a:solidFill>
                <a:latin typeface="Arial"/>
                <a:cs typeface="Arial"/>
              </a:rPr>
              <a:t>تُؤكَّد الفرضية إن بلغ الأثر 0.02 على الأقل وكان الحد الأدنى للفاصل موجباً وp المصحَّحة أقل من 0.05</a:t>
            </a:r>
          </a:p>
        </p:txBody>
      </p:sp>
      <p:sp>
        <p:nvSpPr>
          <p:cNvPr id="13" name="نقطة"/>
          <p:cNvSpPr/>
          <p:nvPr/>
        </p:nvSpPr>
        <p:spPr>
          <a:xfrm>
            <a:off x="11259007" y="5591556"/>
            <a:ext cx="164592" cy="164592"/>
          </a:xfrm>
          <a:prstGeom prst="ellipse">
            <a:avLst/>
          </a:prstGeom>
          <a:solidFill>
            <a:srgbClr val="B4530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85799" y="5312664"/>
            <a:ext cx="10454335" cy="722376"/>
          </a:xfrm>
          <a:prstGeom prst="rect">
            <a:avLst/>
          </a:prstGeom>
          <a:noFill/>
        </p:spPr>
        <p:txBody>
          <a:bodyPr wrap="square" lIns="45720" rIns="45720" tIns="27432" bIns="27432" anchor="ctr">
            <a:spAutoFit/>
          </a:bodyPr>
          <a:lstStyle/>
          <a:p>
            <a:pPr rtl="1" algn="r">
              <a:lnSpc>
                <a:spcPct val="105000"/>
              </a:lnSpc>
              <a:spcBef>
                <a:spcPts val="0"/>
              </a:spcBef>
              <a:spcAft>
                <a:spcPts val="0"/>
              </a:spcAft>
            </a:pPr>
            <a:r>
              <a:rPr sz="2000" b="0" i="0" lang="ar-SA">
                <a:solidFill>
                  <a:srgbClr val="134E4A"/>
                </a:solidFill>
                <a:latin typeface="Arial"/>
                <a:cs typeface="Arial"/>
              </a:rPr>
              <a:t>MDE80 المجمَّد: H1 0.0375، H2-أ 0.045، H3 0.050، H4-أ 0.0225</a:t>
            </a:r>
          </a:p>
        </p:txBody>
      </p:sp>
      <p:sp>
        <p:nvSpPr>
          <p:cNvPr id="15" name="شعار الجامعة"/>
          <p:cNvSpPr/>
          <p:nvPr/>
        </p:nvSpPr>
        <p:spPr>
          <a:xfrm>
            <a:off x="10957255" y="6382512"/>
            <a:ext cx="685800" cy="292608"/>
          </a:xfrm>
          <a:prstGeom prst="roundRect">
            <a:avLst>
              <a:gd name="adj" fmla="val 50000"/>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rtl="1"/>
            <a:r>
              <a:rPr sz="1200" b="1" i="0" lang="ar-SA">
                <a:solidFill>
                  <a:srgbClr val="FFFFFF"/>
                </a:solidFill>
                <a:latin typeface="Arial"/>
                <a:cs typeface="Arial"/>
              </a:rPr>
              <a:t>SVU</a:t>
            </a:r>
          </a:p>
        </p:txBody>
      </p:sp>
      <p:sp>
        <p:nvSpPr>
          <p:cNvPr id="16" name="تذييل"/>
          <p:cNvSpPr txBox="1"/>
          <p:nvPr/>
        </p:nvSpPr>
        <p:spPr>
          <a:xfrm>
            <a:off x="5287975" y="6373368"/>
            <a:ext cx="5577840" cy="310896"/>
          </a:xfrm>
          <a:prstGeom prst="rect">
            <a:avLst/>
          </a:prstGeom>
          <a:noFill/>
        </p:spPr>
        <p:txBody>
          <a:bodyPr wrap="square" lIns="45720" rIns="45720" tIns="27432" bIns="27432" anchor="ctr">
            <a:spAutoFit/>
          </a:bodyPr>
          <a:lstStyle/>
          <a:p>
            <a:pPr rtl="1" algn="r">
              <a:lnSpc>
                <a:spcPct val="115000"/>
              </a:lnSpc>
              <a:spcBef>
                <a:spcPts val="0"/>
              </a:spcBef>
              <a:spcAft>
                <a:spcPts val="0"/>
              </a:spcAft>
            </a:pPr>
            <a:r>
              <a:rPr sz="1200" b="0" i="0" lang="ar-SA">
                <a:solidFill>
                  <a:srgbClr val="475569"/>
                </a:solidFill>
                <a:latin typeface="Arial"/>
                <a:cs typeface="Arial"/>
              </a:rPr>
              <a:t>الجامعة الافتراضية السورية  |  ماجستير علوم الوب</a:t>
            </a:r>
          </a:p>
        </p:txBody>
      </p:sp>
      <p:sp>
        <p:nvSpPr>
          <p:cNvPr id="17" name="رقم الشريحة"/>
          <p:cNvSpPr txBox="1"/>
          <p:nvPr/>
        </p:nvSpPr>
        <p:spPr>
          <a:xfrm>
            <a:off x="548640" y="6373368"/>
            <a:ext cx="914400" cy="310896"/>
          </a:xfrm>
          <a:prstGeom prst="rect">
            <a:avLst/>
          </a:prstGeom>
          <a:noFill/>
        </p:spPr>
        <p:txBody>
          <a:bodyPr wrap="none">
            <a:spAutoFit/>
          </a:bodyPr>
          <a:lstStyle/>
          <a:p>
            <a:pPr rtl="1" algn="l"/>
            <a:fld id="{B6F15528-21DE-4FAA-801E-634DDDAF4B2B}" type="slidenum">
              <a:rPr lang="en-US" sz="1200">
                <a:solidFill>
                  <a:srgbClr val="475569"/>
                </a:solidFill>
                <a:latin typeface="Arial"/>
              </a:rPr>
              <a:t>‹#›</a:t>
            </a:fld>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العنوان"/>
          <p:cNvSpPr txBox="1"/>
          <p:nvPr/>
        </p:nvSpPr>
        <p:spPr>
          <a:xfrm>
            <a:off x="548640" y="347472"/>
            <a:ext cx="11094415" cy="868680"/>
          </a:xfrm>
          <a:prstGeom prst="rect">
            <a:avLst/>
          </a:prstGeom>
          <a:noFill/>
        </p:spPr>
        <p:txBody>
          <a:bodyPr wrap="square" lIns="45720" rIns="45720" tIns="27432" bIns="27432" anchor="ctr">
            <a:spAutoFit/>
          </a:bodyPr>
          <a:lstStyle/>
          <a:p>
            <a:pPr rtl="1" algn="r">
              <a:lnSpc>
                <a:spcPct val="115000"/>
              </a:lnSpc>
              <a:spcBef>
                <a:spcPts val="0"/>
              </a:spcBef>
              <a:spcAft>
                <a:spcPts val="0"/>
              </a:spcAft>
            </a:pPr>
            <a:r>
              <a:rPr sz="3000" b="1" i="0" lang="ar-SA">
                <a:solidFill>
                  <a:srgbClr val="134E4A"/>
                </a:solidFill>
                <a:latin typeface="Arial"/>
                <a:cs typeface="Arial"/>
              </a:rPr>
              <a:t>احتياطي: ما حدود التعميم؟</a:t>
            </a:r>
          </a:p>
        </p:txBody>
      </p:sp>
      <p:sp>
        <p:nvSpPr>
          <p:cNvPr id="3" name="بطاقة"/>
          <p:cNvSpPr/>
          <p:nvPr/>
        </p:nvSpPr>
        <p:spPr>
          <a:xfrm>
            <a:off x="548639" y="1463040"/>
            <a:ext cx="11094415" cy="4709160"/>
          </a:xfrm>
          <a:prstGeom prst="roundRect">
            <a:avLst>
              <a:gd name="adj" fmla="val 6000"/>
            </a:avLst>
          </a:prstGeom>
          <a:solidFill>
            <a:srgbClr val="FFFFFF"/>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السؤال"/>
          <p:cNvSpPr/>
          <p:nvPr/>
        </p:nvSpPr>
        <p:spPr>
          <a:xfrm>
            <a:off x="548639" y="1463040"/>
            <a:ext cx="11094415" cy="822960"/>
          </a:xfrm>
          <a:prstGeom prst="roundRect">
            <a:avLst>
              <a:gd name="adj" fmla="val 20000"/>
            </a:avLst>
          </a:prstGeom>
          <a:solidFill>
            <a:srgbClr val="CCFB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228600" tIns="18288" bIns="18288"/>
          <a:lstStyle/>
          <a:p>
            <a:pPr algn="r" rtl="1"/>
            <a:r>
              <a:rPr sz="2400" b="1" i="0" lang="ar-SA">
                <a:solidFill>
                  <a:srgbClr val="134E4A"/>
                </a:solidFill>
                <a:latin typeface="Arial"/>
                <a:cs typeface="Arial"/>
              </a:rPr>
              <a:t>س: إلى أي مدى تنطبق النتائج؟</a:t>
            </a:r>
          </a:p>
        </p:txBody>
      </p:sp>
      <p:sp>
        <p:nvSpPr>
          <p:cNvPr id="5" name="نقطة"/>
          <p:cNvSpPr/>
          <p:nvPr/>
        </p:nvSpPr>
        <p:spPr>
          <a:xfrm>
            <a:off x="11259007" y="2702052"/>
            <a:ext cx="164592" cy="164592"/>
          </a:xfrm>
          <a:prstGeom prst="ellipse">
            <a:avLst/>
          </a:prstGeom>
          <a:solidFill>
            <a:srgbClr val="B4530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85799" y="2423160"/>
            <a:ext cx="10454335" cy="722376"/>
          </a:xfrm>
          <a:prstGeom prst="rect">
            <a:avLst/>
          </a:prstGeom>
          <a:noFill/>
        </p:spPr>
        <p:txBody>
          <a:bodyPr wrap="square" lIns="45720" rIns="45720" tIns="27432" bIns="27432" anchor="ctr">
            <a:spAutoFit/>
          </a:bodyPr>
          <a:lstStyle/>
          <a:p>
            <a:pPr rtl="1" algn="r">
              <a:lnSpc>
                <a:spcPct val="105000"/>
              </a:lnSpc>
              <a:spcBef>
                <a:spcPts val="0"/>
              </a:spcBef>
              <a:spcAft>
                <a:spcPts val="0"/>
              </a:spcAft>
            </a:pPr>
            <a:r>
              <a:rPr sz="2000" b="0" i="0" lang="ar-SA">
                <a:solidFill>
                  <a:srgbClr val="134E4A"/>
                </a:solidFill>
                <a:latin typeface="Arial"/>
                <a:cs typeface="Arial"/>
              </a:rPr>
              <a:t>مؤسسة واحدة (الجامعة المفتوحة البريطانية): التعميم من 2013 إلى 2014 فقط</a:t>
            </a:r>
          </a:p>
        </p:txBody>
      </p:sp>
      <p:sp>
        <p:nvSpPr>
          <p:cNvPr id="7" name="نقطة"/>
          <p:cNvSpPr/>
          <p:nvPr/>
        </p:nvSpPr>
        <p:spPr>
          <a:xfrm>
            <a:off x="11259007" y="3424428"/>
            <a:ext cx="164592" cy="164592"/>
          </a:xfrm>
          <a:prstGeom prst="ellipse">
            <a:avLst/>
          </a:prstGeom>
          <a:solidFill>
            <a:srgbClr val="B4530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85799" y="3145536"/>
            <a:ext cx="10454335" cy="722376"/>
          </a:xfrm>
          <a:prstGeom prst="rect">
            <a:avLst/>
          </a:prstGeom>
          <a:noFill/>
        </p:spPr>
        <p:txBody>
          <a:bodyPr wrap="square" lIns="45720" rIns="45720" tIns="27432" bIns="27432" anchor="ctr">
            <a:spAutoFit/>
          </a:bodyPr>
          <a:lstStyle/>
          <a:p>
            <a:pPr rtl="1" algn="r">
              <a:lnSpc>
                <a:spcPct val="105000"/>
              </a:lnSpc>
              <a:spcBef>
                <a:spcPts val="0"/>
              </a:spcBef>
              <a:spcAft>
                <a:spcPts val="0"/>
              </a:spcAft>
            </a:pPr>
            <a:r>
              <a:rPr sz="2000" b="0" i="0" lang="ar-SA">
                <a:solidFill>
                  <a:srgbClr val="134E4A"/>
                </a:solidFill>
                <a:latin typeface="Arial"/>
                <a:cs typeface="Arial"/>
              </a:rPr>
              <a:t>لا ادعاء حول بيئة الجامعة الافتراضية السورية ولا بيئة عربية</a:t>
            </a:r>
          </a:p>
        </p:txBody>
      </p:sp>
      <p:sp>
        <p:nvSpPr>
          <p:cNvPr id="9" name="نقطة"/>
          <p:cNvSpPr/>
          <p:nvPr/>
        </p:nvSpPr>
        <p:spPr>
          <a:xfrm>
            <a:off x="11259007" y="4146804"/>
            <a:ext cx="164592" cy="164592"/>
          </a:xfrm>
          <a:prstGeom prst="ellipse">
            <a:avLst/>
          </a:prstGeom>
          <a:solidFill>
            <a:srgbClr val="B4530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85799" y="3867912"/>
            <a:ext cx="10454335" cy="722376"/>
          </a:xfrm>
          <a:prstGeom prst="rect">
            <a:avLst/>
          </a:prstGeom>
          <a:noFill/>
        </p:spPr>
        <p:txBody>
          <a:bodyPr wrap="square" lIns="45720" rIns="45720" tIns="27432" bIns="27432" anchor="ctr">
            <a:spAutoFit/>
          </a:bodyPr>
          <a:lstStyle/>
          <a:p>
            <a:pPr rtl="1" algn="r">
              <a:lnSpc>
                <a:spcPct val="105000"/>
              </a:lnSpc>
              <a:spcBef>
                <a:spcPts val="0"/>
              </a:spcBef>
              <a:spcAft>
                <a:spcPts val="0"/>
              </a:spcAft>
            </a:pPr>
            <a:r>
              <a:rPr sz="2000" b="0" i="0" lang="ar-SA">
                <a:solidFill>
                  <a:srgbClr val="134E4A"/>
                </a:solidFill>
                <a:latin typeface="Arial"/>
                <a:cs typeface="Arial"/>
              </a:rPr>
              <a:t>التقييم دون اتصال: الوصول المستقبلي وكيل للملاءمة لا للتعلم</a:t>
            </a:r>
          </a:p>
        </p:txBody>
      </p:sp>
      <p:sp>
        <p:nvSpPr>
          <p:cNvPr id="11" name="نقطة"/>
          <p:cNvSpPr/>
          <p:nvPr/>
        </p:nvSpPr>
        <p:spPr>
          <a:xfrm>
            <a:off x="11259007" y="4869179"/>
            <a:ext cx="164592" cy="164592"/>
          </a:xfrm>
          <a:prstGeom prst="ellipse">
            <a:avLst/>
          </a:prstGeom>
          <a:solidFill>
            <a:srgbClr val="B4530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85799" y="4590288"/>
            <a:ext cx="10454335" cy="722376"/>
          </a:xfrm>
          <a:prstGeom prst="rect">
            <a:avLst/>
          </a:prstGeom>
          <a:noFill/>
        </p:spPr>
        <p:txBody>
          <a:bodyPr wrap="square" lIns="45720" rIns="45720" tIns="27432" bIns="27432" anchor="ctr">
            <a:spAutoFit/>
          </a:bodyPr>
          <a:lstStyle/>
          <a:p>
            <a:pPr rtl="1" algn="r">
              <a:lnSpc>
                <a:spcPct val="105000"/>
              </a:lnSpc>
              <a:spcBef>
                <a:spcPts val="0"/>
              </a:spcBef>
              <a:spcAft>
                <a:spcPts val="0"/>
              </a:spcAft>
            </a:pPr>
            <a:r>
              <a:rPr sz="2000" b="0" i="0" lang="ar-SA">
                <a:solidFill>
                  <a:srgbClr val="134E4A"/>
                </a:solidFill>
                <a:latin typeface="Arial"/>
                <a:cs typeface="Arial"/>
              </a:rPr>
              <a:t>سجلات بدقة يوم، وكتالوج صغير ومصفوفة نسبياً كثيفة</a:t>
            </a:r>
          </a:p>
        </p:txBody>
      </p:sp>
      <p:sp>
        <p:nvSpPr>
          <p:cNvPr id="13" name="نقطة"/>
          <p:cNvSpPr/>
          <p:nvPr/>
        </p:nvSpPr>
        <p:spPr>
          <a:xfrm>
            <a:off x="11259007" y="5591556"/>
            <a:ext cx="164592" cy="164592"/>
          </a:xfrm>
          <a:prstGeom prst="ellipse">
            <a:avLst/>
          </a:prstGeom>
          <a:solidFill>
            <a:srgbClr val="B4530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85799" y="5312664"/>
            <a:ext cx="10454335" cy="722376"/>
          </a:xfrm>
          <a:prstGeom prst="rect">
            <a:avLst/>
          </a:prstGeom>
          <a:noFill/>
        </p:spPr>
        <p:txBody>
          <a:bodyPr wrap="square" lIns="45720" rIns="45720" tIns="27432" bIns="27432" anchor="ctr">
            <a:spAutoFit/>
          </a:bodyPr>
          <a:lstStyle/>
          <a:p>
            <a:pPr rtl="1" algn="r">
              <a:lnSpc>
                <a:spcPct val="105000"/>
              </a:lnSpc>
              <a:spcBef>
                <a:spcPts val="0"/>
              </a:spcBef>
              <a:spcAft>
                <a:spcPts val="0"/>
              </a:spcAft>
            </a:pPr>
            <a:r>
              <a:rPr sz="2000" b="0" i="0" lang="ar-SA">
                <a:solidFill>
                  <a:srgbClr val="134E4A"/>
                </a:solidFill>
                <a:latin typeface="Arial"/>
                <a:cs typeface="Arial"/>
              </a:rPr>
              <a:t>المعالجة: نقل البروتوكول إلى سجلات الجامعة الافتراضية السورية</a:t>
            </a:r>
          </a:p>
        </p:txBody>
      </p:sp>
      <p:sp>
        <p:nvSpPr>
          <p:cNvPr id="15" name="شعار الجامعة"/>
          <p:cNvSpPr/>
          <p:nvPr/>
        </p:nvSpPr>
        <p:spPr>
          <a:xfrm>
            <a:off x="10957255" y="6382512"/>
            <a:ext cx="685800" cy="292608"/>
          </a:xfrm>
          <a:prstGeom prst="roundRect">
            <a:avLst>
              <a:gd name="adj" fmla="val 50000"/>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rtl="1"/>
            <a:r>
              <a:rPr sz="1200" b="1" i="0" lang="ar-SA">
                <a:solidFill>
                  <a:srgbClr val="FFFFFF"/>
                </a:solidFill>
                <a:latin typeface="Arial"/>
                <a:cs typeface="Arial"/>
              </a:rPr>
              <a:t>SVU</a:t>
            </a:r>
          </a:p>
        </p:txBody>
      </p:sp>
      <p:sp>
        <p:nvSpPr>
          <p:cNvPr id="16" name="تذييل"/>
          <p:cNvSpPr txBox="1"/>
          <p:nvPr/>
        </p:nvSpPr>
        <p:spPr>
          <a:xfrm>
            <a:off x="5287975" y="6373368"/>
            <a:ext cx="5577840" cy="310896"/>
          </a:xfrm>
          <a:prstGeom prst="rect">
            <a:avLst/>
          </a:prstGeom>
          <a:noFill/>
        </p:spPr>
        <p:txBody>
          <a:bodyPr wrap="square" lIns="45720" rIns="45720" tIns="27432" bIns="27432" anchor="ctr">
            <a:spAutoFit/>
          </a:bodyPr>
          <a:lstStyle/>
          <a:p>
            <a:pPr rtl="1" algn="r">
              <a:lnSpc>
                <a:spcPct val="115000"/>
              </a:lnSpc>
              <a:spcBef>
                <a:spcPts val="0"/>
              </a:spcBef>
              <a:spcAft>
                <a:spcPts val="0"/>
              </a:spcAft>
            </a:pPr>
            <a:r>
              <a:rPr sz="1200" b="0" i="0" lang="ar-SA">
                <a:solidFill>
                  <a:srgbClr val="475569"/>
                </a:solidFill>
                <a:latin typeface="Arial"/>
                <a:cs typeface="Arial"/>
              </a:rPr>
              <a:t>الجامعة الافتراضية السورية  |  ماجستير علوم الوب</a:t>
            </a:r>
          </a:p>
        </p:txBody>
      </p:sp>
      <p:sp>
        <p:nvSpPr>
          <p:cNvPr id="17" name="رقم الشريحة"/>
          <p:cNvSpPr txBox="1"/>
          <p:nvPr/>
        </p:nvSpPr>
        <p:spPr>
          <a:xfrm>
            <a:off x="548640" y="6373368"/>
            <a:ext cx="914400" cy="310896"/>
          </a:xfrm>
          <a:prstGeom prst="rect">
            <a:avLst/>
          </a:prstGeom>
          <a:noFill/>
        </p:spPr>
        <p:txBody>
          <a:bodyPr wrap="none">
            <a:spAutoFit/>
          </a:bodyPr>
          <a:lstStyle/>
          <a:p>
            <a:pPr rtl="1" algn="l"/>
            <a:fld id="{B6F15528-21DE-4FAA-801E-634DDDAF4B2B}" type="slidenum">
              <a:rPr lang="en-US" sz="1200">
                <a:solidFill>
                  <a:srgbClr val="475569"/>
                </a:solidFill>
                <a:latin typeface="Arial"/>
              </a:rPr>
              <a:t>‹#›</a:t>
            </a:fld>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نظام توصية للتعليم الإلكتروني القائم على تحليل سلوك المستخدم</dc:title>
  <dc:subject>ماجستير علوم الوب — الجامعة الافتراضية السورية</dc:subject>
  <dc:creator>كنان محمد قرحالي</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dc:language>ar-SA</dc:language>
</cp:coreProperties>
</file>