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NDCG@10</c:v>
                </c:pt>
              </c:strCache>
            </c:strRef>
          </c:tx>
          <c:spPr>
            <a:solidFill>
              <a:srgbClr val="0F766E"/>
            </a:solidFill>
          </c:spPr>
          <c:dPt>
            <c:idx val="0"/>
            <c:spPr>
              <a:solidFill>
                <a:srgbClr val="B45309"/>
              </a:solidFill>
            </c:spPr>
          </c:dPt>
          <c:cat>
            <c:strRef>
              <c:f>Sheet1!$A$2:$A$11</c:f>
              <c:strCache>
                <c:ptCount val="10"/>
                <c:pt idx="0">
                  <c:v>B3 RecentPop</c:v>
                </c:pt>
                <c:pt idx="1">
                  <c:v>B5 SKNN</c:v>
                </c:pt>
                <c:pt idx="2">
                  <c:v>GRU lite</c:v>
                </c:pt>
                <c:pt idx="3">
                  <c:v>B6 Markov</c:v>
                </c:pt>
                <c:pt idx="4">
                  <c:v>B4 ItemKNN</c:v>
                </c:pt>
                <c:pt idx="5">
                  <c:v>B7 WRMF</c:v>
                </c:pt>
                <c:pt idx="6">
                  <c:v>B10 EASE</c:v>
                </c:pt>
                <c:pt idx="7">
                  <c:v>B2 Pop</c:v>
                </c:pt>
                <c:pt idx="8">
                  <c:v>B9 CBF</c:v>
                </c:pt>
                <c:pt idx="9">
                  <c:v>B1 Random</c:v>
                </c:pt>
              </c:strCache>
            </c:strRef>
          </c:cat>
          <c:val>
            <c:numRef>
              <c:f>Sheet1!$B$2:$B$11</c:f>
              <c:numCache>
                <c:formatCode>General</c:formatCode>
                <c:ptCount val="10"/>
                <c:pt idx="0">
                  <c:v>0.541</c:v>
                </c:pt>
                <c:pt idx="1">
                  <c:v>0.531</c:v>
                </c:pt>
                <c:pt idx="2">
                  <c:v>0.519</c:v>
                </c:pt>
                <c:pt idx="3">
                  <c:v>0.393</c:v>
                </c:pt>
                <c:pt idx="4">
                  <c:v>0.314</c:v>
                </c:pt>
                <c:pt idx="5">
                  <c:v>0.248</c:v>
                </c:pt>
                <c:pt idx="6">
                  <c:v>0.187</c:v>
                </c:pt>
                <c:pt idx="7">
                  <c:v>0.141</c:v>
                </c:pt>
                <c:pt idx="8">
                  <c:v>0.138</c:v>
                </c:pt>
                <c:pt idx="9">
                  <c:v>0.052</c:v>
                </c:pt>
              </c:numCache>
            </c:numRef>
          </c:val>
        </c:ser>
        <c:dLbls>
          <c:numFmt formatCode="0.000" sourceLinked="0"/>
          <c:txPr>
            <a:bodyPr/>
            <a:lstStyle/>
            <a:p>
              <a:pPr>
                <a:defRPr sz="1300" b="1">
                  <a:solidFill>
                    <a:srgbClr val="134E4A"/>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BD5E1"/>
            </a:solidFill>
          </a:ln>
        </c:spPr>
        <c:txPr>
          <a:bodyPr/>
          <a:lstStyle/>
          <a:p>
            <a:pPr>
              <a:defRPr sz="1300"/>
            </a:pPr>
          </a:p>
        </c:txPr>
        <c:crossAx val="-2113994440"/>
        <c:crosses val="autoZero"/>
        <c:auto val="1"/>
        <c:lblAlgn val="ctr"/>
        <c:lblOffset val="100"/>
        <c:noMultiLvlLbl val="0"/>
      </c:catAx>
      <c:valAx>
        <c:axId val="-2113994440"/>
        <c:scaling>
          <c:max val="0.6383800000000001"/>
          <c:min val="0.0"/>
        </c:scaling>
        <c:delete/>
        <c:axPos val="b"/>
        <c:majorTickMark val="out"/>
        <c:minorTickMark val="none"/>
        <c:tickLblPos val="nextTo"/>
        <c:crossAx val="-2068027336"/>
        <c:crosses val="autoZero"/>
      </c:valAx>
    </c:plotArea>
    <c:dispBlanksAs val="gap"/>
  </c:chart>
  <c:txPr>
    <a:bodyPr/>
    <a:lstStyle/>
    <a:p>
      <a:pPr>
        <a:defRPr sz="1300">
          <a:solidFill>
            <a:srgbClr val="134E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مرحباً بالسادة أعضاء اللجنة. أقدّم خلاصة رسالتي: نظام توصية للتعليم الإلكتروني يعتمد على تحليل سلوك المتعلم، وأسأل فيه سؤالاً محدداً: ماذا يضيف تحليل السلوك فوق ما يمليه الجدول الدراسي؟ المدة المتوقعة نحو 18 دقيقة، ثم الأسئلة.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ثمانية محاور: أبدأ بالمشكلة، ثم الأدبيات والفجوة، ثم البيانات وتمثيل السلوك، ثم الخوارزميات وبروتوكول التقييم، ثم النظام، ثم النتائج والمناقشة، وأختم بالقيود والخاتمة.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في الجامعة الافتراضية السورية يرى المدرّس من سلوك طلابه ما تسجّله المنصة فقط. الاعتراض المنهجي أن معظم الوصول يقوده الجدول الدراسي نفسه، فالسؤال: هل يضيف التخصيص القائم على السلوك شيئاً فوق الشعبية الآنية؟ وتقبل الصياغة صراحةً أن يكون الجواب سلبياً، وتُبلَّغ النتيجة السلبية كما هي.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الهدف العام قياس ما يضيفه تحليل السلوك. أربعة أسئلة، لكل منها فرضية مسجّلة مسبقاً: H1 للشخصنة، H2-أ لترجيح الإشارات، H3 لـ GRU-lite (ثنائية الاتجاه)، H4-أ للتنبؤ بالخطر عند اليوم 56. H4-ب استكشافية، وH2-ب غير منطبقة بالبناء لأن أي مكوّن في الهجين المجمَّد لا يقرأ الإشارة الموزونة.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ثمانية وثلاثون مرجعاً حُلّلت بقالب موحّد. ثلاثة استنتاجات: خطوط الأساس البسيطة منافسة (المرجع 31 والمرجع 20)؛ ترجيح الإشارات مقترح في أعمال كالمرجعين 26 و34 لكن دون استئصال مضبوط؛ والأرقام تتبع البروتوكول (المرجع 47). الفجوة محدودة بالمراجع المحللة، ودرجة الثقة بها متوسطة. والمساهمة تجريبية ومنهجية لا خوارزمية جديدة.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OULAD مجموعة مفتوحة من الجامعة المفتوحة البريطانية بترخيص CC BY 4.0، وكانت الوحيدة التي اجتازت بوابتي التحميل والترخيص وخدمت أهداف الخطة كلها. الأرقام المعروضة من التحليل الاستكشافي على عروض 2013 التسعة حصراً (results/dev2013/eda.md): الكتالوج صغير، والاستعمال متركّز (جيني بين 0.44 و0.79)، وأكثر من نصف أزواج الوصول في نوافذ الاختبار إعادات (متوسط 55.9% إلى 59.2% بحسب نقطة القطع). لذلك عُرّف الهدف الأساسي بالموارد الجديدة، واستُبعدت الأنواع التنقلية.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دقة السجلات يوم واحد، فلا ترتيب داخل اليوم، ولذلك نتحدث عن تسلسل سلال لا جلسات تصفح. الإشارة الموزونة تجمع على أيام الوصول اضمحلالاً أسّياً للحداثة بثابت τ وشدة نقرات مطبَّعة بوسيط نوع النشاط ومضغوطة باللوغاريتم بمعامل β. المستويات الأربعة متداخلة، فيصبح الاستئصال نظيفاً: النموذج نفسه والبروتوكول نفسه ولا يختلف إلا تمثيل الإشارة.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عشرة خطوط أساس تمثّل عائلات الأدبيات، تُضبط جميعها بميزانية متساوية (حتى 20 إعداداً) على نافذة تحقق. الهجين يدمج رتب المكوّنات لا درجاتها لأن مقاييسها غير قابلة للمقارنة، ويُقبل المكوّن بقاعدة مكتوبة سلفاً، وتُضاف أرضية للشخصنة كي يسأل H1 دائماً عن قيمة الشخصنة. GRU-lite يُقارَن بأقوى بديل غير عصبوني بعد ضبطه بإنصاف، وقد اجتاز فحص التدرج وبقية البوابات. تركيبة التطوير المجمَّدة: شعبية العنقود مع SKNN، ودخل SKNN بالأرضية لا بالقبول (تطوير — وصفي).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ثلاث نقاط قطع عامة (اليوم 70 و126 و182)، والاختبار الأربعة عشر يوماً التالية، والتحقق الأربعة عشر يوماً التي تسبق القطع. التقييم على الكتالوج كاملاً لأن السوالب المعيَّنة قد تقلب ترتيب النماذج. التطوير على عروض 2013 التسعة، ثم تجميد التصميم وتشغيل تأكيدي واحد على عروض 2014 الثلاثة عشر. وحدة التحليل العرض، وفاصل bootstrap-t العنقودي، وقيمة p بقلب الإشارات الدقيق، وتصحيح هولم على أربع فرضيات رئيسية، وعتبة الأثر 0.02 نهائية لا تُراجع.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المسار: تجميد ثم تشغيل واحد. لا يُوسم freeze-03 إلا باجتياز الشروط العشرة في results/frozen/freeze_checklist.md (الحالة الحية تُقرأ من الملف لا من الشريحة). بعد الوسم يُشغَّل المسار التأكيدي مرة واحدة على عروض 2014 بطورين: الطور الأول يولّد الأحكام ويُقفل بـ SHA-256، والثاني يبني الأشكال. الاستئناف مأذون بعد تعطل بيئي فقط، بعد التحقق من أن HEAD هو الوسم ومن البصمات المجمَّدة؛ يُسجَّل ولا يُعدّ تشغيلاً ثانياً. وأي خلل برمجي يُصلح بأصغر تعديل بموافقة المشرف كتابةً ثم وسم جديد وإعادة الطور الأول. قراءة معرّفات الطلاب في 2014 مقصورة على حذف المتداخلين من تدريب مصنِّفات الخطر على 2013، ولا تدخل التوصية ولا العنقدة ولا تحليل 2014.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الحد الفاصل الأهم أن serving.Engine هو المكان الوحيد الذي تُحسب فيه التوصية والتفسير والملف، فتعتمد عليه الواجهة والخدمة دون تكرار منطق. الإطار المتصل في المخطط موجود، والمتقطع مخطط حالياً. كل الشيفرة بـ numpy وpandas مع اختبار تحقق لكل تنفيذ.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الواجهة تعمل بنمط إعادة التشغيل على بيانات تاريخية، وتنبّه شارة في أعلاها إلى ذلك. لكل بطاقة درجة الهجين وسبب مبسّط وحصص مساهمة المكوّنات، وزر «لماذا؟» يفتح التفسير. لا تُعرض للمتعلم أي درجة خطر. اللقطة توضيحية ولا يدخل الرسالة رقم منها؛ ولا دراسة مستخدمين لهذه الواجهة.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اللوحة تقدّم للمدرّس صورة مبكرة تبدأ من أول لقطة عناقيد عند اليوم 56، والقطوع المعروضة 56 و112. درجة الخطر نسبية غير معايَرة (من نموذج M1) وللمدرّس فقط، ولا تُعرض كاحتمال ولا كنسبة مئوية. تعرض النظرة العامة بطاقة «اتساع التوصيات» وصفاً بلا اسم مقياس، وقسم «تشخيص التجميع» بمؤشرات داخلية بلا تسميات يفسّر شارة عدم الاستقرار. الدرج يعرض عوامل الدرجة والملامح مقابل الوسيط؛ والمتعلم المعروض في اللقطة متوسط الدرجة. اللقطة توضيحية ولا يدخل الرسالة رقم منها.</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هذه أرقام تطوير على عروض 2013 لتثبيت التصميم، وهي وصفية لا اختبار للفرضيات. الشعبية الآنية (0.541) تتقدّم على معظم النماذج الشخصية، وSKNN (0.531) وGRU-lite (0.519) قريبان منها. الفرق بين SKNN والشعبية الآنية −0.010 وفاصله [−0.057، +0.024]. الهجين المجمَّد 0.561 ± 0.078، والفرق عن الشعبية الآنية +0.020 [−0.007، +0.042] وp = 0.12: لا يُستنتج منه شيء قبل التأكيد. وصفياً أيضاً (جاء أعلى وصفاً): الربع الأقل تاريخاً Δ = +0.052 [+0.022، +0.133] للهجين مقابل SKNN وحده (استكشافي). B10 EASE مرجعي فقط.</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الجدول مولَّد آلياً من results/conf2014/verdicts.csv المقفل. H2-أ: الفرق موجب في 13 من 13 عرضاً (وعرضان منها دون 0.02)، ومؤكَّدة بهامش على المتوسط. H1 غير حاسمة: لا يكشف التصميم بقوة 80% أثراً أصغر من MDE80 المجمَّد. H3 وسمها «مدحوضة للتفوق» (الصف الخامس من جدول الحكم السداسي) وH4-أ مدحوضة عملياً، والشرط واحد: الحد الأعلى دون العتبة 0.02؛ وH4-أ موجبة ودالة إحصائياً لكن حدّها الأعلى دون العتبة. H2-ب غير منطبقة بالبناء. الدلالة تجيب «هل الأثر غير صفري؟» والعتبة تجيب «هل هو بحجم يستحق؟».</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الشكل من deliverables/06-final-thesis/figures/derived/fig1_forest.png (نسخة مشتقة معتمدة بتسميات كاملة؛ لا قص للأصل المقفل). أشكال أخرى متاحة للاستعمال: fig2 الفروق لكل عرض، fig3 استئصال الإشارة، fig4 النماذج، fig5 منحنيات ROC، fig6 H4-ب، fig7 الإنصاف.</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الرسائل الأربع. (أ) الدلالة تجيب هل الأثر غير صفري، والعتبة تجيب هل هو بحجم يستحق. (ب) H1: لم يتفوق الهجين؛ غير حاسمة، فلا دليل على إضافة بهذا الحجم ولا على غيابها؛ لا «تكافؤ» ولا أرقام تطوير في الملخص؛ التفكيك الثانوي في الشريحة الاحتياطية. (ج) H3 هي GRU-lite مقابل SKNN، ولا علاقة لها بالعناقيد؛ العنقود سياق شعبي مكمّل للجيران يظهر في التفكيك وH4-ب. (د) H2-ب غير منطبقة بالبناء.</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حدود الادعاء: الوصول المستقبلي وكيل للملاءمة لا للتعلم، والتعميم داخل المؤسسة نفسها، ولم تُدمج السمات الديموغرافية في أي نموذج. من العمل المستقبلي ما يعالج هذه القيود مباشرة.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الخاتمة: أربع مساهمات تجريبية ومنهجية، لا خوارزمية جديدة. الأحكام: H2-أ مؤكَّدة، وH1 غير حاسمة، وH3 مدحوضة للتفوق، وH4-أ مدحوضة عملياً (دالة على مستوى العروض، لا المقررات). والجواب عن السؤال التطبيقي: ما الذي يضيفه التخصيص فوق مواد الأسبوع الحالي؟ أثر مؤكَّد لترجيح الإشارات داخل WRMF، وفي H1 لم يتفوق الهجين على الشعبية الآنية؛ غير حاسمة: لا يكشف التصميم بقوة 80% أثراً أصغر من 0.0375، ويستبعد الفاصل إضافة تزيد على 0.0204 بوحدة العرض (0.043 على المقررات).</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أشكر اللجنة والمشرف، وأرحّب بالأسئلة. الشرائح الاحتياطية التالية تغطي الأسئلة المتوقعة: لماذا numpy فقط؟ لماذا لا CNN؟ ما الدلالة الإحصائية؟ ما حدود التعميم؟</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للاستعمال عند السؤال عن الثانوي والاستكشافي فقط. الأرقام مولَّدة آلياً من ملفات التأكيد، وكلها موسومة ثانوية أو استكشافية ولا تغيّر الأحكام. H4-ب: الربع الأقل تاريخاً جاء أعلى وصفاً (استكشافي)، ولا تُقرأ تفوقاً مؤكَّداً. أثر M2 يتسق مع أن الملامح الأكاديمية أقوى المنبئات.</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الجواب الموثّق: قرار منهجي مبرَّر بقيد بيئي وبديل معلن. استُبعدت الـCNN لسببين: مرجعها غير قابل للتكرار، وغياب بنية محلية في سلال الأيام. الشبكة العصبونية المتكررة ممثَّلة بـ GRU-lite، وقد اجتازت حزمة صحة قبل أي تقييم.</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القاعدة مسجّلة قبل رؤية نتائج 2014 وتُطبَّق آلياً بالأسبقية. الفواصل على 9 عروض في التطوير وصفية فقط. الفاصل المعيَّر يغطي نحو 95% عند 13 وحدة مقابل نحو 92% للمئيني. أصغر p ممكنة نحو 0.00024. والنماذج العشوائية تُقرَّر بخمس بذور. قيم MDE80 من results/dev2013/mde80.md؛ تُلحق بـ«غير حاسمة» عبارة: لا يكشف التصميم بقوة 80% أثراً أصغر من MDE80.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SA"/>
              <a:t>الحدود معلنة في الفصل الأول (1-5) وتُناقَش في الفصل السادس. القيمة المنهجية للبروتوكول قابلة للنقل حتى لو لم تنتقل الأرقام.</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E4A"/>
        </a:solidFill>
        <a:effectLst/>
      </p:bgPr>
    </p:bg>
    <p:spTree>
      <p:nvGrpSpPr>
        <p:cNvPr id="1" name=""/>
        <p:cNvGrpSpPr/>
        <p:nvPr/>
      </p:nvGrpSpPr>
      <p:grpSpPr/>
      <p:sp>
        <p:nvSpPr>
          <p:cNvPr id="2" name="زخرفة"/>
          <p:cNvSpPr/>
          <p:nvPr/>
        </p:nvSpPr>
        <p:spPr>
          <a:xfrm>
            <a:off x="-2011680" y="3108960"/>
            <a:ext cx="5669280" cy="5669280"/>
          </a:xfrm>
          <a:prstGeom prst="ellipse">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زخرفة"/>
          <p:cNvSpPr/>
          <p:nvPr/>
        </p:nvSpPr>
        <p:spPr>
          <a:xfrm>
            <a:off x="274320" y="-1463040"/>
            <a:ext cx="3291840" cy="32918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زخرفة"/>
          <p:cNvSpPr/>
          <p:nvPr/>
        </p:nvSpPr>
        <p:spPr>
          <a:xfrm>
            <a:off x="-548640" y="5120640"/>
            <a:ext cx="2377440" cy="23774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شعار الجامعة"/>
          <p:cNvSpPr/>
          <p:nvPr/>
        </p:nvSpPr>
        <p:spPr>
          <a:xfrm>
            <a:off x="10774375" y="502920"/>
            <a:ext cx="86868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134E4A"/>
                </a:solidFill>
                <a:latin typeface="Arial"/>
                <a:cs typeface="Arial"/>
              </a:rPr>
              <a:t>SVU</a:t>
            </a:r>
          </a:p>
        </p:txBody>
      </p:sp>
      <p:sp>
        <p:nvSpPr>
          <p:cNvPr id="6" name="اسم الجامعة"/>
          <p:cNvSpPr txBox="1"/>
          <p:nvPr/>
        </p:nvSpPr>
        <p:spPr>
          <a:xfrm>
            <a:off x="5653735" y="502920"/>
            <a:ext cx="5029200" cy="384048"/>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2000" b="1" i="0" lang="ar-SA">
                <a:solidFill>
                  <a:srgbClr val="FFFFFF"/>
                </a:solidFill>
                <a:latin typeface="Arial"/>
                <a:cs typeface="Arial"/>
              </a:rPr>
              <a:t>الجامعة الافتراضية السورية</a:t>
            </a:r>
          </a:p>
        </p:txBody>
      </p:sp>
      <p:sp>
        <p:nvSpPr>
          <p:cNvPr id="7" name="نوع الرسالة"/>
          <p:cNvSpPr/>
          <p:nvPr/>
        </p:nvSpPr>
        <p:spPr>
          <a:xfrm>
            <a:off x="8168335" y="1600200"/>
            <a:ext cx="3474720" cy="41148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رسالة ماجستير في علوم الوب</a:t>
            </a:r>
          </a:p>
        </p:txBody>
      </p:sp>
      <p:sp>
        <p:nvSpPr>
          <p:cNvPr id="8" name="العنوان"/>
          <p:cNvSpPr txBox="1"/>
          <p:nvPr/>
        </p:nvSpPr>
        <p:spPr>
          <a:xfrm>
            <a:off x="3474720" y="2148840"/>
            <a:ext cx="8168335" cy="210312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4000" b="1" i="0" lang="ar-SA">
                <a:solidFill>
                  <a:srgbClr val="FFFFFF"/>
                </a:solidFill>
                <a:latin typeface="Arial"/>
                <a:cs typeface="Arial"/>
              </a:rPr>
              <a:t>نظام توصية للتعليم الإلكتروني القائم على تحليل سلوك المستخدم</a:t>
            </a:r>
          </a:p>
        </p:txBody>
      </p:sp>
      <p:sp>
        <p:nvSpPr>
          <p:cNvPr id="9" name="بيانات الرسالة"/>
          <p:cNvSpPr txBox="1"/>
          <p:nvPr/>
        </p:nvSpPr>
        <p:spPr>
          <a:xfrm>
            <a:off x="3474720" y="4434840"/>
            <a:ext cx="8168335" cy="1463040"/>
          </a:xfrm>
          <a:prstGeom prst="rect">
            <a:avLst/>
          </a:prstGeom>
          <a:noFill/>
        </p:spPr>
        <p:txBody>
          <a:bodyPr wrap="square" lIns="45720" rIns="45720" tIns="27432" bIns="27432" anchor="t">
            <a:spAutoFit/>
          </a:bodyPr>
          <a:lstStyle/>
          <a:p>
            <a:pPr rtl="1" algn="r">
              <a:lnSpc>
                <a:spcPct val="120000"/>
              </a:lnSpc>
              <a:spcBef>
                <a:spcPts val="0"/>
              </a:spcBef>
              <a:spcAft>
                <a:spcPts val="400"/>
              </a:spcAft>
            </a:pPr>
            <a:r>
              <a:rPr sz="2200" b="0" i="0" lang="ar-SA">
                <a:solidFill>
                  <a:srgbClr val="CCFBF1"/>
                </a:solidFill>
                <a:latin typeface="Arial"/>
                <a:cs typeface="Arial"/>
              </a:rPr>
              <a:t>الطالب: كنان محمد قرحالي</a:t>
            </a:r>
          </a:p>
          <a:p>
            <a:pPr rtl="1" algn="r">
              <a:lnSpc>
                <a:spcPct val="120000"/>
              </a:lnSpc>
              <a:spcBef>
                <a:spcPts val="0"/>
              </a:spcBef>
              <a:spcAft>
                <a:spcPts val="400"/>
              </a:spcAft>
            </a:pPr>
            <a:r>
              <a:rPr sz="2200" b="0" i="0" lang="ar-SA">
                <a:solidFill>
                  <a:srgbClr val="CCFBF1"/>
                </a:solidFill>
                <a:latin typeface="Arial"/>
                <a:cs typeface="Arial"/>
              </a:rPr>
              <a:t>إشراف: د. باسل الخطيب</a:t>
            </a:r>
          </a:p>
          <a:p>
            <a:pPr rtl="1" algn="r">
              <a:lnSpc>
                <a:spcPct val="120000"/>
              </a:lnSpc>
              <a:spcBef>
                <a:spcPts val="0"/>
              </a:spcBef>
              <a:spcAft>
                <a:spcPts val="400"/>
              </a:spcAft>
            </a:pPr>
            <a:r>
              <a:rPr sz="2200" b="0" i="0" lang="ar-SA">
                <a:solidFill>
                  <a:srgbClr val="CCFBF1"/>
                </a:solidFill>
                <a:latin typeface="Arial"/>
                <a:cs typeface="Arial"/>
              </a:rPr>
              <a:t>الجامعة الافتراضية السورية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جدول الأعمال</a:t>
            </a:r>
          </a:p>
        </p:txBody>
      </p:sp>
      <p:sp>
        <p:nvSpPr>
          <p:cNvPr id="3" name="بطاقة"/>
          <p:cNvSpPr/>
          <p:nvPr/>
        </p:nvSpPr>
        <p:spPr>
          <a:xfrm>
            <a:off x="9075191" y="1463040"/>
            <a:ext cx="2567863" cy="2103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رقم"/>
          <p:cNvSpPr/>
          <p:nvPr/>
        </p:nvSpPr>
        <p:spPr>
          <a:xfrm>
            <a:off x="10957255" y="164592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1</a:t>
            </a:r>
          </a:p>
        </p:txBody>
      </p:sp>
      <p:sp>
        <p:nvSpPr>
          <p:cNvPr id="5" name="TextBox 4"/>
          <p:cNvSpPr txBox="1"/>
          <p:nvPr/>
        </p:nvSpPr>
        <p:spPr>
          <a:xfrm>
            <a:off x="9212351" y="1572768"/>
            <a:ext cx="1653463"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000" b="1" i="0" lang="ar-SA">
                <a:solidFill>
                  <a:srgbClr val="134E4A"/>
                </a:solidFill>
                <a:latin typeface="Arial"/>
                <a:cs typeface="Arial"/>
              </a:rPr>
              <a:t>المشكلة والهدف</a:t>
            </a:r>
          </a:p>
        </p:txBody>
      </p:sp>
      <p:sp>
        <p:nvSpPr>
          <p:cNvPr id="6" name="TextBox 5"/>
          <p:cNvSpPr txBox="1"/>
          <p:nvPr/>
        </p:nvSpPr>
        <p:spPr>
          <a:xfrm>
            <a:off x="9212351" y="2331720"/>
            <a:ext cx="2293543" cy="1142999"/>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1600" b="0" i="0" lang="ar-SA">
                <a:solidFill>
                  <a:srgbClr val="475569"/>
                </a:solidFill>
                <a:latin typeface="Arial"/>
                <a:cs typeface="Arial"/>
              </a:rPr>
              <a:t>السؤال وأسئلة البحث</a:t>
            </a:r>
          </a:p>
        </p:txBody>
      </p:sp>
      <p:sp>
        <p:nvSpPr>
          <p:cNvPr id="7" name="بطاقة"/>
          <p:cNvSpPr/>
          <p:nvPr/>
        </p:nvSpPr>
        <p:spPr>
          <a:xfrm>
            <a:off x="6233007" y="1463040"/>
            <a:ext cx="2567863" cy="2103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رقم"/>
          <p:cNvSpPr/>
          <p:nvPr/>
        </p:nvSpPr>
        <p:spPr>
          <a:xfrm>
            <a:off x="8115071" y="164592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2</a:t>
            </a:r>
          </a:p>
        </p:txBody>
      </p:sp>
      <p:sp>
        <p:nvSpPr>
          <p:cNvPr id="9" name="TextBox 8"/>
          <p:cNvSpPr txBox="1"/>
          <p:nvPr/>
        </p:nvSpPr>
        <p:spPr>
          <a:xfrm>
            <a:off x="6370167" y="1572768"/>
            <a:ext cx="1653463"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000" b="1" i="0" lang="ar-SA">
                <a:solidFill>
                  <a:srgbClr val="134E4A"/>
                </a:solidFill>
                <a:latin typeface="Arial"/>
                <a:cs typeface="Arial"/>
              </a:rPr>
              <a:t>الأدبيات والفجوة</a:t>
            </a:r>
          </a:p>
        </p:txBody>
      </p:sp>
      <p:sp>
        <p:nvSpPr>
          <p:cNvPr id="10" name="TextBox 9"/>
          <p:cNvSpPr txBox="1"/>
          <p:nvPr/>
        </p:nvSpPr>
        <p:spPr>
          <a:xfrm>
            <a:off x="6370167" y="2331720"/>
            <a:ext cx="2293543" cy="1142999"/>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1600" b="0" i="0" lang="ar-SA">
                <a:solidFill>
                  <a:srgbClr val="475569"/>
                </a:solidFill>
                <a:latin typeface="Arial"/>
                <a:cs typeface="Arial"/>
              </a:rPr>
              <a:t>ما قيل وما لم يُختبر</a:t>
            </a:r>
          </a:p>
        </p:txBody>
      </p:sp>
      <p:sp>
        <p:nvSpPr>
          <p:cNvPr id="11" name="بطاقة"/>
          <p:cNvSpPr/>
          <p:nvPr/>
        </p:nvSpPr>
        <p:spPr>
          <a:xfrm>
            <a:off x="3390823" y="1463040"/>
            <a:ext cx="2567863" cy="2103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رقم"/>
          <p:cNvSpPr/>
          <p:nvPr/>
        </p:nvSpPr>
        <p:spPr>
          <a:xfrm>
            <a:off x="5272887" y="164592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3</a:t>
            </a:r>
          </a:p>
        </p:txBody>
      </p:sp>
      <p:sp>
        <p:nvSpPr>
          <p:cNvPr id="13" name="TextBox 12"/>
          <p:cNvSpPr txBox="1"/>
          <p:nvPr/>
        </p:nvSpPr>
        <p:spPr>
          <a:xfrm>
            <a:off x="3527983" y="1572768"/>
            <a:ext cx="1653463"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000" b="1" i="0" lang="ar-SA">
                <a:solidFill>
                  <a:srgbClr val="134E4A"/>
                </a:solidFill>
                <a:latin typeface="Arial"/>
                <a:cs typeface="Arial"/>
              </a:rPr>
              <a:t>البيانات والسلوك</a:t>
            </a:r>
          </a:p>
        </p:txBody>
      </p:sp>
      <p:sp>
        <p:nvSpPr>
          <p:cNvPr id="14" name="TextBox 13"/>
          <p:cNvSpPr txBox="1"/>
          <p:nvPr/>
        </p:nvSpPr>
        <p:spPr>
          <a:xfrm>
            <a:off x="3527983" y="2331720"/>
            <a:ext cx="2293543" cy="1142999"/>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1600" b="0" i="0" lang="ar-SA">
                <a:solidFill>
                  <a:srgbClr val="475569"/>
                </a:solidFill>
                <a:latin typeface="Arial"/>
                <a:cs typeface="Arial"/>
              </a:rPr>
              <a:t>OULAD والإشارات</a:t>
            </a:r>
          </a:p>
        </p:txBody>
      </p:sp>
      <p:sp>
        <p:nvSpPr>
          <p:cNvPr id="15" name="بطاقة"/>
          <p:cNvSpPr/>
          <p:nvPr/>
        </p:nvSpPr>
        <p:spPr>
          <a:xfrm>
            <a:off x="548640" y="1463040"/>
            <a:ext cx="2567863" cy="2103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رقم"/>
          <p:cNvSpPr/>
          <p:nvPr/>
        </p:nvSpPr>
        <p:spPr>
          <a:xfrm>
            <a:off x="2430703" y="164592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4</a:t>
            </a:r>
          </a:p>
        </p:txBody>
      </p:sp>
      <p:sp>
        <p:nvSpPr>
          <p:cNvPr id="17" name="TextBox 16"/>
          <p:cNvSpPr txBox="1"/>
          <p:nvPr/>
        </p:nvSpPr>
        <p:spPr>
          <a:xfrm>
            <a:off x="685800" y="1572768"/>
            <a:ext cx="1653463"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000" b="1" i="0" lang="ar-SA">
                <a:solidFill>
                  <a:srgbClr val="134E4A"/>
                </a:solidFill>
                <a:latin typeface="Arial"/>
                <a:cs typeface="Arial"/>
              </a:rPr>
              <a:t>الخوارزميات والبروتوكول</a:t>
            </a:r>
          </a:p>
        </p:txBody>
      </p:sp>
      <p:sp>
        <p:nvSpPr>
          <p:cNvPr id="18" name="TextBox 17"/>
          <p:cNvSpPr txBox="1"/>
          <p:nvPr/>
        </p:nvSpPr>
        <p:spPr>
          <a:xfrm>
            <a:off x="685800" y="2331720"/>
            <a:ext cx="2293543" cy="1142999"/>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1600" b="0" i="0" lang="ar-SA">
                <a:solidFill>
                  <a:srgbClr val="475569"/>
                </a:solidFill>
                <a:latin typeface="Arial"/>
                <a:cs typeface="Arial"/>
              </a:rPr>
              <a:t>النماذج وخطة التقييم</a:t>
            </a:r>
          </a:p>
        </p:txBody>
      </p:sp>
      <p:sp>
        <p:nvSpPr>
          <p:cNvPr id="19" name="بطاقة"/>
          <p:cNvSpPr/>
          <p:nvPr/>
        </p:nvSpPr>
        <p:spPr>
          <a:xfrm>
            <a:off x="9075191" y="3840479"/>
            <a:ext cx="2567863" cy="2103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رقم"/>
          <p:cNvSpPr/>
          <p:nvPr/>
        </p:nvSpPr>
        <p:spPr>
          <a:xfrm>
            <a:off x="10957255" y="4023359"/>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5</a:t>
            </a:r>
          </a:p>
        </p:txBody>
      </p:sp>
      <p:sp>
        <p:nvSpPr>
          <p:cNvPr id="21" name="TextBox 20"/>
          <p:cNvSpPr txBox="1"/>
          <p:nvPr/>
        </p:nvSpPr>
        <p:spPr>
          <a:xfrm>
            <a:off x="9212351" y="3950207"/>
            <a:ext cx="1653463"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000" b="1" i="0" lang="ar-SA">
                <a:solidFill>
                  <a:srgbClr val="134E4A"/>
                </a:solidFill>
                <a:latin typeface="Arial"/>
                <a:cs typeface="Arial"/>
              </a:rPr>
              <a:t>النظام والواجهة</a:t>
            </a:r>
          </a:p>
        </p:txBody>
      </p:sp>
      <p:sp>
        <p:nvSpPr>
          <p:cNvPr id="22" name="TextBox 21"/>
          <p:cNvSpPr txBox="1"/>
          <p:nvPr/>
        </p:nvSpPr>
        <p:spPr>
          <a:xfrm>
            <a:off x="9212351" y="4709159"/>
            <a:ext cx="2293543" cy="1142999"/>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1600" b="0" i="0" lang="ar-SA">
                <a:solidFill>
                  <a:srgbClr val="475569"/>
                </a:solidFill>
                <a:latin typeface="Arial"/>
                <a:cs typeface="Arial"/>
              </a:rPr>
              <a:t>المعمارية والمتعلم والمدرّس</a:t>
            </a:r>
          </a:p>
        </p:txBody>
      </p:sp>
      <p:sp>
        <p:nvSpPr>
          <p:cNvPr id="23" name="بطاقة"/>
          <p:cNvSpPr/>
          <p:nvPr/>
        </p:nvSpPr>
        <p:spPr>
          <a:xfrm>
            <a:off x="6233007" y="3840479"/>
            <a:ext cx="2567863" cy="2103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رقم"/>
          <p:cNvSpPr/>
          <p:nvPr/>
        </p:nvSpPr>
        <p:spPr>
          <a:xfrm>
            <a:off x="8115071" y="4023359"/>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6</a:t>
            </a:r>
          </a:p>
        </p:txBody>
      </p:sp>
      <p:sp>
        <p:nvSpPr>
          <p:cNvPr id="25" name="TextBox 24"/>
          <p:cNvSpPr txBox="1"/>
          <p:nvPr/>
        </p:nvSpPr>
        <p:spPr>
          <a:xfrm>
            <a:off x="6370167" y="3950207"/>
            <a:ext cx="1653463"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000" b="1" i="0" lang="ar-SA">
                <a:solidFill>
                  <a:srgbClr val="134E4A"/>
                </a:solidFill>
                <a:latin typeface="Arial"/>
                <a:cs typeface="Arial"/>
              </a:rPr>
              <a:t>النتائج والمناقشة</a:t>
            </a:r>
          </a:p>
        </p:txBody>
      </p:sp>
      <p:sp>
        <p:nvSpPr>
          <p:cNvPr id="26" name="TextBox 25"/>
          <p:cNvSpPr txBox="1"/>
          <p:nvPr/>
        </p:nvSpPr>
        <p:spPr>
          <a:xfrm>
            <a:off x="6370167" y="4709159"/>
            <a:ext cx="2293543" cy="1142999"/>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1600" b="0" i="0" lang="ar-SA">
                <a:solidFill>
                  <a:srgbClr val="475569"/>
                </a:solidFill>
                <a:latin typeface="Arial"/>
                <a:cs typeface="Arial"/>
              </a:rPr>
              <a:t>التطوير ثم التأكيد</a:t>
            </a:r>
          </a:p>
        </p:txBody>
      </p:sp>
      <p:sp>
        <p:nvSpPr>
          <p:cNvPr id="27" name="بطاقة"/>
          <p:cNvSpPr/>
          <p:nvPr/>
        </p:nvSpPr>
        <p:spPr>
          <a:xfrm>
            <a:off x="3390823" y="3840479"/>
            <a:ext cx="2567863" cy="2103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رقم"/>
          <p:cNvSpPr/>
          <p:nvPr/>
        </p:nvSpPr>
        <p:spPr>
          <a:xfrm>
            <a:off x="5272887" y="4023359"/>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7</a:t>
            </a:r>
          </a:p>
        </p:txBody>
      </p:sp>
      <p:sp>
        <p:nvSpPr>
          <p:cNvPr id="29" name="TextBox 28"/>
          <p:cNvSpPr txBox="1"/>
          <p:nvPr/>
        </p:nvSpPr>
        <p:spPr>
          <a:xfrm>
            <a:off x="3527983" y="3950207"/>
            <a:ext cx="1653463"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000" b="1" i="0" lang="ar-SA">
                <a:solidFill>
                  <a:srgbClr val="134E4A"/>
                </a:solidFill>
                <a:latin typeface="Arial"/>
                <a:cs typeface="Arial"/>
              </a:rPr>
              <a:t>القيود والمستقبل</a:t>
            </a:r>
          </a:p>
        </p:txBody>
      </p:sp>
      <p:sp>
        <p:nvSpPr>
          <p:cNvPr id="30" name="TextBox 29"/>
          <p:cNvSpPr txBox="1"/>
          <p:nvPr/>
        </p:nvSpPr>
        <p:spPr>
          <a:xfrm>
            <a:off x="3527983" y="4709159"/>
            <a:ext cx="2293543" cy="1142999"/>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1600" b="0" i="0" lang="ar-SA">
                <a:solidFill>
                  <a:srgbClr val="475569"/>
                </a:solidFill>
                <a:latin typeface="Arial"/>
                <a:cs typeface="Arial"/>
              </a:rPr>
              <a:t>حدود الادعاء</a:t>
            </a:r>
          </a:p>
        </p:txBody>
      </p:sp>
      <p:sp>
        <p:nvSpPr>
          <p:cNvPr id="31" name="بطاقة"/>
          <p:cNvSpPr/>
          <p:nvPr/>
        </p:nvSpPr>
        <p:spPr>
          <a:xfrm>
            <a:off x="548640" y="3840479"/>
            <a:ext cx="2567863" cy="2103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رقم"/>
          <p:cNvSpPr/>
          <p:nvPr/>
        </p:nvSpPr>
        <p:spPr>
          <a:xfrm>
            <a:off x="2430703" y="4023359"/>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8</a:t>
            </a:r>
          </a:p>
        </p:txBody>
      </p:sp>
      <p:sp>
        <p:nvSpPr>
          <p:cNvPr id="33" name="TextBox 32"/>
          <p:cNvSpPr txBox="1"/>
          <p:nvPr/>
        </p:nvSpPr>
        <p:spPr>
          <a:xfrm>
            <a:off x="685800" y="3950207"/>
            <a:ext cx="1653463"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000" b="1" i="0" lang="ar-SA">
                <a:solidFill>
                  <a:srgbClr val="134E4A"/>
                </a:solidFill>
                <a:latin typeface="Arial"/>
                <a:cs typeface="Arial"/>
              </a:rPr>
              <a:t>الخاتمة</a:t>
            </a:r>
          </a:p>
        </p:txBody>
      </p:sp>
      <p:sp>
        <p:nvSpPr>
          <p:cNvPr id="34" name="TextBox 33"/>
          <p:cNvSpPr txBox="1"/>
          <p:nvPr/>
        </p:nvSpPr>
        <p:spPr>
          <a:xfrm>
            <a:off x="685800" y="4709159"/>
            <a:ext cx="2293543" cy="1142999"/>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1600" b="0" i="0" lang="ar-SA">
                <a:solidFill>
                  <a:srgbClr val="475569"/>
                </a:solidFill>
                <a:latin typeface="Arial"/>
                <a:cs typeface="Arial"/>
              </a:rPr>
              <a:t>المساهمات والأسئلة</a:t>
            </a:r>
          </a:p>
        </p:txBody>
      </p:sp>
      <p:sp>
        <p:nvSpPr>
          <p:cNvPr id="35"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36"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37"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المشكلة: ماذا يضيف تحليل السلوك؟</a:t>
            </a:r>
          </a:p>
        </p:txBody>
      </p:sp>
      <p:sp>
        <p:nvSpPr>
          <p:cNvPr id="3" name="صف"/>
          <p:cNvSpPr/>
          <p:nvPr/>
        </p:nvSpPr>
        <p:spPr>
          <a:xfrm>
            <a:off x="548640" y="1463040"/>
            <a:ext cx="11094415" cy="993648"/>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رقم"/>
          <p:cNvSpPr/>
          <p:nvPr/>
        </p:nvSpPr>
        <p:spPr>
          <a:xfrm>
            <a:off x="10957255" y="1708404"/>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1</a:t>
            </a:r>
          </a:p>
        </p:txBody>
      </p:sp>
      <p:sp>
        <p:nvSpPr>
          <p:cNvPr id="5" name="TextBox 4"/>
          <p:cNvSpPr txBox="1"/>
          <p:nvPr/>
        </p:nvSpPr>
        <p:spPr>
          <a:xfrm>
            <a:off x="777240" y="1463040"/>
            <a:ext cx="9905695" cy="993648"/>
          </a:xfrm>
          <a:prstGeom prst="rect">
            <a:avLst/>
          </a:prstGeom>
          <a:noFill/>
        </p:spPr>
        <p:txBody>
          <a:bodyPr wrap="square" lIns="45720" rIns="45720" tIns="27432" bIns="27432" anchor="ctr">
            <a:spAutoFit/>
          </a:bodyPr>
          <a:lstStyle/>
          <a:p>
            <a:pPr rtl="1" algn="r">
              <a:lnSpc>
                <a:spcPct val="110000"/>
              </a:lnSpc>
              <a:spcBef>
                <a:spcPts val="0"/>
              </a:spcBef>
              <a:spcAft>
                <a:spcPts val="0"/>
              </a:spcAft>
            </a:pPr>
            <a:r>
              <a:rPr sz="2400" b="0" i="0" lang="ar-SA">
                <a:solidFill>
                  <a:srgbClr val="134E4A"/>
                </a:solidFill>
                <a:latin typeface="Arial"/>
                <a:cs typeface="Arial"/>
              </a:rPr>
              <a:t>المتعلم عن بُعد أمام مئات الموارد، وبلا توجيه فوري من المدرّس</a:t>
            </a:r>
          </a:p>
        </p:txBody>
      </p:sp>
      <p:sp>
        <p:nvSpPr>
          <p:cNvPr id="6" name="صف"/>
          <p:cNvSpPr/>
          <p:nvPr/>
        </p:nvSpPr>
        <p:spPr>
          <a:xfrm>
            <a:off x="548640" y="2657856"/>
            <a:ext cx="11094415" cy="993648"/>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رقم"/>
          <p:cNvSpPr/>
          <p:nvPr/>
        </p:nvSpPr>
        <p:spPr>
          <a:xfrm>
            <a:off x="10957255" y="290322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2</a:t>
            </a:r>
          </a:p>
        </p:txBody>
      </p:sp>
      <p:sp>
        <p:nvSpPr>
          <p:cNvPr id="8" name="TextBox 7"/>
          <p:cNvSpPr txBox="1"/>
          <p:nvPr/>
        </p:nvSpPr>
        <p:spPr>
          <a:xfrm>
            <a:off x="777240" y="2657856"/>
            <a:ext cx="9905695" cy="993648"/>
          </a:xfrm>
          <a:prstGeom prst="rect">
            <a:avLst/>
          </a:prstGeom>
          <a:noFill/>
        </p:spPr>
        <p:txBody>
          <a:bodyPr wrap="square" lIns="45720" rIns="45720" tIns="27432" bIns="27432" anchor="ctr">
            <a:spAutoFit/>
          </a:bodyPr>
          <a:lstStyle/>
          <a:p>
            <a:pPr rtl="1" algn="r">
              <a:lnSpc>
                <a:spcPct val="110000"/>
              </a:lnSpc>
              <a:spcBef>
                <a:spcPts val="0"/>
              </a:spcBef>
              <a:spcAft>
                <a:spcPts val="0"/>
              </a:spcAft>
            </a:pPr>
            <a:r>
              <a:rPr sz="2400" b="0" i="0" lang="ar-SA">
                <a:solidFill>
                  <a:srgbClr val="134E4A"/>
                </a:solidFill>
                <a:latin typeface="Arial"/>
                <a:cs typeface="Arial"/>
              </a:rPr>
              <a:t>المنصة تسجّل كل نقرة: الموارد والأيام والتسليمات</a:t>
            </a:r>
          </a:p>
        </p:txBody>
      </p:sp>
      <p:sp>
        <p:nvSpPr>
          <p:cNvPr id="9" name="صف"/>
          <p:cNvSpPr/>
          <p:nvPr/>
        </p:nvSpPr>
        <p:spPr>
          <a:xfrm>
            <a:off x="548640" y="3852672"/>
            <a:ext cx="11094415" cy="993648"/>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رقم"/>
          <p:cNvSpPr/>
          <p:nvPr/>
        </p:nvSpPr>
        <p:spPr>
          <a:xfrm>
            <a:off x="10957255" y="4098036"/>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3</a:t>
            </a:r>
          </a:p>
        </p:txBody>
      </p:sp>
      <p:sp>
        <p:nvSpPr>
          <p:cNvPr id="11" name="TextBox 10"/>
          <p:cNvSpPr txBox="1"/>
          <p:nvPr/>
        </p:nvSpPr>
        <p:spPr>
          <a:xfrm>
            <a:off x="777240" y="3852672"/>
            <a:ext cx="9905695" cy="993648"/>
          </a:xfrm>
          <a:prstGeom prst="rect">
            <a:avLst/>
          </a:prstGeom>
          <a:noFill/>
        </p:spPr>
        <p:txBody>
          <a:bodyPr wrap="square" lIns="45720" rIns="45720" tIns="27432" bIns="27432" anchor="ctr">
            <a:spAutoFit/>
          </a:bodyPr>
          <a:lstStyle/>
          <a:p>
            <a:pPr rtl="1" algn="r">
              <a:lnSpc>
                <a:spcPct val="110000"/>
              </a:lnSpc>
              <a:spcBef>
                <a:spcPts val="0"/>
              </a:spcBef>
              <a:spcAft>
                <a:spcPts val="0"/>
              </a:spcAft>
            </a:pPr>
            <a:r>
              <a:rPr sz="2400" b="0" i="0" lang="ar-SA">
                <a:solidFill>
                  <a:srgbClr val="134E4A"/>
                </a:solidFill>
                <a:latin typeface="Arial"/>
                <a:cs typeface="Arial"/>
              </a:rPr>
              <a:t>الجدول الدراسي والشعبية والإعادات تقود معظم الوصول</a:t>
            </a:r>
          </a:p>
        </p:txBody>
      </p:sp>
      <p:sp>
        <p:nvSpPr>
          <p:cNvPr id="12" name="خلاصة"/>
          <p:cNvSpPr/>
          <p:nvPr/>
        </p:nvSpPr>
        <p:spPr>
          <a:xfrm>
            <a:off x="548640" y="5074920"/>
            <a:ext cx="11094415" cy="1051560"/>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 bIns="18288"/>
          <a:lstStyle/>
          <a:p>
            <a:pPr algn="r" rtl="1"/>
            <a:r>
              <a:rPr sz="2200" b="1" i="0" lang="ar-SA">
                <a:solidFill>
                  <a:srgbClr val="FFFFFF"/>
                </a:solidFill>
                <a:latin typeface="Arial"/>
                <a:cs typeface="Arial"/>
              </a:rPr>
              <a:t>هل يقترح نظام قائم على السلوك موارد جديدة بأفضل مما تقترحه الشعبية الآنية؟</a:t>
            </a:r>
          </a:p>
        </p:txBody>
      </p:sp>
      <p:sp>
        <p:nvSpPr>
          <p:cNvPr id="13"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4"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5"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الهدف وأسئلة البحث الأربعة</a:t>
            </a:r>
          </a:p>
        </p:txBody>
      </p:sp>
      <p:sp>
        <p:nvSpPr>
          <p:cNvPr id="3" name="TextBox 2"/>
          <p:cNvSpPr txBox="1"/>
          <p:nvPr/>
        </p:nvSpPr>
        <p:spPr>
          <a:xfrm>
            <a:off x="548640" y="1417320"/>
            <a:ext cx="11094415" cy="45720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2000" b="1" i="0" lang="ar-SA">
                <a:solidFill>
                  <a:srgbClr val="475569"/>
                </a:solidFill>
                <a:latin typeface="Arial"/>
                <a:cs typeface="Arial"/>
              </a:rPr>
              <a:t>الهدف: قياس ما يضيفه تحليل السلوك للتوصية ضمن بروتوكول زمني صارم</a:t>
            </a:r>
          </a:p>
        </p:txBody>
      </p:sp>
      <p:sp>
        <p:nvSpPr>
          <p:cNvPr id="4" name="بطاقة"/>
          <p:cNvSpPr/>
          <p:nvPr/>
        </p:nvSpPr>
        <p:spPr>
          <a:xfrm>
            <a:off x="6233007" y="2011680"/>
            <a:ext cx="5410047" cy="19431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رقم"/>
          <p:cNvSpPr/>
          <p:nvPr/>
        </p:nvSpPr>
        <p:spPr>
          <a:xfrm>
            <a:off x="10682935" y="2194560"/>
            <a:ext cx="77724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RQ1</a:t>
            </a:r>
          </a:p>
        </p:txBody>
      </p:sp>
      <p:sp>
        <p:nvSpPr>
          <p:cNvPr id="6" name="TextBox 5"/>
          <p:cNvSpPr txBox="1"/>
          <p:nvPr/>
        </p:nvSpPr>
        <p:spPr>
          <a:xfrm>
            <a:off x="6370167" y="2121408"/>
            <a:ext cx="422132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الشخصنة فوق السياق الزمني</a:t>
            </a:r>
          </a:p>
        </p:txBody>
      </p:sp>
      <p:sp>
        <p:nvSpPr>
          <p:cNvPr id="7" name="TextBox 6"/>
          <p:cNvSpPr txBox="1"/>
          <p:nvPr/>
        </p:nvSpPr>
        <p:spPr>
          <a:xfrm>
            <a:off x="6370167" y="2880360"/>
            <a:ext cx="5135727" cy="9829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هل يتفوق الهجين السلوكي على الشعبية الآنية في اكتشاف الموارد الجديدة؟</a:t>
            </a:r>
          </a:p>
        </p:txBody>
      </p:sp>
      <p:sp>
        <p:nvSpPr>
          <p:cNvPr id="8" name="بطاقة"/>
          <p:cNvSpPr/>
          <p:nvPr/>
        </p:nvSpPr>
        <p:spPr>
          <a:xfrm>
            <a:off x="548640" y="2011680"/>
            <a:ext cx="5410047" cy="19431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رقم"/>
          <p:cNvSpPr/>
          <p:nvPr/>
        </p:nvSpPr>
        <p:spPr>
          <a:xfrm>
            <a:off x="4998567" y="2194560"/>
            <a:ext cx="77724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RQ2</a:t>
            </a:r>
          </a:p>
        </p:txBody>
      </p:sp>
      <p:sp>
        <p:nvSpPr>
          <p:cNvPr id="10" name="TextBox 9"/>
          <p:cNvSpPr txBox="1"/>
          <p:nvPr/>
        </p:nvSpPr>
        <p:spPr>
          <a:xfrm>
            <a:off x="685800" y="2121408"/>
            <a:ext cx="422132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قيمة ترجيح الإشارات</a:t>
            </a:r>
          </a:p>
        </p:txBody>
      </p:sp>
      <p:sp>
        <p:nvSpPr>
          <p:cNvPr id="11" name="TextBox 10"/>
          <p:cNvSpPr txBox="1"/>
          <p:nvPr/>
        </p:nvSpPr>
        <p:spPr>
          <a:xfrm>
            <a:off x="685800" y="2880360"/>
            <a:ext cx="5135727" cy="9829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هل يحسّن ترجيح الأيام والحداثة والشدة الأداء مقارنة بالإشارة الثنائية؟</a:t>
            </a:r>
          </a:p>
        </p:txBody>
      </p:sp>
      <p:sp>
        <p:nvSpPr>
          <p:cNvPr id="12" name="بطاقة"/>
          <p:cNvSpPr/>
          <p:nvPr/>
        </p:nvSpPr>
        <p:spPr>
          <a:xfrm>
            <a:off x="6233007" y="4229100"/>
            <a:ext cx="5410047" cy="19431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رقم"/>
          <p:cNvSpPr/>
          <p:nvPr/>
        </p:nvSpPr>
        <p:spPr>
          <a:xfrm>
            <a:off x="10682935" y="4411980"/>
            <a:ext cx="77724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RQ3</a:t>
            </a:r>
          </a:p>
        </p:txBody>
      </p:sp>
      <p:sp>
        <p:nvSpPr>
          <p:cNvPr id="14" name="TextBox 13"/>
          <p:cNvSpPr txBox="1"/>
          <p:nvPr/>
        </p:nvSpPr>
        <p:spPr>
          <a:xfrm>
            <a:off x="6370167" y="4338828"/>
            <a:ext cx="422132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التسلسل العصبوني</a:t>
            </a:r>
          </a:p>
        </p:txBody>
      </p:sp>
      <p:sp>
        <p:nvSpPr>
          <p:cNvPr id="15" name="TextBox 14"/>
          <p:cNvSpPr txBox="1"/>
          <p:nvPr/>
        </p:nvSpPr>
        <p:spPr>
          <a:xfrm>
            <a:off x="6370167" y="5097780"/>
            <a:ext cx="5135727" cy="9829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هل يتفوق GRU-lite على أفضل بديل تسلسلي غير عصبوني؟</a:t>
            </a:r>
          </a:p>
        </p:txBody>
      </p:sp>
      <p:sp>
        <p:nvSpPr>
          <p:cNvPr id="16" name="بطاقة"/>
          <p:cNvSpPr/>
          <p:nvPr/>
        </p:nvSpPr>
        <p:spPr>
          <a:xfrm>
            <a:off x="548640" y="4229100"/>
            <a:ext cx="5410047" cy="19431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رقم"/>
          <p:cNvSpPr/>
          <p:nvPr/>
        </p:nvSpPr>
        <p:spPr>
          <a:xfrm>
            <a:off x="4998567" y="4411980"/>
            <a:ext cx="77724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RQ4</a:t>
            </a:r>
          </a:p>
        </p:txBody>
      </p:sp>
      <p:sp>
        <p:nvSpPr>
          <p:cNvPr id="18" name="TextBox 17"/>
          <p:cNvSpPr txBox="1"/>
          <p:nvPr/>
        </p:nvSpPr>
        <p:spPr>
          <a:xfrm>
            <a:off x="685800" y="4338828"/>
            <a:ext cx="422132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تحليل المتعلمين</a:t>
            </a:r>
          </a:p>
        </p:txBody>
      </p:sp>
      <p:sp>
        <p:nvSpPr>
          <p:cNvPr id="19" name="TextBox 18"/>
          <p:cNvSpPr txBox="1"/>
          <p:nvPr/>
        </p:nvSpPr>
        <p:spPr>
          <a:xfrm>
            <a:off x="685800" y="5097780"/>
            <a:ext cx="5135727" cy="9829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هل تتنبأ ملامح السلوك المبكرة بالخطر أفضل من مجموع النقرات؟</a:t>
            </a:r>
          </a:p>
        </p:txBody>
      </p:sp>
      <p:sp>
        <p:nvSpPr>
          <p:cNvPr id="20"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21"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22"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ماذا تقول الأدبيات؟ وأين الفجوة؟</a:t>
            </a:r>
          </a:p>
        </p:txBody>
      </p:sp>
      <p:sp>
        <p:nvSpPr>
          <p:cNvPr id="3" name="بطاقة"/>
          <p:cNvSpPr/>
          <p:nvPr/>
        </p:nvSpPr>
        <p:spPr>
          <a:xfrm>
            <a:off x="8127796" y="1463040"/>
            <a:ext cx="3515258" cy="27432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رقم"/>
          <p:cNvSpPr/>
          <p:nvPr/>
        </p:nvSpPr>
        <p:spPr>
          <a:xfrm>
            <a:off x="10957255" y="164592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1</a:t>
            </a:r>
          </a:p>
        </p:txBody>
      </p:sp>
      <p:sp>
        <p:nvSpPr>
          <p:cNvPr id="5" name="TextBox 4"/>
          <p:cNvSpPr txBox="1"/>
          <p:nvPr/>
        </p:nvSpPr>
        <p:spPr>
          <a:xfrm>
            <a:off x="8264956" y="1572768"/>
            <a:ext cx="2600858"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البساطة تنافس</a:t>
            </a:r>
          </a:p>
        </p:txBody>
      </p:sp>
      <p:sp>
        <p:nvSpPr>
          <p:cNvPr id="6" name="TextBox 5"/>
          <p:cNvSpPr txBox="1"/>
          <p:nvPr/>
        </p:nvSpPr>
        <p:spPr>
          <a:xfrm>
            <a:off x="8264956" y="2331720"/>
            <a:ext cx="3240938" cy="17830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الخطوط غير الشخصية قوية، والتعقيد لا يضمن التحسن</a:t>
            </a:r>
          </a:p>
        </p:txBody>
      </p:sp>
      <p:sp>
        <p:nvSpPr>
          <p:cNvPr id="7" name="بطاقة"/>
          <p:cNvSpPr/>
          <p:nvPr/>
        </p:nvSpPr>
        <p:spPr>
          <a:xfrm>
            <a:off x="4338218" y="1463040"/>
            <a:ext cx="3515258" cy="27432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رقم"/>
          <p:cNvSpPr/>
          <p:nvPr/>
        </p:nvSpPr>
        <p:spPr>
          <a:xfrm>
            <a:off x="7167676" y="164592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2</a:t>
            </a:r>
          </a:p>
        </p:txBody>
      </p:sp>
      <p:sp>
        <p:nvSpPr>
          <p:cNvPr id="9" name="TextBox 8"/>
          <p:cNvSpPr txBox="1"/>
          <p:nvPr/>
        </p:nvSpPr>
        <p:spPr>
          <a:xfrm>
            <a:off x="4475378" y="1572768"/>
            <a:ext cx="2600858"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الترجيح لم يُختبر</a:t>
            </a:r>
          </a:p>
        </p:txBody>
      </p:sp>
      <p:sp>
        <p:nvSpPr>
          <p:cNvPr id="10" name="TextBox 9"/>
          <p:cNvSpPr txBox="1"/>
          <p:nvPr/>
        </p:nvSpPr>
        <p:spPr>
          <a:xfrm>
            <a:off x="4475378" y="2331720"/>
            <a:ext cx="3240938" cy="17830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ترجيح الإشارات الضمنية مقترح دون استئصال مضبوط</a:t>
            </a:r>
          </a:p>
        </p:txBody>
      </p:sp>
      <p:sp>
        <p:nvSpPr>
          <p:cNvPr id="11" name="بطاقة"/>
          <p:cNvSpPr/>
          <p:nvPr/>
        </p:nvSpPr>
        <p:spPr>
          <a:xfrm>
            <a:off x="548639" y="1463040"/>
            <a:ext cx="3515258" cy="27432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رقم"/>
          <p:cNvSpPr/>
          <p:nvPr/>
        </p:nvSpPr>
        <p:spPr>
          <a:xfrm>
            <a:off x="3378098" y="164592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3</a:t>
            </a:r>
          </a:p>
        </p:txBody>
      </p:sp>
      <p:sp>
        <p:nvSpPr>
          <p:cNvPr id="13" name="TextBox 12"/>
          <p:cNvSpPr txBox="1"/>
          <p:nvPr/>
        </p:nvSpPr>
        <p:spPr>
          <a:xfrm>
            <a:off x="685799" y="1572768"/>
            <a:ext cx="2600858"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الأرقام تتبع البروتوكول</a:t>
            </a:r>
          </a:p>
        </p:txBody>
      </p:sp>
      <p:sp>
        <p:nvSpPr>
          <p:cNvPr id="14" name="TextBox 13"/>
          <p:cNvSpPr txBox="1"/>
          <p:nvPr/>
        </p:nvSpPr>
        <p:spPr>
          <a:xfrm>
            <a:off x="685799" y="2331720"/>
            <a:ext cx="3240938" cy="17830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التقسيم العشوائي والسوالب المعيَّنة تضخّم المقاييس</a:t>
            </a:r>
          </a:p>
        </p:txBody>
      </p:sp>
      <p:sp>
        <p:nvSpPr>
          <p:cNvPr id="15" name="خلاصة"/>
          <p:cNvSpPr/>
          <p:nvPr/>
        </p:nvSpPr>
        <p:spPr>
          <a:xfrm>
            <a:off x="548640" y="4572000"/>
            <a:ext cx="11094415" cy="1005840"/>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 bIns="18288"/>
          <a:lstStyle/>
          <a:p>
            <a:pPr algn="r" rtl="1"/>
            <a:r>
              <a:rPr sz="2200" b="1" i="0" lang="ar-SA">
                <a:solidFill>
                  <a:srgbClr val="FFFFFF"/>
                </a:solidFill>
                <a:latin typeface="Arial"/>
                <a:cs typeface="Arial"/>
              </a:rPr>
              <a:t>الفجوة: لا اختبار استئصالياً مضبوطاً لترجيح الإشارات السلوكية على سجلات تعليمية عامة، بتقسيم زمني وكتالوج كامل</a:t>
            </a:r>
          </a:p>
        </p:txBody>
      </p:sp>
      <p:sp>
        <p:nvSpPr>
          <p:cNvPr id="16"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7"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8"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البيانات: OULAD، والاستعمال متركّز</a:t>
            </a:r>
          </a:p>
        </p:txBody>
      </p:sp>
      <p:sp>
        <p:nvSpPr>
          <p:cNvPr id="3" name="بطاقة رقم"/>
          <p:cNvSpPr/>
          <p:nvPr/>
        </p:nvSpPr>
        <p:spPr>
          <a:xfrm>
            <a:off x="8127796" y="1463040"/>
            <a:ext cx="3515258" cy="1897379"/>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رقم كبير"/>
          <p:cNvSpPr txBox="1"/>
          <p:nvPr/>
        </p:nvSpPr>
        <p:spPr>
          <a:xfrm>
            <a:off x="8219236" y="1627632"/>
            <a:ext cx="3332378" cy="85382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4000" b="1" i="0" lang="ar-SA">
                <a:solidFill>
                  <a:srgbClr val="0F766E"/>
                </a:solidFill>
                <a:latin typeface="Arial"/>
                <a:cs typeface="Arial"/>
              </a:rPr>
              <a:t>‎13,529‎</a:t>
            </a:r>
          </a:p>
        </p:txBody>
      </p:sp>
      <p:sp>
        <p:nvSpPr>
          <p:cNvPr id="5" name="TextBox 4"/>
          <p:cNvSpPr txBox="1"/>
          <p:nvPr/>
        </p:nvSpPr>
        <p:spPr>
          <a:xfrm>
            <a:off x="8310676" y="2481453"/>
            <a:ext cx="3149498" cy="769238"/>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تسجيلاً في 9 عروض تطوير (2013)</a:t>
            </a:r>
          </a:p>
        </p:txBody>
      </p:sp>
      <p:sp>
        <p:nvSpPr>
          <p:cNvPr id="6" name="بطاقة رقم"/>
          <p:cNvSpPr/>
          <p:nvPr/>
        </p:nvSpPr>
        <p:spPr>
          <a:xfrm>
            <a:off x="4338218" y="1463040"/>
            <a:ext cx="3515258" cy="1897379"/>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رقم كبير"/>
          <p:cNvSpPr txBox="1"/>
          <p:nvPr/>
        </p:nvSpPr>
        <p:spPr>
          <a:xfrm>
            <a:off x="4429658" y="1627632"/>
            <a:ext cx="3332378" cy="85382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4000" b="1" i="0" lang="ar-SA">
                <a:solidFill>
                  <a:srgbClr val="0F766E"/>
                </a:solidFill>
                <a:latin typeface="Arial"/>
                <a:cs typeface="Arial"/>
              </a:rPr>
              <a:t>‎96–444‎</a:t>
            </a:r>
          </a:p>
        </p:txBody>
      </p:sp>
      <p:sp>
        <p:nvSpPr>
          <p:cNvPr id="8" name="TextBox 7"/>
          <p:cNvSpPr txBox="1"/>
          <p:nvPr/>
        </p:nvSpPr>
        <p:spPr>
          <a:xfrm>
            <a:off x="4521098" y="2481453"/>
            <a:ext cx="3149498" cy="769238"/>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مورداً غير تنقلي لكل عرض</a:t>
            </a:r>
          </a:p>
        </p:txBody>
      </p:sp>
      <p:sp>
        <p:nvSpPr>
          <p:cNvPr id="9" name="بطاقة رقم"/>
          <p:cNvSpPr/>
          <p:nvPr/>
        </p:nvSpPr>
        <p:spPr>
          <a:xfrm>
            <a:off x="548639" y="1463040"/>
            <a:ext cx="3515258" cy="1897379"/>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رقم كبير"/>
          <p:cNvSpPr txBox="1"/>
          <p:nvPr/>
        </p:nvSpPr>
        <p:spPr>
          <a:xfrm>
            <a:off x="640079" y="1627632"/>
            <a:ext cx="3332378" cy="85382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4000" b="1" i="0" lang="ar-SA">
                <a:solidFill>
                  <a:srgbClr val="0F766E"/>
                </a:solidFill>
                <a:latin typeface="Arial"/>
                <a:cs typeface="Arial"/>
              </a:rPr>
              <a:t>‎28%‎</a:t>
            </a:r>
          </a:p>
        </p:txBody>
      </p:sp>
      <p:sp>
        <p:nvSpPr>
          <p:cNvPr id="11" name="TextBox 10"/>
          <p:cNvSpPr txBox="1"/>
          <p:nvPr/>
        </p:nvSpPr>
        <p:spPr>
          <a:xfrm>
            <a:off x="731519" y="2481453"/>
            <a:ext cx="3149498" cy="769238"/>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حصة نقرات التنقل (مرجّحة بالنقرات)</a:t>
            </a:r>
          </a:p>
        </p:txBody>
      </p:sp>
      <p:sp>
        <p:nvSpPr>
          <p:cNvPr id="12" name="بطاقة رقم"/>
          <p:cNvSpPr/>
          <p:nvPr/>
        </p:nvSpPr>
        <p:spPr>
          <a:xfrm>
            <a:off x="8127796" y="3634739"/>
            <a:ext cx="3515258" cy="1897379"/>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رقم كبير"/>
          <p:cNvSpPr txBox="1"/>
          <p:nvPr/>
        </p:nvSpPr>
        <p:spPr>
          <a:xfrm>
            <a:off x="8219236" y="3799331"/>
            <a:ext cx="3332378" cy="85382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4000" b="1" i="0" lang="ar-SA">
                <a:solidFill>
                  <a:srgbClr val="0F766E"/>
                </a:solidFill>
                <a:latin typeface="Arial"/>
                <a:cs typeface="Arial"/>
              </a:rPr>
              <a:t>‎41%–86%‎</a:t>
            </a:r>
          </a:p>
        </p:txBody>
      </p:sp>
      <p:sp>
        <p:nvSpPr>
          <p:cNvPr id="14" name="TextBox 13"/>
          <p:cNvSpPr txBox="1"/>
          <p:nvPr/>
        </p:nvSpPr>
        <p:spPr>
          <a:xfrm>
            <a:off x="8310676" y="4653152"/>
            <a:ext cx="3149498" cy="769238"/>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حصة أعلى 20% من الموارد من أزواج الوصول</a:t>
            </a:r>
          </a:p>
        </p:txBody>
      </p:sp>
      <p:sp>
        <p:nvSpPr>
          <p:cNvPr id="15" name="بطاقة رقم"/>
          <p:cNvSpPr/>
          <p:nvPr/>
        </p:nvSpPr>
        <p:spPr>
          <a:xfrm>
            <a:off x="4338218" y="3634739"/>
            <a:ext cx="3515258" cy="1897379"/>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رقم كبير"/>
          <p:cNvSpPr txBox="1"/>
          <p:nvPr/>
        </p:nvSpPr>
        <p:spPr>
          <a:xfrm>
            <a:off x="4429658" y="3799331"/>
            <a:ext cx="3332378" cy="85382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4000" b="1" i="0" lang="ar-SA">
                <a:solidFill>
                  <a:srgbClr val="0F766E"/>
                </a:solidFill>
                <a:latin typeface="Arial"/>
                <a:cs typeface="Arial"/>
              </a:rPr>
              <a:t>‎56%–59%‎</a:t>
            </a:r>
          </a:p>
        </p:txBody>
      </p:sp>
      <p:sp>
        <p:nvSpPr>
          <p:cNvPr id="17" name="TextBox 16"/>
          <p:cNvSpPr txBox="1"/>
          <p:nvPr/>
        </p:nvSpPr>
        <p:spPr>
          <a:xfrm>
            <a:off x="4521098" y="4653152"/>
            <a:ext cx="3149498" cy="769238"/>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حصة الإعادات في نوافذ الاختبار (متوسط العروض)</a:t>
            </a:r>
          </a:p>
        </p:txBody>
      </p:sp>
      <p:sp>
        <p:nvSpPr>
          <p:cNvPr id="18" name="بطاقة رقم"/>
          <p:cNvSpPr/>
          <p:nvPr/>
        </p:nvSpPr>
        <p:spPr>
          <a:xfrm>
            <a:off x="548639" y="3634739"/>
            <a:ext cx="3515258" cy="1897379"/>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رقم كبير"/>
          <p:cNvSpPr txBox="1"/>
          <p:nvPr/>
        </p:nvSpPr>
        <p:spPr>
          <a:xfrm>
            <a:off x="640079" y="3799331"/>
            <a:ext cx="3332378" cy="85382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4000" b="1" i="0" lang="ar-SA">
                <a:solidFill>
                  <a:srgbClr val="0F766E"/>
                </a:solidFill>
                <a:latin typeface="Arial"/>
                <a:cs typeface="Arial"/>
              </a:rPr>
              <a:t>‎10%–42%‎</a:t>
            </a:r>
          </a:p>
        </p:txBody>
      </p:sp>
      <p:sp>
        <p:nvSpPr>
          <p:cNvPr id="20" name="TextBox 19"/>
          <p:cNvSpPr txBox="1"/>
          <p:nvPr/>
        </p:nvSpPr>
        <p:spPr>
          <a:xfrm>
            <a:off x="731519" y="4653152"/>
            <a:ext cx="3149498" cy="769238"/>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كثافة مصفوفة المتعلمين × الموارد</a:t>
            </a:r>
          </a:p>
        </p:txBody>
      </p:sp>
      <p:sp>
        <p:nvSpPr>
          <p:cNvPr id="21" name="TextBox 20"/>
          <p:cNvSpPr txBox="1"/>
          <p:nvPr/>
        </p:nvSpPr>
        <p:spPr>
          <a:xfrm>
            <a:off x="548640" y="5605272"/>
            <a:ext cx="11094415" cy="54864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400" b="0" i="0" lang="ar-SA">
                <a:solidFill>
                  <a:srgbClr val="475569"/>
                </a:solidFill>
                <a:latin typeface="Arial"/>
                <a:cs typeface="Arial"/>
              </a:rPr>
              <a:t>مجموعة OULAD: 7 مقررات و22 عرضاً، 32,593 تسجيلاً، ترخيص CC BY 4.0؛ عروض 2014 (13 عرضاً) محجوزة للتأكيد</a:t>
            </a:r>
          </a:p>
        </p:txBody>
      </p:sp>
      <p:sp>
        <p:nvSpPr>
          <p:cNvPr id="22"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23"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24"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تمثيل السلوك: سلة اليوم وعائلة الإشارات</a:t>
            </a:r>
          </a:p>
        </p:txBody>
      </p:sp>
      <p:sp>
        <p:nvSpPr>
          <p:cNvPr id="3" name="TextBox 2"/>
          <p:cNvSpPr txBox="1"/>
          <p:nvPr/>
        </p:nvSpPr>
        <p:spPr>
          <a:xfrm>
            <a:off x="548640" y="1463040"/>
            <a:ext cx="11094415" cy="36576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700" b="1" i="0" lang="ar-SA">
                <a:solidFill>
                  <a:srgbClr val="92400E"/>
                </a:solidFill>
                <a:latin typeface="Arial"/>
                <a:cs typeface="Arial"/>
              </a:rPr>
              <a:t>من السجل إلى التسلسل</a:t>
            </a:r>
          </a:p>
        </p:txBody>
      </p:sp>
      <p:sp>
        <p:nvSpPr>
          <p:cNvPr id="4" name="خطوة"/>
          <p:cNvSpPr/>
          <p:nvPr/>
        </p:nvSpPr>
        <p:spPr>
          <a:xfrm>
            <a:off x="8298484" y="1828800"/>
            <a:ext cx="3344570" cy="1325879"/>
          </a:xfrm>
          <a:prstGeom prst="roundRect">
            <a:avLst>
              <a:gd name="adj" fmla="val 6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9924" y="1920240"/>
            <a:ext cx="3161690" cy="556869"/>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2200" b="1" i="0" lang="ar-SA">
                <a:solidFill>
                  <a:srgbClr val="0F766E"/>
                </a:solidFill>
                <a:latin typeface="Arial"/>
                <a:cs typeface="Arial"/>
              </a:rPr>
              <a:t>نقرات يومية</a:t>
            </a:r>
          </a:p>
        </p:txBody>
      </p:sp>
      <p:sp>
        <p:nvSpPr>
          <p:cNvPr id="6" name="TextBox 5"/>
          <p:cNvSpPr txBox="1"/>
          <p:nvPr/>
        </p:nvSpPr>
        <p:spPr>
          <a:xfrm>
            <a:off x="8389924" y="2425446"/>
            <a:ext cx="3161690" cy="689457"/>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متعلم × مورد × يوم</a:t>
            </a:r>
          </a:p>
        </p:txBody>
      </p:sp>
      <p:sp>
        <p:nvSpPr>
          <p:cNvPr id="7" name="سهم"/>
          <p:cNvSpPr/>
          <p:nvPr/>
        </p:nvSpPr>
        <p:spPr>
          <a:xfrm>
            <a:off x="7768132" y="2308859"/>
            <a:ext cx="384048" cy="365760"/>
          </a:xfrm>
          <a:prstGeom prst="leftArrow">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خطوة"/>
          <p:cNvSpPr/>
          <p:nvPr/>
        </p:nvSpPr>
        <p:spPr>
          <a:xfrm>
            <a:off x="4423562" y="1828800"/>
            <a:ext cx="3344570" cy="1325879"/>
          </a:xfrm>
          <a:prstGeom prst="roundRect">
            <a:avLst>
              <a:gd name="adj" fmla="val 6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5002" y="1920240"/>
            <a:ext cx="3161690" cy="556869"/>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2200" b="1" i="0" lang="ar-SA">
                <a:solidFill>
                  <a:srgbClr val="0F766E"/>
                </a:solidFill>
                <a:latin typeface="Arial"/>
                <a:cs typeface="Arial"/>
              </a:rPr>
              <a:t>سلة اليوم</a:t>
            </a:r>
          </a:p>
        </p:txBody>
      </p:sp>
      <p:sp>
        <p:nvSpPr>
          <p:cNvPr id="10" name="TextBox 9"/>
          <p:cNvSpPr txBox="1"/>
          <p:nvPr/>
        </p:nvSpPr>
        <p:spPr>
          <a:xfrm>
            <a:off x="4515002" y="2425446"/>
            <a:ext cx="3161690" cy="689457"/>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مجموعة موارد غير مرتبة</a:t>
            </a:r>
          </a:p>
        </p:txBody>
      </p:sp>
      <p:sp>
        <p:nvSpPr>
          <p:cNvPr id="11" name="سهم"/>
          <p:cNvSpPr/>
          <p:nvPr/>
        </p:nvSpPr>
        <p:spPr>
          <a:xfrm>
            <a:off x="3893210" y="2308859"/>
            <a:ext cx="384048" cy="365760"/>
          </a:xfrm>
          <a:prstGeom prst="leftArrow">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خطوة"/>
          <p:cNvSpPr/>
          <p:nvPr/>
        </p:nvSpPr>
        <p:spPr>
          <a:xfrm>
            <a:off x="548639" y="1828800"/>
            <a:ext cx="3344570" cy="1325879"/>
          </a:xfrm>
          <a:prstGeom prst="roundRect">
            <a:avLst>
              <a:gd name="adj" fmla="val 6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79" y="1920240"/>
            <a:ext cx="3161690" cy="556869"/>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2200" b="1" i="0" lang="ar-SA">
                <a:solidFill>
                  <a:srgbClr val="0F766E"/>
                </a:solidFill>
                <a:latin typeface="Arial"/>
                <a:cs typeface="Arial"/>
              </a:rPr>
              <a:t>تسلسل السلال</a:t>
            </a:r>
          </a:p>
        </p:txBody>
      </p:sp>
      <p:sp>
        <p:nvSpPr>
          <p:cNvPr id="14" name="TextBox 13"/>
          <p:cNvSpPr txBox="1"/>
          <p:nvPr/>
        </p:nvSpPr>
        <p:spPr>
          <a:xfrm>
            <a:off x="640079" y="2425446"/>
            <a:ext cx="3161690" cy="689457"/>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الأيام النشطة بالترتيب</a:t>
            </a:r>
          </a:p>
        </p:txBody>
      </p:sp>
      <p:sp>
        <p:nvSpPr>
          <p:cNvPr id="15" name="TextBox 14"/>
          <p:cNvSpPr txBox="1"/>
          <p:nvPr/>
        </p:nvSpPr>
        <p:spPr>
          <a:xfrm>
            <a:off x="548640" y="3383279"/>
            <a:ext cx="11094415" cy="36576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700" b="1" i="0" lang="ar-SA">
                <a:solidFill>
                  <a:srgbClr val="92400E"/>
                </a:solidFill>
                <a:latin typeface="Arial"/>
                <a:cs typeface="Arial"/>
              </a:rPr>
              <a:t>الإشارة الضمنية: كل مستوى حالة خاصة من التالي</a:t>
            </a:r>
          </a:p>
        </p:txBody>
      </p:sp>
      <p:sp>
        <p:nvSpPr>
          <p:cNvPr id="16" name="خطوة"/>
          <p:cNvSpPr/>
          <p:nvPr/>
        </p:nvSpPr>
        <p:spPr>
          <a:xfrm>
            <a:off x="9267215" y="3749039"/>
            <a:ext cx="2375839" cy="1325879"/>
          </a:xfrm>
          <a:prstGeom prst="roundRect">
            <a:avLst>
              <a:gd name="adj" fmla="val 6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58655" y="3840479"/>
            <a:ext cx="2192959" cy="556869"/>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2200" b="1" i="0" lang="ar-SA">
                <a:solidFill>
                  <a:srgbClr val="0F766E"/>
                </a:solidFill>
                <a:latin typeface="Arial"/>
                <a:cs typeface="Arial"/>
              </a:rPr>
              <a:t>L0</a:t>
            </a:r>
          </a:p>
        </p:txBody>
      </p:sp>
      <p:sp>
        <p:nvSpPr>
          <p:cNvPr id="18" name="TextBox 17"/>
          <p:cNvSpPr txBox="1"/>
          <p:nvPr/>
        </p:nvSpPr>
        <p:spPr>
          <a:xfrm>
            <a:off x="9358655" y="4345686"/>
            <a:ext cx="2192959" cy="689457"/>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ثنائية</a:t>
            </a:r>
          </a:p>
        </p:txBody>
      </p:sp>
      <p:sp>
        <p:nvSpPr>
          <p:cNvPr id="19" name="سهم"/>
          <p:cNvSpPr/>
          <p:nvPr/>
        </p:nvSpPr>
        <p:spPr>
          <a:xfrm>
            <a:off x="8736863" y="4229099"/>
            <a:ext cx="384048" cy="365760"/>
          </a:xfrm>
          <a:prstGeom prst="leftArrow">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خطوة"/>
          <p:cNvSpPr/>
          <p:nvPr/>
        </p:nvSpPr>
        <p:spPr>
          <a:xfrm>
            <a:off x="6361023" y="3749039"/>
            <a:ext cx="2375839" cy="1325879"/>
          </a:xfrm>
          <a:prstGeom prst="roundRect">
            <a:avLst>
              <a:gd name="adj" fmla="val 6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2463" y="3840479"/>
            <a:ext cx="2192959" cy="556869"/>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2200" b="1" i="0" lang="ar-SA">
                <a:solidFill>
                  <a:srgbClr val="0F766E"/>
                </a:solidFill>
                <a:latin typeface="Arial"/>
                <a:cs typeface="Arial"/>
              </a:rPr>
              <a:t>L1</a:t>
            </a:r>
          </a:p>
        </p:txBody>
      </p:sp>
      <p:sp>
        <p:nvSpPr>
          <p:cNvPr id="22" name="TextBox 21"/>
          <p:cNvSpPr txBox="1"/>
          <p:nvPr/>
        </p:nvSpPr>
        <p:spPr>
          <a:xfrm>
            <a:off x="6452463" y="4345686"/>
            <a:ext cx="2192959" cy="689457"/>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عدد الأيام</a:t>
            </a:r>
          </a:p>
        </p:txBody>
      </p:sp>
      <p:sp>
        <p:nvSpPr>
          <p:cNvPr id="23" name="سهم"/>
          <p:cNvSpPr/>
          <p:nvPr/>
        </p:nvSpPr>
        <p:spPr>
          <a:xfrm>
            <a:off x="5830671" y="4229099"/>
            <a:ext cx="384048" cy="365760"/>
          </a:xfrm>
          <a:prstGeom prst="leftArrow">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خطوة"/>
          <p:cNvSpPr/>
          <p:nvPr/>
        </p:nvSpPr>
        <p:spPr>
          <a:xfrm>
            <a:off x="3454831" y="3749039"/>
            <a:ext cx="2375839" cy="1325879"/>
          </a:xfrm>
          <a:prstGeom prst="roundRect">
            <a:avLst>
              <a:gd name="adj" fmla="val 6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6271" y="3840479"/>
            <a:ext cx="2192959" cy="556869"/>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2200" b="1" i="0" lang="ar-SA">
                <a:solidFill>
                  <a:srgbClr val="0F766E"/>
                </a:solidFill>
                <a:latin typeface="Arial"/>
                <a:cs typeface="Arial"/>
              </a:rPr>
              <a:t>L2</a:t>
            </a:r>
          </a:p>
        </p:txBody>
      </p:sp>
      <p:sp>
        <p:nvSpPr>
          <p:cNvPr id="26" name="TextBox 25"/>
          <p:cNvSpPr txBox="1"/>
          <p:nvPr/>
        </p:nvSpPr>
        <p:spPr>
          <a:xfrm>
            <a:off x="3546271" y="4345686"/>
            <a:ext cx="2192959" cy="689457"/>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 الحداثة (τ)</a:t>
            </a:r>
          </a:p>
        </p:txBody>
      </p:sp>
      <p:sp>
        <p:nvSpPr>
          <p:cNvPr id="27" name="سهم"/>
          <p:cNvSpPr/>
          <p:nvPr/>
        </p:nvSpPr>
        <p:spPr>
          <a:xfrm>
            <a:off x="2924479" y="4229099"/>
            <a:ext cx="384048" cy="365760"/>
          </a:xfrm>
          <a:prstGeom prst="leftArrow">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خطوة"/>
          <p:cNvSpPr/>
          <p:nvPr/>
        </p:nvSpPr>
        <p:spPr>
          <a:xfrm>
            <a:off x="548640" y="3749039"/>
            <a:ext cx="2375839" cy="1325879"/>
          </a:xfrm>
          <a:prstGeom prst="roundRect">
            <a:avLst>
              <a:gd name="adj" fmla="val 6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840479"/>
            <a:ext cx="2192959" cy="556869"/>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2200" b="1" i="0" lang="ar-SA">
                <a:solidFill>
                  <a:srgbClr val="0F766E"/>
                </a:solidFill>
                <a:latin typeface="Arial"/>
                <a:cs typeface="Arial"/>
              </a:rPr>
              <a:t>L3</a:t>
            </a:r>
          </a:p>
        </p:txBody>
      </p:sp>
      <p:sp>
        <p:nvSpPr>
          <p:cNvPr id="30" name="TextBox 29"/>
          <p:cNvSpPr txBox="1"/>
          <p:nvPr/>
        </p:nvSpPr>
        <p:spPr>
          <a:xfrm>
            <a:off x="640080" y="4345686"/>
            <a:ext cx="2192959" cy="689457"/>
          </a:xfrm>
          <a:prstGeom prst="rect">
            <a:avLst/>
          </a:prstGeom>
          <a:noFill/>
        </p:spPr>
        <p:txBody>
          <a:bodyPr wrap="square" lIns="45720" rIns="45720" tIns="27432" bIns="27432" anchor="t">
            <a:spAutoFit/>
          </a:bodyPr>
          <a:lstStyle/>
          <a:p>
            <a:pPr rtl="1" algn="ctr">
              <a:lnSpc>
                <a:spcPct val="110000"/>
              </a:lnSpc>
              <a:spcBef>
                <a:spcPts val="0"/>
              </a:spcBef>
              <a:spcAft>
                <a:spcPts val="0"/>
              </a:spcAft>
            </a:pPr>
            <a:r>
              <a:rPr sz="1600" b="0" i="0" lang="ar-SA">
                <a:solidFill>
                  <a:srgbClr val="475569"/>
                </a:solidFill>
                <a:latin typeface="Arial"/>
                <a:cs typeface="Arial"/>
              </a:rPr>
              <a:t>+ الشدة المطبَّعة بالنوع (β)</a:t>
            </a:r>
          </a:p>
        </p:txBody>
      </p:sp>
      <p:sp>
        <p:nvSpPr>
          <p:cNvPr id="31" name="خلاصة"/>
          <p:cNvSpPr/>
          <p:nvPr/>
        </p:nvSpPr>
        <p:spPr>
          <a:xfrm>
            <a:off x="548640" y="5212080"/>
            <a:ext cx="11094415" cy="868680"/>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 bIns="18288"/>
          <a:lstStyle/>
          <a:p>
            <a:pPr algn="r" rtl="1"/>
            <a:r>
              <a:rPr sz="2200" b="1" i="0" lang="ar-SA">
                <a:solidFill>
                  <a:srgbClr val="FFFFFF"/>
                </a:solidFill>
                <a:latin typeface="Arial"/>
                <a:cs typeface="Arial"/>
              </a:rPr>
              <a:t>غياب التفاعل ليس إشارة سالبة، بل «غير ملاحظ»</a:t>
            </a:r>
          </a:p>
        </p:txBody>
      </p:sp>
      <p:sp>
        <p:nvSpPr>
          <p:cNvPr id="32"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33"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34"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الخوارزميات: خطوط الأساس والهجين وGRU-lite</a:t>
            </a:r>
          </a:p>
        </p:txBody>
      </p:sp>
      <p:sp>
        <p:nvSpPr>
          <p:cNvPr id="3" name="عمود"/>
          <p:cNvSpPr/>
          <p:nvPr/>
        </p:nvSpPr>
        <p:spPr>
          <a:xfrm>
            <a:off x="8127796" y="1463040"/>
            <a:ext cx="3515258"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عنوان العمود"/>
          <p:cNvSpPr/>
          <p:nvPr/>
        </p:nvSpPr>
        <p:spPr>
          <a:xfrm>
            <a:off x="8127796" y="1463040"/>
            <a:ext cx="3515258" cy="685800"/>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182880" tIns="18288" bIns="18288"/>
          <a:lstStyle/>
          <a:p>
            <a:pPr algn="r" rtl="1"/>
            <a:r>
              <a:rPr sz="1800" b="1" i="0" lang="ar-SA">
                <a:solidFill>
                  <a:srgbClr val="FFFFFF"/>
                </a:solidFill>
                <a:latin typeface="Arial"/>
                <a:cs typeface="Arial"/>
              </a:rPr>
              <a:t>10 خطوط أساس بميزانية ضبط متساوية</a:t>
            </a:r>
          </a:p>
        </p:txBody>
      </p:sp>
      <p:sp>
        <p:nvSpPr>
          <p:cNvPr id="5" name="نقطة"/>
          <p:cNvSpPr/>
          <p:nvPr/>
        </p:nvSpPr>
        <p:spPr>
          <a:xfrm>
            <a:off x="11259007" y="267804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64956" y="2286000"/>
            <a:ext cx="2875178"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عشوائي، شعبية، شعبية آنية</a:t>
            </a:r>
          </a:p>
        </p:txBody>
      </p:sp>
      <p:sp>
        <p:nvSpPr>
          <p:cNvPr id="7" name="نقطة"/>
          <p:cNvSpPr/>
          <p:nvPr/>
        </p:nvSpPr>
        <p:spPr>
          <a:xfrm>
            <a:off x="11259007" y="362673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64956" y="3234690"/>
            <a:ext cx="2875178"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Item-kNN وSKNN وماركوف</a:t>
            </a:r>
          </a:p>
        </p:txBody>
      </p:sp>
      <p:sp>
        <p:nvSpPr>
          <p:cNvPr id="9" name="نقطة"/>
          <p:cNvSpPr/>
          <p:nvPr/>
        </p:nvSpPr>
        <p:spPr>
          <a:xfrm>
            <a:off x="11259007" y="457542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64956" y="4183380"/>
            <a:ext cx="2875178"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WRMF وإعادة شخصية وCBF</a:t>
            </a:r>
          </a:p>
        </p:txBody>
      </p:sp>
      <p:sp>
        <p:nvSpPr>
          <p:cNvPr id="11" name="نقطة"/>
          <p:cNvSpPr/>
          <p:nvPr/>
        </p:nvSpPr>
        <p:spPr>
          <a:xfrm>
            <a:off x="11259007" y="552411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64956" y="5132070"/>
            <a:ext cx="2875178"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EASE مرجعي فقط</a:t>
            </a:r>
          </a:p>
        </p:txBody>
      </p:sp>
      <p:sp>
        <p:nvSpPr>
          <p:cNvPr id="13" name="عمود"/>
          <p:cNvSpPr/>
          <p:nvPr/>
        </p:nvSpPr>
        <p:spPr>
          <a:xfrm>
            <a:off x="4338218" y="1463040"/>
            <a:ext cx="3515258"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عنوان العمود"/>
          <p:cNvSpPr/>
          <p:nvPr/>
        </p:nvSpPr>
        <p:spPr>
          <a:xfrm>
            <a:off x="4338218" y="1463040"/>
            <a:ext cx="3515258" cy="685800"/>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182880" tIns="18288" bIns="18288"/>
          <a:lstStyle/>
          <a:p>
            <a:pPr algn="r" rtl="1"/>
            <a:r>
              <a:rPr sz="1800" b="1" i="0" lang="ar-SA">
                <a:solidFill>
                  <a:srgbClr val="FFFFFF"/>
                </a:solidFill>
                <a:latin typeface="Arial"/>
                <a:cs typeface="Arial"/>
              </a:rPr>
              <a:t>الهجين السلوكي المدرك للسياق</a:t>
            </a:r>
          </a:p>
        </p:txBody>
      </p:sp>
      <p:sp>
        <p:nvSpPr>
          <p:cNvPr id="15" name="نقطة"/>
          <p:cNvSpPr/>
          <p:nvPr/>
        </p:nvSpPr>
        <p:spPr>
          <a:xfrm>
            <a:off x="7469428" y="267804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5378" y="2286000"/>
            <a:ext cx="2875178"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دمج رتبي خطي بأربعة مكوّنات على الأكثر</a:t>
            </a:r>
          </a:p>
        </p:txBody>
      </p:sp>
      <p:sp>
        <p:nvSpPr>
          <p:cNvPr id="17" name="نقطة"/>
          <p:cNvSpPr/>
          <p:nvPr/>
        </p:nvSpPr>
        <p:spPr>
          <a:xfrm>
            <a:off x="7469428" y="362673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75378" y="3234690"/>
            <a:ext cx="2875178"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قبول جشع بفاصل bootstrap-t على عروض التطوير</a:t>
            </a:r>
          </a:p>
        </p:txBody>
      </p:sp>
      <p:sp>
        <p:nvSpPr>
          <p:cNvPr id="19" name="نقطة"/>
          <p:cNvSpPr/>
          <p:nvPr/>
        </p:nvSpPr>
        <p:spPr>
          <a:xfrm>
            <a:off x="7469428" y="457542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5378" y="4183380"/>
            <a:ext cx="2875178"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أرضية شخصنة: وزن لا يقل عن 0.25</a:t>
            </a:r>
          </a:p>
        </p:txBody>
      </p:sp>
      <p:sp>
        <p:nvSpPr>
          <p:cNvPr id="21" name="نقطة"/>
          <p:cNvSpPr/>
          <p:nvPr/>
        </p:nvSpPr>
        <p:spPr>
          <a:xfrm>
            <a:off x="7469428" y="552411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5378" y="5132070"/>
            <a:ext cx="2875178"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تفسير بمساهمة كل مكوّن</a:t>
            </a:r>
          </a:p>
        </p:txBody>
      </p:sp>
      <p:sp>
        <p:nvSpPr>
          <p:cNvPr id="23" name="عمود"/>
          <p:cNvSpPr/>
          <p:nvPr/>
        </p:nvSpPr>
        <p:spPr>
          <a:xfrm>
            <a:off x="548639" y="1463040"/>
            <a:ext cx="3515258"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عنوان العمود"/>
          <p:cNvSpPr/>
          <p:nvPr/>
        </p:nvSpPr>
        <p:spPr>
          <a:xfrm>
            <a:off x="548639" y="1463040"/>
            <a:ext cx="3515258" cy="685800"/>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182880" tIns="18288" bIns="18288"/>
          <a:lstStyle/>
          <a:p>
            <a:pPr algn="r" rtl="1"/>
            <a:r>
              <a:rPr sz="1800" b="1" i="0" lang="ar-SA">
                <a:solidFill>
                  <a:srgbClr val="FFFFFF"/>
                </a:solidFill>
                <a:latin typeface="Arial"/>
                <a:cs typeface="Arial"/>
              </a:rPr>
              <a:t>GRU-lite بـ numpy فقط</a:t>
            </a:r>
          </a:p>
        </p:txBody>
      </p:sp>
      <p:sp>
        <p:nvSpPr>
          <p:cNvPr id="25" name="نقطة"/>
          <p:cNvSpPr/>
          <p:nvPr/>
        </p:nvSpPr>
        <p:spPr>
          <a:xfrm>
            <a:off x="3679850" y="2836164"/>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799" y="2286000"/>
            <a:ext cx="2875178" cy="126492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طبقة GRU واحدة ببُعد 64</a:t>
            </a:r>
          </a:p>
        </p:txBody>
      </p:sp>
      <p:sp>
        <p:nvSpPr>
          <p:cNvPr id="27" name="نقطة"/>
          <p:cNvSpPr/>
          <p:nvPr/>
        </p:nvSpPr>
        <p:spPr>
          <a:xfrm>
            <a:off x="3679850" y="4101084"/>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799" y="3550920"/>
            <a:ext cx="2875178" cy="126492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مدخلها سلال الأيام</a:t>
            </a:r>
          </a:p>
        </p:txBody>
      </p:sp>
      <p:sp>
        <p:nvSpPr>
          <p:cNvPr id="29" name="نقطة"/>
          <p:cNvSpPr/>
          <p:nvPr/>
        </p:nvSpPr>
        <p:spPr>
          <a:xfrm>
            <a:off x="3679850" y="5366004"/>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799" y="4815840"/>
            <a:ext cx="2875178" cy="126492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لا تقييم قبل اجتياز حزمة الصحة S1–S6</a:t>
            </a:r>
          </a:p>
        </p:txBody>
      </p:sp>
      <p:sp>
        <p:nvSpPr>
          <p:cNvPr id="31"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32"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33"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بروتوكول التقييم المسجَّل مسبقاً</a:t>
            </a:r>
          </a:p>
        </p:txBody>
      </p:sp>
      <p:sp>
        <p:nvSpPr>
          <p:cNvPr id="3" name="مفتاح"/>
          <p:cNvSpPr/>
          <p:nvPr/>
        </p:nvSpPr>
        <p:spPr>
          <a:xfrm>
            <a:off x="9905695" y="1463040"/>
            <a:ext cx="1737360" cy="329184"/>
          </a:xfrm>
          <a:prstGeom prst="roundRect">
            <a:avLst>
              <a:gd name="adj" fmla="val 30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134E4A"/>
                </a:solidFill>
                <a:latin typeface="Arial"/>
                <a:cs typeface="Arial"/>
              </a:rPr>
              <a:t>تدريب</a:t>
            </a:r>
          </a:p>
        </p:txBody>
      </p:sp>
      <p:sp>
        <p:nvSpPr>
          <p:cNvPr id="4" name="مفتاح"/>
          <p:cNvSpPr/>
          <p:nvPr/>
        </p:nvSpPr>
        <p:spPr>
          <a:xfrm>
            <a:off x="7985455" y="1463040"/>
            <a:ext cx="1737360" cy="329184"/>
          </a:xfrm>
          <a:prstGeom prst="roundRect">
            <a:avLst>
              <a:gd name="adj" fmla="val 3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تحقق (للضبط)</a:t>
            </a:r>
          </a:p>
        </p:txBody>
      </p:sp>
      <p:sp>
        <p:nvSpPr>
          <p:cNvPr id="5" name="مفتاح"/>
          <p:cNvSpPr/>
          <p:nvPr/>
        </p:nvSpPr>
        <p:spPr>
          <a:xfrm>
            <a:off x="6065215" y="1463040"/>
            <a:ext cx="1737360" cy="329184"/>
          </a:xfrm>
          <a:prstGeom prst="roundRect">
            <a:avLst>
              <a:gd name="adj" fmla="val 3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اختبار (14 يوماً)</a:t>
            </a:r>
          </a:p>
        </p:txBody>
      </p:sp>
      <p:sp>
        <p:nvSpPr>
          <p:cNvPr id="6" name="TextBox 5"/>
          <p:cNvSpPr txBox="1"/>
          <p:nvPr/>
        </p:nvSpPr>
        <p:spPr>
          <a:xfrm>
            <a:off x="548640" y="1920240"/>
            <a:ext cx="11094415" cy="292608"/>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500" b="1" i="0" lang="ar-SA">
                <a:solidFill>
                  <a:srgbClr val="134E4A"/>
                </a:solidFill>
                <a:latin typeface="Arial"/>
                <a:cs typeface="Arial"/>
              </a:rPr>
              <a:t>نقطة القطع t = 70 (اليوم من بداية العرض)</a:t>
            </a:r>
          </a:p>
        </p:txBody>
      </p:sp>
      <p:sp>
        <p:nvSpPr>
          <p:cNvPr id="7" name="مقطع"/>
          <p:cNvSpPr/>
          <p:nvPr/>
        </p:nvSpPr>
        <p:spPr>
          <a:xfrm>
            <a:off x="8473222" y="2231136"/>
            <a:ext cx="3169832" cy="457200"/>
          </a:xfrm>
          <a:prstGeom prst="rect">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134E4A"/>
                </a:solidFill>
                <a:latin typeface="Arial"/>
                <a:cs typeface="Arial"/>
              </a:rPr>
              <a:t>تدريب</a:t>
            </a:r>
          </a:p>
        </p:txBody>
      </p:sp>
      <p:sp>
        <p:nvSpPr>
          <p:cNvPr id="8" name="مقطع"/>
          <p:cNvSpPr/>
          <p:nvPr/>
        </p:nvSpPr>
        <p:spPr>
          <a:xfrm>
            <a:off x="7680764" y="2231136"/>
            <a:ext cx="792458" cy="4572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FFFFFF"/>
                </a:solidFill>
                <a:latin typeface="Arial"/>
                <a:cs typeface="Arial"/>
              </a:rPr>
              <a:t>تحقق</a:t>
            </a:r>
          </a:p>
        </p:txBody>
      </p:sp>
      <p:sp>
        <p:nvSpPr>
          <p:cNvPr id="9" name="مقطع"/>
          <p:cNvSpPr/>
          <p:nvPr/>
        </p:nvSpPr>
        <p:spPr>
          <a:xfrm>
            <a:off x="6888305" y="2231136"/>
            <a:ext cx="792458" cy="4572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FFFFFF"/>
                </a:solidFill>
                <a:latin typeface="Arial"/>
                <a:cs typeface="Arial"/>
              </a:rPr>
              <a:t>اختبار</a:t>
            </a:r>
          </a:p>
        </p:txBody>
      </p:sp>
      <p:sp>
        <p:nvSpPr>
          <p:cNvPr id="10" name="TextBox 9"/>
          <p:cNvSpPr txBox="1"/>
          <p:nvPr/>
        </p:nvSpPr>
        <p:spPr>
          <a:xfrm>
            <a:off x="548640" y="2816352"/>
            <a:ext cx="11094415" cy="292608"/>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500" b="1" i="0" lang="ar-SA">
                <a:solidFill>
                  <a:srgbClr val="134E4A"/>
                </a:solidFill>
                <a:latin typeface="Arial"/>
                <a:cs typeface="Arial"/>
              </a:rPr>
              <a:t>نقطة القطع t = 126 (اليوم من بداية العرض)</a:t>
            </a:r>
          </a:p>
        </p:txBody>
      </p:sp>
      <p:sp>
        <p:nvSpPr>
          <p:cNvPr id="11" name="مقطع"/>
          <p:cNvSpPr/>
          <p:nvPr/>
        </p:nvSpPr>
        <p:spPr>
          <a:xfrm>
            <a:off x="5303389" y="3127248"/>
            <a:ext cx="6339665" cy="457200"/>
          </a:xfrm>
          <a:prstGeom prst="rect">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134E4A"/>
                </a:solidFill>
                <a:latin typeface="Arial"/>
                <a:cs typeface="Arial"/>
              </a:rPr>
              <a:t>تدريب</a:t>
            </a:r>
          </a:p>
        </p:txBody>
      </p:sp>
      <p:sp>
        <p:nvSpPr>
          <p:cNvPr id="12" name="مقطع"/>
          <p:cNvSpPr/>
          <p:nvPr/>
        </p:nvSpPr>
        <p:spPr>
          <a:xfrm>
            <a:off x="4510931" y="3127248"/>
            <a:ext cx="792458" cy="4572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FFFFFF"/>
                </a:solidFill>
                <a:latin typeface="Arial"/>
                <a:cs typeface="Arial"/>
              </a:rPr>
              <a:t>تحقق</a:t>
            </a:r>
          </a:p>
        </p:txBody>
      </p:sp>
      <p:sp>
        <p:nvSpPr>
          <p:cNvPr id="13" name="مقطع"/>
          <p:cNvSpPr/>
          <p:nvPr/>
        </p:nvSpPr>
        <p:spPr>
          <a:xfrm>
            <a:off x="3718472" y="3127248"/>
            <a:ext cx="792458" cy="4572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FFFFFF"/>
                </a:solidFill>
                <a:latin typeface="Arial"/>
                <a:cs typeface="Arial"/>
              </a:rPr>
              <a:t>اختبار</a:t>
            </a:r>
          </a:p>
        </p:txBody>
      </p:sp>
      <p:sp>
        <p:nvSpPr>
          <p:cNvPr id="14" name="TextBox 13"/>
          <p:cNvSpPr txBox="1"/>
          <p:nvPr/>
        </p:nvSpPr>
        <p:spPr>
          <a:xfrm>
            <a:off x="548640" y="3712464"/>
            <a:ext cx="11094415" cy="292608"/>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500" b="1" i="0" lang="ar-SA">
                <a:solidFill>
                  <a:srgbClr val="134E4A"/>
                </a:solidFill>
                <a:latin typeface="Arial"/>
                <a:cs typeface="Arial"/>
              </a:rPr>
              <a:t>نقطة القطع t = 182 (اليوم من بداية العرض)</a:t>
            </a:r>
          </a:p>
        </p:txBody>
      </p:sp>
      <p:sp>
        <p:nvSpPr>
          <p:cNvPr id="15" name="مقطع"/>
          <p:cNvSpPr/>
          <p:nvPr/>
        </p:nvSpPr>
        <p:spPr>
          <a:xfrm>
            <a:off x="2133556" y="4023360"/>
            <a:ext cx="9509498" cy="457200"/>
          </a:xfrm>
          <a:prstGeom prst="rect">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134E4A"/>
                </a:solidFill>
                <a:latin typeface="Arial"/>
                <a:cs typeface="Arial"/>
              </a:rPr>
              <a:t>تدريب</a:t>
            </a:r>
          </a:p>
        </p:txBody>
      </p:sp>
      <p:sp>
        <p:nvSpPr>
          <p:cNvPr id="16" name="مقطع"/>
          <p:cNvSpPr/>
          <p:nvPr/>
        </p:nvSpPr>
        <p:spPr>
          <a:xfrm>
            <a:off x="1341098" y="4023360"/>
            <a:ext cx="792458" cy="4572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FFFFFF"/>
                </a:solidFill>
                <a:latin typeface="Arial"/>
                <a:cs typeface="Arial"/>
              </a:rPr>
              <a:t>تحقق</a:t>
            </a:r>
          </a:p>
        </p:txBody>
      </p:sp>
      <p:sp>
        <p:nvSpPr>
          <p:cNvPr id="17" name="مقطع"/>
          <p:cNvSpPr/>
          <p:nvPr/>
        </p:nvSpPr>
        <p:spPr>
          <a:xfrm>
            <a:off x="548639" y="4023360"/>
            <a:ext cx="792458" cy="4572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300" b="1" i="0" lang="ar-SA">
                <a:solidFill>
                  <a:srgbClr val="FFFFFF"/>
                </a:solidFill>
                <a:latin typeface="Arial"/>
                <a:cs typeface="Arial"/>
              </a:rPr>
              <a:t>اختبار</a:t>
            </a:r>
          </a:p>
        </p:txBody>
      </p:sp>
      <p:sp>
        <p:nvSpPr>
          <p:cNvPr id="18" name="بطاقة"/>
          <p:cNvSpPr/>
          <p:nvPr/>
        </p:nvSpPr>
        <p:spPr>
          <a:xfrm>
            <a:off x="9040901" y="4745736"/>
            <a:ext cx="2602153" cy="1426463"/>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2341" y="4837176"/>
            <a:ext cx="2419273" cy="713231"/>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1800" b="1" i="0" lang="ar-SA">
                <a:solidFill>
                  <a:srgbClr val="0F766E"/>
                </a:solidFill>
                <a:latin typeface="Arial"/>
                <a:cs typeface="Arial"/>
              </a:rPr>
              <a:t>الكتالوج كاملاً</a:t>
            </a:r>
          </a:p>
        </p:txBody>
      </p:sp>
      <p:sp>
        <p:nvSpPr>
          <p:cNvPr id="20" name="TextBox 19"/>
          <p:cNvSpPr txBox="1"/>
          <p:nvPr/>
        </p:nvSpPr>
        <p:spPr>
          <a:xfrm>
            <a:off x="9132341" y="5487497"/>
            <a:ext cx="2419273" cy="641908"/>
          </a:xfrm>
          <a:prstGeom prst="rect">
            <a:avLst/>
          </a:prstGeom>
          <a:noFill/>
        </p:spPr>
        <p:txBody>
          <a:bodyPr wrap="square" lIns="45720" rIns="45720" tIns="27432" bIns="27432" anchor="t">
            <a:spAutoFit/>
          </a:bodyPr>
          <a:lstStyle/>
          <a:p>
            <a:pPr rtl="1" algn="ctr">
              <a:lnSpc>
                <a:spcPct val="105000"/>
              </a:lnSpc>
              <a:spcBef>
                <a:spcPts val="0"/>
              </a:spcBef>
              <a:spcAft>
                <a:spcPts val="0"/>
              </a:spcAft>
            </a:pPr>
            <a:r>
              <a:rPr sz="1400" b="0" i="0" lang="ar-SA">
                <a:solidFill>
                  <a:srgbClr val="475569"/>
                </a:solidFill>
                <a:latin typeface="Arial"/>
                <a:cs typeface="Arial"/>
              </a:rPr>
              <a:t>بلا سوالب معيَّنة</a:t>
            </a:r>
          </a:p>
        </p:txBody>
      </p:sp>
      <p:sp>
        <p:nvSpPr>
          <p:cNvPr id="21" name="بطاقة"/>
          <p:cNvSpPr/>
          <p:nvPr/>
        </p:nvSpPr>
        <p:spPr>
          <a:xfrm>
            <a:off x="6210147" y="4745736"/>
            <a:ext cx="2602153" cy="1426463"/>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1587" y="4837176"/>
            <a:ext cx="2419273" cy="713231"/>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1800" b="1" i="0" lang="ar-SA">
                <a:solidFill>
                  <a:srgbClr val="0F766E"/>
                </a:solidFill>
                <a:latin typeface="Arial"/>
                <a:cs typeface="Arial"/>
              </a:rPr>
              <a:t>المهمة A</a:t>
            </a:r>
          </a:p>
        </p:txBody>
      </p:sp>
      <p:sp>
        <p:nvSpPr>
          <p:cNvPr id="23" name="TextBox 22"/>
          <p:cNvSpPr txBox="1"/>
          <p:nvPr/>
        </p:nvSpPr>
        <p:spPr>
          <a:xfrm>
            <a:off x="6301587" y="5487497"/>
            <a:ext cx="2419273" cy="641908"/>
          </a:xfrm>
          <a:prstGeom prst="rect">
            <a:avLst/>
          </a:prstGeom>
          <a:noFill/>
        </p:spPr>
        <p:txBody>
          <a:bodyPr wrap="square" lIns="45720" rIns="45720" tIns="27432" bIns="27432" anchor="t">
            <a:spAutoFit/>
          </a:bodyPr>
          <a:lstStyle/>
          <a:p>
            <a:pPr rtl="1" algn="ctr">
              <a:lnSpc>
                <a:spcPct val="105000"/>
              </a:lnSpc>
              <a:spcBef>
                <a:spcPts val="0"/>
              </a:spcBef>
              <a:spcAft>
                <a:spcPts val="0"/>
              </a:spcAft>
            </a:pPr>
            <a:r>
              <a:rPr sz="1400" b="0" i="0" lang="ar-SA">
                <a:solidFill>
                  <a:srgbClr val="475569"/>
                </a:solidFill>
                <a:latin typeface="Arial"/>
                <a:cs typeface="Arial"/>
              </a:rPr>
              <a:t>موارد جديدة لم يزرها المتعلم</a:t>
            </a:r>
          </a:p>
        </p:txBody>
      </p:sp>
      <p:sp>
        <p:nvSpPr>
          <p:cNvPr id="24" name="بطاقة"/>
          <p:cNvSpPr/>
          <p:nvPr/>
        </p:nvSpPr>
        <p:spPr>
          <a:xfrm>
            <a:off x="3379393" y="4745736"/>
            <a:ext cx="2602153" cy="1426463"/>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0833" y="4837176"/>
            <a:ext cx="2419273" cy="713231"/>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1800" b="1" i="0" lang="ar-SA">
                <a:solidFill>
                  <a:srgbClr val="0F766E"/>
                </a:solidFill>
                <a:latin typeface="Arial"/>
                <a:cs typeface="Arial"/>
              </a:rPr>
              <a:t>وحدة التحليل: العرض</a:t>
            </a:r>
          </a:p>
        </p:txBody>
      </p:sp>
      <p:sp>
        <p:nvSpPr>
          <p:cNvPr id="26" name="TextBox 25"/>
          <p:cNvSpPr txBox="1"/>
          <p:nvPr/>
        </p:nvSpPr>
        <p:spPr>
          <a:xfrm>
            <a:off x="3470833" y="5487497"/>
            <a:ext cx="2419273" cy="641908"/>
          </a:xfrm>
          <a:prstGeom prst="rect">
            <a:avLst/>
          </a:prstGeom>
          <a:noFill/>
        </p:spPr>
        <p:txBody>
          <a:bodyPr wrap="square" lIns="45720" rIns="45720" tIns="27432" bIns="27432" anchor="t">
            <a:spAutoFit/>
          </a:bodyPr>
          <a:lstStyle/>
          <a:p>
            <a:pPr rtl="1" algn="ctr">
              <a:lnSpc>
                <a:spcPct val="105000"/>
              </a:lnSpc>
              <a:spcBef>
                <a:spcPts val="0"/>
              </a:spcBef>
              <a:spcAft>
                <a:spcPts val="0"/>
              </a:spcAft>
            </a:pPr>
            <a:r>
              <a:rPr sz="1400" b="0" i="0" lang="ar-SA">
                <a:solidFill>
                  <a:srgbClr val="475569"/>
                </a:solidFill>
                <a:latin typeface="Arial"/>
                <a:cs typeface="Arial"/>
              </a:rPr>
              <a:t>bootstrap-t عنقودي + هولم</a:t>
            </a:r>
          </a:p>
        </p:txBody>
      </p:sp>
      <p:sp>
        <p:nvSpPr>
          <p:cNvPr id="27" name="بطاقة"/>
          <p:cNvSpPr/>
          <p:nvPr/>
        </p:nvSpPr>
        <p:spPr>
          <a:xfrm>
            <a:off x="548639" y="4745736"/>
            <a:ext cx="2602153" cy="1426463"/>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79" y="4837176"/>
            <a:ext cx="2419273" cy="713231"/>
          </a:xfrm>
          <a:prstGeom prst="rect">
            <a:avLst/>
          </a:prstGeom>
          <a:noFill/>
        </p:spPr>
        <p:txBody>
          <a:bodyPr wrap="square" lIns="45720" rIns="45720" tIns="27432" bIns="27432" anchor="ctr">
            <a:spAutoFit/>
          </a:bodyPr>
          <a:lstStyle/>
          <a:p>
            <a:pPr rtl="1" algn="ctr">
              <a:lnSpc>
                <a:spcPct val="100000"/>
              </a:lnSpc>
              <a:spcBef>
                <a:spcPts val="0"/>
              </a:spcBef>
              <a:spcAft>
                <a:spcPts val="0"/>
              </a:spcAft>
            </a:pPr>
            <a:r>
              <a:rPr sz="1800" b="1" i="0" lang="ar-SA">
                <a:solidFill>
                  <a:srgbClr val="0F766E"/>
                </a:solidFill>
                <a:latin typeface="Arial"/>
                <a:cs typeface="Arial"/>
              </a:rPr>
              <a:t>الأثر العملي δ = 0.02</a:t>
            </a:r>
          </a:p>
        </p:txBody>
      </p:sp>
      <p:sp>
        <p:nvSpPr>
          <p:cNvPr id="29" name="TextBox 28"/>
          <p:cNvSpPr txBox="1"/>
          <p:nvPr/>
        </p:nvSpPr>
        <p:spPr>
          <a:xfrm>
            <a:off x="640079" y="5487497"/>
            <a:ext cx="2419273" cy="641908"/>
          </a:xfrm>
          <a:prstGeom prst="rect">
            <a:avLst/>
          </a:prstGeom>
          <a:noFill/>
        </p:spPr>
        <p:txBody>
          <a:bodyPr wrap="square" lIns="45720" rIns="45720" tIns="27432" bIns="27432" anchor="t">
            <a:spAutoFit/>
          </a:bodyPr>
          <a:lstStyle/>
          <a:p>
            <a:pPr rtl="1" algn="ctr">
              <a:lnSpc>
                <a:spcPct val="105000"/>
              </a:lnSpc>
              <a:spcBef>
                <a:spcPts val="0"/>
              </a:spcBef>
              <a:spcAft>
                <a:spcPts val="0"/>
              </a:spcAft>
            </a:pPr>
            <a:r>
              <a:rPr sz="1400" b="0" i="0" lang="ar-SA">
                <a:solidFill>
                  <a:srgbClr val="475569"/>
                </a:solidFill>
                <a:latin typeface="Arial"/>
                <a:cs typeface="Arial"/>
              </a:rPr>
              <a:t>في NDCG@10، مسجّل قبل 2014</a:t>
            </a:r>
          </a:p>
        </p:txBody>
      </p:sp>
      <p:sp>
        <p:nvSpPr>
          <p:cNvPr id="30"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31"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32"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التجميد ثم تشغيل واحد</a:t>
            </a:r>
          </a:p>
        </p:txBody>
      </p:sp>
      <p:sp>
        <p:nvSpPr>
          <p:cNvPr id="3" name="TextBox 2"/>
          <p:cNvSpPr txBox="1"/>
          <p:nvPr/>
        </p:nvSpPr>
        <p:spPr>
          <a:xfrm>
            <a:off x="548640" y="1417320"/>
            <a:ext cx="11094415" cy="45720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2000" b="1" i="0" lang="ar-SA">
                <a:solidFill>
                  <a:srgbClr val="475569"/>
                </a:solidFill>
                <a:latin typeface="Arial"/>
                <a:cs typeface="Arial"/>
              </a:rPr>
              <a:t>عشرة شروط للوسم freeze-03 قبل فتح بيانات 2014</a:t>
            </a:r>
          </a:p>
        </p:txBody>
      </p:sp>
      <p:sp>
        <p:nvSpPr>
          <p:cNvPr id="4" name="بطاقة"/>
          <p:cNvSpPr/>
          <p:nvPr/>
        </p:nvSpPr>
        <p:spPr>
          <a:xfrm>
            <a:off x="9643628" y="201168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رقم"/>
          <p:cNvSpPr/>
          <p:nvPr/>
        </p:nvSpPr>
        <p:spPr>
          <a:xfrm>
            <a:off x="10957255" y="214884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1</a:t>
            </a:r>
          </a:p>
        </p:txBody>
      </p:sp>
      <p:sp>
        <p:nvSpPr>
          <p:cNvPr id="6" name="TextBox 5"/>
          <p:cNvSpPr txBox="1"/>
          <p:nvPr/>
        </p:nvSpPr>
        <p:spPr>
          <a:xfrm>
            <a:off x="9735068" y="274320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الهجين بقاعدة الأرضية</a:t>
            </a:r>
          </a:p>
        </p:txBody>
      </p:sp>
      <p:sp>
        <p:nvSpPr>
          <p:cNvPr id="7" name="بطاقة"/>
          <p:cNvSpPr/>
          <p:nvPr/>
        </p:nvSpPr>
        <p:spPr>
          <a:xfrm>
            <a:off x="7369881" y="201168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رقم"/>
          <p:cNvSpPr/>
          <p:nvPr/>
        </p:nvSpPr>
        <p:spPr>
          <a:xfrm>
            <a:off x="8683508" y="214884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2</a:t>
            </a:r>
          </a:p>
        </p:txBody>
      </p:sp>
      <p:sp>
        <p:nvSpPr>
          <p:cNvPr id="9" name="TextBox 8"/>
          <p:cNvSpPr txBox="1"/>
          <p:nvPr/>
        </p:nvSpPr>
        <p:spPr>
          <a:xfrm>
            <a:off x="7461321" y="274320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MDE80 للفرضية H1</a:t>
            </a:r>
          </a:p>
        </p:txBody>
      </p:sp>
      <p:sp>
        <p:nvSpPr>
          <p:cNvPr id="10" name="بطاقة"/>
          <p:cNvSpPr/>
          <p:nvPr/>
        </p:nvSpPr>
        <p:spPr>
          <a:xfrm>
            <a:off x="5096134" y="201168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رقم"/>
          <p:cNvSpPr/>
          <p:nvPr/>
        </p:nvSpPr>
        <p:spPr>
          <a:xfrm>
            <a:off x="6409761" y="214884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3</a:t>
            </a:r>
          </a:p>
        </p:txBody>
      </p:sp>
      <p:sp>
        <p:nvSpPr>
          <p:cNvPr id="12" name="TextBox 11"/>
          <p:cNvSpPr txBox="1"/>
          <p:nvPr/>
        </p:nvSpPr>
        <p:spPr>
          <a:xfrm>
            <a:off x="5187574" y="274320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الهجين على المهمة B</a:t>
            </a:r>
          </a:p>
        </p:txBody>
      </p:sp>
      <p:sp>
        <p:nvSpPr>
          <p:cNvPr id="13" name="بطاقة"/>
          <p:cNvSpPr/>
          <p:nvPr/>
        </p:nvSpPr>
        <p:spPr>
          <a:xfrm>
            <a:off x="2822387" y="201168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رقم"/>
          <p:cNvSpPr/>
          <p:nvPr/>
        </p:nvSpPr>
        <p:spPr>
          <a:xfrm>
            <a:off x="4136014" y="214884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4</a:t>
            </a:r>
          </a:p>
        </p:txBody>
      </p:sp>
      <p:sp>
        <p:nvSpPr>
          <p:cNvPr id="15" name="TextBox 14"/>
          <p:cNvSpPr txBox="1"/>
          <p:nvPr/>
        </p:nvSpPr>
        <p:spPr>
          <a:xfrm>
            <a:off x="2913827" y="274320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نماذج الخطر النهائية</a:t>
            </a:r>
          </a:p>
        </p:txBody>
      </p:sp>
      <p:sp>
        <p:nvSpPr>
          <p:cNvPr id="16" name="بطاقة"/>
          <p:cNvSpPr/>
          <p:nvPr/>
        </p:nvSpPr>
        <p:spPr>
          <a:xfrm>
            <a:off x="548639" y="201168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رقم"/>
          <p:cNvSpPr/>
          <p:nvPr/>
        </p:nvSpPr>
        <p:spPr>
          <a:xfrm>
            <a:off x="1862267" y="214884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5</a:t>
            </a:r>
          </a:p>
        </p:txBody>
      </p:sp>
      <p:sp>
        <p:nvSpPr>
          <p:cNvPr id="18" name="TextBox 17"/>
          <p:cNvSpPr txBox="1"/>
          <p:nvPr/>
        </p:nvSpPr>
        <p:spPr>
          <a:xfrm>
            <a:off x="640079" y="274320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إعادة إنتاج التطوير</a:t>
            </a:r>
          </a:p>
        </p:txBody>
      </p:sp>
      <p:sp>
        <p:nvSpPr>
          <p:cNvPr id="19" name="بطاقة"/>
          <p:cNvSpPr/>
          <p:nvPr/>
        </p:nvSpPr>
        <p:spPr>
          <a:xfrm>
            <a:off x="9643628" y="363474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رقم"/>
          <p:cNvSpPr/>
          <p:nvPr/>
        </p:nvSpPr>
        <p:spPr>
          <a:xfrm>
            <a:off x="10957255" y="377190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6</a:t>
            </a:r>
          </a:p>
        </p:txBody>
      </p:sp>
      <p:sp>
        <p:nvSpPr>
          <p:cNvPr id="21" name="TextBox 20"/>
          <p:cNvSpPr txBox="1"/>
          <p:nvPr/>
        </p:nvSpPr>
        <p:spPr>
          <a:xfrm>
            <a:off x="9735068" y="436626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ملف التهيئة + SHA-256</a:t>
            </a:r>
          </a:p>
        </p:txBody>
      </p:sp>
      <p:sp>
        <p:nvSpPr>
          <p:cNvPr id="22" name="بطاقة"/>
          <p:cNvSpPr/>
          <p:nvPr/>
        </p:nvSpPr>
        <p:spPr>
          <a:xfrm>
            <a:off x="7369881" y="363474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رقم"/>
          <p:cNvSpPr/>
          <p:nvPr/>
        </p:nvSpPr>
        <p:spPr>
          <a:xfrm>
            <a:off x="8683508" y="377190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7</a:t>
            </a:r>
          </a:p>
        </p:txBody>
      </p:sp>
      <p:sp>
        <p:nvSpPr>
          <p:cNvPr id="24" name="TextBox 23"/>
          <p:cNvSpPr txBox="1"/>
          <p:nvPr/>
        </p:nvSpPr>
        <p:spPr>
          <a:xfrm>
            <a:off x="7461321" y="436626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تشغيل جاف كامل على 2013</a:t>
            </a:r>
          </a:p>
        </p:txBody>
      </p:sp>
      <p:sp>
        <p:nvSpPr>
          <p:cNvPr id="25" name="بطاقة"/>
          <p:cNvSpPr/>
          <p:nvPr/>
        </p:nvSpPr>
        <p:spPr>
          <a:xfrm>
            <a:off x="5096134" y="363474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رقم"/>
          <p:cNvSpPr/>
          <p:nvPr/>
        </p:nvSpPr>
        <p:spPr>
          <a:xfrm>
            <a:off x="6409761" y="377190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8</a:t>
            </a:r>
          </a:p>
        </p:txBody>
      </p:sp>
      <p:sp>
        <p:nvSpPr>
          <p:cNvPr id="27" name="TextBox 26"/>
          <p:cNvSpPr txBox="1"/>
          <p:nvPr/>
        </p:nvSpPr>
        <p:spPr>
          <a:xfrm>
            <a:off x="5187574" y="436626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مراجعة آلية بدور الزميل</a:t>
            </a:r>
          </a:p>
        </p:txBody>
      </p:sp>
      <p:sp>
        <p:nvSpPr>
          <p:cNvPr id="28" name="بطاقة"/>
          <p:cNvSpPr/>
          <p:nvPr/>
        </p:nvSpPr>
        <p:spPr>
          <a:xfrm>
            <a:off x="2822387" y="363474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رقم"/>
          <p:cNvSpPr/>
          <p:nvPr/>
        </p:nvSpPr>
        <p:spPr>
          <a:xfrm>
            <a:off x="4136014" y="377190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9</a:t>
            </a:r>
          </a:p>
        </p:txBody>
      </p:sp>
      <p:sp>
        <p:nvSpPr>
          <p:cNvPr id="30" name="TextBox 29"/>
          <p:cNvSpPr txBox="1"/>
          <p:nvPr/>
        </p:nvSpPr>
        <p:spPr>
          <a:xfrm>
            <a:off x="2913827" y="436626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تحديث الوثيقة 02 وREADME</a:t>
            </a:r>
          </a:p>
        </p:txBody>
      </p:sp>
      <p:sp>
        <p:nvSpPr>
          <p:cNvPr id="31" name="بطاقة"/>
          <p:cNvSpPr/>
          <p:nvPr/>
        </p:nvSpPr>
        <p:spPr>
          <a:xfrm>
            <a:off x="548639" y="3634740"/>
            <a:ext cx="1999427" cy="13487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رقم"/>
          <p:cNvSpPr/>
          <p:nvPr/>
        </p:nvSpPr>
        <p:spPr>
          <a:xfrm>
            <a:off x="1862267" y="377190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500" b="1" i="0" lang="ar-SA">
                <a:solidFill>
                  <a:srgbClr val="FFFFFF"/>
                </a:solidFill>
                <a:latin typeface="Arial"/>
                <a:cs typeface="Arial"/>
              </a:rPr>
              <a:t>10</a:t>
            </a:r>
          </a:p>
        </p:txBody>
      </p:sp>
      <p:sp>
        <p:nvSpPr>
          <p:cNvPr id="33" name="TextBox 32"/>
          <p:cNvSpPr txBox="1"/>
          <p:nvPr/>
        </p:nvSpPr>
        <p:spPr>
          <a:xfrm>
            <a:off x="640079" y="4366260"/>
            <a:ext cx="1816547" cy="525780"/>
          </a:xfrm>
          <a:prstGeom prst="rect">
            <a:avLst/>
          </a:prstGeom>
          <a:noFill/>
        </p:spPr>
        <p:txBody>
          <a:bodyPr wrap="square" lIns="45720" rIns="45720" tIns="27432" bIns="27432" anchor="t">
            <a:spAutoFit/>
          </a:bodyPr>
          <a:lstStyle/>
          <a:p>
            <a:pPr rtl="1" algn="r">
              <a:lnSpc>
                <a:spcPct val="105000"/>
              </a:lnSpc>
              <a:spcBef>
                <a:spcPts val="0"/>
              </a:spcBef>
              <a:spcAft>
                <a:spcPts val="0"/>
              </a:spcAft>
            </a:pPr>
            <a:r>
              <a:rPr sz="1700" b="1" i="0" lang="ar-SA">
                <a:solidFill>
                  <a:srgbClr val="134E4A"/>
                </a:solidFill>
                <a:latin typeface="Arial"/>
                <a:cs typeface="Arial"/>
              </a:rPr>
              <a:t>توقيع المشرف ثم الوسم</a:t>
            </a:r>
          </a:p>
        </p:txBody>
      </p:sp>
      <p:sp>
        <p:nvSpPr>
          <p:cNvPr id="34" name="خلاصة"/>
          <p:cNvSpPr/>
          <p:nvPr/>
        </p:nvSpPr>
        <p:spPr>
          <a:xfrm>
            <a:off x="548640" y="5120640"/>
            <a:ext cx="11094415" cy="1005840"/>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 bIns="18288"/>
          <a:lstStyle/>
          <a:p>
            <a:pPr algn="r" rtl="1"/>
            <a:r>
              <a:rPr sz="2200" b="1" i="0" lang="ar-SA">
                <a:solidFill>
                  <a:srgbClr val="FFFFFF"/>
                </a:solidFill>
                <a:latin typeface="Arial"/>
                <a:cs typeface="Arial"/>
              </a:rPr>
              <a:t>بعد الوسم: تشغيل تأكيدي واحد بطورين وقفل SHA-256 للأحكام بينهما؛ والاستئناف بعد تعطل بيئي مأذون ومسجَّل</a:t>
            </a:r>
          </a:p>
        </p:txBody>
      </p:sp>
      <p:sp>
        <p:nvSpPr>
          <p:cNvPr id="35"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36"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37"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المعمارية: خمس طبقات باتجاه اعتماد واحد</a:t>
            </a:r>
          </a:p>
        </p:txBody>
      </p:sp>
      <p:pic>
        <p:nvPicPr>
          <p:cNvPr id="3" name="صورة" descr="الشكل: المعمارية الطبقية للمكوّنات (إعداد الباحث)"/>
          <p:cNvPicPr>
            <a:picLocks noChangeAspect="1"/>
          </p:cNvPicPr>
          <p:nvPr/>
        </p:nvPicPr>
        <p:blipFill>
          <a:blip r:embed="rId2"/>
          <a:stretch>
            <a:fillRect/>
          </a:stretch>
        </p:blipFill>
        <p:spPr>
          <a:xfrm>
            <a:off x="548640" y="1371600"/>
            <a:ext cx="5551098" cy="4526279"/>
          </a:xfrm>
          <a:prstGeom prst="rect">
            <a:avLst/>
          </a:prstGeom>
          <a:ln w="12700">
            <a:solidFill>
              <a:srgbClr val="CBD5E1"/>
            </a:solidFill>
          </a:ln>
        </p:spPr>
      </p:pic>
      <p:sp>
        <p:nvSpPr>
          <p:cNvPr id="4" name="TextBox 3"/>
          <p:cNvSpPr txBox="1"/>
          <p:nvPr/>
        </p:nvSpPr>
        <p:spPr>
          <a:xfrm>
            <a:off x="548640" y="5943599"/>
            <a:ext cx="5551098" cy="36576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1300" b="0" i="0" lang="ar-SA">
                <a:solidFill>
                  <a:srgbClr val="475569"/>
                </a:solidFill>
                <a:latin typeface="Arial"/>
                <a:cs typeface="Arial"/>
              </a:rPr>
              <a:t>الشكل: المعمارية الطبقية للمكوّنات (إعداد الباحث)</a:t>
            </a:r>
          </a:p>
        </p:txBody>
      </p:sp>
      <p:sp>
        <p:nvSpPr>
          <p:cNvPr id="5" name="بطاقة"/>
          <p:cNvSpPr/>
          <p:nvPr/>
        </p:nvSpPr>
        <p:spPr>
          <a:xfrm>
            <a:off x="6465498" y="1371600"/>
            <a:ext cx="5177557"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رقم"/>
          <p:cNvSpPr/>
          <p:nvPr/>
        </p:nvSpPr>
        <p:spPr>
          <a:xfrm>
            <a:off x="10957255" y="15544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1</a:t>
            </a:r>
          </a:p>
        </p:txBody>
      </p:sp>
      <p:sp>
        <p:nvSpPr>
          <p:cNvPr id="7" name="TextBox 6"/>
          <p:cNvSpPr txBox="1"/>
          <p:nvPr/>
        </p:nvSpPr>
        <p:spPr>
          <a:xfrm>
            <a:off x="6602658" y="1444752"/>
            <a:ext cx="4263157"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خط التجارب</a:t>
            </a:r>
          </a:p>
        </p:txBody>
      </p:sp>
      <p:sp>
        <p:nvSpPr>
          <p:cNvPr id="8" name="TextBox 7"/>
          <p:cNvSpPr txBox="1"/>
          <p:nvPr/>
        </p:nvSpPr>
        <p:spPr>
          <a:xfrm>
            <a:off x="6602658" y="2084832"/>
            <a:ext cx="4903237"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يُنتج النتائج ومخرجات القطوع</a:t>
            </a:r>
          </a:p>
        </p:txBody>
      </p:sp>
      <p:sp>
        <p:nvSpPr>
          <p:cNvPr id="9" name="بطاقة"/>
          <p:cNvSpPr/>
          <p:nvPr/>
        </p:nvSpPr>
        <p:spPr>
          <a:xfrm>
            <a:off x="6465498" y="3047999"/>
            <a:ext cx="5177557"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رقم"/>
          <p:cNvSpPr/>
          <p:nvPr/>
        </p:nvSpPr>
        <p:spPr>
          <a:xfrm>
            <a:off x="10957255" y="32308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2</a:t>
            </a:r>
          </a:p>
        </p:txBody>
      </p:sp>
      <p:sp>
        <p:nvSpPr>
          <p:cNvPr id="11" name="TextBox 10"/>
          <p:cNvSpPr txBox="1"/>
          <p:nvPr/>
        </p:nvSpPr>
        <p:spPr>
          <a:xfrm>
            <a:off x="6602658" y="3121152"/>
            <a:ext cx="4263157"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serving.Engine</a:t>
            </a:r>
          </a:p>
        </p:txBody>
      </p:sp>
      <p:sp>
        <p:nvSpPr>
          <p:cNvPr id="12" name="TextBox 11"/>
          <p:cNvSpPr txBox="1"/>
          <p:nvPr/>
        </p:nvSpPr>
        <p:spPr>
          <a:xfrm>
            <a:off x="6602658" y="3761232"/>
            <a:ext cx="4903237"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المكان الوحيد لحساب التوصية والتفسير</a:t>
            </a:r>
          </a:p>
        </p:txBody>
      </p:sp>
      <p:sp>
        <p:nvSpPr>
          <p:cNvPr id="13" name="بطاقة"/>
          <p:cNvSpPr/>
          <p:nvPr/>
        </p:nvSpPr>
        <p:spPr>
          <a:xfrm>
            <a:off x="6465498" y="4724399"/>
            <a:ext cx="5177557"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رقم"/>
          <p:cNvSpPr/>
          <p:nvPr/>
        </p:nvSpPr>
        <p:spPr>
          <a:xfrm>
            <a:off x="10957255" y="49072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3</a:t>
            </a:r>
          </a:p>
        </p:txBody>
      </p:sp>
      <p:sp>
        <p:nvSpPr>
          <p:cNvPr id="15" name="TextBox 14"/>
          <p:cNvSpPr txBox="1"/>
          <p:nvPr/>
        </p:nvSpPr>
        <p:spPr>
          <a:xfrm>
            <a:off x="6602658" y="4797551"/>
            <a:ext cx="4263157"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الواجهة</a:t>
            </a:r>
          </a:p>
        </p:txBody>
      </p:sp>
      <p:sp>
        <p:nvSpPr>
          <p:cNvPr id="16" name="TextBox 15"/>
          <p:cNvSpPr txBox="1"/>
          <p:nvPr/>
        </p:nvSpPr>
        <p:spPr>
          <a:xfrm>
            <a:off x="6602658" y="5437632"/>
            <a:ext cx="4903237"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صفحتا المتعلم والمدرّس</a:t>
            </a:r>
          </a:p>
        </p:txBody>
      </p:sp>
      <p:sp>
        <p:nvSpPr>
          <p:cNvPr id="17"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8"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9"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واجهة المتعلم: أفضل 10 موارد جديدة مع تفسير</a:t>
            </a:r>
          </a:p>
        </p:txBody>
      </p:sp>
      <p:pic>
        <p:nvPicPr>
          <p:cNvPr id="3" name="صورة" descr="لقطة توضيحية لصفحة المتعلم (إعادة تشغيل تاريخية)"/>
          <p:cNvPicPr>
            <a:picLocks noChangeAspect="1"/>
          </p:cNvPicPr>
          <p:nvPr/>
        </p:nvPicPr>
        <p:blipFill>
          <a:blip r:embed="rId2"/>
          <a:srcRect b="50000"/>
          <a:stretch>
            <a:fillRect/>
          </a:stretch>
        </p:blipFill>
        <p:spPr>
          <a:xfrm>
            <a:off x="548640" y="1371600"/>
            <a:ext cx="6018322" cy="4526279"/>
          </a:xfrm>
          <a:prstGeom prst="rect">
            <a:avLst/>
          </a:prstGeom>
          <a:ln w="12700">
            <a:solidFill>
              <a:srgbClr val="CBD5E1"/>
            </a:solidFill>
          </a:ln>
        </p:spPr>
      </p:pic>
      <p:sp>
        <p:nvSpPr>
          <p:cNvPr id="4" name="TextBox 3"/>
          <p:cNvSpPr txBox="1"/>
          <p:nvPr/>
        </p:nvSpPr>
        <p:spPr>
          <a:xfrm>
            <a:off x="548640" y="5943599"/>
            <a:ext cx="6018322" cy="36576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1300" b="0" i="0" lang="ar-SA">
                <a:solidFill>
                  <a:srgbClr val="475569"/>
                </a:solidFill>
                <a:latin typeface="Arial"/>
                <a:cs typeface="Arial"/>
              </a:rPr>
              <a:t>لقطة توضيحية لصفحة المتعلم (إعادة تشغيل تاريخية)</a:t>
            </a:r>
          </a:p>
        </p:txBody>
      </p:sp>
      <p:sp>
        <p:nvSpPr>
          <p:cNvPr id="5" name="بطاقة"/>
          <p:cNvSpPr/>
          <p:nvPr/>
        </p:nvSpPr>
        <p:spPr>
          <a:xfrm>
            <a:off x="6932722" y="1371600"/>
            <a:ext cx="4710332"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رقم"/>
          <p:cNvSpPr/>
          <p:nvPr/>
        </p:nvSpPr>
        <p:spPr>
          <a:xfrm>
            <a:off x="10957255" y="15544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1</a:t>
            </a:r>
          </a:p>
        </p:txBody>
      </p:sp>
      <p:sp>
        <p:nvSpPr>
          <p:cNvPr id="7" name="TextBox 6"/>
          <p:cNvSpPr txBox="1"/>
          <p:nvPr/>
        </p:nvSpPr>
        <p:spPr>
          <a:xfrm>
            <a:off x="7069882" y="1444752"/>
            <a:ext cx="3795932"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شريط اليوم</a:t>
            </a:r>
          </a:p>
        </p:txBody>
      </p:sp>
      <p:sp>
        <p:nvSpPr>
          <p:cNvPr id="8" name="TextBox 7"/>
          <p:cNvSpPr txBox="1"/>
          <p:nvPr/>
        </p:nvSpPr>
        <p:spPr>
          <a:xfrm>
            <a:off x="7069882" y="2084832"/>
            <a:ext cx="4436012"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إعادة تشغيل تاريخية عند أي يوم وقطع</a:t>
            </a:r>
          </a:p>
        </p:txBody>
      </p:sp>
      <p:sp>
        <p:nvSpPr>
          <p:cNvPr id="9" name="بطاقة"/>
          <p:cNvSpPr/>
          <p:nvPr/>
        </p:nvSpPr>
        <p:spPr>
          <a:xfrm>
            <a:off x="6932722" y="3047999"/>
            <a:ext cx="4710332"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رقم"/>
          <p:cNvSpPr/>
          <p:nvPr/>
        </p:nvSpPr>
        <p:spPr>
          <a:xfrm>
            <a:off x="10957255" y="32308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2</a:t>
            </a:r>
          </a:p>
        </p:txBody>
      </p:sp>
      <p:sp>
        <p:nvSpPr>
          <p:cNvPr id="11" name="TextBox 10"/>
          <p:cNvSpPr txBox="1"/>
          <p:nvPr/>
        </p:nvSpPr>
        <p:spPr>
          <a:xfrm>
            <a:off x="7069882" y="3121152"/>
            <a:ext cx="3795932"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بطاقة لكل مورد</a:t>
            </a:r>
          </a:p>
        </p:txBody>
      </p:sp>
      <p:sp>
        <p:nvSpPr>
          <p:cNvPr id="12" name="TextBox 11"/>
          <p:cNvSpPr txBox="1"/>
          <p:nvPr/>
        </p:nvSpPr>
        <p:spPr>
          <a:xfrm>
            <a:off x="7069882" y="3761232"/>
            <a:ext cx="4436012"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الدرجة وجملة سبب بسيطة</a:t>
            </a:r>
          </a:p>
        </p:txBody>
      </p:sp>
      <p:sp>
        <p:nvSpPr>
          <p:cNvPr id="13" name="بطاقة"/>
          <p:cNvSpPr/>
          <p:nvPr/>
        </p:nvSpPr>
        <p:spPr>
          <a:xfrm>
            <a:off x="6932722" y="4724399"/>
            <a:ext cx="4710332"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رقم"/>
          <p:cNvSpPr/>
          <p:nvPr/>
        </p:nvSpPr>
        <p:spPr>
          <a:xfrm>
            <a:off x="10957255" y="49072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3</a:t>
            </a:r>
          </a:p>
        </p:txBody>
      </p:sp>
      <p:sp>
        <p:nvSpPr>
          <p:cNvPr id="15" name="TextBox 14"/>
          <p:cNvSpPr txBox="1"/>
          <p:nvPr/>
        </p:nvSpPr>
        <p:spPr>
          <a:xfrm>
            <a:off x="7069882" y="4797551"/>
            <a:ext cx="3795932"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مساهمة المكوّنات</a:t>
            </a:r>
          </a:p>
        </p:txBody>
      </p:sp>
      <p:sp>
        <p:nvSpPr>
          <p:cNvPr id="16" name="TextBox 15"/>
          <p:cNvSpPr txBox="1"/>
          <p:nvPr/>
        </p:nvSpPr>
        <p:spPr>
          <a:xfrm>
            <a:off x="7069882" y="5437632"/>
            <a:ext cx="4436012"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شريط ملوّن واسم المكوّن نصاً</a:t>
            </a:r>
          </a:p>
        </p:txBody>
      </p:sp>
      <p:sp>
        <p:nvSpPr>
          <p:cNvPr id="17"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8"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9"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لوحة المدرّس: درجة خطر نسبية وملف المتعلم</a:t>
            </a:r>
          </a:p>
        </p:txBody>
      </p:sp>
      <p:pic>
        <p:nvPicPr>
          <p:cNvPr id="3" name="صورة" descr="لقطة توضيحية: درج ملف المتعلم"/>
          <p:cNvPicPr>
            <a:picLocks noChangeAspect="1"/>
          </p:cNvPicPr>
          <p:nvPr/>
        </p:nvPicPr>
        <p:blipFill>
          <a:blip r:embed="rId2"/>
          <a:stretch>
            <a:fillRect/>
          </a:stretch>
        </p:blipFill>
        <p:spPr>
          <a:xfrm>
            <a:off x="548640" y="1405889"/>
            <a:ext cx="7132320" cy="4457700"/>
          </a:xfrm>
          <a:prstGeom prst="rect">
            <a:avLst/>
          </a:prstGeom>
          <a:ln w="12700">
            <a:solidFill>
              <a:srgbClr val="CBD5E1"/>
            </a:solidFill>
          </a:ln>
        </p:spPr>
      </p:pic>
      <p:sp>
        <p:nvSpPr>
          <p:cNvPr id="4" name="TextBox 3"/>
          <p:cNvSpPr txBox="1"/>
          <p:nvPr/>
        </p:nvSpPr>
        <p:spPr>
          <a:xfrm>
            <a:off x="548640" y="5909309"/>
            <a:ext cx="7132320" cy="36576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1300" b="0" i="0" lang="ar-SA">
                <a:solidFill>
                  <a:srgbClr val="475569"/>
                </a:solidFill>
                <a:latin typeface="Arial"/>
                <a:cs typeface="Arial"/>
              </a:rPr>
              <a:t>لقطة توضيحية: درج ملف المتعلم</a:t>
            </a:r>
          </a:p>
        </p:txBody>
      </p:sp>
      <p:sp>
        <p:nvSpPr>
          <p:cNvPr id="5" name="بطاقة"/>
          <p:cNvSpPr/>
          <p:nvPr/>
        </p:nvSpPr>
        <p:spPr>
          <a:xfrm>
            <a:off x="8046719" y="1371600"/>
            <a:ext cx="3596335"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رقم"/>
          <p:cNvSpPr/>
          <p:nvPr/>
        </p:nvSpPr>
        <p:spPr>
          <a:xfrm>
            <a:off x="10957255" y="15544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1</a:t>
            </a:r>
          </a:p>
        </p:txBody>
      </p:sp>
      <p:sp>
        <p:nvSpPr>
          <p:cNvPr id="7" name="TextBox 6"/>
          <p:cNvSpPr txBox="1"/>
          <p:nvPr/>
        </p:nvSpPr>
        <p:spPr>
          <a:xfrm>
            <a:off x="8183879" y="1444752"/>
            <a:ext cx="2681935"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اللوحة من اليوم 56</a:t>
            </a:r>
          </a:p>
        </p:txBody>
      </p:sp>
      <p:sp>
        <p:nvSpPr>
          <p:cNvPr id="8" name="TextBox 7"/>
          <p:cNvSpPr txBox="1"/>
          <p:nvPr/>
        </p:nvSpPr>
        <p:spPr>
          <a:xfrm>
            <a:off x="8183879" y="2084832"/>
            <a:ext cx="3322015"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أول لقطة عناقيد؛ القطوع 56 و112</a:t>
            </a:r>
          </a:p>
        </p:txBody>
      </p:sp>
      <p:sp>
        <p:nvSpPr>
          <p:cNvPr id="9" name="بطاقة"/>
          <p:cNvSpPr/>
          <p:nvPr/>
        </p:nvSpPr>
        <p:spPr>
          <a:xfrm>
            <a:off x="8046719" y="3047999"/>
            <a:ext cx="3596335"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رقم"/>
          <p:cNvSpPr/>
          <p:nvPr/>
        </p:nvSpPr>
        <p:spPr>
          <a:xfrm>
            <a:off x="10957255" y="32308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2</a:t>
            </a:r>
          </a:p>
        </p:txBody>
      </p:sp>
      <p:sp>
        <p:nvSpPr>
          <p:cNvPr id="11" name="TextBox 10"/>
          <p:cNvSpPr txBox="1"/>
          <p:nvPr/>
        </p:nvSpPr>
        <p:spPr>
          <a:xfrm>
            <a:off x="8183879" y="3121152"/>
            <a:ext cx="2681935"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درجة خطر نسبية (غير معايَرة)</a:t>
            </a:r>
          </a:p>
        </p:txBody>
      </p:sp>
      <p:sp>
        <p:nvSpPr>
          <p:cNvPr id="12" name="TextBox 11"/>
          <p:cNvSpPr txBox="1"/>
          <p:nvPr/>
        </p:nvSpPr>
        <p:spPr>
          <a:xfrm>
            <a:off x="8183879" y="3761232"/>
            <a:ext cx="3322015"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للمدرّس فقط، لا احتمال ولا نسبة</a:t>
            </a:r>
          </a:p>
        </p:txBody>
      </p:sp>
      <p:sp>
        <p:nvSpPr>
          <p:cNvPr id="13" name="بطاقة"/>
          <p:cNvSpPr/>
          <p:nvPr/>
        </p:nvSpPr>
        <p:spPr>
          <a:xfrm>
            <a:off x="8046719" y="4724399"/>
            <a:ext cx="3596335"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رقم"/>
          <p:cNvSpPr/>
          <p:nvPr/>
        </p:nvSpPr>
        <p:spPr>
          <a:xfrm>
            <a:off x="10957255" y="49072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3</a:t>
            </a:r>
          </a:p>
        </p:txBody>
      </p:sp>
      <p:sp>
        <p:nvSpPr>
          <p:cNvPr id="15" name="TextBox 14"/>
          <p:cNvSpPr txBox="1"/>
          <p:nvPr/>
        </p:nvSpPr>
        <p:spPr>
          <a:xfrm>
            <a:off x="8183879" y="4797551"/>
            <a:ext cx="2681935"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اتساع التوصيات والتشخيص</a:t>
            </a:r>
          </a:p>
        </p:txBody>
      </p:sp>
      <p:sp>
        <p:nvSpPr>
          <p:cNvPr id="16" name="TextBox 15"/>
          <p:cNvSpPr txBox="1"/>
          <p:nvPr/>
        </p:nvSpPr>
        <p:spPr>
          <a:xfrm>
            <a:off x="8183879" y="5437632"/>
            <a:ext cx="3322015"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بطاقة اتساع وتشخيص التجميع الداخلي</a:t>
            </a:r>
          </a:p>
        </p:txBody>
      </p:sp>
      <p:sp>
        <p:nvSpPr>
          <p:cNvPr id="17"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8"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9"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نتائج التطوير 2013 — وصفية</a:t>
            </a:r>
          </a:p>
        </p:txBody>
      </p:sp>
      <p:sp>
        <p:nvSpPr>
          <p:cNvPr id="3" name="شريط الحالة"/>
          <p:cNvSpPr/>
          <p:nvPr/>
        </p:nvSpPr>
        <p:spPr>
          <a:xfrm>
            <a:off x="548640" y="1261872"/>
            <a:ext cx="11094415" cy="420624"/>
          </a:xfrm>
          <a:prstGeom prst="roundRect">
            <a:avLst>
              <a:gd name="adj" fmla="val 25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228600" tIns="18288" bIns="18288"/>
          <a:lstStyle/>
          <a:p>
            <a:pPr algn="r" rtl="1"/>
            <a:r>
              <a:rPr sz="1500" b="1" i="0" lang="ar-SA">
                <a:solidFill>
                  <a:srgbClr val="134E4A"/>
                </a:solidFill>
                <a:latin typeface="Arial"/>
                <a:cs typeface="Arial"/>
              </a:rPr>
              <a:t>تطوير — وصفي: ليست اختباراً للفرضيات</a:t>
            </a:r>
          </a:p>
        </p:txBody>
      </p:sp>
      <p:sp>
        <p:nvSpPr>
          <p:cNvPr id="4" name="عنوان المخطط"/>
          <p:cNvSpPr txBox="1"/>
          <p:nvPr/>
        </p:nvSpPr>
        <p:spPr>
          <a:xfrm>
            <a:off x="4480559" y="1874519"/>
            <a:ext cx="7162495" cy="4114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600" b="1" i="0" lang="ar-SA">
                <a:solidFill>
                  <a:srgbClr val="134E4A"/>
                </a:solidFill>
                <a:latin typeface="Arial"/>
                <a:cs typeface="Arial"/>
              </a:rPr>
              <a:t>الموارد الجديدة: متوسط NDCG@10 عبر 9 عروض</a:t>
            </a:r>
          </a:p>
        </p:txBody>
      </p:sp>
      <p:graphicFrame>
        <p:nvGraphicFramePr>
          <p:cNvPr id="5" name="مخطط أعمدة"/>
          <p:cNvGraphicFramePr>
            <a:graphicFrameLocks noGrp="1"/>
          </p:cNvGraphicFramePr>
          <p:nvPr/>
        </p:nvGraphicFramePr>
        <p:xfrm>
          <a:off x="4480559" y="2331720"/>
          <a:ext cx="7162495" cy="3429000"/>
        </p:xfrm>
        <a:graphic>
          <a:graphicData uri="http://schemas.openxmlformats.org/drawingml/2006/chart">
            <c:chart xmlns:c="http://schemas.openxmlformats.org/drawingml/2006/chart" r:id="rId2"/>
          </a:graphicData>
        </a:graphic>
      </p:graphicFrame>
      <p:sp>
        <p:nvSpPr>
          <p:cNvPr id="6" name="بطاقة"/>
          <p:cNvSpPr/>
          <p:nvPr/>
        </p:nvSpPr>
        <p:spPr>
          <a:xfrm>
            <a:off x="548640" y="1874519"/>
            <a:ext cx="3657600" cy="11430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39"/>
            <a:ext cx="3474720" cy="43434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3200" b="1" i="0" lang="ar-SA">
                <a:solidFill>
                  <a:srgbClr val="B45309"/>
                </a:solidFill>
                <a:latin typeface="Arial"/>
                <a:cs typeface="Arial"/>
              </a:rPr>
              <a:t>‎0.541‎</a:t>
            </a:r>
          </a:p>
        </p:txBody>
      </p:sp>
      <p:sp>
        <p:nvSpPr>
          <p:cNvPr id="8" name="TextBox 7"/>
          <p:cNvSpPr txBox="1"/>
          <p:nvPr/>
        </p:nvSpPr>
        <p:spPr>
          <a:xfrm>
            <a:off x="685800" y="2354579"/>
            <a:ext cx="3383280" cy="640080"/>
          </a:xfrm>
          <a:prstGeom prst="rect">
            <a:avLst/>
          </a:prstGeom>
          <a:noFill/>
        </p:spPr>
        <p:txBody>
          <a:bodyPr wrap="square" lIns="45720" rIns="45720" tIns="27432" bIns="27432" anchor="t">
            <a:spAutoFit/>
          </a:bodyPr>
          <a:lstStyle/>
          <a:p>
            <a:pPr rtl="1" algn="ctr">
              <a:lnSpc>
                <a:spcPct val="105000"/>
              </a:lnSpc>
              <a:spcBef>
                <a:spcPts val="0"/>
              </a:spcBef>
              <a:spcAft>
                <a:spcPts val="0"/>
              </a:spcAft>
            </a:pPr>
            <a:r>
              <a:rPr sz="1400" b="0" i="0" lang="ar-SA">
                <a:solidFill>
                  <a:srgbClr val="475569"/>
                </a:solidFill>
                <a:latin typeface="Arial"/>
                <a:cs typeface="Arial"/>
              </a:rPr>
              <a:t>الشعبية الآنية B3: أعلى خط أساس</a:t>
            </a:r>
          </a:p>
        </p:txBody>
      </p:sp>
      <p:sp>
        <p:nvSpPr>
          <p:cNvPr id="9" name="بطاقة"/>
          <p:cNvSpPr/>
          <p:nvPr/>
        </p:nvSpPr>
        <p:spPr>
          <a:xfrm>
            <a:off x="548640" y="3246120"/>
            <a:ext cx="3657600" cy="11430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291839"/>
            <a:ext cx="3474720" cy="43434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3200" b="1" i="0" lang="ar-SA">
                <a:solidFill>
                  <a:srgbClr val="0F766E"/>
                </a:solidFill>
                <a:latin typeface="Arial"/>
                <a:cs typeface="Arial"/>
              </a:rPr>
              <a:t>‎0.531‎</a:t>
            </a:r>
          </a:p>
        </p:txBody>
      </p:sp>
      <p:sp>
        <p:nvSpPr>
          <p:cNvPr id="11" name="TextBox 10"/>
          <p:cNvSpPr txBox="1"/>
          <p:nvPr/>
        </p:nvSpPr>
        <p:spPr>
          <a:xfrm>
            <a:off x="685800" y="3726180"/>
            <a:ext cx="3383280" cy="640080"/>
          </a:xfrm>
          <a:prstGeom prst="rect">
            <a:avLst/>
          </a:prstGeom>
          <a:noFill/>
        </p:spPr>
        <p:txBody>
          <a:bodyPr wrap="square" lIns="45720" rIns="45720" tIns="27432" bIns="27432" anchor="t">
            <a:spAutoFit/>
          </a:bodyPr>
          <a:lstStyle/>
          <a:p>
            <a:pPr rtl="1" algn="ctr">
              <a:lnSpc>
                <a:spcPct val="105000"/>
              </a:lnSpc>
              <a:spcBef>
                <a:spcPts val="0"/>
              </a:spcBef>
              <a:spcAft>
                <a:spcPts val="0"/>
              </a:spcAft>
            </a:pPr>
            <a:r>
              <a:rPr sz="1400" b="0" i="0" lang="ar-SA">
                <a:solidFill>
                  <a:srgbClr val="475569"/>
                </a:solidFill>
                <a:latin typeface="Arial"/>
                <a:cs typeface="Arial"/>
              </a:rPr>
              <a:t>SKNN: أفضل نموذج شخصي، والفرق عن B3 فاصله يشمل الصفر</a:t>
            </a:r>
          </a:p>
        </p:txBody>
      </p:sp>
      <p:sp>
        <p:nvSpPr>
          <p:cNvPr id="12" name="بطاقة"/>
          <p:cNvSpPr/>
          <p:nvPr/>
        </p:nvSpPr>
        <p:spPr>
          <a:xfrm>
            <a:off x="548640" y="4617720"/>
            <a:ext cx="3657600" cy="11430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663440"/>
            <a:ext cx="3474720" cy="43434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3200" b="1" i="0" lang="ar-SA">
                <a:solidFill>
                  <a:srgbClr val="0F766E"/>
                </a:solidFill>
                <a:latin typeface="Arial"/>
                <a:cs typeface="Arial"/>
              </a:rPr>
              <a:t>‎0.561‎</a:t>
            </a:r>
          </a:p>
        </p:txBody>
      </p:sp>
      <p:sp>
        <p:nvSpPr>
          <p:cNvPr id="14" name="TextBox 13"/>
          <p:cNvSpPr txBox="1"/>
          <p:nvPr/>
        </p:nvSpPr>
        <p:spPr>
          <a:xfrm>
            <a:off x="685800" y="5097780"/>
            <a:ext cx="3383280" cy="640080"/>
          </a:xfrm>
          <a:prstGeom prst="rect">
            <a:avLst/>
          </a:prstGeom>
          <a:noFill/>
        </p:spPr>
        <p:txBody>
          <a:bodyPr wrap="square" lIns="45720" rIns="45720" tIns="27432" bIns="27432" anchor="t">
            <a:spAutoFit/>
          </a:bodyPr>
          <a:lstStyle/>
          <a:p>
            <a:pPr rtl="1" algn="ctr">
              <a:lnSpc>
                <a:spcPct val="105000"/>
              </a:lnSpc>
              <a:spcBef>
                <a:spcPts val="0"/>
              </a:spcBef>
              <a:spcAft>
                <a:spcPts val="0"/>
              </a:spcAft>
            </a:pPr>
            <a:r>
              <a:rPr sz="1400" b="0" i="0" lang="ar-SA">
                <a:solidFill>
                  <a:srgbClr val="475569"/>
                </a:solidFill>
                <a:latin typeface="Arial"/>
                <a:cs typeface="Arial"/>
              </a:rPr>
              <a:t>الهجين المجمَّد: الفرق عن B3 صغير وفاصله يشمل الصفر</a:t>
            </a:r>
          </a:p>
        </p:txBody>
      </p:sp>
      <p:sp>
        <p:nvSpPr>
          <p:cNvPr id="15" name="TextBox 14"/>
          <p:cNvSpPr txBox="1"/>
          <p:nvPr/>
        </p:nvSpPr>
        <p:spPr>
          <a:xfrm>
            <a:off x="548640" y="5806440"/>
            <a:ext cx="11094415" cy="4114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300" b="0" i="0" lang="ar-SA">
                <a:solidFill>
                  <a:srgbClr val="475569"/>
                </a:solidFill>
                <a:latin typeface="Arial"/>
                <a:cs typeface="Arial"/>
              </a:rPr>
              <a:t>المصدر: results/dev2013/summary.md وhybrid_acceptance.md؛ تطوير — وصفي</a:t>
            </a:r>
          </a:p>
        </p:txBody>
      </p:sp>
      <p:sp>
        <p:nvSpPr>
          <p:cNvPr id="16"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7"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8"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نتائج التأكيد 2014: أحكام الفرضيات الأربع</a:t>
            </a:r>
          </a:p>
        </p:txBody>
      </p:sp>
      <p:graphicFrame>
        <p:nvGraphicFramePr>
          <p:cNvPr id="3" name="جدول"/>
          <p:cNvGraphicFramePr>
            <a:graphicFrameLocks noGrp="1"/>
          </p:cNvGraphicFramePr>
          <p:nvPr/>
        </p:nvGraphicFramePr>
        <p:xfrm>
          <a:off x="548640" y="1463040"/>
          <a:ext cx="11094410" cy="3657600"/>
        </p:xfrm>
        <a:graphic>
          <a:graphicData uri="http://schemas.openxmlformats.org/drawingml/2006/table">
            <a:tbl>
              <a:tblPr firstRow="1" bandRow="0">
                <a:tableStyleId>{5C22544A-7EE6-4342-B048-85BDC9FD1C3A}</a:tableStyleId>
              </a:tblPr>
              <a:tblGrid>
                <a:gridCol w="2025170"/>
                <a:gridCol w="1232712"/>
                <a:gridCol w="1320763"/>
                <a:gridCol w="2113221"/>
                <a:gridCol w="1232712"/>
                <a:gridCol w="3169832"/>
              </a:tblGrid>
              <a:tr h="731520">
                <a:tc>
                  <a:txBody>
                    <a:bodyPr wrap="square"/>
                    <a:lstStyle/>
                    <a:p>
                      <a:pPr rtl="1" algn="r"/>
                      <a:r>
                        <a:rPr sz="1500" b="1" i="0" lang="ar-SA">
                          <a:solidFill>
                            <a:srgbClr val="FFFFFF"/>
                          </a:solidFill>
                          <a:latin typeface="Arial"/>
                          <a:cs typeface="Arial"/>
                        </a:rPr>
                        <a:t>الحكم</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عروض Δ&gt;0</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p بعد هولم</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فاصل الثقة 95%</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الفرق Δ̄</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الفرضية</a:t>
                      </a:r>
                    </a:p>
                  </a:txBody>
                  <a:tcPr anchor="ctr" marL="91440" marR="91440" marT="36576" marB="36576">
                    <a:solidFill>
                      <a:srgbClr val="0F766E"/>
                    </a:solidFill>
                  </a:tcPr>
                </a:tc>
              </a:tr>
              <a:tr h="731520">
                <a:tc>
                  <a:txBody>
                    <a:bodyPr wrap="square"/>
                    <a:lstStyle/>
                    <a:p>
                      <a:pPr rtl="1" algn="r"/>
                      <a:r>
                        <a:rPr sz="1500" b="0" i="0" lang="ar-SA">
                          <a:solidFill>
                            <a:srgbClr val="134E4A"/>
                          </a:solidFill>
                          <a:latin typeface="Arial"/>
                          <a:cs typeface="Arial"/>
                        </a:rPr>
                        <a:t>غير حاسمة</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‭4/13‬</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‭0.9429‬</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‭[-0.0166, +0.0204]‬</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‭-0.0006‬</a:t>
                      </a:r>
                    </a:p>
                  </a:txBody>
                  <a:tcPr anchor="ctr" marL="91440" marR="91440" marT="36576" marB="36576">
                    <a:solidFill>
                      <a:srgbClr val="FFFFFF"/>
                    </a:solidFill>
                  </a:tcPr>
                </a:tc>
                <a:tc>
                  <a:txBody>
                    <a:bodyPr wrap="square"/>
                    <a:lstStyle/>
                    <a:p>
                      <a:pPr rtl="1" algn="r"/>
                      <a:r>
                        <a:rPr sz="1500" b="1" i="0" lang="ar-SA">
                          <a:solidFill>
                            <a:srgbClr val="134E4A"/>
                          </a:solidFill>
                          <a:latin typeface="Arial"/>
                          <a:cs typeface="Arial"/>
                        </a:rPr>
                        <a:t>H1 · الهجين مقابل الشعبية الآنية</a:t>
                      </a:r>
                    </a:p>
                  </a:txBody>
                  <a:tcPr anchor="ctr" marL="91440" marR="91440" marT="36576" marB="36576">
                    <a:solidFill>
                      <a:srgbClr val="FFFFFF"/>
                    </a:solidFill>
                  </a:tcPr>
                </a:tc>
              </a:tr>
              <a:tr h="731520">
                <a:tc>
                  <a:txBody>
                    <a:bodyPr wrap="square"/>
                    <a:lstStyle/>
                    <a:p>
                      <a:pPr rtl="1" algn="r"/>
                      <a:r>
                        <a:rPr sz="1500" b="0" i="0" lang="ar-SA">
                          <a:solidFill>
                            <a:srgbClr val="134E4A"/>
                          </a:solidFill>
                          <a:latin typeface="Arial"/>
                          <a:cs typeface="Arial"/>
                        </a:rPr>
                        <a:t>مؤكَّدة (بهامش)</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‭13/13‬</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‭0.0010‬</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‭[+0.0352, +0.0659]‬</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‭+0.0497‬</a:t>
                      </a:r>
                    </a:p>
                  </a:txBody>
                  <a:tcPr anchor="ctr" marL="91440" marR="91440" marT="36576" marB="36576">
                    <a:solidFill>
                      <a:srgbClr val="EEF2F6"/>
                    </a:solidFill>
                  </a:tcPr>
                </a:tc>
                <a:tc>
                  <a:txBody>
                    <a:bodyPr wrap="square"/>
                    <a:lstStyle/>
                    <a:p>
                      <a:pPr rtl="1" algn="r"/>
                      <a:r>
                        <a:rPr sz="1500" b="1" i="0" lang="ar-SA">
                          <a:solidFill>
                            <a:srgbClr val="134E4A"/>
                          </a:solidFill>
                          <a:latin typeface="Arial"/>
                          <a:cs typeface="Arial"/>
                        </a:rPr>
                        <a:t>H2-أ · WRMF بالإشارة الموزونة مقابل الثنائية</a:t>
                      </a:r>
                    </a:p>
                  </a:txBody>
                  <a:tcPr anchor="ctr" marL="91440" marR="91440" marT="36576" marB="36576">
                    <a:solidFill>
                      <a:srgbClr val="EEF2F6"/>
                    </a:solidFill>
                  </a:tcPr>
                </a:tc>
              </a:tr>
              <a:tr h="731520">
                <a:tc>
                  <a:txBody>
                    <a:bodyPr wrap="square"/>
                    <a:lstStyle/>
                    <a:p>
                      <a:pPr rtl="1" algn="r"/>
                      <a:r>
                        <a:rPr sz="1500" b="0" i="0" lang="ar-SA">
                          <a:solidFill>
                            <a:srgbClr val="134E4A"/>
                          </a:solidFill>
                          <a:latin typeface="Arial"/>
                          <a:cs typeface="Arial"/>
                        </a:rPr>
                        <a:t>مدحوضة للتفوق</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‭5/13‬</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‭0.7305‬</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‭[-0.0349, +0.0123]‬</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‭-0.0100‬</a:t>
                      </a:r>
                    </a:p>
                  </a:txBody>
                  <a:tcPr anchor="ctr" marL="91440" marR="91440" marT="36576" marB="36576">
                    <a:solidFill>
                      <a:srgbClr val="FFFFFF"/>
                    </a:solidFill>
                  </a:tcPr>
                </a:tc>
                <a:tc>
                  <a:txBody>
                    <a:bodyPr wrap="square"/>
                    <a:lstStyle/>
                    <a:p>
                      <a:pPr rtl="1" algn="r"/>
                      <a:r>
                        <a:rPr sz="1500" b="1" i="0" lang="ar-SA">
                          <a:solidFill>
                            <a:srgbClr val="134E4A"/>
                          </a:solidFill>
                          <a:latin typeface="Arial"/>
                          <a:cs typeface="Arial"/>
                        </a:rPr>
                        <a:t>H3 · GRU-lite مقابل SKNN</a:t>
                      </a:r>
                    </a:p>
                  </a:txBody>
                  <a:tcPr anchor="ctr" marL="91440" marR="91440" marT="36576" marB="36576">
                    <a:solidFill>
                      <a:srgbClr val="FFFFFF"/>
                    </a:solidFill>
                  </a:tcPr>
                </a:tc>
              </a:tr>
              <a:tr h="731520">
                <a:tc>
                  <a:txBody>
                    <a:bodyPr wrap="square"/>
                    <a:lstStyle/>
                    <a:p>
                      <a:pPr rtl="1" algn="r"/>
                      <a:r>
                        <a:rPr sz="1500" b="0" i="0" lang="ar-SA">
                          <a:solidFill>
                            <a:srgbClr val="134E4A"/>
                          </a:solidFill>
                          <a:latin typeface="Arial"/>
                          <a:cs typeface="Arial"/>
                        </a:rPr>
                        <a:t>مدحوضة عملياً</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‭11/13‬</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‭0.0439‬</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‭[+0.0019, +0.0144]‬</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‭+0.0083‬</a:t>
                      </a:r>
                    </a:p>
                  </a:txBody>
                  <a:tcPr anchor="ctr" marL="91440" marR="91440" marT="36576" marB="36576">
                    <a:solidFill>
                      <a:srgbClr val="EEF2F6"/>
                    </a:solidFill>
                  </a:tcPr>
                </a:tc>
                <a:tc>
                  <a:txBody>
                    <a:bodyPr wrap="square"/>
                    <a:lstStyle/>
                    <a:p>
                      <a:pPr rtl="1" algn="r"/>
                      <a:r>
                        <a:rPr sz="1500" b="1" i="0" lang="ar-SA">
                          <a:solidFill>
                            <a:srgbClr val="134E4A"/>
                          </a:solidFill>
                          <a:latin typeface="Arial"/>
                          <a:cs typeface="Arial"/>
                        </a:rPr>
                        <a:t>H4-أ · ملامح السلوك مقابل مجموع النقرات (AUC)</a:t>
                      </a:r>
                    </a:p>
                  </a:txBody>
                  <a:tcPr anchor="ctr" marL="91440" marR="91440" marT="36576" marB="36576">
                    <a:solidFill>
                      <a:srgbClr val="EEF2F6"/>
                    </a:solidFill>
                  </a:tcPr>
                </a:tc>
              </a:tr>
            </a:tbl>
          </a:graphicData>
        </a:graphic>
      </p:graphicFrame>
      <p:sp>
        <p:nvSpPr>
          <p:cNvPr id="4" name="TextBox 3"/>
          <p:cNvSpPr txBox="1"/>
          <p:nvPr/>
        </p:nvSpPr>
        <p:spPr>
          <a:xfrm>
            <a:off x="548640" y="5212079"/>
            <a:ext cx="11094415" cy="50292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400" b="0" i="0" lang="ar-SA">
                <a:solidFill>
                  <a:srgbClr val="475569"/>
                </a:solidFill>
                <a:latin typeface="Arial"/>
                <a:cs typeface="Arial"/>
              </a:rPr>
              <a:t>13 عرضاً من 2014؛ العتبة δ = 0.02؛ تُقرأ الأحكام ولا تُعاد. H3: يطبع ملف الأحكام لهذا الصف «مدحوضة عملياً (استُبعد أثر ≥ δ)»؛ الشرط واحد: الحد الأعلى &lt; δ. غير حاسمة: لا يكشف التصميم بقوة 80% أثراً أصغر من MDE80 = 0.0375</a:t>
            </a:r>
          </a:p>
        </p:txBody>
      </p:sp>
      <p:sp>
        <p:nvSpPr>
          <p:cNvPr id="5"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6"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7"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الفرق لكل فرضية وفاصل الثقة</a:t>
            </a:r>
          </a:p>
        </p:txBody>
      </p:sp>
      <p:pic>
        <p:nvPicPr>
          <p:cNvPr id="3" name="صورة" descr="مخطط غابي لفروق الفرضيات الأربع وفواصلها"/>
          <p:cNvPicPr>
            <a:picLocks noChangeAspect="1"/>
          </p:cNvPicPr>
          <p:nvPr/>
        </p:nvPicPr>
        <p:blipFill>
          <a:blip r:embed="rId2"/>
          <a:stretch>
            <a:fillRect/>
          </a:stretch>
        </p:blipFill>
        <p:spPr>
          <a:xfrm>
            <a:off x="548640" y="2044099"/>
            <a:ext cx="8138160" cy="3181280"/>
          </a:xfrm>
          <a:prstGeom prst="rect">
            <a:avLst/>
          </a:prstGeom>
          <a:ln w="12700">
            <a:solidFill>
              <a:srgbClr val="CBD5E1"/>
            </a:solidFill>
          </a:ln>
        </p:spPr>
      </p:pic>
      <p:sp>
        <p:nvSpPr>
          <p:cNvPr id="4" name="TextBox 3"/>
          <p:cNvSpPr txBox="1"/>
          <p:nvPr/>
        </p:nvSpPr>
        <p:spPr>
          <a:xfrm>
            <a:off x="548640" y="5271100"/>
            <a:ext cx="8138160" cy="365760"/>
          </a:xfrm>
          <a:prstGeom prst="rect">
            <a:avLst/>
          </a:prstGeom>
          <a:noFill/>
        </p:spPr>
        <p:txBody>
          <a:bodyPr wrap="square" lIns="45720" rIns="45720" tIns="27432" bIns="27432" anchor="ctr">
            <a:spAutoFit/>
          </a:bodyPr>
          <a:lstStyle/>
          <a:p>
            <a:pPr rtl="1" algn="ctr">
              <a:lnSpc>
                <a:spcPct val="115000"/>
              </a:lnSpc>
              <a:spcBef>
                <a:spcPts val="0"/>
              </a:spcBef>
              <a:spcAft>
                <a:spcPts val="0"/>
              </a:spcAft>
            </a:pPr>
            <a:r>
              <a:rPr sz="1300" b="0" i="0" lang="ar-SA">
                <a:solidFill>
                  <a:srgbClr val="475569"/>
                </a:solidFill>
                <a:latin typeface="Arial"/>
                <a:cs typeface="Arial"/>
              </a:rPr>
              <a:t>الشكل: Δ̄ وفاصل bootstrap-t لكل فرضية. أُعيد رسمه من fig1_forest.csv المقفل؛ الأصل في results/conf2014/figures/</a:t>
            </a:r>
          </a:p>
        </p:txBody>
      </p:sp>
      <p:sp>
        <p:nvSpPr>
          <p:cNvPr id="5" name="بطاقة"/>
          <p:cNvSpPr/>
          <p:nvPr/>
        </p:nvSpPr>
        <p:spPr>
          <a:xfrm>
            <a:off x="9052560" y="1371600"/>
            <a:ext cx="2590495"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رقم"/>
          <p:cNvSpPr/>
          <p:nvPr/>
        </p:nvSpPr>
        <p:spPr>
          <a:xfrm>
            <a:off x="10957255" y="15544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1</a:t>
            </a:r>
          </a:p>
        </p:txBody>
      </p:sp>
      <p:sp>
        <p:nvSpPr>
          <p:cNvPr id="7" name="TextBox 6"/>
          <p:cNvSpPr txBox="1"/>
          <p:nvPr/>
        </p:nvSpPr>
        <p:spPr>
          <a:xfrm>
            <a:off x="9189720" y="1444752"/>
            <a:ext cx="1676095"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الخطان</a:t>
            </a:r>
          </a:p>
        </p:txBody>
      </p:sp>
      <p:sp>
        <p:nvSpPr>
          <p:cNvPr id="8" name="TextBox 7"/>
          <p:cNvSpPr txBox="1"/>
          <p:nvPr/>
        </p:nvSpPr>
        <p:spPr>
          <a:xfrm>
            <a:off x="9189720" y="2084832"/>
            <a:ext cx="2316175"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الصفر والعتبة 0.02</a:t>
            </a:r>
          </a:p>
        </p:txBody>
      </p:sp>
      <p:sp>
        <p:nvSpPr>
          <p:cNvPr id="9" name="بطاقة"/>
          <p:cNvSpPr/>
          <p:nvPr/>
        </p:nvSpPr>
        <p:spPr>
          <a:xfrm>
            <a:off x="9052560" y="3047999"/>
            <a:ext cx="2590495"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رقم"/>
          <p:cNvSpPr/>
          <p:nvPr/>
        </p:nvSpPr>
        <p:spPr>
          <a:xfrm>
            <a:off x="10957255" y="32308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2</a:t>
            </a:r>
          </a:p>
        </p:txBody>
      </p:sp>
      <p:sp>
        <p:nvSpPr>
          <p:cNvPr id="11" name="TextBox 10"/>
          <p:cNvSpPr txBox="1"/>
          <p:nvPr/>
        </p:nvSpPr>
        <p:spPr>
          <a:xfrm>
            <a:off x="9189720" y="3121152"/>
            <a:ext cx="1676095"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H2-أ</a:t>
            </a:r>
          </a:p>
        </p:txBody>
      </p:sp>
      <p:sp>
        <p:nvSpPr>
          <p:cNvPr id="12" name="TextBox 11"/>
          <p:cNvSpPr txBox="1"/>
          <p:nvPr/>
        </p:nvSpPr>
        <p:spPr>
          <a:xfrm>
            <a:off x="9189720" y="3761232"/>
            <a:ext cx="2316175"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فاصل المتوسط كله فوق العتبة</a:t>
            </a:r>
          </a:p>
        </p:txBody>
      </p:sp>
      <p:sp>
        <p:nvSpPr>
          <p:cNvPr id="13" name="بطاقة"/>
          <p:cNvSpPr/>
          <p:nvPr/>
        </p:nvSpPr>
        <p:spPr>
          <a:xfrm>
            <a:off x="9052560" y="4724399"/>
            <a:ext cx="2590495" cy="1447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رقم"/>
          <p:cNvSpPr/>
          <p:nvPr/>
        </p:nvSpPr>
        <p:spPr>
          <a:xfrm>
            <a:off x="10957255" y="49072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3</a:t>
            </a:r>
          </a:p>
        </p:txBody>
      </p:sp>
      <p:sp>
        <p:nvSpPr>
          <p:cNvPr id="15" name="TextBox 14"/>
          <p:cNvSpPr txBox="1"/>
          <p:nvPr/>
        </p:nvSpPr>
        <p:spPr>
          <a:xfrm>
            <a:off x="9189720" y="4797551"/>
            <a:ext cx="1676095" cy="59436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100" b="1" i="0" lang="ar-SA">
                <a:solidFill>
                  <a:srgbClr val="134E4A"/>
                </a:solidFill>
                <a:latin typeface="Arial"/>
                <a:cs typeface="Arial"/>
              </a:rPr>
              <a:t>البقية</a:t>
            </a:r>
          </a:p>
        </p:txBody>
      </p:sp>
      <p:sp>
        <p:nvSpPr>
          <p:cNvPr id="16" name="TextBox 15"/>
          <p:cNvSpPr txBox="1"/>
          <p:nvPr/>
        </p:nvSpPr>
        <p:spPr>
          <a:xfrm>
            <a:off x="9189720" y="5437632"/>
            <a:ext cx="2316175" cy="670560"/>
          </a:xfrm>
          <a:prstGeom prst="rect">
            <a:avLst/>
          </a:prstGeom>
          <a:noFill/>
        </p:spPr>
        <p:txBody>
          <a:bodyPr wrap="square" lIns="45720" rIns="45720" tIns="27432" bIns="27432" anchor="t">
            <a:spAutoFit/>
          </a:bodyPr>
          <a:lstStyle/>
          <a:p>
            <a:pPr rtl="1" algn="r">
              <a:lnSpc>
                <a:spcPct val="110000"/>
              </a:lnSpc>
              <a:spcBef>
                <a:spcPts val="0"/>
              </a:spcBef>
              <a:spcAft>
                <a:spcPts val="0"/>
              </a:spcAft>
            </a:pPr>
            <a:r>
              <a:rPr sz="1700" b="0" i="0" lang="ar-SA">
                <a:solidFill>
                  <a:srgbClr val="475569"/>
                </a:solidFill>
                <a:latin typeface="Arial"/>
                <a:cs typeface="Arial"/>
              </a:rPr>
              <a:t>H1 غير حاسمة؛ H3 وH4-أ دون العتبة</a:t>
            </a:r>
          </a:p>
        </p:txBody>
      </p:sp>
      <p:sp>
        <p:nvSpPr>
          <p:cNvPr id="17"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8"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9"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المناقشة: أربع رسائل</a:t>
            </a:r>
          </a:p>
        </p:txBody>
      </p:sp>
      <p:sp>
        <p:nvSpPr>
          <p:cNvPr id="3" name="بطاقة"/>
          <p:cNvSpPr/>
          <p:nvPr/>
        </p:nvSpPr>
        <p:spPr>
          <a:xfrm>
            <a:off x="6233007" y="1463040"/>
            <a:ext cx="5410047" cy="22174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رقم"/>
          <p:cNvSpPr/>
          <p:nvPr/>
        </p:nvSpPr>
        <p:spPr>
          <a:xfrm>
            <a:off x="10682935" y="1645920"/>
            <a:ext cx="77724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H4-أ</a:t>
            </a:r>
          </a:p>
        </p:txBody>
      </p:sp>
      <p:sp>
        <p:nvSpPr>
          <p:cNvPr id="5" name="TextBox 4"/>
          <p:cNvSpPr txBox="1"/>
          <p:nvPr/>
        </p:nvSpPr>
        <p:spPr>
          <a:xfrm>
            <a:off x="6370167" y="1572768"/>
            <a:ext cx="422132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أثر دال لكنه دون العتبة العملية</a:t>
            </a:r>
          </a:p>
        </p:txBody>
      </p:sp>
      <p:sp>
        <p:nvSpPr>
          <p:cNvPr id="6" name="TextBox 5"/>
          <p:cNvSpPr txBox="1"/>
          <p:nvPr/>
        </p:nvSpPr>
        <p:spPr>
          <a:xfrm>
            <a:off x="6370167" y="2331720"/>
            <a:ext cx="5135727" cy="125730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زيادة AUC قدرها 0.0083 موجبة ودالة، لكن حدّها الأعلى 0.0144 دون 0.02: مدحوضة عملياً، وليست «لا أثر».</a:t>
            </a:r>
          </a:p>
        </p:txBody>
      </p:sp>
      <p:sp>
        <p:nvSpPr>
          <p:cNvPr id="7" name="بطاقة"/>
          <p:cNvSpPr/>
          <p:nvPr/>
        </p:nvSpPr>
        <p:spPr>
          <a:xfrm>
            <a:off x="548640" y="1463040"/>
            <a:ext cx="5410047" cy="22174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رقم"/>
          <p:cNvSpPr/>
          <p:nvPr/>
        </p:nvSpPr>
        <p:spPr>
          <a:xfrm>
            <a:off x="4998567" y="1645920"/>
            <a:ext cx="77724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H1</a:t>
            </a:r>
          </a:p>
        </p:txBody>
      </p:sp>
      <p:sp>
        <p:nvSpPr>
          <p:cNvPr id="9" name="TextBox 8"/>
          <p:cNvSpPr txBox="1"/>
          <p:nvPr/>
        </p:nvSpPr>
        <p:spPr>
          <a:xfrm>
            <a:off x="685800" y="1572768"/>
            <a:ext cx="422132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الهجين لم يتفوق على الشعبية الآنية</a:t>
            </a:r>
          </a:p>
        </p:txBody>
      </p:sp>
      <p:sp>
        <p:nvSpPr>
          <p:cNvPr id="10" name="TextBox 9"/>
          <p:cNvSpPr txBox="1"/>
          <p:nvPr/>
        </p:nvSpPr>
        <p:spPr>
          <a:xfrm>
            <a:off x="685800" y="2331720"/>
            <a:ext cx="5135727" cy="125730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غير حاسمة: لا يكشف التصميم بقوة 80% أثراً أصغر من 0.0375، ويستبعد الفاصل إضافة تزيد على 0.0204 بوحدة العرض (0.043 على المقررات).</a:t>
            </a:r>
          </a:p>
        </p:txBody>
      </p:sp>
      <p:sp>
        <p:nvSpPr>
          <p:cNvPr id="11" name="بطاقة"/>
          <p:cNvSpPr/>
          <p:nvPr/>
        </p:nvSpPr>
        <p:spPr>
          <a:xfrm>
            <a:off x="6233007" y="3954780"/>
            <a:ext cx="5410047" cy="22174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رقم"/>
          <p:cNvSpPr/>
          <p:nvPr/>
        </p:nvSpPr>
        <p:spPr>
          <a:xfrm>
            <a:off x="10682935" y="4137660"/>
            <a:ext cx="77724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H3</a:t>
            </a:r>
          </a:p>
        </p:txBody>
      </p:sp>
      <p:sp>
        <p:nvSpPr>
          <p:cNvPr id="13" name="TextBox 12"/>
          <p:cNvSpPr txBox="1"/>
          <p:nvPr/>
        </p:nvSpPr>
        <p:spPr>
          <a:xfrm>
            <a:off x="6370167" y="4064508"/>
            <a:ext cx="422132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GRU-lite لم يتفوق على SKNN بالقدر المسجل</a:t>
            </a:r>
          </a:p>
        </p:txBody>
      </p:sp>
      <p:sp>
        <p:nvSpPr>
          <p:cNvPr id="14" name="TextBox 13"/>
          <p:cNvSpPr txBox="1"/>
          <p:nvPr/>
        </p:nvSpPr>
        <p:spPr>
          <a:xfrm>
            <a:off x="6370167" y="4823460"/>
            <a:ext cx="5135727" cy="125730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لا «أسوأ» ولا «مكافئ»، والنتيجة مقيَّدة بتنفيذ GRU-lite المكتوب بـ numpy.</a:t>
            </a:r>
          </a:p>
        </p:txBody>
      </p:sp>
      <p:sp>
        <p:nvSpPr>
          <p:cNvPr id="15" name="بطاقة"/>
          <p:cNvSpPr/>
          <p:nvPr/>
        </p:nvSpPr>
        <p:spPr>
          <a:xfrm>
            <a:off x="548640" y="3954780"/>
            <a:ext cx="5410047" cy="22174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رقم"/>
          <p:cNvSpPr/>
          <p:nvPr/>
        </p:nvSpPr>
        <p:spPr>
          <a:xfrm>
            <a:off x="4998567" y="4137660"/>
            <a:ext cx="77724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400" b="1" i="0" lang="ar-SA">
                <a:solidFill>
                  <a:srgbClr val="FFFFFF"/>
                </a:solidFill>
                <a:latin typeface="Arial"/>
                <a:cs typeface="Arial"/>
              </a:rPr>
              <a:t>H2-أ</a:t>
            </a:r>
          </a:p>
        </p:txBody>
      </p:sp>
      <p:sp>
        <p:nvSpPr>
          <p:cNvPr id="17" name="TextBox 16"/>
          <p:cNvSpPr txBox="1"/>
          <p:nvPr/>
        </p:nvSpPr>
        <p:spPr>
          <a:xfrm>
            <a:off x="685800" y="4064508"/>
            <a:ext cx="422132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ترجيح الإشارات رفع WRMF</a:t>
            </a:r>
          </a:p>
        </p:txBody>
      </p:sp>
      <p:sp>
        <p:nvSpPr>
          <p:cNvPr id="18" name="TextBox 17"/>
          <p:cNvSpPr txBox="1"/>
          <p:nvPr/>
        </p:nvSpPr>
        <p:spPr>
          <a:xfrm>
            <a:off x="685800" y="4823460"/>
            <a:ext cx="5135727" cy="125730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الفرق موجب في 13 من 13 عرضاً، ومؤكَّدة بهامش على المتوسط، داخل WRMF وبيانات 2014 فقط دون تعميم.</a:t>
            </a:r>
          </a:p>
        </p:txBody>
      </p:sp>
      <p:sp>
        <p:nvSpPr>
          <p:cNvPr id="19"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20"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21"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القيود والعمل المستقبلي</a:t>
            </a:r>
          </a:p>
        </p:txBody>
      </p:sp>
      <p:sp>
        <p:nvSpPr>
          <p:cNvPr id="3" name="عمود"/>
          <p:cNvSpPr/>
          <p:nvPr/>
        </p:nvSpPr>
        <p:spPr>
          <a:xfrm>
            <a:off x="6233007" y="1463040"/>
            <a:ext cx="5410047"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عنوان العمود"/>
          <p:cNvSpPr/>
          <p:nvPr/>
        </p:nvSpPr>
        <p:spPr>
          <a:xfrm>
            <a:off x="6233007" y="1463040"/>
            <a:ext cx="5410047" cy="685800"/>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182880" tIns="18288" bIns="18288"/>
          <a:lstStyle/>
          <a:p>
            <a:pPr algn="r" rtl="1"/>
            <a:r>
              <a:rPr sz="2000" b="1" i="0" lang="ar-SA">
                <a:solidFill>
                  <a:srgbClr val="FFFFFF"/>
                </a:solidFill>
                <a:latin typeface="Arial"/>
                <a:cs typeface="Arial"/>
              </a:rPr>
              <a:t>القيود</a:t>
            </a:r>
          </a:p>
        </p:txBody>
      </p:sp>
      <p:sp>
        <p:nvSpPr>
          <p:cNvPr id="5" name="نقطة"/>
          <p:cNvSpPr/>
          <p:nvPr/>
        </p:nvSpPr>
        <p:spPr>
          <a:xfrm>
            <a:off x="11259007" y="2583180"/>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70167" y="2286000"/>
            <a:ext cx="4769967" cy="758952"/>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مؤسسة واحدة: التعميم من 2013 إلى 2014 فقط</a:t>
            </a:r>
          </a:p>
        </p:txBody>
      </p:sp>
      <p:sp>
        <p:nvSpPr>
          <p:cNvPr id="7" name="نقطة"/>
          <p:cNvSpPr/>
          <p:nvPr/>
        </p:nvSpPr>
        <p:spPr>
          <a:xfrm>
            <a:off x="11259007" y="3342132"/>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70167" y="3044952"/>
            <a:ext cx="4769967" cy="758952"/>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تقييم دون اتصال: لا دراسة مستخدمين ولا ادعاء أثر تعليمي</a:t>
            </a:r>
          </a:p>
        </p:txBody>
      </p:sp>
      <p:sp>
        <p:nvSpPr>
          <p:cNvPr id="9" name="نقطة"/>
          <p:cNvSpPr/>
          <p:nvPr/>
        </p:nvSpPr>
        <p:spPr>
          <a:xfrm>
            <a:off x="11259007" y="4101084"/>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0167" y="3803904"/>
            <a:ext cx="4769967" cy="758952"/>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سجلات بدقة يوم: لا ترتيب داخل اليوم</a:t>
            </a:r>
          </a:p>
        </p:txBody>
      </p:sp>
      <p:sp>
        <p:nvSpPr>
          <p:cNvPr id="11" name="نقطة"/>
          <p:cNvSpPr/>
          <p:nvPr/>
        </p:nvSpPr>
        <p:spPr>
          <a:xfrm>
            <a:off x="11259007" y="4860036"/>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0167" y="4562856"/>
            <a:ext cx="4769967" cy="758952"/>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numpy فقط: GRU بطبقة واحدة</a:t>
            </a:r>
          </a:p>
        </p:txBody>
      </p:sp>
      <p:sp>
        <p:nvSpPr>
          <p:cNvPr id="13" name="نقطة"/>
          <p:cNvSpPr/>
          <p:nvPr/>
        </p:nvSpPr>
        <p:spPr>
          <a:xfrm>
            <a:off x="11259007" y="5618988"/>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0167" y="5321808"/>
            <a:ext cx="4769967" cy="758952"/>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قراءة معرّفات 2014 مقصورة على ترشيح تدريب مصنِّفات الخطر (2013)</a:t>
            </a:r>
          </a:p>
        </p:txBody>
      </p:sp>
      <p:sp>
        <p:nvSpPr>
          <p:cNvPr id="15" name="عمود"/>
          <p:cNvSpPr/>
          <p:nvPr/>
        </p:nvSpPr>
        <p:spPr>
          <a:xfrm>
            <a:off x="548640" y="1463040"/>
            <a:ext cx="5410047"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عنوان العمود"/>
          <p:cNvSpPr/>
          <p:nvPr/>
        </p:nvSpPr>
        <p:spPr>
          <a:xfrm>
            <a:off x="548640" y="1463040"/>
            <a:ext cx="5410047" cy="685800"/>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182880" tIns="18288" bIns="18288"/>
          <a:lstStyle/>
          <a:p>
            <a:pPr algn="r" rtl="1"/>
            <a:r>
              <a:rPr sz="2000" b="1" i="0" lang="ar-SA">
                <a:solidFill>
                  <a:srgbClr val="FFFFFF"/>
                </a:solidFill>
                <a:latin typeface="Arial"/>
                <a:cs typeface="Arial"/>
              </a:rPr>
              <a:t>العمل المستقبلي</a:t>
            </a:r>
          </a:p>
        </p:txBody>
      </p:sp>
      <p:sp>
        <p:nvSpPr>
          <p:cNvPr id="17" name="نقطة"/>
          <p:cNvSpPr/>
          <p:nvPr/>
        </p:nvSpPr>
        <p:spPr>
          <a:xfrm>
            <a:off x="5574639" y="267804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86000"/>
            <a:ext cx="4769967"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تجربة حية ودراسة مستخدمين للتفسيرات</a:t>
            </a:r>
          </a:p>
        </p:txBody>
      </p:sp>
      <p:sp>
        <p:nvSpPr>
          <p:cNvPr id="19" name="نقطة"/>
          <p:cNvSpPr/>
          <p:nvPr/>
        </p:nvSpPr>
        <p:spPr>
          <a:xfrm>
            <a:off x="5574639" y="362673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34690"/>
            <a:ext cx="4769967"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إعادة البروتوكول على سجلات الجامعة الافتراضية السورية</a:t>
            </a:r>
          </a:p>
        </p:txBody>
      </p:sp>
      <p:sp>
        <p:nvSpPr>
          <p:cNvPr id="21" name="نقطة"/>
          <p:cNvSpPr/>
          <p:nvPr/>
        </p:nvSpPr>
        <p:spPr>
          <a:xfrm>
            <a:off x="5574639" y="457542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183380"/>
            <a:ext cx="4769967"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بيانات بوصف نصي للموارد لتفعيل المحتوى</a:t>
            </a:r>
          </a:p>
        </p:txBody>
      </p:sp>
      <p:sp>
        <p:nvSpPr>
          <p:cNvPr id="23" name="نقطة"/>
          <p:cNvSpPr/>
          <p:nvPr/>
        </p:nvSpPr>
        <p:spPr>
          <a:xfrm>
            <a:off x="5574639" y="552411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132070"/>
            <a:ext cx="4769967" cy="94869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نماذج تسلسلية أعمق عند توفر المكتبات</a:t>
            </a:r>
          </a:p>
        </p:txBody>
      </p:sp>
      <p:sp>
        <p:nvSpPr>
          <p:cNvPr id="25"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26"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27"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34E4A"/>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FFFFFF"/>
                </a:solidFill>
                <a:latin typeface="Arial"/>
                <a:cs typeface="Arial"/>
              </a:rPr>
              <a:t>الخاتمة والمساهمات</a:t>
            </a:r>
          </a:p>
        </p:txBody>
      </p:sp>
      <p:sp>
        <p:nvSpPr>
          <p:cNvPr id="3" name="TextBox 2"/>
          <p:cNvSpPr txBox="1"/>
          <p:nvPr/>
        </p:nvSpPr>
        <p:spPr>
          <a:xfrm>
            <a:off x="548640" y="1417320"/>
            <a:ext cx="11094415" cy="45720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2000" b="1" i="0" lang="ar-SA">
                <a:solidFill>
                  <a:srgbClr val="CCFBF1"/>
                </a:solidFill>
                <a:latin typeface="Arial"/>
                <a:cs typeface="Arial"/>
              </a:rPr>
              <a:t>مساهمة تجريبية ومنهجية، لا خوارزمية جديدة</a:t>
            </a:r>
          </a:p>
        </p:txBody>
      </p:sp>
      <p:sp>
        <p:nvSpPr>
          <p:cNvPr id="4" name="بطاقة"/>
          <p:cNvSpPr/>
          <p:nvPr/>
        </p:nvSpPr>
        <p:spPr>
          <a:xfrm>
            <a:off x="6233007" y="2011680"/>
            <a:ext cx="5410047" cy="19431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رقم"/>
          <p:cNvSpPr/>
          <p:nvPr/>
        </p:nvSpPr>
        <p:spPr>
          <a:xfrm>
            <a:off x="10957255" y="219456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1</a:t>
            </a:r>
          </a:p>
        </p:txBody>
      </p:sp>
      <p:sp>
        <p:nvSpPr>
          <p:cNvPr id="6" name="TextBox 5"/>
          <p:cNvSpPr txBox="1"/>
          <p:nvPr/>
        </p:nvSpPr>
        <p:spPr>
          <a:xfrm>
            <a:off x="6370167" y="2121408"/>
            <a:ext cx="449564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استئصال منضبط</a:t>
            </a:r>
          </a:p>
        </p:txBody>
      </p:sp>
      <p:sp>
        <p:nvSpPr>
          <p:cNvPr id="7" name="TextBox 6"/>
          <p:cNvSpPr txBox="1"/>
          <p:nvPr/>
        </p:nvSpPr>
        <p:spPr>
          <a:xfrm>
            <a:off x="6370167" y="2880360"/>
            <a:ext cx="5135727" cy="9829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ترجيح الإشارات رفع WRMF بفرق موجب في 13 من 13 عرضاً، داخله فقط</a:t>
            </a:r>
          </a:p>
        </p:txBody>
      </p:sp>
      <p:sp>
        <p:nvSpPr>
          <p:cNvPr id="8" name="بطاقة"/>
          <p:cNvSpPr/>
          <p:nvPr/>
        </p:nvSpPr>
        <p:spPr>
          <a:xfrm>
            <a:off x="548640" y="2011680"/>
            <a:ext cx="5410047" cy="19431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رقم"/>
          <p:cNvSpPr/>
          <p:nvPr/>
        </p:nvSpPr>
        <p:spPr>
          <a:xfrm>
            <a:off x="5272887" y="219456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2</a:t>
            </a:r>
          </a:p>
        </p:txBody>
      </p:sp>
      <p:sp>
        <p:nvSpPr>
          <p:cNvPr id="10" name="TextBox 9"/>
          <p:cNvSpPr txBox="1"/>
          <p:nvPr/>
        </p:nvSpPr>
        <p:spPr>
          <a:xfrm>
            <a:off x="685800" y="2121408"/>
            <a:ext cx="449564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بروتوكول مسجَّل مسبقاً</a:t>
            </a:r>
          </a:p>
        </p:txBody>
      </p:sp>
      <p:sp>
        <p:nvSpPr>
          <p:cNvPr id="11" name="TextBox 10"/>
          <p:cNvSpPr txBox="1"/>
          <p:nvPr/>
        </p:nvSpPr>
        <p:spPr>
          <a:xfrm>
            <a:off x="685800" y="2880360"/>
            <a:ext cx="5135727" cy="9829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تقسيم زمني وكتالوج كامل وعشرة خطوط أساس وإحصاء عنقودي</a:t>
            </a:r>
          </a:p>
        </p:txBody>
      </p:sp>
      <p:sp>
        <p:nvSpPr>
          <p:cNvPr id="12" name="بطاقة"/>
          <p:cNvSpPr/>
          <p:nvPr/>
        </p:nvSpPr>
        <p:spPr>
          <a:xfrm>
            <a:off x="6233007" y="4229100"/>
            <a:ext cx="5410047" cy="19431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رقم"/>
          <p:cNvSpPr/>
          <p:nvPr/>
        </p:nvSpPr>
        <p:spPr>
          <a:xfrm>
            <a:off x="10957255" y="44119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3</a:t>
            </a:r>
          </a:p>
        </p:txBody>
      </p:sp>
      <p:sp>
        <p:nvSpPr>
          <p:cNvPr id="14" name="TextBox 13"/>
          <p:cNvSpPr txBox="1"/>
          <p:nvPr/>
        </p:nvSpPr>
        <p:spPr>
          <a:xfrm>
            <a:off x="6370167" y="4338828"/>
            <a:ext cx="449564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نظام قابل لإعادة الإنتاج</a:t>
            </a:r>
          </a:p>
        </p:txBody>
      </p:sp>
      <p:sp>
        <p:nvSpPr>
          <p:cNvPr id="15" name="TextBox 14"/>
          <p:cNvSpPr txBox="1"/>
          <p:nvPr/>
        </p:nvSpPr>
        <p:spPr>
          <a:xfrm>
            <a:off x="6370167" y="5097780"/>
            <a:ext cx="5135727" cy="9829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numpy وpandas مع اختبار تحقق لكل تنفيذ، وواجهتان للمتعلم والمدرّس</a:t>
            </a:r>
          </a:p>
        </p:txBody>
      </p:sp>
      <p:sp>
        <p:nvSpPr>
          <p:cNvPr id="16" name="بطاقة"/>
          <p:cNvSpPr/>
          <p:nvPr/>
        </p:nvSpPr>
        <p:spPr>
          <a:xfrm>
            <a:off x="548640" y="4229100"/>
            <a:ext cx="5410047" cy="19431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رقم"/>
          <p:cNvSpPr/>
          <p:nvPr/>
        </p:nvSpPr>
        <p:spPr>
          <a:xfrm>
            <a:off x="5272887" y="4411980"/>
            <a:ext cx="502920"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600" b="1" i="0" lang="ar-SA">
                <a:solidFill>
                  <a:srgbClr val="FFFFFF"/>
                </a:solidFill>
                <a:latin typeface="Arial"/>
                <a:cs typeface="Arial"/>
              </a:rPr>
              <a:t>4</a:t>
            </a:r>
          </a:p>
        </p:txBody>
      </p:sp>
      <p:sp>
        <p:nvSpPr>
          <p:cNvPr id="18" name="TextBox 17"/>
          <p:cNvSpPr txBox="1"/>
          <p:nvPr/>
        </p:nvSpPr>
        <p:spPr>
          <a:xfrm>
            <a:off x="685800" y="4338828"/>
            <a:ext cx="4495647" cy="685800"/>
          </a:xfrm>
          <a:prstGeom prst="rect">
            <a:avLst/>
          </a:prstGeom>
          <a:noFill/>
        </p:spPr>
        <p:txBody>
          <a:bodyPr wrap="square" lIns="45720" rIns="45720" tIns="27432" bIns="27432" anchor="ctr">
            <a:spAutoFit/>
          </a:bodyPr>
          <a:lstStyle/>
          <a:p>
            <a:pPr rtl="1" algn="r">
              <a:lnSpc>
                <a:spcPct val="100000"/>
              </a:lnSpc>
              <a:spcBef>
                <a:spcPts val="0"/>
              </a:spcBef>
              <a:spcAft>
                <a:spcPts val="0"/>
              </a:spcAft>
            </a:pPr>
            <a:r>
              <a:rPr sz="2400" b="1" i="0" lang="ar-SA">
                <a:solidFill>
                  <a:srgbClr val="134E4A"/>
                </a:solidFill>
                <a:latin typeface="Arial"/>
                <a:cs typeface="Arial"/>
              </a:rPr>
              <a:t>ما يكشفه التصميم في H1</a:t>
            </a:r>
          </a:p>
        </p:txBody>
      </p:sp>
      <p:sp>
        <p:nvSpPr>
          <p:cNvPr id="19" name="TextBox 18"/>
          <p:cNvSpPr txBox="1"/>
          <p:nvPr/>
        </p:nvSpPr>
        <p:spPr>
          <a:xfrm>
            <a:off x="685800" y="5097780"/>
            <a:ext cx="5135727" cy="982980"/>
          </a:xfrm>
          <a:prstGeom prst="rect">
            <a:avLst/>
          </a:prstGeom>
          <a:noFill/>
        </p:spPr>
        <p:txBody>
          <a:bodyPr wrap="square" lIns="45720" rIns="45720" tIns="27432" bIns="27432" anchor="t">
            <a:spAutoFit/>
          </a:bodyPr>
          <a:lstStyle/>
          <a:p>
            <a:pPr rtl="1" algn="r">
              <a:lnSpc>
                <a:spcPct val="115000"/>
              </a:lnSpc>
              <a:spcBef>
                <a:spcPts val="0"/>
              </a:spcBef>
              <a:spcAft>
                <a:spcPts val="0"/>
              </a:spcAft>
            </a:pPr>
            <a:r>
              <a:rPr sz="2000" b="0" i="0" lang="ar-SA">
                <a:solidFill>
                  <a:srgbClr val="475569"/>
                </a:solidFill>
                <a:latin typeface="Arial"/>
                <a:cs typeface="Arial"/>
              </a:rPr>
              <a:t>لم يتفوق الهجين على الشعبية الآنية في 2014؛ غير حاسمة: لا يكشف التصميم بقوة 80% أثراً أصغر من 0.0375</a:t>
            </a:r>
          </a:p>
        </p:txBody>
      </p:sp>
      <p:sp>
        <p:nvSpPr>
          <p:cNvPr id="20" name="شعار الجامعة"/>
          <p:cNvSpPr/>
          <p:nvPr/>
        </p:nvSpPr>
        <p:spPr>
          <a:xfrm>
            <a:off x="10957255" y="6382512"/>
            <a:ext cx="68580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134E4A"/>
                </a:solidFill>
                <a:latin typeface="Arial"/>
                <a:cs typeface="Arial"/>
              </a:rPr>
              <a:t>SVU</a:t>
            </a:r>
          </a:p>
        </p:txBody>
      </p:sp>
      <p:sp>
        <p:nvSpPr>
          <p:cNvPr id="21"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A7F3D0"/>
                </a:solidFill>
                <a:latin typeface="Arial"/>
                <a:cs typeface="Arial"/>
              </a:rPr>
              <a:t>الجامعة الافتراضية السورية  |  ماجستير علوم الوب</a:t>
            </a:r>
          </a:p>
        </p:txBody>
      </p:sp>
      <p:sp>
        <p:nvSpPr>
          <p:cNvPr id="22"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A7F3D0"/>
                </a:solidFill>
                <a:latin typeface="Arial"/>
              </a:rPr>
              <a:t>‹#›</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34E4A"/>
        </a:solidFill>
        <a:effectLst/>
      </p:bgPr>
    </p:bg>
    <p:spTree>
      <p:nvGrpSpPr>
        <p:cNvPr id="1" name=""/>
        <p:cNvGrpSpPr/>
        <p:nvPr/>
      </p:nvGrpSpPr>
      <p:grpSpPr/>
      <p:sp>
        <p:nvSpPr>
          <p:cNvPr id="2" name="زخرفة"/>
          <p:cNvSpPr/>
          <p:nvPr/>
        </p:nvSpPr>
        <p:spPr>
          <a:xfrm>
            <a:off x="-2011680" y="3108960"/>
            <a:ext cx="5669280" cy="5669280"/>
          </a:xfrm>
          <a:prstGeom prst="ellipse">
            <a:avLst/>
          </a:prstGeom>
          <a:solidFill>
            <a:srgbClr val="115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زخرفة"/>
          <p:cNvSpPr/>
          <p:nvPr/>
        </p:nvSpPr>
        <p:spPr>
          <a:xfrm>
            <a:off x="274320" y="-1463040"/>
            <a:ext cx="3291840" cy="32918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العنوان"/>
          <p:cNvSpPr txBox="1"/>
          <p:nvPr/>
        </p:nvSpPr>
        <p:spPr>
          <a:xfrm>
            <a:off x="3474720" y="1554480"/>
            <a:ext cx="8168335" cy="128016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5400" b="1" i="0" lang="ar-SA">
                <a:solidFill>
                  <a:srgbClr val="FFFFFF"/>
                </a:solidFill>
                <a:latin typeface="Arial"/>
                <a:cs typeface="Arial"/>
              </a:rPr>
              <a:t>شكراً لكم</a:t>
            </a:r>
          </a:p>
        </p:txBody>
      </p:sp>
      <p:sp>
        <p:nvSpPr>
          <p:cNvPr id="5" name="أسئلة"/>
          <p:cNvSpPr/>
          <p:nvPr/>
        </p:nvSpPr>
        <p:spPr>
          <a:xfrm>
            <a:off x="8351215" y="3017520"/>
            <a:ext cx="3291840" cy="54864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2400" b="1" i="0" lang="ar-SA">
                <a:solidFill>
                  <a:srgbClr val="FFFFFF"/>
                </a:solidFill>
                <a:latin typeface="Arial"/>
                <a:cs typeface="Arial"/>
              </a:rPr>
              <a:t>الأسئلة والمناقشة</a:t>
            </a:r>
          </a:p>
        </p:txBody>
      </p:sp>
      <p:sp>
        <p:nvSpPr>
          <p:cNvPr id="6" name="TextBox 5"/>
          <p:cNvSpPr txBox="1"/>
          <p:nvPr/>
        </p:nvSpPr>
        <p:spPr>
          <a:xfrm>
            <a:off x="3474720" y="4114800"/>
            <a:ext cx="8168335" cy="1280160"/>
          </a:xfrm>
          <a:prstGeom prst="rect">
            <a:avLst/>
          </a:prstGeom>
          <a:noFill/>
        </p:spPr>
        <p:txBody>
          <a:bodyPr wrap="square" lIns="45720" rIns="45720" tIns="27432" bIns="27432" anchor="t">
            <a:spAutoFit/>
          </a:bodyPr>
          <a:lstStyle/>
          <a:p>
            <a:pPr rtl="1" algn="r">
              <a:lnSpc>
                <a:spcPct val="120000"/>
              </a:lnSpc>
              <a:spcBef>
                <a:spcPts val="0"/>
              </a:spcBef>
              <a:spcAft>
                <a:spcPts val="400"/>
              </a:spcAft>
            </a:pPr>
            <a:r>
              <a:rPr sz="2200" b="0" i="0" lang="ar-SA">
                <a:solidFill>
                  <a:srgbClr val="CCFBF1"/>
                </a:solidFill>
                <a:latin typeface="Arial"/>
                <a:cs typeface="Arial"/>
              </a:rPr>
              <a:t>كنان محمد قرحالي</a:t>
            </a:r>
          </a:p>
          <a:p>
            <a:pPr rtl="1" algn="r">
              <a:lnSpc>
                <a:spcPct val="120000"/>
              </a:lnSpc>
              <a:spcBef>
                <a:spcPts val="0"/>
              </a:spcBef>
              <a:spcAft>
                <a:spcPts val="400"/>
              </a:spcAft>
            </a:pPr>
            <a:r>
              <a:rPr sz="2200" b="0" i="0" lang="ar-SA">
                <a:solidFill>
                  <a:srgbClr val="CCFBF1"/>
                </a:solidFill>
                <a:latin typeface="Arial"/>
                <a:cs typeface="Arial"/>
              </a:rPr>
              <a:t>إشراف: د. باسل الخطيب</a:t>
            </a:r>
          </a:p>
        </p:txBody>
      </p:sp>
      <p:sp>
        <p:nvSpPr>
          <p:cNvPr id="7" name="شعار الجامعة"/>
          <p:cNvSpPr/>
          <p:nvPr/>
        </p:nvSpPr>
        <p:spPr>
          <a:xfrm>
            <a:off x="10957255" y="6382512"/>
            <a:ext cx="68580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134E4A"/>
                </a:solidFill>
                <a:latin typeface="Arial"/>
                <a:cs typeface="Arial"/>
              </a:rPr>
              <a:t>SVU</a:t>
            </a:r>
          </a:p>
        </p:txBody>
      </p:sp>
      <p:sp>
        <p:nvSpPr>
          <p:cNvPr id="8"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A7F3D0"/>
                </a:solidFill>
                <a:latin typeface="Arial"/>
                <a:cs typeface="Arial"/>
              </a:rPr>
              <a:t>الجامعة الافتراضية السورية  |  ماجستير علوم الوب</a:t>
            </a:r>
          </a:p>
        </p:txBody>
      </p:sp>
      <p:sp>
        <p:nvSpPr>
          <p:cNvPr id="9"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A7F3D0"/>
                </a:solidFill>
                <a:latin typeface="Arial"/>
              </a:rPr>
              <a:t>‹#›</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احتياطي: التحليلات الثانوية والاستكشافية</a:t>
            </a:r>
          </a:p>
        </p:txBody>
      </p:sp>
      <p:sp>
        <p:nvSpPr>
          <p:cNvPr id="3" name="شريط الحالة"/>
          <p:cNvSpPr/>
          <p:nvPr/>
        </p:nvSpPr>
        <p:spPr>
          <a:xfrm>
            <a:off x="548640" y="1261872"/>
            <a:ext cx="11094415" cy="420624"/>
          </a:xfrm>
          <a:prstGeom prst="roundRect">
            <a:avLst>
              <a:gd name="adj" fmla="val 25000"/>
            </a:avLst>
          </a:prstGeom>
          <a:solidFill>
            <a:srgbClr val="CCFBF1"/>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228600" tIns="18288" bIns="18288"/>
          <a:lstStyle/>
          <a:p>
            <a:pPr algn="r" rtl="1"/>
            <a:r>
              <a:rPr sz="1500" b="1" i="0" lang="ar-SA">
                <a:solidFill>
                  <a:srgbClr val="134E4A"/>
                </a:solidFill>
                <a:latin typeface="Arial"/>
                <a:cs typeface="Arial"/>
              </a:rPr>
              <a:t>ثانوي / استكشافي: بلا حكم تأكيدي، وp غير مصحَّحة</a:t>
            </a:r>
          </a:p>
        </p:txBody>
      </p:sp>
      <p:graphicFrame>
        <p:nvGraphicFramePr>
          <p:cNvPr id="4" name="جدول"/>
          <p:cNvGraphicFramePr>
            <a:graphicFrameLocks noGrp="1"/>
          </p:cNvGraphicFramePr>
          <p:nvPr/>
        </p:nvGraphicFramePr>
        <p:xfrm>
          <a:off x="548640" y="1874519"/>
          <a:ext cx="11094414" cy="3657600"/>
        </p:xfrm>
        <a:graphic>
          <a:graphicData uri="http://schemas.openxmlformats.org/drawingml/2006/table">
            <a:tbl>
              <a:tblPr firstRow="1" bandRow="0">
                <a:tableStyleId>{5C22544A-7EE6-4342-B048-85BDC9FD1C3A}</a:tableStyleId>
              </a:tblPr>
              <a:tblGrid>
                <a:gridCol w="1654430"/>
                <a:gridCol w="2530305"/>
                <a:gridCol w="1362472"/>
                <a:gridCol w="1459791"/>
                <a:gridCol w="4087416"/>
              </a:tblGrid>
              <a:tr h="731520">
                <a:tc>
                  <a:txBody>
                    <a:bodyPr wrap="square"/>
                    <a:lstStyle/>
                    <a:p>
                      <a:pPr rtl="1" algn="r"/>
                      <a:r>
                        <a:rPr sz="1500" b="1" i="0" lang="ar-SA">
                          <a:solidFill>
                            <a:srgbClr val="FFFFFF"/>
                          </a:solidFill>
                          <a:latin typeface="Arial"/>
                          <a:cs typeface="Arial"/>
                        </a:rPr>
                        <a:t>p غير مصحَّحة</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فاصل الثقة 95%</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الفرق</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الوسم</a:t>
                      </a:r>
                    </a:p>
                  </a:txBody>
                  <a:tcPr anchor="ctr" marL="91440" marR="91440" marT="36576" marB="36576">
                    <a:solidFill>
                      <a:srgbClr val="0F766E"/>
                    </a:solidFill>
                  </a:tcPr>
                </a:tc>
                <a:tc>
                  <a:txBody>
                    <a:bodyPr wrap="square"/>
                    <a:lstStyle/>
                    <a:p>
                      <a:pPr rtl="1" algn="r"/>
                      <a:r>
                        <a:rPr sz="1500" b="1" i="0" lang="ar-SA">
                          <a:solidFill>
                            <a:srgbClr val="FFFFFF"/>
                          </a:solidFill>
                          <a:latin typeface="Arial"/>
                          <a:cs typeface="Arial"/>
                        </a:rPr>
                        <a:t>التحليل</a:t>
                      </a:r>
                    </a:p>
                  </a:txBody>
                  <a:tcPr anchor="ctr" marL="91440" marR="91440" marT="36576" marB="36576">
                    <a:solidFill>
                      <a:srgbClr val="0F766E"/>
                    </a:solidFill>
                  </a:tcPr>
                </a:tc>
              </a:tr>
              <a:tr h="731520">
                <a:tc>
                  <a:txBody>
                    <a:bodyPr wrap="square"/>
                    <a:lstStyle/>
                    <a:p>
                      <a:pPr rtl="1" algn="r"/>
                      <a:r>
                        <a:rPr sz="1500" b="0" i="0" lang="ar-SA">
                          <a:solidFill>
                            <a:srgbClr val="134E4A"/>
                          </a:solidFill>
                          <a:latin typeface="Arial"/>
                          <a:cs typeface="Arial"/>
                        </a:rPr>
                        <a:t>‭0.0012‬</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‭[+0.0186, +0.0846]‬</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‭+0.0407‬</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استكشافي</a:t>
                      </a:r>
                    </a:p>
                  </a:txBody>
                  <a:tcPr anchor="ctr" marL="91440" marR="91440" marT="36576" marB="36576">
                    <a:solidFill>
                      <a:srgbClr val="FFFFFF"/>
                    </a:solidFill>
                  </a:tcPr>
                </a:tc>
                <a:tc>
                  <a:txBody>
                    <a:bodyPr wrap="square"/>
                    <a:lstStyle/>
                    <a:p>
                      <a:pPr rtl="1" algn="r"/>
                      <a:r>
                        <a:rPr sz="1500" b="1" i="0" lang="ar-SA">
                          <a:solidFill>
                            <a:srgbClr val="134E4A"/>
                          </a:solidFill>
                          <a:latin typeface="Arial"/>
                          <a:cs typeface="Arial"/>
                        </a:rPr>
                        <a:t>H4-ب · الربع الأقل تاريخاً: الهجين مقابل SKNN</a:t>
                      </a:r>
                    </a:p>
                  </a:txBody>
                  <a:tcPr anchor="ctr" marL="91440" marR="91440" marT="36576" marB="36576">
                    <a:solidFill>
                      <a:srgbClr val="FFFFFF"/>
                    </a:solidFill>
                  </a:tcPr>
                </a:tc>
              </a:tr>
              <a:tr h="731520">
                <a:tc>
                  <a:txBody>
                    <a:bodyPr wrap="square"/>
                    <a:lstStyle/>
                    <a:p>
                      <a:pPr rtl="1" algn="r"/>
                      <a:r>
                        <a:rPr sz="1500" b="0" i="0" lang="ar-SA">
                          <a:solidFill>
                            <a:srgbClr val="134E4A"/>
                          </a:solidFill>
                          <a:latin typeface="Arial"/>
                          <a:cs typeface="Arial"/>
                        </a:rPr>
                        <a:t>‭0.0012‬</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‭[+0.0088, +0.0305]‬</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‭+0.0174‬</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استكشافي</a:t>
                      </a:r>
                    </a:p>
                  </a:txBody>
                  <a:tcPr anchor="ctr" marL="91440" marR="91440" marT="36576" marB="36576">
                    <a:solidFill>
                      <a:srgbClr val="EEF2F6"/>
                    </a:solidFill>
                  </a:tcPr>
                </a:tc>
                <a:tc>
                  <a:txBody>
                    <a:bodyPr wrap="square"/>
                    <a:lstStyle/>
                    <a:p>
                      <a:pPr rtl="1" algn="r"/>
                      <a:r>
                        <a:rPr sz="1500" b="1" i="0" lang="ar-SA">
                          <a:solidFill>
                            <a:srgbClr val="134E4A"/>
                          </a:solidFill>
                          <a:latin typeface="Arial"/>
                          <a:cs typeface="Arial"/>
                        </a:rPr>
                        <a:t>H4-ب · الربع الأعلى تاريخاً</a:t>
                      </a:r>
                    </a:p>
                  </a:txBody>
                  <a:tcPr anchor="ctr" marL="91440" marR="91440" marT="36576" marB="36576">
                    <a:solidFill>
                      <a:srgbClr val="EEF2F6"/>
                    </a:solidFill>
                  </a:tcPr>
                </a:tc>
              </a:tr>
              <a:tr h="731520">
                <a:tc>
                  <a:txBody>
                    <a:bodyPr wrap="square"/>
                    <a:lstStyle/>
                    <a:p>
                      <a:pPr rtl="1" algn="r"/>
                      <a:r>
                        <a:rPr sz="1500" b="0" i="0" lang="ar-SA">
                          <a:solidFill>
                            <a:srgbClr val="134E4A"/>
                          </a:solidFill>
                          <a:latin typeface="Arial"/>
                          <a:cs typeface="Arial"/>
                        </a:rPr>
                        <a:t>‭0.0002‬</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‭[+0.0403, +0.0791]‬</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‭+0.0643‬</a:t>
                      </a:r>
                    </a:p>
                  </a:txBody>
                  <a:tcPr anchor="ctr" marL="91440" marR="91440" marT="36576" marB="36576">
                    <a:solidFill>
                      <a:srgbClr val="FFFFFF"/>
                    </a:solidFill>
                  </a:tcPr>
                </a:tc>
                <a:tc>
                  <a:txBody>
                    <a:bodyPr wrap="square"/>
                    <a:lstStyle/>
                    <a:p>
                      <a:pPr rtl="1" algn="r"/>
                      <a:r>
                        <a:rPr sz="1500" b="0" i="0" lang="ar-SA">
                          <a:solidFill>
                            <a:srgbClr val="134E4A"/>
                          </a:solidFill>
                          <a:latin typeface="Arial"/>
                          <a:cs typeface="Arial"/>
                        </a:rPr>
                        <a:t>ثانوي</a:t>
                      </a:r>
                    </a:p>
                  </a:txBody>
                  <a:tcPr anchor="ctr" marL="91440" marR="91440" marT="36576" marB="36576">
                    <a:solidFill>
                      <a:srgbClr val="FFFFFF"/>
                    </a:solidFill>
                  </a:tcPr>
                </a:tc>
                <a:tc>
                  <a:txBody>
                    <a:bodyPr wrap="square"/>
                    <a:lstStyle/>
                    <a:p>
                      <a:pPr rtl="1" algn="r"/>
                      <a:r>
                        <a:rPr sz="1500" b="1" i="0" lang="ar-SA">
                          <a:solidFill>
                            <a:srgbClr val="134E4A"/>
                          </a:solidFill>
                          <a:latin typeface="Arial"/>
                          <a:cs typeface="Arial"/>
                        </a:rPr>
                        <a:t>AUC عند اليوم 56: M2 مقابل M1</a:t>
                      </a:r>
                    </a:p>
                  </a:txBody>
                  <a:tcPr anchor="ctr" marL="91440" marR="91440" marT="36576" marB="36576">
                    <a:solidFill>
                      <a:srgbClr val="FFFFFF"/>
                    </a:solidFill>
                  </a:tcPr>
                </a:tc>
              </a:tr>
              <a:tr h="731520">
                <a:tc>
                  <a:txBody>
                    <a:bodyPr wrap="square"/>
                    <a:lstStyle/>
                    <a:p>
                      <a:pPr rtl="1" algn="r"/>
                      <a:r>
                        <a:rPr sz="1500" b="0" i="0" lang="ar-SA">
                          <a:solidFill>
                            <a:srgbClr val="134E4A"/>
                          </a:solidFill>
                          <a:latin typeface="Arial"/>
                          <a:cs typeface="Arial"/>
                        </a:rPr>
                        <a:t>‭0.0002‬</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‭[+0.0525, +0.0881]‬</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‭+0.0725‬</a:t>
                      </a:r>
                    </a:p>
                  </a:txBody>
                  <a:tcPr anchor="ctr" marL="91440" marR="91440" marT="36576" marB="36576">
                    <a:solidFill>
                      <a:srgbClr val="EEF2F6"/>
                    </a:solidFill>
                  </a:tcPr>
                </a:tc>
                <a:tc>
                  <a:txBody>
                    <a:bodyPr wrap="square"/>
                    <a:lstStyle/>
                    <a:p>
                      <a:pPr rtl="1" algn="r"/>
                      <a:r>
                        <a:rPr sz="1500" b="0" i="0" lang="ar-SA">
                          <a:solidFill>
                            <a:srgbClr val="134E4A"/>
                          </a:solidFill>
                          <a:latin typeface="Arial"/>
                          <a:cs typeface="Arial"/>
                        </a:rPr>
                        <a:t>ثانوي</a:t>
                      </a:r>
                    </a:p>
                  </a:txBody>
                  <a:tcPr anchor="ctr" marL="91440" marR="91440" marT="36576" marB="36576">
                    <a:solidFill>
                      <a:srgbClr val="EEF2F6"/>
                    </a:solidFill>
                  </a:tcPr>
                </a:tc>
                <a:tc>
                  <a:txBody>
                    <a:bodyPr wrap="square"/>
                    <a:lstStyle/>
                    <a:p>
                      <a:pPr rtl="1" algn="r"/>
                      <a:r>
                        <a:rPr sz="1500" b="1" i="0" lang="ar-SA">
                          <a:solidFill>
                            <a:srgbClr val="134E4A"/>
                          </a:solidFill>
                          <a:latin typeface="Arial"/>
                          <a:cs typeface="Arial"/>
                        </a:rPr>
                        <a:t>AUC عند اليوم 56: M2 مقابل M0</a:t>
                      </a:r>
                    </a:p>
                  </a:txBody>
                  <a:tcPr anchor="ctr" marL="91440" marR="91440" marT="36576" marB="36576">
                    <a:solidFill>
                      <a:srgbClr val="EEF2F6"/>
                    </a:solidFill>
                  </a:tcPr>
                </a:tc>
              </a:tr>
            </a:tbl>
          </a:graphicData>
        </a:graphic>
      </p:graphicFrame>
      <p:sp>
        <p:nvSpPr>
          <p:cNvPr id="5" name="TextBox 4"/>
          <p:cNvSpPr txBox="1"/>
          <p:nvPr/>
        </p:nvSpPr>
        <p:spPr>
          <a:xfrm>
            <a:off x="548640" y="5623559"/>
            <a:ext cx="11094415" cy="50292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400" b="0" i="0" lang="ar-SA">
                <a:solidFill>
                  <a:srgbClr val="475569"/>
                </a:solidFill>
                <a:latin typeface="Arial"/>
                <a:cs typeface="Arial"/>
              </a:rPr>
              <a:t>المصدر: results/conf2014/h4b.csv وsecondary.csv. M0 مجموع النقرات، وM1 ملامح السلوك. لا يدخل أي صف من هذه الصفوف الثانوية عائلة هولم؛ H4-أ الرئيسي في الشريحة 15. H1: الحد الأعلى 0.0204 يزيد على العتبة بـ0.0004؛ الحكم غير حاسمة بالإجراء المسجل.</a:t>
            </a:r>
          </a:p>
        </p:txBody>
      </p:sp>
      <p:sp>
        <p:nvSpPr>
          <p:cNvPr id="6"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7"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8"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احتياطي: لماذا numpy فقط؟ ولماذا لا CNN؟</a:t>
            </a:r>
          </a:p>
        </p:txBody>
      </p:sp>
      <p:sp>
        <p:nvSpPr>
          <p:cNvPr id="3" name="بطاقة"/>
          <p:cNvSpPr/>
          <p:nvPr/>
        </p:nvSpPr>
        <p:spPr>
          <a:xfrm>
            <a:off x="6233007" y="1463040"/>
            <a:ext cx="5410047"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السؤال"/>
          <p:cNvSpPr/>
          <p:nvPr/>
        </p:nvSpPr>
        <p:spPr>
          <a:xfrm>
            <a:off x="6233007" y="1463040"/>
            <a:ext cx="5410047" cy="822960"/>
          </a:xfrm>
          <a:prstGeom prst="roundRect">
            <a:avLst>
              <a:gd name="adj" fmla="val 2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228600" tIns="18288" bIns="18288"/>
          <a:lstStyle/>
          <a:p>
            <a:pPr algn="r" rtl="1"/>
            <a:r>
              <a:rPr sz="2400" b="1" i="0" lang="ar-SA">
                <a:solidFill>
                  <a:srgbClr val="134E4A"/>
                </a:solidFill>
                <a:latin typeface="Arial"/>
                <a:cs typeface="Arial"/>
              </a:rPr>
              <a:t>س: لماذا numpy فقط؟</a:t>
            </a:r>
          </a:p>
        </p:txBody>
      </p:sp>
      <p:sp>
        <p:nvSpPr>
          <p:cNvPr id="5" name="نقطة"/>
          <p:cNvSpPr/>
          <p:nvPr/>
        </p:nvSpPr>
        <p:spPr>
          <a:xfrm>
            <a:off x="11259007" y="279234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70167" y="2423160"/>
            <a:ext cx="4769967" cy="90297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بيئة التنفيذ لا تتيح TensorFlow ولا Keras ولا scikit-learn</a:t>
            </a:r>
          </a:p>
        </p:txBody>
      </p:sp>
      <p:sp>
        <p:nvSpPr>
          <p:cNvPr id="7" name="نقطة"/>
          <p:cNvSpPr/>
          <p:nvPr/>
        </p:nvSpPr>
        <p:spPr>
          <a:xfrm>
            <a:off x="11259007" y="369531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70167" y="3326130"/>
            <a:ext cx="4769967" cy="90297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كُتبت الخوارزميات يدوياً مع اختبار تحقق لكل تنفيذ</a:t>
            </a:r>
          </a:p>
        </p:txBody>
      </p:sp>
      <p:sp>
        <p:nvSpPr>
          <p:cNvPr id="9" name="نقطة"/>
          <p:cNvSpPr/>
          <p:nvPr/>
        </p:nvSpPr>
        <p:spPr>
          <a:xfrm>
            <a:off x="11259007" y="459828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0167" y="4229100"/>
            <a:ext cx="4769967" cy="90297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مثال: فحص تدرج GRU-lite بخطأ نسبي 4.3e-06</a:t>
            </a:r>
          </a:p>
        </p:txBody>
      </p:sp>
      <p:sp>
        <p:nvSpPr>
          <p:cNvPr id="11" name="نقطة"/>
          <p:cNvSpPr/>
          <p:nvPr/>
        </p:nvSpPr>
        <p:spPr>
          <a:xfrm>
            <a:off x="11259007" y="550125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0167" y="5132070"/>
            <a:ext cx="4769967" cy="90297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القيد معلن في الفصل الثالث (3-6-3)</a:t>
            </a:r>
          </a:p>
        </p:txBody>
      </p:sp>
      <p:sp>
        <p:nvSpPr>
          <p:cNvPr id="13" name="بطاقة"/>
          <p:cNvSpPr/>
          <p:nvPr/>
        </p:nvSpPr>
        <p:spPr>
          <a:xfrm>
            <a:off x="548640" y="1463040"/>
            <a:ext cx="5410047"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السؤال"/>
          <p:cNvSpPr/>
          <p:nvPr/>
        </p:nvSpPr>
        <p:spPr>
          <a:xfrm>
            <a:off x="548640" y="1463040"/>
            <a:ext cx="5410047" cy="822960"/>
          </a:xfrm>
          <a:prstGeom prst="roundRect">
            <a:avLst>
              <a:gd name="adj" fmla="val 2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228600" tIns="18288" bIns="18288"/>
          <a:lstStyle/>
          <a:p>
            <a:pPr algn="r" rtl="1"/>
            <a:r>
              <a:rPr sz="2400" b="1" i="0" lang="ar-SA">
                <a:solidFill>
                  <a:srgbClr val="134E4A"/>
                </a:solidFill>
                <a:latin typeface="Arial"/>
                <a:cs typeface="Arial"/>
              </a:rPr>
              <a:t>س: لماذا لا CNN؟</a:t>
            </a:r>
          </a:p>
        </p:txBody>
      </p:sp>
      <p:sp>
        <p:nvSpPr>
          <p:cNvPr id="15" name="نقطة"/>
          <p:cNvSpPr/>
          <p:nvPr/>
        </p:nvSpPr>
        <p:spPr>
          <a:xfrm>
            <a:off x="5574639" y="279234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423160"/>
            <a:ext cx="4769967" cy="90297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مرجعه الوحيد في الأدبيات المدروسة غير قابل للتكرار</a:t>
            </a:r>
          </a:p>
        </p:txBody>
      </p:sp>
      <p:sp>
        <p:nvSpPr>
          <p:cNvPr id="17" name="نقطة"/>
          <p:cNvSpPr/>
          <p:nvPr/>
        </p:nvSpPr>
        <p:spPr>
          <a:xfrm>
            <a:off x="5574639" y="369531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26130"/>
            <a:ext cx="4769967" cy="90297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سلال الأيام غير مرتبة داخلياً: لا بنية محلية تستفيد منها التلافيف</a:t>
            </a:r>
          </a:p>
        </p:txBody>
      </p:sp>
      <p:sp>
        <p:nvSpPr>
          <p:cNvPr id="19" name="نقطة"/>
          <p:cNvSpPr/>
          <p:nvPr/>
        </p:nvSpPr>
        <p:spPr>
          <a:xfrm>
            <a:off x="5574639" y="459828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229100"/>
            <a:ext cx="4769967" cy="90297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بقي الاتجاه العصبوني ممثلاً بـ GRU-lite</a:t>
            </a:r>
          </a:p>
        </p:txBody>
      </p:sp>
      <p:sp>
        <p:nvSpPr>
          <p:cNvPr id="21" name="نقطة"/>
          <p:cNvSpPr/>
          <p:nvPr/>
        </p:nvSpPr>
        <p:spPr>
          <a:xfrm>
            <a:off x="5574639" y="550125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132070"/>
            <a:ext cx="4769967" cy="902970"/>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1700" b="0" i="0" lang="ar-SA">
                <a:solidFill>
                  <a:srgbClr val="134E4A"/>
                </a:solidFill>
                <a:latin typeface="Arial"/>
                <a:cs typeface="Arial"/>
              </a:rPr>
              <a:t>الخطة نفسها تركت اختيار الأنسب أثناء البحث</a:t>
            </a:r>
          </a:p>
        </p:txBody>
      </p:sp>
      <p:sp>
        <p:nvSpPr>
          <p:cNvPr id="23"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24"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25"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احتياطي: ما الدلالة الإحصائية؟</a:t>
            </a:r>
          </a:p>
        </p:txBody>
      </p:sp>
      <p:sp>
        <p:nvSpPr>
          <p:cNvPr id="3" name="بطاقة"/>
          <p:cNvSpPr/>
          <p:nvPr/>
        </p:nvSpPr>
        <p:spPr>
          <a:xfrm>
            <a:off x="548639" y="1463040"/>
            <a:ext cx="11094415"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السؤال"/>
          <p:cNvSpPr/>
          <p:nvPr/>
        </p:nvSpPr>
        <p:spPr>
          <a:xfrm>
            <a:off x="548639" y="1463040"/>
            <a:ext cx="11094415" cy="822960"/>
          </a:xfrm>
          <a:prstGeom prst="roundRect">
            <a:avLst>
              <a:gd name="adj" fmla="val 2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228600" tIns="18288" bIns="18288"/>
          <a:lstStyle/>
          <a:p>
            <a:pPr algn="r" rtl="1"/>
            <a:r>
              <a:rPr sz="2400" b="1" i="0" lang="ar-SA">
                <a:solidFill>
                  <a:srgbClr val="134E4A"/>
                </a:solidFill>
                <a:latin typeface="Arial"/>
                <a:cs typeface="Arial"/>
              </a:rPr>
              <a:t>س: كيف يُحكم على الفرق بين نموذجين؟</a:t>
            </a:r>
          </a:p>
        </p:txBody>
      </p:sp>
      <p:sp>
        <p:nvSpPr>
          <p:cNvPr id="5" name="نقطة"/>
          <p:cNvSpPr/>
          <p:nvPr/>
        </p:nvSpPr>
        <p:spPr>
          <a:xfrm>
            <a:off x="11259007" y="2702052"/>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799" y="2423160"/>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وحدة التحليل العرض: 13 عرضاً في 2014، ومتوسط الفروق على 3 قطوع</a:t>
            </a:r>
          </a:p>
        </p:txBody>
      </p:sp>
      <p:sp>
        <p:nvSpPr>
          <p:cNvPr id="7" name="نقطة"/>
          <p:cNvSpPr/>
          <p:nvPr/>
        </p:nvSpPr>
        <p:spPr>
          <a:xfrm>
            <a:off x="11259007" y="3424428"/>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3145536"/>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فاصل ثقة 95% بـ bootstrap-t العنقودي المعيَّر، بعشرة آلاف إعادة</a:t>
            </a:r>
          </a:p>
        </p:txBody>
      </p:sp>
      <p:sp>
        <p:nvSpPr>
          <p:cNvPr id="9" name="نقطة"/>
          <p:cNvSpPr/>
          <p:nvPr/>
        </p:nvSpPr>
        <p:spPr>
          <a:xfrm>
            <a:off x="11259007" y="4146804"/>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 y="3867912"/>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قيمة p بقلب الإشارات الدقيق (8,192 تركيبة)، وتصحيح هولم على 4 فرضيات</a:t>
            </a:r>
          </a:p>
        </p:txBody>
      </p:sp>
      <p:sp>
        <p:nvSpPr>
          <p:cNvPr id="11" name="نقطة"/>
          <p:cNvSpPr/>
          <p:nvPr/>
        </p:nvSpPr>
        <p:spPr>
          <a:xfrm>
            <a:off x="11259007" y="486917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799" y="4590288"/>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تُؤكَّد الفرضية إن بلغ الأثر 0.02 على الأقل وكان الحد الأدنى للفاصل موجباً وp المصحَّحة أقل من 0.05</a:t>
            </a:r>
          </a:p>
        </p:txBody>
      </p:sp>
      <p:sp>
        <p:nvSpPr>
          <p:cNvPr id="13" name="نقطة"/>
          <p:cNvSpPr/>
          <p:nvPr/>
        </p:nvSpPr>
        <p:spPr>
          <a:xfrm>
            <a:off x="11259007" y="5591556"/>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799" y="5312664"/>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MDE80 المجمَّد: H1 0.0375، H2-أ 0.045، H3 0.050، H4-أ 0.0225</a:t>
            </a:r>
          </a:p>
        </p:txBody>
      </p:sp>
      <p:sp>
        <p:nvSpPr>
          <p:cNvPr id="15"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6"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7"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العنوان"/>
          <p:cNvSpPr txBox="1"/>
          <p:nvPr/>
        </p:nvSpPr>
        <p:spPr>
          <a:xfrm>
            <a:off x="548640" y="347472"/>
            <a:ext cx="11094415" cy="868680"/>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3000" b="1" i="0" lang="ar-SA">
                <a:solidFill>
                  <a:srgbClr val="134E4A"/>
                </a:solidFill>
                <a:latin typeface="Arial"/>
                <a:cs typeface="Arial"/>
              </a:rPr>
              <a:t>احتياطي: ما حدود التعميم؟</a:t>
            </a:r>
          </a:p>
        </p:txBody>
      </p:sp>
      <p:sp>
        <p:nvSpPr>
          <p:cNvPr id="3" name="بطاقة"/>
          <p:cNvSpPr/>
          <p:nvPr/>
        </p:nvSpPr>
        <p:spPr>
          <a:xfrm>
            <a:off x="548639" y="1463040"/>
            <a:ext cx="11094415" cy="4709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السؤال"/>
          <p:cNvSpPr/>
          <p:nvPr/>
        </p:nvSpPr>
        <p:spPr>
          <a:xfrm>
            <a:off x="548639" y="1463040"/>
            <a:ext cx="11094415" cy="822960"/>
          </a:xfrm>
          <a:prstGeom prst="roundRect">
            <a:avLst>
              <a:gd name="adj" fmla="val 2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228600" tIns="18288" bIns="18288"/>
          <a:lstStyle/>
          <a:p>
            <a:pPr algn="r" rtl="1"/>
            <a:r>
              <a:rPr sz="2400" b="1" i="0" lang="ar-SA">
                <a:solidFill>
                  <a:srgbClr val="134E4A"/>
                </a:solidFill>
                <a:latin typeface="Arial"/>
                <a:cs typeface="Arial"/>
              </a:rPr>
              <a:t>س: إلى أي مدى تنطبق النتائج؟</a:t>
            </a:r>
          </a:p>
        </p:txBody>
      </p:sp>
      <p:sp>
        <p:nvSpPr>
          <p:cNvPr id="5" name="نقطة"/>
          <p:cNvSpPr/>
          <p:nvPr/>
        </p:nvSpPr>
        <p:spPr>
          <a:xfrm>
            <a:off x="11259007" y="2702052"/>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799" y="2423160"/>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مؤسسة واحدة (الجامعة المفتوحة البريطانية): التعميم من 2013 إلى 2014 فقط</a:t>
            </a:r>
          </a:p>
        </p:txBody>
      </p:sp>
      <p:sp>
        <p:nvSpPr>
          <p:cNvPr id="7" name="نقطة"/>
          <p:cNvSpPr/>
          <p:nvPr/>
        </p:nvSpPr>
        <p:spPr>
          <a:xfrm>
            <a:off x="11259007" y="3424428"/>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3145536"/>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لا ادعاء حول بيئة الجامعة الافتراضية السورية ولا بيئة عربية</a:t>
            </a:r>
          </a:p>
        </p:txBody>
      </p:sp>
      <p:sp>
        <p:nvSpPr>
          <p:cNvPr id="9" name="نقطة"/>
          <p:cNvSpPr/>
          <p:nvPr/>
        </p:nvSpPr>
        <p:spPr>
          <a:xfrm>
            <a:off x="11259007" y="4146804"/>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 y="3867912"/>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التقييم دون اتصال: الوصول المستقبلي وكيل للملاءمة لا للتعلم</a:t>
            </a:r>
          </a:p>
        </p:txBody>
      </p:sp>
      <p:sp>
        <p:nvSpPr>
          <p:cNvPr id="11" name="نقطة"/>
          <p:cNvSpPr/>
          <p:nvPr/>
        </p:nvSpPr>
        <p:spPr>
          <a:xfrm>
            <a:off x="11259007" y="4869179"/>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799" y="4590288"/>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سجلات بدقة يوم، وكتالوج صغير ومصفوفة نسبياً كثيفة</a:t>
            </a:r>
          </a:p>
        </p:txBody>
      </p:sp>
      <p:sp>
        <p:nvSpPr>
          <p:cNvPr id="13" name="نقطة"/>
          <p:cNvSpPr/>
          <p:nvPr/>
        </p:nvSpPr>
        <p:spPr>
          <a:xfrm>
            <a:off x="11259007" y="5591556"/>
            <a:ext cx="164592" cy="16459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799" y="5312664"/>
            <a:ext cx="10454335" cy="722376"/>
          </a:xfrm>
          <a:prstGeom prst="rect">
            <a:avLst/>
          </a:prstGeom>
          <a:noFill/>
        </p:spPr>
        <p:txBody>
          <a:bodyPr wrap="square" lIns="45720" rIns="45720" tIns="27432" bIns="27432" anchor="ctr">
            <a:spAutoFit/>
          </a:bodyPr>
          <a:lstStyle/>
          <a:p>
            <a:pPr rtl="1" algn="r">
              <a:lnSpc>
                <a:spcPct val="105000"/>
              </a:lnSpc>
              <a:spcBef>
                <a:spcPts val="0"/>
              </a:spcBef>
              <a:spcAft>
                <a:spcPts val="0"/>
              </a:spcAft>
            </a:pPr>
            <a:r>
              <a:rPr sz="2000" b="0" i="0" lang="ar-SA">
                <a:solidFill>
                  <a:srgbClr val="134E4A"/>
                </a:solidFill>
                <a:latin typeface="Arial"/>
                <a:cs typeface="Arial"/>
              </a:rPr>
              <a:t>المعالجة: نقل البروتوكول إلى سجلات الجامعة الافتراضية السورية</a:t>
            </a:r>
          </a:p>
        </p:txBody>
      </p:sp>
      <p:sp>
        <p:nvSpPr>
          <p:cNvPr id="15" name="شعار الجامعة"/>
          <p:cNvSpPr/>
          <p:nvPr/>
        </p:nvSpPr>
        <p:spPr>
          <a:xfrm>
            <a:off x="10957255" y="6382512"/>
            <a:ext cx="68580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rtl="1"/>
            <a:r>
              <a:rPr sz="1200" b="1" i="0" lang="ar-SA">
                <a:solidFill>
                  <a:srgbClr val="FFFFFF"/>
                </a:solidFill>
                <a:latin typeface="Arial"/>
                <a:cs typeface="Arial"/>
              </a:rPr>
              <a:t>SVU</a:t>
            </a:r>
          </a:p>
        </p:txBody>
      </p:sp>
      <p:sp>
        <p:nvSpPr>
          <p:cNvPr id="16" name="تذييل"/>
          <p:cNvSpPr txBox="1"/>
          <p:nvPr/>
        </p:nvSpPr>
        <p:spPr>
          <a:xfrm>
            <a:off x="5287975" y="6373368"/>
            <a:ext cx="5577840" cy="310896"/>
          </a:xfrm>
          <a:prstGeom prst="rect">
            <a:avLst/>
          </a:prstGeom>
          <a:noFill/>
        </p:spPr>
        <p:txBody>
          <a:bodyPr wrap="square" lIns="45720" rIns="45720" tIns="27432" bIns="27432" anchor="ctr">
            <a:spAutoFit/>
          </a:bodyPr>
          <a:lstStyle/>
          <a:p>
            <a:pPr rtl="1" algn="r">
              <a:lnSpc>
                <a:spcPct val="115000"/>
              </a:lnSpc>
              <a:spcBef>
                <a:spcPts val="0"/>
              </a:spcBef>
              <a:spcAft>
                <a:spcPts val="0"/>
              </a:spcAft>
            </a:pPr>
            <a:r>
              <a:rPr sz="1200" b="0" i="0" lang="ar-SA">
                <a:solidFill>
                  <a:srgbClr val="475569"/>
                </a:solidFill>
                <a:latin typeface="Arial"/>
                <a:cs typeface="Arial"/>
              </a:rPr>
              <a:t>الجامعة الافتراضية السورية  |  ماجستير علوم الوب</a:t>
            </a:r>
          </a:p>
        </p:txBody>
      </p:sp>
      <p:sp>
        <p:nvSpPr>
          <p:cNvPr id="17" name="رقم الشريحة"/>
          <p:cNvSpPr txBox="1"/>
          <p:nvPr/>
        </p:nvSpPr>
        <p:spPr>
          <a:xfrm>
            <a:off x="548640" y="6373368"/>
            <a:ext cx="914400" cy="310896"/>
          </a:xfrm>
          <a:prstGeom prst="rect">
            <a:avLst/>
          </a:prstGeom>
          <a:noFill/>
        </p:spPr>
        <p:txBody>
          <a:bodyPr wrap="none">
            <a:spAutoFit/>
          </a:bodyPr>
          <a:lstStyle/>
          <a:p>
            <a:pPr rtl="1" algn="l"/>
            <a:fld id="{B6F15528-21DE-4FAA-801E-634DDDAF4B2B}" type="slidenum">
              <a:rPr lang="en-US" sz="1200">
                <a:solidFill>
                  <a:srgbClr val="475569"/>
                </a:solidFill>
                <a:latin typeface="Arial"/>
              </a:rPr>
              <a:t>‹#›</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توصية للتعليم الإلكتروني القائم على تحليل سلوك المستخدم</dc:title>
  <dc:subject>ماجستير علوم الوب — الجامعة الافتراضية السورية</dc:subject>
  <dc:creator>كنان محمد قرحالي</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ar-SA</dc:language>
</cp:coreProperties>
</file>