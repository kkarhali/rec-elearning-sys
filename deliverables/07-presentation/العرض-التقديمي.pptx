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cat>
            <c:strRef>
              <c:f>Sheet1!$A$2:$A$10</c:f>
              <c:strCache>
                <c:ptCount val="9"/>
                <c:pt idx="0">
                  <c:v>الشعبية الآنية</c:v>
                </c:pt>
                <c:pt idx="1">
                  <c:v>الهجين</c:v>
                </c:pt>
                <c:pt idx="2">
                  <c:v>SKNN</c:v>
                </c:pt>
                <c:pt idx="3">
                  <c:v>GRU-lite</c:v>
                </c:pt>
                <c:pt idx="4">
                  <c:v>ماركوف</c:v>
                </c:pt>
                <c:pt idx="5">
                  <c:v>Item-kNN</c:v>
                </c:pt>
                <c:pt idx="6">
                  <c:v>WRMF</c:v>
                </c:pt>
                <c:pt idx="7">
                  <c:v>الشعبية الكلية</c:v>
                </c:pt>
                <c:pt idx="8">
                  <c:v>العشوائي</c:v>
                </c:pt>
              </c:strCache>
            </c:strRef>
          </c:cat>
          <c:val>
            <c:numRef>
              <c:f>Sheet1!$B$2:$B$10</c:f>
              <c:numCache>
                <c:formatCode>General</c:formatCode>
                <c:ptCount val="9"/>
                <c:pt idx="0">
                  <c:v>0.5698</c:v>
                </c:pt>
                <c:pt idx="1">
                  <c:v>0.5692</c:v>
                </c:pt>
                <c:pt idx="2">
                  <c:v>0.5405</c:v>
                </c:pt>
                <c:pt idx="3">
                  <c:v>0.5305</c:v>
                </c:pt>
                <c:pt idx="4">
                  <c:v>0.4149</c:v>
                </c:pt>
                <c:pt idx="5">
                  <c:v>0.3472</c:v>
                </c:pt>
                <c:pt idx="6">
                  <c:v>0.2708</c:v>
                </c:pt>
                <c:pt idx="7">
                  <c:v>0.1606</c:v>
                </c:pt>
                <c:pt idx="8">
                  <c:v>0.0608</c:v>
                </c:pt>
              </c:numCache>
            </c:numRef>
          </c:val>
        </c:ser>
        <c:dLbls>
          <c:numFmt formatCode="0.0000" sourceLinked="0"/>
          <c:txPr>
            <a:bodyPr/>
            <a:lstStyle/>
            <a:p>
              <a:pPr>
                <a:defRPr sz="15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500"/>
            </a:pPr>
          </a:p>
        </c:txPr>
        <c:crossAx val="-2113994440"/>
        <c:crosses val="autoZero"/>
        <c:auto val="1"/>
        <c:lblAlgn val="ctr"/>
        <c:lblOffset val="100"/>
        <c:noMultiLvlLbl val="0"/>
      </c:catAx>
      <c:valAx>
        <c:axId val="-2113994440"/>
        <c:scaling>
          <c:max val="0.672364"/>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السادة أعضاء لجنة الحكم، شكراً لحضوركم. موضوع رسالتي نظام توصية للتعليم الإلكتروني يعتمد على تحليل سلوك المتعلم، وسأعرضه بوصفه دراسة بحثية. بدأت بسؤال عملي عن متعلم يواجه مئات الموارد دون توجيه فوري، ثم أعادت البيانات صياغة هذا السؤال. بعد ذلك جرّبت عدة مسارات معروفة في أدبيات التوصية، وقست كلاً منها ببروتوكول ثُبّت قبل رؤية النتائج، وسأعرض ما انتهى إليه كل مسار وحدود دليله. وفي آخر العرض أجيب عن سؤالين: ما مدى جودة المسار الذي اتبعته، وأي المسارات أوعد لمن يكمل بعدي.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انطلقت الخطة من دافع تكرره الأدبيات، وهو التناثر، فمصفوفات المقررات المفتوحة الكبيرة متناثرة بنسبة 99.57%. لكن التحليل الاستكشافي لعروض التطوير التسعة أظهر صورة أخرى. فالمصفوفة داخل العرض الواحد كثيفة نسبياً، بين 9.8% و41.6%. والاستعمال متركز: خُمس الموارد يأخذ ما بين 40.9% و86.4% من أزواج الوصول. وأكثر من نصف ما يصل إليه المتعلم في الأسبوعين التاليين لأي نقطة قطع مورد زاره من قبل. و28.0% من النقرات على صفحات تنقل كالصفحة الرئيسية للمقرر. فالجدول الدراسي والشعبية والإعادات تقود معظم الوصول داخل المقرر، وهذا ما غيّر تعريف المهمة.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قبل اختيار أي نموذج جرّبت ثلاثة نماذج بسيطة على عرض واحد، بثلاثة تعريفات للهدف. حين يبقى في الهدف كل وصول، ومعه الصفحة الرئيسية والإعادات، يصيب خط الشعبية عند 999 متعلماً من كل ألف تقريباً. هذا رقم لا يقول شيئاً عن فائدة التوصية للمتعلم، فهو يكافئ النموذج على اقتراح ما يعرفه المتعلم أصلاً. وحين يقتصر الهدف على الموارد التي لم يزرها المتعلم بعد، تهبط الشعبية الكلية إلى 0.446، وتبقى الشعبية الآنية، أي ما استعمله الزملاء في الأيام الأخيرة، عند 0.864. فاتخذت ثلاثة قرارات: استبعاد صفحات التنقل، وجعل اكتشاف الموارد الجديدة المهمة الرئيسية، وجعل الشعبية الآنية المرجع الذي يُقاس فوقه أي نموذج سلوكي.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بدأت خطة البحث بفكرة عامة: تحليل سجلات التفاعل لتقديم توصيات شخصية. وبعد الدراسة المرجعية والتحليل الاستكشافي صار السؤال قابلاً للاختبار: ما الذي يضيفه تحليل السلوك فوق ما يمليه الجدول الدراسي؟ وتفرّع إلى أربعة أسئلة. الأول عن الشخصنة: هل يتفوق نموذج هجين سلوكي على الشعبية الآنية؟ والثاني عن ترجيح الإشارة: هل تضيف أيام الوصول وحداثته وشدته شيئاً فوق الإشارة الثنائية؟ والثالث عن الترتيب الزمني: هل تتفوق شبكة متكررة خفيفة على طريقة الجيران؟ والرابع عن المتعلم نفسه: هل تتنبأ ملامح السلوك المبكرة بالتعثر أفضل من مجموع النقرات؟ وكُتب في الصياغة منذ البداية أن الجواب قد يكون أن الشعبية الآنية لا يُتفوَّق عليها، وأن هذا جواب يُبلَّغ كما هو.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حلّلت 38 مرجعاً بقالب استخلاص موحد، وخرجت بثلاث ملاحظات. أولاها أن الطرائق البسيطة، كالشعبية والجيران، تنافس النماذج المعقدة حين تُضبط بإنصاف. والثانية أن كثيراً من الأرقام المنشورة يصنعها البروتوكول، فالترتيب بين عيّنة صغيرة من السوالب يضخّم المقاييس وقد يغيّر ترتيب النماذج. والثالثة أن ترجيح الإشارات الضمنية بالأيام والحداثة والشدة مقترح في عدة أعمال تعليمية دون اختبار استئصالي. والفجوة كما اشتققتها بمصفوفة من أحد عشر معياراً: لا مرجع يختبر الترجيح مقابل الإشارة الثنائية على بيانات تعليمية عامة، ولا مرجع يجمع التقسيم الزمني والترتيب على الكتالوج الكامل. وأقيّد الجدّة بحدود المراجع المحللة، ففصل الموارد الجديدة عن المكررة معروف في التوصية بالسلة التالية، والاضمحلال الزمني مختبر في سلال البقالة.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المسارات التي اخترت أن أتتبعها، وكلها من العائلات التي تقترحها الأدبيات للإجابة عن سؤال واحد: ما الذي يتنبأ بالمورد التالي الذي سيفتحه المتعلم؟ الشعبية الآنية تجيب: ما يستعمله الزملاء الآن. والجيران على السلال يجيبون: ما زاره من تشابهت سلالهم مع سلتك. وGRU-lite وماركوف يجيبان من ترتيب تاريخ المتعلم. وWRMF يجيب من التاريخ كله مع وزن لشدة التفاعل. ثم الهجين الذي يدمج بعض هذه الإجابات. ولكل مسار فرضية مسجلة تقيسه، وسبب في الأدبيات. وضُبطت كلها بالميزانية نفسها، فلا يكسب نموذج لأنه ضُبط أكثر. واستبعدت الشبكات التلافيفية لأن مرجعها الوحيد غير قابل للتكرار، ولأن سلة اليوم غير مرتبة داخلياً.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المنهج تجريبي كمّي على بيانات تاريخية، بمرحلتين منفصلتين. في التطوير، على عروض 2013 التسعة، ضبطت النماذج واخترت تركيبة الهجين وقدّرت التباين. ثم جمّدت كل شيء: الفرضيات والمقاييس والعتبة وقاعدة الحكم وملف الإعداد، ووسمت نسخة الشيفرة. وبعدها فقط قُرئت عروض 2014 الثلاثة عشر، مرة واحدة. وكان في طبقة البيانات حاجز يرفض أي قراءة لها قبل ذلك، وسجل وصول يثبت القراءة الكاملة الوحيدة. وفي نهاية الطور الأول من التشغيل قُفل جدول الأحكام ضمن 34 ملفاً ببصماتها، قبل أي تحليل ثانوي. والتقييم نفسه زمني: نقطة قطع عامة لكل المتعلمين، ثم أسبوعان للاختبار، والنموذج يرتّب كل الموارد المرشحة دون عيّنات سالبة. ولهذا الاختيار شاهد من بياناتنا: لو رتّبنا بين عشرين سالبة معيَّنة لارتفع معدل الإصابة للنماذج الأربعة إلى ما بين 0.946 و0.968، ولتقدّم GRU-lite على الجيران خلافاً لترتيبهما على الكتالوج الكامل.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لكل مسار فرضية في هذا الجدول، وكل منها يعزل عاملاً واحداً. H1 تقيس الشخصنة فوق الشعبية الآنية. وH2-أ استئصال نظيف: النموذج نفسه بإشارتين لا يختلفان إلا في تمثيل السلوك. وH3 تقارن الشبكة المتكررة بأفضل نموذج تسلسلي غير عصبوني اختاره التطوير، باختبار في الاتجاهين. وH4-أ تقيس ما تضيفه ملامح السلوك إلى مجموع النقرات في التنبؤ بالتعثر. وقاعدة الحكم ثلاثية، وتشترط الدلالة الإحصائية وأثراً عملياً لا يقل عن 0.02 معاً، والعتبة 4.8% من مستوى الشعبية الآنية في الفحص الأولي. ووحدة التحليل العرض، فعندي ثلاث عشرة وحدة فقط، ولذلك اخترت فاصل bootstrap-t العنقودي بعشرة آلاف إعادة سحب، واختبار قلب الإشارات الدقيق، وصحّحت للتعدد بطريقة هولم على الفرضيات الأربع.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أربع مجموعات من الخوارزميات، وكلها مكتوبة بمكتبتي numpy وpandas مع اختبار تحقق لكل تنفيذ. الإشارة الضمنية عائلة متداخلة، كل مستوى فيها حالة خاصة من الذي يليه، فيصير الاستئصال نظيفاً. والهجين يدمج ترتيبات المكوّنات دمجاً رتبياً، ويضيف المكوّنات بقاعدة قبول مكتوبة سلفاً. ولم تقبل القاعدة أي مكوّن، فطُبّقت أرضية تضمن مكوّناً شخصياً بوزن لا يقل عن الربع، فصار الهجين شعبية العنقود مع الجيران على السلال. وحد الربع قُرّر بعد رؤية نتائج التطوير، وإن سُجّل قبل التأكيد. وGRU-lite شبكة متكررة مكتوبة يدوياً، لا تُقبل نتيجتها قبل اجتياز ست فحوص صحة. ونماذج المتعلمين تجميع وانحدار لوجستي وشجرة قرار، دون أي سمة ديموغرافية.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هذا خط التنفيذ. وحدة البيانات تحمّل OULAD وتطبّق الحاجز والاستبعاد وتبني السلال. ثم تُحسب الإشارات، ثم التقسيم الزمني، ثم يُضبط كل نموذج على نافذة التحقق ويُختبر على النافذة التالية، لكل عرض ونقطة قطع. وتكتب وحدتا المقاييس والإحصاء النتائج في مجلد النتائج، وتُولَّد جداول الرسالة منها آلياً، فلا رقم في الرسالة مكتوب باليد. ويعيد أمر واحد نتائج التطوير كلها من الصفر، وقد أعادها على نسخة نظيفة في 47.8 دقيقة. أما التشغيل التأكيدي فاكتمل في استدعاء واحد خلال 143.1 دقيقة.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النظام المنفّذ عرض توضيحي على بيانات تاريخية، وأرقامه لا يُستشهد بها. الخدمة تحسب التوصية عند يوم مختار بأحداث لا تتجاوزه، كما لو كنا في ذلك اليوم، ولا أستخرج منها أي رقم تقييم، وترفض عروض 2014 صراحة. صفحة المتعلم تعرض عشرة موارد لم يزرها بعد، ولكل مورد جملة سبب مأخوذة من المكوّن الذي رشّحه؛ فسبب الجيران مثلاً «زاره مؤخراً زملاء زاروا ما زرتَه»، لأن ما يضيفه هذا المكوّن إشارة جماعية آنية كما سأبيّن. ولوحة المدرّس تعرض درجة خطر نسبية غير معايَرة ابتداءً من اليوم 56، ولا تظهر للمتعلم أبداً، ويتحقق اختبار آلي من غياب أي حقل خطر أو عنقود أو سمة حساسة عن مسارات المتعلم. وتذكر صفحة «عن النظام» أن تفوق الهجين على الشعبية الآنية لم يثبت.</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الأحكام الأربعة كما خرجت من التشغيل التأكيدي الوحيد، ولم يُعَد أي منها. H2-أ مؤكَّدة، والحد الأدنى لفاصلها نفسه فوق العتبة، والفرق موجب في العروض الثلاثة عشر كلها. وH1 غير حاسمة، ونصها المسجل يقول إن التصميم لا يكشف بقوة 80% أثراً أصغر من 0.0375. وH3 مدحوضة للتفوق: الفاصل يستبعد تفوقاً لـGRU-lite بمقدار العتبة، ولا يسمح بقراءتها تكافؤاً ولا تأخراً. وH4-أ مدحوضة عملياً مع أن قيمة p بعد التصحيح دون 0.05. والعمود الأخير هو جدول القوة الذي جُمّد قبل التأكيد، وسأعود إليه حين أقيّم المسار المتبع.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أقرأ الآن كل حكم بمستوى النماذج. في H1 جاء الهجين والشعبية الآنية متساويين تقريباً، 0.5692 مقابل 0.5698. والحكم غير حاسمة، فلا يُقرأ استبعاداً للأثر ولا دليلاً عليه، والفاصل يحدّ إضافة الهجين، إن وُجدت، بـ0.0204 حين تُعامَل العروض وحدات مستقلة، وبـ0.043 على مستوى المقررات. والحد الأعلى يتجاوز العتبة بـ0.0004 فقط، والقاعدة طُبّقت كما سُجّلت. وفي H2-أ رفع ترجيح الإشارة أداء WRMF في العروض الثلاثة عشر كلها، لكن الحكم يخص WRMF وحده، وWRMF بعيد عن أقوى خط أساس، 0.27 مقابل 0.57، فلا أنقل الحكم إلى النظام المقترح. وفي H3 جاء GRU-lite دون الجيران على السلال بفرق صغير. الفاصل يستبعد تفوقه عليهم بـ0.02 أو أكثر، ويشمل الصفر، فلا أقول إنه أسوأ. والمقارنة غير متكافئة: نموذج يرى تاريخ المتعلم وحده أمام نموذج يرى سلال الأقران الحديثة، ويتسق ذلك مع أدبيات التوصية بالجلسة. وفي H4-أ أضافت ملامح السلوك 0.0083 في AUC، وهو أثر دال حين تُعامَل العروض وحدات مستقلة، وغير دال على مستوى المقررات، وحده الأعلى 0.0144 دون العتبة، فالفرضية كما صيغت مدحوضة عملياً. أما الملامح الأكاديمية، أي الدرجة والالتزام بالموعد، فتضيف أكثر بكثير في مقارنة ثانوية.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الرؤية الأولى من النتائج أن ترتيب النماذج على مهمة الموارد الجديدة واحد في السنتين، وفي مقدمته الشعبية الآنية. والفرق بينها وبين الشعبية الكلية كبير: 0.5698 مقابل 0.1606. ففي هذه البيانات يتبع ما يكتشفه المتعلم من جديد ما يستعمله زملاؤه في الأيام نفسها أكثر مما يتبع ما هو شائع على مدى المقرر. وتأتي بعدها النماذج التي ترى السلال الحديثة، ثم النماذج التسلسلية، ثم التصفية التعاونية التقليدية في ذيل الترتيب. وهذا يتسق مع ما تقوله الأدبيات عن قوة الخطوط البسيطة. والفرق عن الأدبيات أن التحدي هنا هيمنة الجدول الدراسي، وقد قستها بخط شعبية زمني بعد فصل الموارد الجديدة عن الإعادات.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الرؤية الثانية تخص مكان الأثر في H2-أ. عدد أيام الوصول وحده لا يضيف شيئاً تقريباً إلى الإشارة الثنائية، في السنتين. والقفزة تأتي حين يُضاف اضمحلال الحداثة: +0.0409 في التطوير و+0.0406 في التأكيد. والشدة المطبَّعة بنوع النشاط تضيف بعدها قليلاً. وهذا يوحي بأن زيارة حديثة تدل على الوصول القادم أكثر من زيارات قديمة متعددة، وهو ما يُنتظر في مقرر يتقدم أسبوعاً بعد أسبوع، ويتسق مع نتائج الاضمحلال الزمني في سلال الشراء. وهنا تهديد ينبغي ذكره: حداثة زيارة الفرد تتلازم مع إيقاع الجماعة، فقد يكون جزء من هذا الأثر هو الجدول الدراسي داخلاً إلى النموذج من باب الحداثة، والبيانات لا تفصل بينهما.</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الرؤية من تحليل لاحق أُجري بعد المناقشة التجريبية، فهي خارج عائلة هولم وأقرؤها استكشافاً. في الهجين المجمَّد يضيف الجيران على السلال مكسباً صغيراً متسقاً فوق شعبية العنقود، +0.0097 وموجباً في اثني عشر عرضاً. لكن هؤلاء الجيران يقصرون بحثهم على أحدث السلال الأسبوعية للأقران. حين وسّعت المجمّع إلى السلال كلها، وأبقيت الإجراء كما هو، صار المكسب سالباً بالأرضية، وقريباً من الصفر دونها، فالفرق صفر في عشرة عروض من ثلاثة عشر. فما سمّيته مكسب شخصنة يعتمد على إشارة جماعية آنية ثانية: ما يفعله الأقران هذا الأسبوع. ولا دليل في هذه البيانات على مكسب من تشابه المتعلم بأقرانه في تاريخه كله. وحتى الهجين الذي يضيف الجيران إلى الشعبية الآنية مباشرة لم يتجاوزها إلا بفرق صغير فاصله يشمل الصفر.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كم نثق بهذه الأحكام؟ ثلاث عشرة وحدة تحليل عدد صغير، ولذلك أعلنت قبل التأكيد ما يستطيع التصميم كشفه. في H1 وH4-أ يكشف بقوة 80% آثاراً دون ضعف العتبة. وفي H2-أ وH3 لا يكشف إلا آثاراً تتجاوز ضعفها. ومع ذلك جاءت H2-أ مؤكَّدة، لأن أثرها كان كبيراً، وتباينها في التأكيد أقل مما قدّرته من التطوير. ثم اختبرت الأحكام لاحقاً أمام قراءات بديلة. بين العتبتين 0.015 و0.025 لا يتغير إلا حكم H1. ولو ضبطت الخطأ العائلي في جهة الدحض أيضاً، بفاصل 98.75%، لبقيت H2-أ مؤكَّدة وH4-أ مدحوضة عملياً، وصارت H3 غير حاسمة، فهي أضعف الأحكام، وارتفع الحد الأعلى لإضافة الهجين في H1 إلى 0.035. وحين أعدت إجراء اختيار الهجين كله بترك عرض خارجاً جاء فرق التطوير 0.0176 مقابل 0.0196، فتفاؤل الانتقاء صغير، وهبوط الفرق في التأكيد يعود في جزء منه إلى صعود الشعبية الآنية نفسها بين السنتين. والخلاصة أن حكم H1 غير حاسمة يحمل معلومة محددة: إضافة الهجين فوق الشعبية الآنية لا تتجاوز 0.0204 بوحدة العرض، أي نحو 3.6% من مستواها.</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هل يوجد مسار أفضل من الذي اتبعته؟ في هذه البيانات لم يتجاوز أي مسار جرّبته الشعبية الآنية بفاصل يستبعد الصفر: لا الهجين المجمَّد، ولا هجين الجيران فوق الشعبية الآنية، ولا GRU-lite حين أعطيته إشارتها. لذلك أرى أن أوعد مسار يبدأ من الشعبية الآنية ويقيس ما يضاف فوقها. وقاعدة القبول نفسها، لو بدأت بالشعبية الآنية، لقبلت الجيران على التطوير، لكن الفرق المقابل على 2014 جاء +0.0058 بفاصل يشمل الصفر، فهذا مسار يستحق تسجيلاً واختباراً تأكيدياً على بيانات جديدة، لا نتيجة. والمسار الثاني مقارنة تسلسلية يرى فيها GRU-lite سلال الأقران نفسها. والثالث ضابط يفصل حداثة الفرد عن إيقاع الجماعة. والرابع سياق العنقود للمتعلمين الأقل تاريخاً، واتجاهه الاستكشافي موجب. ويحتاج كل ذلك بيانات بدقة أعلى من يوم ووحدات أكثر، وتقويماً بشرياً قبل أي ادعاء بفائدة للمتعلم.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القيود تحدد ما يجوز قوله. النتائج من منصة واحدة وسنتين، فالتعميم المختبَر انتقال عبر الزمن داخل المؤسسة نفسها. ومعيار الصحة في التقييم أن يصل المتعلم إلى المورد لاحقاً، وهو وكيل للملاءمة، فلا أدعي أي أثر تعليمي. والسجلات بدقة يوم، فلا ترتيب داخل اليوم يمكن لنموذج تسلسلي أن يتعلمه. ومقارنة H3 غير متكافئة، كما رأينا. ووزن الأرضية قرار اتُّخذ بعد رؤية التطوير، وإن ثُبّت قبل التأكيد. ودرجة الخطر في اللوحة نسبية وغير معايَرة، ولم تُقيَّم الواجهة بمستخدمين. ونُفّذ كل شيء يدوياً بمكتبة numpy، ولم تُقارَن التنفيذات بمكتبة scikit-learn بعد. وأخيراً، مراجعات المشرف والزميل في محاضر العمل نفّذتها أداة ذكاء اصطناعي بأدوار محاكاة، ولا تقوم مقام اعتماد أشخاص.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مساهمة الرسالة منهجية وتجريبية، ولا أدعي خوارزمية جديدة. أولاً، بروتوكول تقييم يمكن نقله إلى دراسات توصية تعليمية أخرى: قطع زمني عام، وترتيب على الكتالوج كله، وفصل لاكتشاف الموارد الجديدة عن الإعادة، وخطوط أساس بميزانية متساوية، واستدلال على العروض بقاعدة مسجلة. ثانياً، حوكمة للتأكيد تجعل الجواب صادقاً أياً كان اتجاهه، مع إعادة إنتاج بأمر واحد. ثالثاً، رؤى تجريبية على سجلات تعليمية عامة: قياس لهيمنة الجدول الدراسي، وتأكيد أن ترجيح السلوك يحسّن WRMF وأن الحداثة تحمل معظم الأثر، وحدود معلنة لما يمكن أن تضيفه الشخصنة فوق الشعبية الآنية. ورابعاً، نظام كامل مكتوب بمكتبتين أساسيتين، كل خطوة حسابية فيه مكشوفة للفحص ومختبرة.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أعود إلى السؤال الذي بدأت به: ما الذي يضيفه تحليل السلوك فوق الجدول الدراسي؟ في هذه البيانات وبهذا البروتوكول، لم يتفوق الهجين السلوكي على الشعبية الآنية، والحكم غير حاسمة، مع حد أعلى معلن لما قد يضيفه. وترجيح الإشارة السلوكية يحسّن WRMF بهامش واضح، والحداثة تحمل معظم هذا الأثر. ولم تتفوق الشبكة المتكررة على الجيران بالقدر المسجل، وسؤال نوع النموذج يبقى مفتوحاً. وملامح السلوك تضيف إلى التنبؤ بالتعثر أثراً موجباً، دالاً بوحدة العرض، دون العتبة العملية. أما جودة المسار الذي اتبعته، فالبروتوكول المسجل أعطى حكماً مؤكَّداً في فرضية، وحدوداً معلنة في الثلاث الأخرى، وأكبر قيوده قوة ثلاث عشرة وحدة. والخلاصة العملية لمنصة تشبه سجلاتها OULAD: قائمة ما يستعمله الزملاء هذا الأسبوع خط أساس لا بد منه، وأي ادعاء لقيمة التخصيص يجب أن يُقاس فوقها.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شكراً لكم على الإصغاء. أشكر المشرف د. باسل الخطيب على توجيهه، وأشكر اللجنة على وقتها. كل رقم عرضته موجود في ملفات النتائج في المستودع، وكل حكم يمكن إعادة حسابه بأمر موثق. ويسعدني أن أجيب عن أسئلتكم.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تُعرض هذه الشريحة إذا سُئلت عن H3. مقارنة H3 كما سُجّلت غير متكافئة في المعلومة: الجيران على السلال يرون سلال الأقران الحديثة، وGRU-lite لا يرى عند التنبؤ إلا تاريخ المتعلم. فبنيت نموذجاً لاحقاً يمنح GRU-lite توزيع الشعبية الآنية مدخلاً، بالميزانية نفسها، فتقدم على الجيران بـ+0.0399. لكن معظم هذا الفرق تقدّمُ الشعبية الآنية نفسها على الجيران، +0.0293. وفي أقرب مقارنة متاحة إلى التماثل، حين يرى الطرفان الإشارة نفسها، صار الفرق +0.0074 بفاصل يشمل الصفر. فالمقارنة لا تنقلب حين تتقارب المعلومة، وحكم H3 المسجل يخص هذه المقارنة بهذه المعلومة، ولا يُقرأ حكماً على الشبكات المتكررة عامة. وإشارة الشعبية الآنية اخترتها لهذا التحليل بعد رؤية النتائج المقفلة.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دراسة تجريبية على سجلات OULAD</a:t>
            </a:r>
          </a:p>
          <a:p>
            <a:pPr rtl="1" algn="r">
              <a:lnSpc>
                <a:spcPct val="120000"/>
              </a:lnSpc>
              <a:spcBef>
                <a:spcPts val="0"/>
              </a:spcBef>
              <a:spcAft>
                <a:spcPts val="400"/>
              </a:spcAft>
            </a:pPr>
            <a:r>
              <a:rPr sz="2200" b="0" i="0" lang="ar-SA">
                <a:solidFill>
                  <a:srgbClr val="CCFBF1"/>
                </a:solidFill>
                <a:latin typeface="Arial"/>
                <a:cs typeface="Arial"/>
              </a:rPr>
              <a:t>الطالب: كنان محمد قرحالي · إشراف: د. باسل الخطيب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خصائص الوصول إلى الموارد في OULAD</a:t>
            </a:r>
          </a:p>
        </p:txBody>
      </p:sp>
      <p:sp>
        <p:nvSpPr>
          <p:cNvPr id="3" name="العنوان الفرعي"/>
          <p:cNvSpPr txBox="1"/>
          <p:nvPr/>
        </p:nvSpPr>
        <p:spPr>
          <a:xfrm>
            <a:off x="548640" y="123444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0" i="0" lang="ar-SA">
                <a:solidFill>
                  <a:srgbClr val="475569"/>
                </a:solidFill>
                <a:latin typeface="Arial"/>
                <a:cs typeface="Arial"/>
              </a:rPr>
              <a:t>الوصول يتبع الجدول الدراسي والشعبية والإعادات</a:t>
            </a:r>
          </a:p>
        </p:txBody>
      </p:sp>
      <p:sp>
        <p:nvSpPr>
          <p:cNvPr id="4" name="بطاقة رقم"/>
          <p:cNvSpPr/>
          <p:nvPr/>
        </p:nvSpPr>
        <p:spPr>
          <a:xfrm>
            <a:off x="6233007" y="1828800"/>
            <a:ext cx="5410047" cy="1600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كبير"/>
          <p:cNvSpPr txBox="1"/>
          <p:nvPr/>
        </p:nvSpPr>
        <p:spPr>
          <a:xfrm>
            <a:off x="6324447" y="1938528"/>
            <a:ext cx="5227167" cy="72009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‪9.8‎%‎‎–‎41.6‎%‎‬</a:t>
            </a:r>
          </a:p>
        </p:txBody>
      </p:sp>
      <p:sp>
        <p:nvSpPr>
          <p:cNvPr id="6" name="TextBox 5"/>
          <p:cNvSpPr txBox="1"/>
          <p:nvPr/>
        </p:nvSpPr>
        <p:spPr>
          <a:xfrm>
            <a:off x="6415887" y="2658618"/>
            <a:ext cx="5044287" cy="697230"/>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كثافة المصفوفة داخل العرض</a:t>
            </a:r>
          </a:p>
        </p:txBody>
      </p:sp>
      <p:sp>
        <p:nvSpPr>
          <p:cNvPr id="7" name="بطاقة رقم"/>
          <p:cNvSpPr/>
          <p:nvPr/>
        </p:nvSpPr>
        <p:spPr>
          <a:xfrm>
            <a:off x="548640" y="1828800"/>
            <a:ext cx="5410047" cy="1600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كبير"/>
          <p:cNvSpPr txBox="1"/>
          <p:nvPr/>
        </p:nvSpPr>
        <p:spPr>
          <a:xfrm>
            <a:off x="640080" y="1938528"/>
            <a:ext cx="5227167" cy="72009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‪40.9‎%‎‎–‎86.4‎%‎‬</a:t>
            </a:r>
          </a:p>
        </p:txBody>
      </p:sp>
      <p:sp>
        <p:nvSpPr>
          <p:cNvPr id="9" name="TextBox 8"/>
          <p:cNvSpPr txBox="1"/>
          <p:nvPr/>
        </p:nvSpPr>
        <p:spPr>
          <a:xfrm>
            <a:off x="731520" y="2658618"/>
            <a:ext cx="5044287" cy="697230"/>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من أزواج الوصول لأعلى 20% من الموارد</a:t>
            </a:r>
          </a:p>
        </p:txBody>
      </p:sp>
      <p:sp>
        <p:nvSpPr>
          <p:cNvPr id="10" name="بطاقة رقم"/>
          <p:cNvSpPr/>
          <p:nvPr/>
        </p:nvSpPr>
        <p:spPr>
          <a:xfrm>
            <a:off x="6233007" y="3703320"/>
            <a:ext cx="5410047" cy="1600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كبير"/>
          <p:cNvSpPr txBox="1"/>
          <p:nvPr/>
        </p:nvSpPr>
        <p:spPr>
          <a:xfrm>
            <a:off x="6324447" y="3813048"/>
            <a:ext cx="5227167" cy="72009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2" name="TextBox 11"/>
          <p:cNvSpPr txBox="1"/>
          <p:nvPr/>
        </p:nvSpPr>
        <p:spPr>
          <a:xfrm>
            <a:off x="6415887" y="4533138"/>
            <a:ext cx="5044287" cy="697230"/>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إعادات في نوافذ الاختبار</a:t>
            </a:r>
          </a:p>
        </p:txBody>
      </p:sp>
      <p:sp>
        <p:nvSpPr>
          <p:cNvPr id="13" name="بطاقة رقم"/>
          <p:cNvSpPr/>
          <p:nvPr/>
        </p:nvSpPr>
        <p:spPr>
          <a:xfrm>
            <a:off x="548640" y="3703320"/>
            <a:ext cx="5410047" cy="1600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كبير"/>
          <p:cNvSpPr txBox="1"/>
          <p:nvPr/>
        </p:nvSpPr>
        <p:spPr>
          <a:xfrm>
            <a:off x="640080" y="3813048"/>
            <a:ext cx="5227167" cy="72009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‪28.0‎%‎‬</a:t>
            </a:r>
          </a:p>
        </p:txBody>
      </p:sp>
      <p:sp>
        <p:nvSpPr>
          <p:cNvPr id="15" name="TextBox 14"/>
          <p:cNvSpPr txBox="1"/>
          <p:nvPr/>
        </p:nvSpPr>
        <p:spPr>
          <a:xfrm>
            <a:off x="731520" y="4533138"/>
            <a:ext cx="5044287" cy="697230"/>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نقرات على صفحات التنقل</a:t>
            </a:r>
          </a:p>
        </p:txBody>
      </p:sp>
      <p:sp>
        <p:nvSpPr>
          <p:cNvPr id="16" name="TextBox 15"/>
          <p:cNvSpPr txBox="1"/>
          <p:nvPr/>
        </p:nvSpPr>
        <p:spPr>
          <a:xfrm>
            <a:off x="548640" y="53766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9 عروض تطوير من 2013، و13,529 تسجيلاً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20"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results/dev2013/eda.md؛ الجدولان 3-3 و3-4 في الفصل 3؛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أثر تعريف الهدف في صورة النتائج</a:t>
            </a:r>
          </a:p>
        </p:txBody>
      </p:sp>
      <p:sp>
        <p:nvSpPr>
          <p:cNvPr id="3" name="العنوان الفرعي"/>
          <p:cNvSpPr txBox="1"/>
          <p:nvPr/>
        </p:nvSpPr>
        <p:spPr>
          <a:xfrm>
            <a:off x="548640" y="123444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0" i="0" lang="ar-SA">
                <a:solidFill>
                  <a:srgbClr val="475569"/>
                </a:solidFill>
                <a:latin typeface="Arial"/>
                <a:cs typeface="Arial"/>
              </a:rPr>
              <a:t>خط الشعبية يبدو كاملاً ما دامت الإعادات والتنقل في الهدف</a:t>
            </a:r>
          </a:p>
        </p:txBody>
      </p:sp>
      <p:graphicFrame>
        <p:nvGraphicFramePr>
          <p:cNvPr id="4" name="جدول"/>
          <p:cNvGraphicFramePr>
            <a:graphicFrameLocks noGrp="1"/>
          </p:cNvGraphicFramePr>
          <p:nvPr/>
        </p:nvGraphicFramePr>
        <p:xfrm>
          <a:off x="548640" y="1828800"/>
          <a:ext cx="11094413" cy="2743200"/>
        </p:xfrm>
        <a:graphic>
          <a:graphicData uri="http://schemas.openxmlformats.org/drawingml/2006/table">
            <a:tbl>
              <a:tblPr firstRow="1" bandRow="0">
                <a:tableStyleId>{5C22544A-7EE6-4342-B048-85BDC9FD1C3A}</a:tableStyleId>
              </a:tblPr>
              <a:tblGrid>
                <a:gridCol w="2773603"/>
                <a:gridCol w="2773603"/>
                <a:gridCol w="5547207"/>
              </a:tblGrid>
              <a:tr h="914400">
                <a:tc>
                  <a:txBody>
                    <a:bodyPr wrap="square"/>
                    <a:lstStyle/>
                    <a:p>
                      <a:pPr rtl="1" algn="r"/>
                      <a:r>
                        <a:rPr sz="2400" b="1" i="0" lang="ar-SA">
                          <a:solidFill>
                            <a:srgbClr val="FFFFFF"/>
                          </a:solidFill>
                          <a:latin typeface="Arial"/>
                          <a:cs typeface="Arial"/>
                        </a:rPr>
                        <a:t>الشعبية الآنية HR@10</a:t>
                      </a:r>
                    </a:p>
                  </a:txBody>
                  <a:tcPr anchor="ctr" marL="91440" marR="91440" marT="36576" marB="36576">
                    <a:solidFill>
                      <a:srgbClr val="0F766E"/>
                    </a:solidFill>
                  </a:tcPr>
                </a:tc>
                <a:tc>
                  <a:txBody>
                    <a:bodyPr wrap="square"/>
                    <a:lstStyle/>
                    <a:p>
                      <a:pPr rtl="1" algn="r"/>
                      <a:r>
                        <a:rPr sz="2400" b="1" i="0" lang="ar-SA">
                          <a:solidFill>
                            <a:srgbClr val="FFFFFF"/>
                          </a:solidFill>
                          <a:latin typeface="Arial"/>
                          <a:cs typeface="Arial"/>
                        </a:rPr>
                        <a:t>الشعبية الكلية HR@10</a:t>
                      </a:r>
                    </a:p>
                  </a:txBody>
                  <a:tcPr anchor="ctr" marL="91440" marR="91440" marT="36576" marB="36576">
                    <a:solidFill>
                      <a:srgbClr val="0F766E"/>
                    </a:solidFill>
                  </a:tcPr>
                </a:tc>
                <a:tc>
                  <a:txBody>
                    <a:bodyPr wrap="square"/>
                    <a:lstStyle/>
                    <a:p>
                      <a:pPr rtl="1" algn="r"/>
                      <a:r>
                        <a:rPr sz="2400" b="1" i="0" lang="ar-SA">
                          <a:solidFill>
                            <a:srgbClr val="FFFFFF"/>
                          </a:solidFill>
                          <a:latin typeface="Arial"/>
                          <a:cs typeface="Arial"/>
                        </a:rPr>
                        <a:t>تعريف الهدف</a:t>
                      </a:r>
                    </a:p>
                  </a:txBody>
                  <a:tcPr anchor="ctr" marL="91440" marR="91440" marT="36576" marB="36576">
                    <a:solidFill>
                      <a:srgbClr val="0F766E"/>
                    </a:solidFill>
                  </a:tcPr>
                </a:tc>
              </a:tr>
              <a:tr h="914400">
                <a:tc>
                  <a:txBody>
                    <a:bodyPr wrap="square"/>
                    <a:lstStyle/>
                    <a:p>
                      <a:pPr rtl="1" algn="r"/>
                      <a:r>
                        <a:rPr sz="2400" b="0" i="0" lang="ar-SA">
                          <a:solidFill>
                            <a:srgbClr val="134E4A"/>
                          </a:solidFill>
                          <a:latin typeface="Arial"/>
                          <a:cs typeface="Arial"/>
                        </a:rPr>
                        <a:t>‪0.999‬</a:t>
                      </a:r>
                    </a:p>
                  </a:txBody>
                  <a:tcPr anchor="ctr" marL="91440" marR="91440" marT="36576" marB="36576">
                    <a:solidFill>
                      <a:srgbClr val="FFFFFF"/>
                    </a:solidFill>
                  </a:tcPr>
                </a:tc>
                <a:tc>
                  <a:txBody>
                    <a:bodyPr wrap="square"/>
                    <a:lstStyle/>
                    <a:p>
                      <a:pPr rtl="1" algn="r"/>
                      <a:r>
                        <a:rPr sz="2400" b="0" i="0" lang="ar-SA">
                          <a:solidFill>
                            <a:srgbClr val="134E4A"/>
                          </a:solidFill>
                          <a:latin typeface="Arial"/>
                          <a:cs typeface="Arial"/>
                        </a:rPr>
                        <a:t>‪0.999‬</a:t>
                      </a:r>
                    </a:p>
                  </a:txBody>
                  <a:tcPr anchor="ctr" marL="91440" marR="91440" marT="36576" marB="36576">
                    <a:solidFill>
                      <a:srgbClr val="FFFFFF"/>
                    </a:solidFill>
                  </a:tcPr>
                </a:tc>
                <a:tc>
                  <a:txBody>
                    <a:bodyPr wrap="square"/>
                    <a:lstStyle/>
                    <a:p>
                      <a:pPr rtl="1" algn="r"/>
                      <a:r>
                        <a:rPr sz="2400" b="1" i="0" lang="ar-SA">
                          <a:solidFill>
                            <a:srgbClr val="134E4A"/>
                          </a:solidFill>
                          <a:latin typeface="Arial"/>
                          <a:cs typeface="Arial"/>
                        </a:rPr>
                        <a:t>كل وصول، مع صفحات التنقل</a:t>
                      </a:r>
                    </a:p>
                  </a:txBody>
                  <a:tcPr anchor="ctr" marL="91440" marR="91440" marT="36576" marB="36576">
                    <a:solidFill>
                      <a:srgbClr val="FFFFFF"/>
                    </a:solidFill>
                  </a:tcPr>
                </a:tc>
              </a:tr>
              <a:tr h="914400">
                <a:tc>
                  <a:txBody>
                    <a:bodyPr wrap="square"/>
                    <a:lstStyle/>
                    <a:p>
                      <a:pPr rtl="1" algn="r"/>
                      <a:r>
                        <a:rPr sz="2400" b="0" i="0" lang="ar-SA">
                          <a:solidFill>
                            <a:srgbClr val="134E4A"/>
                          </a:solidFill>
                          <a:latin typeface="Arial"/>
                          <a:cs typeface="Arial"/>
                        </a:rPr>
                        <a:t>‪0.864‬</a:t>
                      </a:r>
                    </a:p>
                  </a:txBody>
                  <a:tcPr anchor="ctr" marL="91440" marR="91440" marT="36576" marB="36576">
                    <a:solidFill>
                      <a:srgbClr val="EEF2F6"/>
                    </a:solidFill>
                  </a:tcPr>
                </a:tc>
                <a:tc>
                  <a:txBody>
                    <a:bodyPr wrap="square"/>
                    <a:lstStyle/>
                    <a:p>
                      <a:pPr rtl="1" algn="r"/>
                      <a:r>
                        <a:rPr sz="2400" b="0" i="0" lang="ar-SA">
                          <a:solidFill>
                            <a:srgbClr val="134E4A"/>
                          </a:solidFill>
                          <a:latin typeface="Arial"/>
                          <a:cs typeface="Arial"/>
                        </a:rPr>
                        <a:t>‪0.446‬</a:t>
                      </a:r>
                    </a:p>
                  </a:txBody>
                  <a:tcPr anchor="ctr" marL="91440" marR="91440" marT="36576" marB="36576">
                    <a:solidFill>
                      <a:srgbClr val="EEF2F6"/>
                    </a:solidFill>
                  </a:tcPr>
                </a:tc>
                <a:tc>
                  <a:txBody>
                    <a:bodyPr wrap="square"/>
                    <a:lstStyle/>
                    <a:p>
                      <a:pPr rtl="1" algn="r"/>
                      <a:r>
                        <a:rPr sz="2400" b="1" i="0" lang="ar-SA">
                          <a:solidFill>
                            <a:srgbClr val="134E4A"/>
                          </a:solidFill>
                          <a:latin typeface="Arial"/>
                          <a:cs typeface="Arial"/>
                        </a:rPr>
                        <a:t>الموارد الجديدة، دون التنقل</a:t>
                      </a:r>
                    </a:p>
                  </a:txBody>
                  <a:tcPr anchor="ctr" marL="91440" marR="91440" marT="36576" marB="36576">
                    <a:solidFill>
                      <a:srgbClr val="EEF2F6"/>
                    </a:solidFill>
                  </a:tcPr>
                </a:tc>
              </a:tr>
            </a:tbl>
          </a:graphicData>
        </a:graphic>
      </p:graphicFrame>
      <p:sp>
        <p:nvSpPr>
          <p:cNvPr id="5" name="TextBox 4"/>
          <p:cNvSpPr txBox="1"/>
          <p:nvPr/>
        </p:nvSpPr>
        <p:spPr>
          <a:xfrm>
            <a:off x="548640" y="466344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2000" b="0" i="0" lang="ar-SA">
                <a:solidFill>
                  <a:srgbClr val="475569"/>
                </a:solidFill>
                <a:latin typeface="Arial"/>
                <a:cs typeface="Arial"/>
              </a:rPr>
              <a:t>FFF_2013J، اليوم 100 ← </a:t>
            </a:r>
            <a:r>
              <a:rPr sz="2000" b="1" i="0" lang="ar-SA">
                <a:solidFill>
                  <a:srgbClr val="475569"/>
                </a:solidFill>
                <a:latin typeface="Arial"/>
                <a:cs typeface="Arial"/>
              </a:rPr>
              <a:t>المهمة الرئيسية: اكتشاف الموارد الجديدة</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9"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results/dev2013/eda.md؛ الجدول 3-5؛ [11]،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السؤال البحثي وهدف الدراسة</a:t>
            </a:r>
          </a:p>
        </p:txBody>
      </p:sp>
      <p:sp>
        <p:nvSpPr>
          <p:cNvPr id="3" name="بطاقة السؤال"/>
          <p:cNvSpPr/>
          <p:nvPr/>
        </p:nvSpPr>
        <p:spPr>
          <a:xfrm>
            <a:off x="548640" y="1463040"/>
            <a:ext cx="11094415" cy="23774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10362895" cy="36576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1" i="0" lang="ar-SA">
                <a:solidFill>
                  <a:srgbClr val="0F766E"/>
                </a:solidFill>
                <a:latin typeface="Arial"/>
                <a:cs typeface="Arial"/>
              </a:rPr>
              <a:t>السؤال</a:t>
            </a:r>
          </a:p>
        </p:txBody>
      </p:sp>
      <p:sp>
        <p:nvSpPr>
          <p:cNvPr id="5" name="TextBox 4"/>
          <p:cNvSpPr txBox="1"/>
          <p:nvPr/>
        </p:nvSpPr>
        <p:spPr>
          <a:xfrm>
            <a:off x="914400" y="2011680"/>
            <a:ext cx="10362895" cy="1691640"/>
          </a:xfrm>
          <a:prstGeom prst="rect">
            <a:avLst/>
          </a:prstGeom>
          <a:noFill/>
        </p:spPr>
        <p:txBody>
          <a:bodyPr wrap="square" lIns="45720" rIns="45720" tIns="27432" bIns="27432" anchor="t">
            <a:spAutoFit/>
          </a:bodyPr>
          <a:lstStyle/>
          <a:p>
            <a:pPr rtl="1" algn="r">
              <a:lnSpc>
                <a:spcPct val="125000"/>
              </a:lnSpc>
              <a:spcBef>
                <a:spcPts val="0"/>
              </a:spcBef>
              <a:spcAft>
                <a:spcPts val="0"/>
              </a:spcAft>
            </a:pPr>
            <a:r>
              <a:rPr sz="2800" b="1" i="0" lang="ar-SA">
                <a:solidFill>
                  <a:srgbClr val="134E4A"/>
                </a:solidFill>
                <a:latin typeface="Arial"/>
                <a:cs typeface="Arial"/>
              </a:rPr>
              <a:t>«ما الذي يضيفه تحليل سلوك المتعلم إلى توصية الموارد داخل المقرر فوق ما يمليه الجدول الدراسي، ممثلاً بالشعبية الآنية؟»</a:t>
            </a:r>
          </a:p>
        </p:txBody>
      </p:sp>
      <p:sp>
        <p:nvSpPr>
          <p:cNvPr id="6" name="بطاقة"/>
          <p:cNvSpPr/>
          <p:nvPr/>
        </p:nvSpPr>
        <p:spPr>
          <a:xfrm>
            <a:off x="9040901" y="4754880"/>
            <a:ext cx="2602153" cy="1188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78061" y="4828032"/>
            <a:ext cx="2327833" cy="534924"/>
          </a:xfrm>
          <a:prstGeom prst="rect">
            <a:avLst/>
          </a:prstGeom>
          <a:noFill/>
        </p:spPr>
        <p:txBody>
          <a:bodyPr wrap="square" lIns="45720" rIns="45720" tIns="27432" bIns="27432" anchor="b">
            <a:spAutoFit/>
          </a:bodyPr>
          <a:lstStyle/>
          <a:p>
            <a:pPr rtl="1" algn="r">
              <a:lnSpc>
                <a:spcPct val="100000"/>
              </a:lnSpc>
              <a:spcBef>
                <a:spcPts val="0"/>
              </a:spcBef>
              <a:spcAft>
                <a:spcPts val="0"/>
              </a:spcAft>
            </a:pPr>
            <a:r>
              <a:rPr sz="2400" b="0" i="0" lang="ar-SA">
                <a:solidFill>
                  <a:srgbClr val="0F766E"/>
                </a:solidFill>
                <a:latin typeface="Arial"/>
                <a:cs typeface="Arial"/>
              </a:rPr>
              <a:t>‪</a:t>
            </a:r>
            <a:r>
              <a:rPr sz="2400" b="1" i="0" lang="ar-SA">
                <a:solidFill>
                  <a:srgbClr val="0F766E"/>
                </a:solidFill>
                <a:latin typeface="Arial"/>
                <a:cs typeface="Arial"/>
              </a:rPr>
              <a:t>RQ1</a:t>
            </a:r>
            <a:r>
              <a:rPr sz="2400" b="0" i="0" lang="ar-SA">
                <a:solidFill>
                  <a:srgbClr val="0F766E"/>
                </a:solidFill>
                <a:latin typeface="Arial"/>
                <a:cs typeface="Arial"/>
              </a:rPr>
              <a:t>‬</a:t>
            </a:r>
          </a:p>
        </p:txBody>
      </p:sp>
      <p:sp>
        <p:nvSpPr>
          <p:cNvPr id="8" name="TextBox 7"/>
          <p:cNvSpPr txBox="1"/>
          <p:nvPr/>
        </p:nvSpPr>
        <p:spPr>
          <a:xfrm>
            <a:off x="9178061" y="5349240"/>
            <a:ext cx="2327833" cy="534924"/>
          </a:xfrm>
          <a:prstGeom prst="rect">
            <a:avLst/>
          </a:prstGeom>
          <a:noFill/>
        </p:spPr>
        <p:txBody>
          <a:bodyPr wrap="square" lIns="45720" rIns="45720" tIns="27432" bIns="27432" anchor="t">
            <a:spAutoFit/>
          </a:bodyPr>
          <a:lstStyle/>
          <a:p>
            <a:pPr rtl="1" algn="r">
              <a:lnSpc>
                <a:spcPct val="100000"/>
              </a:lnSpc>
              <a:spcBef>
                <a:spcPts val="0"/>
              </a:spcBef>
              <a:spcAft>
                <a:spcPts val="0"/>
              </a:spcAft>
            </a:pPr>
            <a:r>
              <a:rPr sz="2200" b="0" i="0" lang="ar-SA">
                <a:solidFill>
                  <a:srgbClr val="134E4A"/>
                </a:solidFill>
                <a:latin typeface="Arial"/>
                <a:cs typeface="Arial"/>
              </a:rPr>
              <a:t>الشخصنة</a:t>
            </a:r>
          </a:p>
        </p:txBody>
      </p:sp>
      <p:sp>
        <p:nvSpPr>
          <p:cNvPr id="9" name="بطاقة"/>
          <p:cNvSpPr/>
          <p:nvPr/>
        </p:nvSpPr>
        <p:spPr>
          <a:xfrm>
            <a:off x="6210147" y="4754880"/>
            <a:ext cx="2602153" cy="1188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7307" y="4828032"/>
            <a:ext cx="2327833" cy="534924"/>
          </a:xfrm>
          <a:prstGeom prst="rect">
            <a:avLst/>
          </a:prstGeom>
          <a:noFill/>
        </p:spPr>
        <p:txBody>
          <a:bodyPr wrap="square" lIns="45720" rIns="45720" tIns="27432" bIns="27432" anchor="b">
            <a:spAutoFit/>
          </a:bodyPr>
          <a:lstStyle/>
          <a:p>
            <a:pPr rtl="1" algn="r">
              <a:lnSpc>
                <a:spcPct val="100000"/>
              </a:lnSpc>
              <a:spcBef>
                <a:spcPts val="0"/>
              </a:spcBef>
              <a:spcAft>
                <a:spcPts val="0"/>
              </a:spcAft>
            </a:pPr>
            <a:r>
              <a:rPr sz="2400" b="0" i="0" lang="ar-SA">
                <a:solidFill>
                  <a:srgbClr val="0F766E"/>
                </a:solidFill>
                <a:latin typeface="Arial"/>
                <a:cs typeface="Arial"/>
              </a:rPr>
              <a:t>‪</a:t>
            </a:r>
            <a:r>
              <a:rPr sz="2400" b="1" i="0" lang="ar-SA">
                <a:solidFill>
                  <a:srgbClr val="0F766E"/>
                </a:solidFill>
                <a:latin typeface="Arial"/>
                <a:cs typeface="Arial"/>
              </a:rPr>
              <a:t>RQ2</a:t>
            </a:r>
            <a:r>
              <a:rPr sz="2400" b="0" i="0" lang="ar-SA">
                <a:solidFill>
                  <a:srgbClr val="0F766E"/>
                </a:solidFill>
                <a:latin typeface="Arial"/>
                <a:cs typeface="Arial"/>
              </a:rPr>
              <a:t>‬</a:t>
            </a:r>
          </a:p>
        </p:txBody>
      </p:sp>
      <p:sp>
        <p:nvSpPr>
          <p:cNvPr id="11" name="TextBox 10"/>
          <p:cNvSpPr txBox="1"/>
          <p:nvPr/>
        </p:nvSpPr>
        <p:spPr>
          <a:xfrm>
            <a:off x="6347307" y="5349240"/>
            <a:ext cx="2327833" cy="534924"/>
          </a:xfrm>
          <a:prstGeom prst="rect">
            <a:avLst/>
          </a:prstGeom>
          <a:noFill/>
        </p:spPr>
        <p:txBody>
          <a:bodyPr wrap="square" lIns="45720" rIns="45720" tIns="27432" bIns="27432" anchor="t">
            <a:spAutoFit/>
          </a:bodyPr>
          <a:lstStyle/>
          <a:p>
            <a:pPr rtl="1" algn="r">
              <a:lnSpc>
                <a:spcPct val="100000"/>
              </a:lnSpc>
              <a:spcBef>
                <a:spcPts val="0"/>
              </a:spcBef>
              <a:spcAft>
                <a:spcPts val="0"/>
              </a:spcAft>
            </a:pPr>
            <a:r>
              <a:rPr sz="2200" b="0" i="0" lang="ar-SA">
                <a:solidFill>
                  <a:srgbClr val="134E4A"/>
                </a:solidFill>
                <a:latin typeface="Arial"/>
                <a:cs typeface="Arial"/>
              </a:rPr>
              <a:t>ترجيح الإشارة</a:t>
            </a:r>
          </a:p>
        </p:txBody>
      </p:sp>
      <p:sp>
        <p:nvSpPr>
          <p:cNvPr id="12" name="بطاقة"/>
          <p:cNvSpPr/>
          <p:nvPr/>
        </p:nvSpPr>
        <p:spPr>
          <a:xfrm>
            <a:off x="3379393" y="4754880"/>
            <a:ext cx="2602153" cy="1188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6553" y="4828032"/>
            <a:ext cx="2327833" cy="534924"/>
          </a:xfrm>
          <a:prstGeom prst="rect">
            <a:avLst/>
          </a:prstGeom>
          <a:noFill/>
        </p:spPr>
        <p:txBody>
          <a:bodyPr wrap="square" lIns="45720" rIns="45720" tIns="27432" bIns="27432" anchor="b">
            <a:spAutoFit/>
          </a:bodyPr>
          <a:lstStyle/>
          <a:p>
            <a:pPr rtl="1" algn="r">
              <a:lnSpc>
                <a:spcPct val="100000"/>
              </a:lnSpc>
              <a:spcBef>
                <a:spcPts val="0"/>
              </a:spcBef>
              <a:spcAft>
                <a:spcPts val="0"/>
              </a:spcAft>
            </a:pPr>
            <a:r>
              <a:rPr sz="2400" b="0" i="0" lang="ar-SA">
                <a:solidFill>
                  <a:srgbClr val="0F766E"/>
                </a:solidFill>
                <a:latin typeface="Arial"/>
                <a:cs typeface="Arial"/>
              </a:rPr>
              <a:t>‪</a:t>
            </a:r>
            <a:r>
              <a:rPr sz="2400" b="1" i="0" lang="ar-SA">
                <a:solidFill>
                  <a:srgbClr val="0F766E"/>
                </a:solidFill>
                <a:latin typeface="Arial"/>
                <a:cs typeface="Arial"/>
              </a:rPr>
              <a:t>RQ3</a:t>
            </a:r>
            <a:r>
              <a:rPr sz="2400" b="0" i="0" lang="ar-SA">
                <a:solidFill>
                  <a:srgbClr val="0F766E"/>
                </a:solidFill>
                <a:latin typeface="Arial"/>
                <a:cs typeface="Arial"/>
              </a:rPr>
              <a:t>‬</a:t>
            </a:r>
          </a:p>
        </p:txBody>
      </p:sp>
      <p:sp>
        <p:nvSpPr>
          <p:cNvPr id="14" name="TextBox 13"/>
          <p:cNvSpPr txBox="1"/>
          <p:nvPr/>
        </p:nvSpPr>
        <p:spPr>
          <a:xfrm>
            <a:off x="3516553" y="5349240"/>
            <a:ext cx="2327833" cy="534924"/>
          </a:xfrm>
          <a:prstGeom prst="rect">
            <a:avLst/>
          </a:prstGeom>
          <a:noFill/>
        </p:spPr>
        <p:txBody>
          <a:bodyPr wrap="square" lIns="45720" rIns="45720" tIns="27432" bIns="27432" anchor="t">
            <a:spAutoFit/>
          </a:bodyPr>
          <a:lstStyle/>
          <a:p>
            <a:pPr rtl="1" algn="r">
              <a:lnSpc>
                <a:spcPct val="100000"/>
              </a:lnSpc>
              <a:spcBef>
                <a:spcPts val="0"/>
              </a:spcBef>
              <a:spcAft>
                <a:spcPts val="0"/>
              </a:spcAft>
            </a:pPr>
            <a:r>
              <a:rPr sz="2200" b="0" i="0" lang="ar-SA">
                <a:solidFill>
                  <a:srgbClr val="134E4A"/>
                </a:solidFill>
                <a:latin typeface="Arial"/>
                <a:cs typeface="Arial"/>
              </a:rPr>
              <a:t>التسلسل العصبوني</a:t>
            </a:r>
          </a:p>
        </p:txBody>
      </p:sp>
      <p:sp>
        <p:nvSpPr>
          <p:cNvPr id="15" name="بطاقة"/>
          <p:cNvSpPr/>
          <p:nvPr/>
        </p:nvSpPr>
        <p:spPr>
          <a:xfrm>
            <a:off x="548639" y="4754880"/>
            <a:ext cx="2602153" cy="1188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799" y="4828032"/>
            <a:ext cx="2327833" cy="534924"/>
          </a:xfrm>
          <a:prstGeom prst="rect">
            <a:avLst/>
          </a:prstGeom>
          <a:noFill/>
        </p:spPr>
        <p:txBody>
          <a:bodyPr wrap="square" lIns="45720" rIns="45720" tIns="27432" bIns="27432" anchor="b">
            <a:spAutoFit/>
          </a:bodyPr>
          <a:lstStyle/>
          <a:p>
            <a:pPr rtl="1" algn="r">
              <a:lnSpc>
                <a:spcPct val="100000"/>
              </a:lnSpc>
              <a:spcBef>
                <a:spcPts val="0"/>
              </a:spcBef>
              <a:spcAft>
                <a:spcPts val="0"/>
              </a:spcAft>
            </a:pPr>
            <a:r>
              <a:rPr sz="2400" b="0" i="0" lang="ar-SA">
                <a:solidFill>
                  <a:srgbClr val="0F766E"/>
                </a:solidFill>
                <a:latin typeface="Arial"/>
                <a:cs typeface="Arial"/>
              </a:rPr>
              <a:t>‪</a:t>
            </a:r>
            <a:r>
              <a:rPr sz="2400" b="1" i="0" lang="ar-SA">
                <a:solidFill>
                  <a:srgbClr val="0F766E"/>
                </a:solidFill>
                <a:latin typeface="Arial"/>
                <a:cs typeface="Arial"/>
              </a:rPr>
              <a:t>RQ4</a:t>
            </a:r>
            <a:r>
              <a:rPr sz="2400" b="0" i="0" lang="ar-SA">
                <a:solidFill>
                  <a:srgbClr val="0F766E"/>
                </a:solidFill>
                <a:latin typeface="Arial"/>
                <a:cs typeface="Arial"/>
              </a:rPr>
              <a:t>‬</a:t>
            </a:r>
          </a:p>
        </p:txBody>
      </p:sp>
      <p:sp>
        <p:nvSpPr>
          <p:cNvPr id="17" name="TextBox 16"/>
          <p:cNvSpPr txBox="1"/>
          <p:nvPr/>
        </p:nvSpPr>
        <p:spPr>
          <a:xfrm>
            <a:off x="685799" y="5349240"/>
            <a:ext cx="2327833" cy="534924"/>
          </a:xfrm>
          <a:prstGeom prst="rect">
            <a:avLst/>
          </a:prstGeom>
          <a:noFill/>
        </p:spPr>
        <p:txBody>
          <a:bodyPr wrap="square" lIns="45720" rIns="45720" tIns="27432" bIns="27432" anchor="t">
            <a:spAutoFit/>
          </a:bodyPr>
          <a:lstStyle/>
          <a:p>
            <a:pPr rtl="1" algn="r">
              <a:lnSpc>
                <a:spcPct val="100000"/>
              </a:lnSpc>
              <a:spcBef>
                <a:spcPts val="0"/>
              </a:spcBef>
              <a:spcAft>
                <a:spcPts val="0"/>
              </a:spcAft>
            </a:pPr>
            <a:r>
              <a:rPr sz="2200" b="0" i="0" lang="ar-SA">
                <a:solidFill>
                  <a:srgbClr val="134E4A"/>
                </a:solidFill>
                <a:latin typeface="Arial"/>
                <a:cs typeface="Arial"/>
              </a:rPr>
              <a:t>التنبؤ بالتعثر</a:t>
            </a:r>
          </a:p>
        </p:txBody>
      </p:sp>
      <p:sp>
        <p:nvSpPr>
          <p:cNvPr id="18"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9"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0"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21"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1، الأقسام 1-2-4 و1-3-1 و1-4؛ الجدول 2-19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الأدبيات والفجوة البحثية</a:t>
            </a:r>
          </a:p>
        </p:txBody>
      </p:sp>
      <p:sp>
        <p:nvSpPr>
          <p:cNvPr id="3" name="بطاقة"/>
          <p:cNvSpPr/>
          <p:nvPr/>
        </p:nvSpPr>
        <p:spPr>
          <a:xfrm>
            <a:off x="8127796" y="1463040"/>
            <a:ext cx="3515258" cy="2011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الخطوط البسيطة منافسة</a:t>
            </a:r>
          </a:p>
        </p:txBody>
      </p:sp>
      <p:sp>
        <p:nvSpPr>
          <p:cNvPr id="6" name="TextBox 5"/>
          <p:cNvSpPr txBox="1"/>
          <p:nvPr/>
        </p:nvSpPr>
        <p:spPr>
          <a:xfrm>
            <a:off x="8264956" y="2331720"/>
            <a:ext cx="3240938" cy="105156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[14]، [16]، [17]، [48]، [59]</a:t>
            </a:r>
          </a:p>
        </p:txBody>
      </p:sp>
      <p:sp>
        <p:nvSpPr>
          <p:cNvPr id="7" name="بطاقة"/>
          <p:cNvSpPr/>
          <p:nvPr/>
        </p:nvSpPr>
        <p:spPr>
          <a:xfrm>
            <a:off x="4338218" y="1463040"/>
            <a:ext cx="3515258" cy="2011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السوالب المعيَّنة تضخّم المقاييس</a:t>
            </a:r>
          </a:p>
        </p:txBody>
      </p:sp>
      <p:sp>
        <p:nvSpPr>
          <p:cNvPr id="10" name="TextBox 9"/>
          <p:cNvSpPr txBox="1"/>
          <p:nvPr/>
        </p:nvSpPr>
        <p:spPr>
          <a:xfrm>
            <a:off x="4475378" y="2331720"/>
            <a:ext cx="3240938" cy="105156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[11]</a:t>
            </a:r>
          </a:p>
        </p:txBody>
      </p:sp>
      <p:sp>
        <p:nvSpPr>
          <p:cNvPr id="11" name="بطاقة"/>
          <p:cNvSpPr/>
          <p:nvPr/>
        </p:nvSpPr>
        <p:spPr>
          <a:xfrm>
            <a:off x="548639" y="1463040"/>
            <a:ext cx="3515258" cy="2011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مقترح دون استئصال</a:t>
            </a:r>
          </a:p>
        </p:txBody>
      </p:sp>
      <p:sp>
        <p:nvSpPr>
          <p:cNvPr id="14" name="TextBox 13"/>
          <p:cNvSpPr txBox="1"/>
          <p:nvPr/>
        </p:nvSpPr>
        <p:spPr>
          <a:xfrm>
            <a:off x="685799" y="2331720"/>
            <a:ext cx="3240938" cy="105156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[9]، [12]، [13]</a:t>
            </a:r>
          </a:p>
        </p:txBody>
      </p:sp>
      <p:sp>
        <p:nvSpPr>
          <p:cNvPr id="15" name="خلاصة"/>
          <p:cNvSpPr/>
          <p:nvPr/>
        </p:nvSpPr>
        <p:spPr>
          <a:xfrm>
            <a:off x="548640" y="384048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في 38 مرجعاً: لا استئصال للترجيح، ولا جمع للتقسيم الزمني مع الكتالوج الكامل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19"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2، القسمان 2-7-1 و2-7-4، الجداول 2-16 إلى 2-18؛ الفصل 1، القسم 1-2-3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المسارات المستكشفة وسبب كل منها</a:t>
            </a:r>
          </a:p>
        </p:txBody>
      </p:sp>
      <p:graphicFrame>
        <p:nvGraphicFramePr>
          <p:cNvPr id="3" name="جدول"/>
          <p:cNvGraphicFramePr>
            <a:graphicFrameLocks noGrp="1"/>
          </p:cNvGraphicFramePr>
          <p:nvPr/>
        </p:nvGraphicFramePr>
        <p:xfrm>
          <a:off x="548640" y="1463040"/>
          <a:ext cx="11094414" cy="3886197"/>
        </p:xfrm>
        <a:graphic>
          <a:graphicData uri="http://schemas.openxmlformats.org/drawingml/2006/table">
            <a:tbl>
              <a:tblPr firstRow="1" bandRow="0">
                <a:tableStyleId>{5C22544A-7EE6-4342-B048-85BDC9FD1C3A}</a:tableStyleId>
              </a:tblPr>
              <a:tblGrid>
                <a:gridCol w="3772101"/>
                <a:gridCol w="4215877"/>
                <a:gridCol w="3106436"/>
              </a:tblGrid>
              <a:tr h="555171">
                <a:tc>
                  <a:txBody>
                    <a:bodyPr wrap="square"/>
                    <a:lstStyle/>
                    <a:p>
                      <a:pPr rtl="1" algn="r"/>
                      <a:r>
                        <a:rPr sz="1800" b="1" i="0" lang="ar-SA">
                          <a:solidFill>
                            <a:srgbClr val="FFFFFF"/>
                          </a:solidFill>
                          <a:latin typeface="Arial"/>
                          <a:cs typeface="Arial"/>
                        </a:rPr>
                        <a:t>سببه</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الطرائق</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المسار</a:t>
                      </a:r>
                    </a:p>
                  </a:txBody>
                  <a:tcPr anchor="ctr" marL="91440" marR="91440" marT="36576" marB="36576">
                    <a:solidFill>
                      <a:srgbClr val="0F766E"/>
                    </a:solidFill>
                  </a:tcPr>
                </a:tc>
              </a:tr>
              <a:tr h="555171">
                <a:tc>
                  <a:txBody>
                    <a:bodyPr wrap="square"/>
                    <a:lstStyle/>
                    <a:p>
                      <a:pPr rtl="1" algn="r"/>
                      <a:r>
                        <a:rPr sz="1800" b="0" i="0" lang="ar-SA">
                          <a:solidFill>
                            <a:srgbClr val="134E4A"/>
                          </a:solidFill>
                          <a:latin typeface="Arial"/>
                          <a:cs typeface="Arial"/>
                        </a:rPr>
                        <a:t>يمثّل الجدول الدراسي [52]</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العشوائي، الشعبية، الشعبية الآنية</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غير شخصي (مقارِن H1)</a:t>
                      </a:r>
                    </a:p>
                  </a:txBody>
                  <a:tcPr anchor="ctr" marL="91440" marR="91440" marT="36576" marB="36576">
                    <a:solidFill>
                      <a:srgbClr val="FFFFFF"/>
                    </a:solidFill>
                  </a:tcPr>
                </a:tc>
              </a:tr>
              <a:tr h="555171">
                <a:tc>
                  <a:txBody>
                    <a:bodyPr wrap="square"/>
                    <a:lstStyle/>
                    <a:p>
                      <a:pPr rtl="1" algn="r"/>
                      <a:r>
                        <a:rPr sz="1800" b="0" i="0" lang="ar-SA">
                          <a:solidFill>
                            <a:srgbClr val="134E4A"/>
                          </a:solidFill>
                          <a:latin typeface="Arial"/>
                          <a:cs typeface="Arial"/>
                        </a:rPr>
                        <a:t>تنافس الشبكات المتكررة [16]، [17]</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Item-kNN،‏ SKNN على السلال</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الجيران (مقارِن H3)</a:t>
                      </a:r>
                    </a:p>
                  </a:txBody>
                  <a:tcPr anchor="ctr" marL="91440" marR="91440" marT="36576" marB="36576">
                    <a:solidFill>
                      <a:srgbClr val="EEF2F6"/>
                    </a:solidFill>
                  </a:tcPr>
                </a:tc>
              </a:tr>
              <a:tr h="555171">
                <a:tc>
                  <a:txBody>
                    <a:bodyPr wrap="square"/>
                    <a:lstStyle/>
                    <a:p>
                      <a:pPr rtl="1" algn="r"/>
                      <a:r>
                        <a:rPr sz="1800" b="0" i="0" lang="ar-SA">
                          <a:solidFill>
                            <a:srgbClr val="134E4A"/>
                          </a:solidFill>
                          <a:latin typeface="Arial"/>
                          <a:cs typeface="Arial"/>
                        </a:rPr>
                        <a:t>سؤال الترتيب الزمني [15]</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ماركوف، GRU-lite</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تسلسلي (H3)</a:t>
                      </a:r>
                    </a:p>
                  </a:txBody>
                  <a:tcPr anchor="ctr" marL="91440" marR="91440" marT="36576" marB="36576">
                    <a:solidFill>
                      <a:srgbClr val="FFFFFF"/>
                    </a:solidFill>
                  </a:tcPr>
                </a:tc>
              </a:tr>
              <a:tr h="555171">
                <a:tc>
                  <a:txBody>
                    <a:bodyPr wrap="square"/>
                    <a:lstStyle/>
                    <a:p>
                      <a:pPr rtl="1" algn="r"/>
                      <a:r>
                        <a:rPr sz="1800" b="0" i="0" lang="ar-SA">
                          <a:solidFill>
                            <a:srgbClr val="134E4A"/>
                          </a:solidFill>
                          <a:latin typeface="Arial"/>
                          <a:cs typeface="Arial"/>
                        </a:rPr>
                        <a:t>ثقة تتزايد بالشدة [2]</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WRMF،‏ EASE</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تحليل المصفوفات (H2-أ)</a:t>
                      </a:r>
                    </a:p>
                  </a:txBody>
                  <a:tcPr anchor="ctr" marL="91440" marR="91440" marT="36576" marB="36576">
                    <a:solidFill>
                      <a:srgbClr val="EEF2F6"/>
                    </a:solidFill>
                  </a:tcPr>
                </a:tc>
              </a:tr>
              <a:tr h="555171">
                <a:tc>
                  <a:txBody>
                    <a:bodyPr wrap="square"/>
                    <a:lstStyle/>
                    <a:p>
                      <a:pPr rtl="1" algn="r"/>
                      <a:r>
                        <a:rPr sz="1800" b="0" i="0" lang="ar-SA">
                          <a:solidFill>
                            <a:srgbClr val="134E4A"/>
                          </a:solidFill>
                          <a:latin typeface="Arial"/>
                          <a:cs typeface="Arial"/>
                        </a:rPr>
                        <a:t>الشخصنة فوق السياق</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دمج رتبي لأربعة مكوّنات على الأكثر</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الهجين (H1)</a:t>
                      </a:r>
                    </a:p>
                  </a:txBody>
                  <a:tcPr anchor="ctr" marL="91440" marR="91440" marT="36576" marB="36576">
                    <a:solidFill>
                      <a:srgbClr val="FFFFFF"/>
                    </a:solidFill>
                  </a:tcPr>
                </a:tc>
              </a:tr>
              <a:tr h="555171">
                <a:tc>
                  <a:txBody>
                    <a:bodyPr wrap="square"/>
                    <a:lstStyle/>
                    <a:p>
                      <a:pPr rtl="1" algn="r"/>
                      <a:r>
                        <a:rPr sz="1800" b="0" i="0" lang="ar-SA">
                          <a:solidFill>
                            <a:srgbClr val="134E4A"/>
                          </a:solidFill>
                          <a:latin typeface="Arial"/>
                          <a:cs typeface="Arial"/>
                        </a:rPr>
                        <a:t>التنبؤ المبكر [4]–[6]</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k-means، لوجستي، CART</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نماذج المتعلمين (H4-أ)</a:t>
                      </a:r>
                    </a:p>
                  </a:txBody>
                  <a:tcPr anchor="ctr" marL="91440" marR="91440" marT="36576" marB="36576">
                    <a:solidFill>
                      <a:srgbClr val="EEF2F6"/>
                    </a:solidFill>
                  </a:tcPr>
                </a:tc>
              </a:tr>
            </a:tbl>
          </a:graphicData>
        </a:graphic>
      </p:graphicFrame>
      <p:sp>
        <p:nvSpPr>
          <p:cNvPr id="4" name="TextBox 3"/>
          <p:cNvSpPr txBox="1"/>
          <p:nvPr/>
        </p:nvSpPr>
        <p:spPr>
          <a:xfrm>
            <a:off x="548640" y="544068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700" b="0" i="0" lang="ar-SA">
                <a:solidFill>
                  <a:srgbClr val="475569"/>
                </a:solidFill>
                <a:latin typeface="Arial"/>
                <a:cs typeface="Arial"/>
              </a:rPr>
              <a:t>عشرة خطوط أساس بميزانية ضبط واحدة (20 إعداداً على الأكثر)، ولكل مسار فرضية مسجلة</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3، الجدولان 3-13 و3-18؛ الفصل 2، القسم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المنهجية والتسجيل المسبق</a:t>
            </a:r>
          </a:p>
        </p:txBody>
      </p:sp>
      <p:sp>
        <p:nvSpPr>
          <p:cNvPr id="3" name="خطوة"/>
          <p:cNvSpPr/>
          <p:nvPr/>
        </p:nvSpPr>
        <p:spPr>
          <a:xfrm>
            <a:off x="8298484" y="1463040"/>
            <a:ext cx="3344570" cy="219456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389924" y="1554480"/>
            <a:ext cx="3161690" cy="921715"/>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600" b="1" i="0" lang="ar-SA">
                <a:solidFill>
                  <a:srgbClr val="0F766E"/>
                </a:solidFill>
                <a:latin typeface="Arial"/>
                <a:cs typeface="Arial"/>
              </a:rPr>
              <a:t>التطوير</a:t>
            </a:r>
          </a:p>
        </p:txBody>
      </p:sp>
      <p:sp>
        <p:nvSpPr>
          <p:cNvPr id="5" name="TextBox 4"/>
          <p:cNvSpPr txBox="1"/>
          <p:nvPr/>
        </p:nvSpPr>
        <p:spPr>
          <a:xfrm>
            <a:off x="8389924" y="2450592"/>
            <a:ext cx="3161690" cy="1141171"/>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2000" b="0" i="0" lang="ar-SA">
                <a:solidFill>
                  <a:srgbClr val="134E4A"/>
                </a:solidFill>
                <a:latin typeface="Arial"/>
                <a:cs typeface="Arial"/>
              </a:rPr>
              <a:t>9 عروض 2013 ← ضبط واختيار</a:t>
            </a:r>
          </a:p>
        </p:txBody>
      </p:sp>
      <p:sp>
        <p:nvSpPr>
          <p:cNvPr id="6" name="سهم"/>
          <p:cNvSpPr/>
          <p:nvPr/>
        </p:nvSpPr>
        <p:spPr>
          <a:xfrm>
            <a:off x="7768132" y="237743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خطوة"/>
          <p:cNvSpPr/>
          <p:nvPr/>
        </p:nvSpPr>
        <p:spPr>
          <a:xfrm>
            <a:off x="4423562" y="1463040"/>
            <a:ext cx="3344570" cy="219456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15002" y="1554480"/>
            <a:ext cx="3161690" cy="921715"/>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600" b="1" i="0" lang="ar-SA">
                <a:solidFill>
                  <a:srgbClr val="0F766E"/>
                </a:solidFill>
                <a:latin typeface="Arial"/>
                <a:cs typeface="Arial"/>
              </a:rPr>
              <a:t>التجميد</a:t>
            </a:r>
          </a:p>
        </p:txBody>
      </p:sp>
      <p:sp>
        <p:nvSpPr>
          <p:cNvPr id="9" name="TextBox 8"/>
          <p:cNvSpPr txBox="1"/>
          <p:nvPr/>
        </p:nvSpPr>
        <p:spPr>
          <a:xfrm>
            <a:off x="4515002" y="2450592"/>
            <a:ext cx="3161690" cy="1141171"/>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2000" b="0" i="0" lang="ar-SA">
                <a:solidFill>
                  <a:srgbClr val="134E4A"/>
                </a:solidFill>
                <a:latin typeface="Arial"/>
                <a:cs typeface="Arial"/>
              </a:rPr>
              <a:t>وسم وبصمة وجدول قوة، وحاجز يمنع قراءة 2014</a:t>
            </a:r>
          </a:p>
        </p:txBody>
      </p:sp>
      <p:sp>
        <p:nvSpPr>
          <p:cNvPr id="10" name="سهم"/>
          <p:cNvSpPr/>
          <p:nvPr/>
        </p:nvSpPr>
        <p:spPr>
          <a:xfrm>
            <a:off x="3893210" y="237743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خطوة"/>
          <p:cNvSpPr/>
          <p:nvPr/>
        </p:nvSpPr>
        <p:spPr>
          <a:xfrm>
            <a:off x="548639" y="1463040"/>
            <a:ext cx="3344570" cy="219456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79" y="1554480"/>
            <a:ext cx="3161690" cy="921715"/>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600" b="1" i="0" lang="ar-SA">
                <a:solidFill>
                  <a:srgbClr val="0F766E"/>
                </a:solidFill>
                <a:latin typeface="Arial"/>
                <a:cs typeface="Arial"/>
              </a:rPr>
              <a:t>التأكيد</a:t>
            </a:r>
          </a:p>
        </p:txBody>
      </p:sp>
      <p:sp>
        <p:nvSpPr>
          <p:cNvPr id="13" name="TextBox 12"/>
          <p:cNvSpPr txBox="1"/>
          <p:nvPr/>
        </p:nvSpPr>
        <p:spPr>
          <a:xfrm>
            <a:off x="640079" y="2450592"/>
            <a:ext cx="3161690" cy="1141171"/>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2000" b="0" i="0" lang="ar-SA">
                <a:solidFill>
                  <a:srgbClr val="134E4A"/>
                </a:solidFill>
                <a:latin typeface="Arial"/>
                <a:cs typeface="Arial"/>
              </a:rPr>
              <a:t>تشغيل واحد على 13 عرضاً ← أحكام مقفلة (34 ملفاً)</a:t>
            </a:r>
          </a:p>
        </p:txBody>
      </p:sp>
      <p:sp>
        <p:nvSpPr>
          <p:cNvPr id="14" name="خلاصة"/>
          <p:cNvSpPr/>
          <p:nvPr/>
        </p:nvSpPr>
        <p:spPr>
          <a:xfrm>
            <a:off x="548640" y="393192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التقييم: قطع عند 70 و126 و182، واختبار 14 يوماً، وكتالوج كامل</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1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3، القسمان 3-1 و3-5؛ الجداول 3-12 و5-8-أ و5-8-ز؛ results/conf2014/LOCK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الفرضيات وقاعدة الحكم</a:t>
            </a:r>
          </a:p>
        </p:txBody>
      </p:sp>
      <p:graphicFrame>
        <p:nvGraphicFramePr>
          <p:cNvPr id="3" name="جدول"/>
          <p:cNvGraphicFramePr>
            <a:graphicFrameLocks noGrp="1"/>
          </p:cNvGraphicFramePr>
          <p:nvPr/>
        </p:nvGraphicFramePr>
        <p:xfrm>
          <a:off x="548640" y="1463040"/>
          <a:ext cx="11094414" cy="2651760"/>
        </p:xfrm>
        <a:graphic>
          <a:graphicData uri="http://schemas.openxmlformats.org/drawingml/2006/table">
            <a:tbl>
              <a:tblPr firstRow="1" bandRow="0">
                <a:tableStyleId>{5C22544A-7EE6-4342-B048-85BDC9FD1C3A}</a:tableStyleId>
              </a:tblPr>
              <a:tblGrid>
                <a:gridCol w="3106436"/>
                <a:gridCol w="6212872"/>
                <a:gridCol w="1775106"/>
              </a:tblGrid>
              <a:tr h="530352">
                <a:tc>
                  <a:txBody>
                    <a:bodyPr wrap="square"/>
                    <a:lstStyle/>
                    <a:p>
                      <a:pPr rtl="1" algn="r"/>
                      <a:r>
                        <a:rPr sz="1800" b="1" i="0" lang="ar-SA">
                          <a:solidFill>
                            <a:srgbClr val="FFFFFF"/>
                          </a:solidFill>
                          <a:latin typeface="Arial"/>
                          <a:cs typeface="Arial"/>
                        </a:rPr>
                        <a:t>المقياس</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المقارنة</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الفرضية</a:t>
                      </a:r>
                    </a:p>
                  </a:txBody>
                  <a:tcPr anchor="ctr" marL="91440" marR="91440" marT="36576" marB="36576">
                    <a:solidFill>
                      <a:srgbClr val="0F766E"/>
                    </a:solidFill>
                  </a:tcPr>
                </a:tc>
              </a:tr>
              <a:tr h="530352">
                <a:tc>
                  <a:txBody>
                    <a:bodyPr wrap="square"/>
                    <a:lstStyle/>
                    <a:p>
                      <a:pPr rtl="1" algn="r"/>
                      <a:r>
                        <a:rPr sz="1800" b="0" i="0" lang="ar-SA">
                          <a:solidFill>
                            <a:srgbClr val="134E4A"/>
                          </a:solidFill>
                          <a:latin typeface="Arial"/>
                          <a:cs typeface="Arial"/>
                        </a:rPr>
                        <a:t>NDCG@10، الموارد الجديدة</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الهجين المجمَّد مقابل الشعبية الآنية</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‪H1‬</a:t>
                      </a:r>
                    </a:p>
                  </a:txBody>
                  <a:tcPr anchor="ctr" marL="91440" marR="91440" marT="36576" marB="36576">
                    <a:solidFill>
                      <a:srgbClr val="FFFFFF"/>
                    </a:solidFill>
                  </a:tcPr>
                </a:tc>
              </a:tr>
              <a:tr h="530352">
                <a:tc>
                  <a:txBody>
                    <a:bodyPr wrap="square"/>
                    <a:lstStyle/>
                    <a:p>
                      <a:pPr rtl="1" algn="r"/>
                      <a:r>
                        <a:rPr sz="1800" b="0" i="0" lang="ar-SA">
                          <a:solidFill>
                            <a:srgbClr val="134E4A"/>
                          </a:solidFill>
                          <a:latin typeface="Arial"/>
                          <a:cs typeface="Arial"/>
                        </a:rPr>
                        <a:t>NDCG@10، الموارد الجديدة</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WRMF بإشارة موزونة مقابل ثنائية</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H2-أ</a:t>
                      </a:r>
                    </a:p>
                  </a:txBody>
                  <a:tcPr anchor="ctr" marL="91440" marR="91440" marT="36576" marB="36576">
                    <a:solidFill>
                      <a:srgbClr val="EEF2F6"/>
                    </a:solidFill>
                  </a:tcPr>
                </a:tc>
              </a:tr>
              <a:tr h="530352">
                <a:tc>
                  <a:txBody>
                    <a:bodyPr wrap="square"/>
                    <a:lstStyle/>
                    <a:p>
                      <a:pPr rtl="1" algn="r"/>
                      <a:r>
                        <a:rPr sz="1800" b="0" i="0" lang="ar-SA">
                          <a:solidFill>
                            <a:srgbClr val="134E4A"/>
                          </a:solidFill>
                          <a:latin typeface="Arial"/>
                          <a:cs typeface="Arial"/>
                        </a:rPr>
                        <a:t>NDCG@10، الموارد الجديدة</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GRU-lite مقابل SKNN (اتجاهان)</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‪H3‬</a:t>
                      </a:r>
                    </a:p>
                  </a:txBody>
                  <a:tcPr anchor="ctr" marL="91440" marR="91440" marT="36576" marB="36576">
                    <a:solidFill>
                      <a:srgbClr val="FFFFFF"/>
                    </a:solidFill>
                  </a:tcPr>
                </a:tc>
              </a:tr>
              <a:tr h="530352">
                <a:tc>
                  <a:txBody>
                    <a:bodyPr wrap="square"/>
                    <a:lstStyle/>
                    <a:p>
                      <a:pPr rtl="1" algn="r"/>
                      <a:r>
                        <a:rPr sz="1800" b="0" i="0" lang="ar-SA">
                          <a:solidFill>
                            <a:srgbClr val="134E4A"/>
                          </a:solidFill>
                          <a:latin typeface="Arial"/>
                          <a:cs typeface="Arial"/>
                        </a:rPr>
                        <a:t>‪ROC‎-‎AUC‬</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ملامح السلوك مقابل مجموع النقرات، اليوم 56</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H4-أ</a:t>
                      </a:r>
                    </a:p>
                  </a:txBody>
                  <a:tcPr anchor="ctr" marL="91440" marR="91440" marT="36576" marB="36576">
                    <a:solidFill>
                      <a:srgbClr val="EEF2F6"/>
                    </a:solidFill>
                  </a:tcPr>
                </a:tc>
              </a:tr>
            </a:tbl>
          </a:graphicData>
        </a:graphic>
      </p:graphicFrame>
      <p:sp>
        <p:nvSpPr>
          <p:cNvPr id="4" name="شريط"/>
          <p:cNvSpPr/>
          <p:nvPr/>
        </p:nvSpPr>
        <p:spPr>
          <a:xfrm>
            <a:off x="548640" y="4251960"/>
            <a:ext cx="11094415" cy="960120"/>
          </a:xfrm>
          <a:prstGeom prst="roundRect">
            <a:avLst>
              <a:gd name="adj" fmla="val 12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4297680"/>
            <a:ext cx="10545775" cy="86868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0" i="0" lang="ar-SA">
                <a:solidFill>
                  <a:srgbClr val="134E4A"/>
                </a:solidFill>
                <a:latin typeface="Arial"/>
                <a:cs typeface="Arial"/>
              </a:rPr>
              <a:t>القاعدة (‪δ‎ ‎‎=‎‎ ‎0.02‬): </a:t>
            </a:r>
            <a:r>
              <a:rPr sz="1800" b="1" i="0" lang="ar-SA">
                <a:solidFill>
                  <a:srgbClr val="134E4A"/>
                </a:solidFill>
                <a:latin typeface="Arial"/>
                <a:cs typeface="Arial"/>
              </a:rPr>
              <a:t>مؤكَّدة</a:t>
            </a:r>
            <a:r>
              <a:rPr sz="1800" b="0" i="0" lang="ar-SA">
                <a:solidFill>
                  <a:srgbClr val="134E4A"/>
                </a:solidFill>
                <a:latin typeface="Arial"/>
                <a:cs typeface="Arial"/>
              </a:rPr>
              <a:t> ‪Δ̄‎ ‎‎≥‎‎ ‎δ‬ والفاصل فوق الصفر و‪p‎_‎Holm‎ ‎‎&lt;‎‎ ‎0.05‬ · </a:t>
            </a:r>
            <a:r>
              <a:rPr sz="1800" b="1" i="0" lang="ar-SA">
                <a:solidFill>
                  <a:srgbClr val="134E4A"/>
                </a:solidFill>
                <a:latin typeface="Arial"/>
                <a:cs typeface="Arial"/>
              </a:rPr>
              <a:t>مدحوضة عملياً</a:t>
            </a:r>
            <a:r>
              <a:rPr sz="1800" b="0" i="0" lang="ar-SA">
                <a:solidFill>
                  <a:srgbClr val="134E4A"/>
                </a:solidFill>
                <a:latin typeface="Arial"/>
                <a:cs typeface="Arial"/>
              </a:rPr>
              <a:t> الحد الأعلى ‪‎&lt;‎‎ ‎δ‬ · </a:t>
            </a:r>
            <a:r>
              <a:rPr sz="1800" b="1" i="0" lang="ar-SA">
                <a:solidFill>
                  <a:srgbClr val="134E4A"/>
                </a:solidFill>
                <a:latin typeface="Arial"/>
                <a:cs typeface="Arial"/>
              </a:rPr>
              <a:t>غير حاسمة</a:t>
            </a:r>
            <a:r>
              <a:rPr sz="1800" b="0" i="0" lang="ar-SA">
                <a:solidFill>
                  <a:srgbClr val="134E4A"/>
                </a:solidFill>
                <a:latin typeface="Arial"/>
                <a:cs typeface="Arial"/>
              </a:rPr>
              <a:t> ما عدا ذلك</a:t>
            </a:r>
          </a:p>
        </p:txBody>
      </p:sp>
      <p:sp>
        <p:nvSpPr>
          <p:cNvPr id="6" name="TextBox 5"/>
          <p:cNvSpPr txBox="1"/>
          <p:nvPr/>
        </p:nvSpPr>
        <p:spPr>
          <a:xfrm>
            <a:off x="548640" y="53035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700" b="0" i="0" lang="ar-SA">
                <a:solidFill>
                  <a:srgbClr val="475569"/>
                </a:solidFill>
                <a:latin typeface="Arial"/>
                <a:cs typeface="Arial"/>
              </a:rPr>
              <a:t>‪n‎ ‎‎=‎‎ ‎13‬ عرضاً · bootstrap-t عنقودي · قلب إشارات دقيق · هولم ‪m‎ ‎‎=‎‎ ‎4‬</a:t>
            </a:r>
          </a:p>
        </p:txBody>
      </p:sp>
      <p:sp>
        <p:nvSpPr>
          <p:cNvPr id="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10"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3، الجداول 3-13 إلى 3-15؛ results/conf2014/verdicts.md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المستعملة</a:t>
            </a:r>
          </a:p>
        </p:txBody>
      </p:sp>
      <p:sp>
        <p:nvSpPr>
          <p:cNvPr id="3" name="بطاقة"/>
          <p:cNvSpPr/>
          <p:nvPr/>
        </p:nvSpPr>
        <p:spPr>
          <a:xfrm>
            <a:off x="6233007" y="146304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6370167" y="157276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الإشارة</a:t>
            </a:r>
          </a:p>
        </p:txBody>
      </p:sp>
      <p:sp>
        <p:nvSpPr>
          <p:cNvPr id="6" name="TextBox 5"/>
          <p:cNvSpPr txBox="1"/>
          <p:nvPr/>
        </p:nvSpPr>
        <p:spPr>
          <a:xfrm>
            <a:off x="6370167" y="233172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L0 ثنائية ⊂ L1 أيام ⊂ L2 حداثة ⊂ L3 شدة؛ ثقة ‪WRMF‎ ‎‎=‎‎ ‎1‎ ‎‎+‎‎ ‎αW‬</a:t>
            </a:r>
          </a:p>
        </p:txBody>
      </p:sp>
      <p:sp>
        <p:nvSpPr>
          <p:cNvPr id="7" name="بطاقة"/>
          <p:cNvSpPr/>
          <p:nvPr/>
        </p:nvSpPr>
        <p:spPr>
          <a:xfrm>
            <a:off x="548640" y="146304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85800" y="157276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a:t>
            </a:r>
          </a:p>
        </p:txBody>
      </p:sp>
      <p:sp>
        <p:nvSpPr>
          <p:cNvPr id="10" name="TextBox 9"/>
          <p:cNvSpPr txBox="1"/>
          <p:nvPr/>
        </p:nvSpPr>
        <p:spPr>
          <a:xfrm>
            <a:off x="685800" y="233172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لم تقبل القاعدة مكوّناً، فدخل SKNN بأرضية ‪‎≥‎‎ ‎1‎/‎4‬ مع شعبية العنقود</a:t>
            </a:r>
          </a:p>
        </p:txBody>
      </p:sp>
      <p:sp>
        <p:nvSpPr>
          <p:cNvPr id="11" name="بطاقة"/>
          <p:cNvSpPr/>
          <p:nvPr/>
        </p:nvSpPr>
        <p:spPr>
          <a:xfrm>
            <a:off x="6233007" y="384048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957255" y="40233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370167" y="39502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a:t>
            </a:r>
          </a:p>
        </p:txBody>
      </p:sp>
      <p:sp>
        <p:nvSpPr>
          <p:cNvPr id="14" name="TextBox 13"/>
          <p:cNvSpPr txBox="1"/>
          <p:nvPr/>
        </p:nvSpPr>
        <p:spPr>
          <a:xfrm>
            <a:off x="6370167" y="470916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حالة 64، فحوص صحة S1–S6</a:t>
            </a:r>
          </a:p>
        </p:txBody>
      </p:sp>
      <p:sp>
        <p:nvSpPr>
          <p:cNvPr id="15" name="بطاقة"/>
          <p:cNvSpPr/>
          <p:nvPr/>
        </p:nvSpPr>
        <p:spPr>
          <a:xfrm>
            <a:off x="548640" y="384048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5272887" y="40233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39502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المتعلمون</a:t>
            </a:r>
          </a:p>
        </p:txBody>
      </p:sp>
      <p:sp>
        <p:nvSpPr>
          <p:cNvPr id="18" name="TextBox 17"/>
          <p:cNvSpPr txBox="1"/>
          <p:nvPr/>
        </p:nvSpPr>
        <p:spPr>
          <a:xfrm>
            <a:off x="685800" y="470916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‪k‎-‎means‎+‎‎+‎‬، لوجستي، CART؛ دون سمات حساسة</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22"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3، الجدول 3-6؛ الفصل 5، الجدول 5-11؛ results/frozen/freeze03_config.json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آلية التنفيذ</a:t>
            </a:r>
          </a:p>
        </p:txBody>
      </p:sp>
      <p:sp>
        <p:nvSpPr>
          <p:cNvPr id="3" name="خطوة"/>
          <p:cNvSpPr/>
          <p:nvPr/>
        </p:nvSpPr>
        <p:spPr>
          <a:xfrm>
            <a:off x="9267215" y="146304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58655" y="150876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البيانات والحاجز</a:t>
            </a:r>
          </a:p>
        </p:txBody>
      </p:sp>
      <p:sp>
        <p:nvSpPr>
          <p:cNvPr id="5" name="سهم"/>
          <p:cNvSpPr/>
          <p:nvPr/>
        </p:nvSpPr>
        <p:spPr>
          <a:xfrm>
            <a:off x="8736863" y="189738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خطوة"/>
          <p:cNvSpPr/>
          <p:nvPr/>
        </p:nvSpPr>
        <p:spPr>
          <a:xfrm>
            <a:off x="6361023" y="146304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52463" y="150876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الإشارات</a:t>
            </a:r>
          </a:p>
        </p:txBody>
      </p:sp>
      <p:sp>
        <p:nvSpPr>
          <p:cNvPr id="8" name="سهم"/>
          <p:cNvSpPr/>
          <p:nvPr/>
        </p:nvSpPr>
        <p:spPr>
          <a:xfrm>
            <a:off x="5830671" y="189738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خطوة"/>
          <p:cNvSpPr/>
          <p:nvPr/>
        </p:nvSpPr>
        <p:spPr>
          <a:xfrm>
            <a:off x="3454831" y="146304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6271" y="150876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التقسيم</a:t>
            </a:r>
          </a:p>
        </p:txBody>
      </p:sp>
      <p:sp>
        <p:nvSpPr>
          <p:cNvPr id="11" name="سهم"/>
          <p:cNvSpPr/>
          <p:nvPr/>
        </p:nvSpPr>
        <p:spPr>
          <a:xfrm>
            <a:off x="2924479" y="189738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40" y="146304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0876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النماذج والهجين</a:t>
            </a:r>
          </a:p>
        </p:txBody>
      </p:sp>
      <p:sp>
        <p:nvSpPr>
          <p:cNvPr id="14" name="خطوة"/>
          <p:cNvSpPr/>
          <p:nvPr/>
        </p:nvSpPr>
        <p:spPr>
          <a:xfrm>
            <a:off x="9267215" y="301752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58655" y="306324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الضبط ثم الاختبار لكل (عرض، قطع)</a:t>
            </a:r>
          </a:p>
        </p:txBody>
      </p:sp>
      <p:sp>
        <p:nvSpPr>
          <p:cNvPr id="16" name="سهم"/>
          <p:cNvSpPr/>
          <p:nvPr/>
        </p:nvSpPr>
        <p:spPr>
          <a:xfrm>
            <a:off x="8736863" y="345186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خطوة"/>
          <p:cNvSpPr/>
          <p:nvPr/>
        </p:nvSpPr>
        <p:spPr>
          <a:xfrm>
            <a:off x="6361023" y="301752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2463" y="306324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المقاييس والإحصاء</a:t>
            </a:r>
          </a:p>
        </p:txBody>
      </p:sp>
      <p:sp>
        <p:nvSpPr>
          <p:cNvPr id="19" name="سهم"/>
          <p:cNvSpPr/>
          <p:nvPr/>
        </p:nvSpPr>
        <p:spPr>
          <a:xfrm>
            <a:off x="5830671" y="345186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3454831" y="3017520"/>
            <a:ext cx="2375839" cy="1234440"/>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46271" y="306324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0" i="0" lang="ar-SA">
                <a:solidFill>
                  <a:srgbClr val="134E4A"/>
                </a:solidFill>
                <a:latin typeface="Arial"/>
                <a:cs typeface="Arial"/>
              </a:rPr>
              <a:t>‪results‎/‎‬</a:t>
            </a:r>
          </a:p>
        </p:txBody>
      </p:sp>
      <p:sp>
        <p:nvSpPr>
          <p:cNvPr id="22" name="سهم"/>
          <p:cNvSpPr/>
          <p:nvPr/>
        </p:nvSpPr>
        <p:spPr>
          <a:xfrm>
            <a:off x="2924479" y="3451860"/>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خطوة"/>
          <p:cNvSpPr/>
          <p:nvPr/>
        </p:nvSpPr>
        <p:spPr>
          <a:xfrm>
            <a:off x="548640" y="3017520"/>
            <a:ext cx="2375839" cy="1234440"/>
          </a:xfrm>
          <a:prstGeom prst="roundRect">
            <a:avLst>
              <a:gd name="adj" fmla="val 6000"/>
            </a:avLst>
          </a:prstGeom>
          <a:solidFill>
            <a:srgbClr val="CCFBF1"/>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063240"/>
            <a:ext cx="2192959" cy="1143000"/>
          </a:xfrm>
          <a:prstGeom prst="rect">
            <a:avLst/>
          </a:prstGeom>
          <a:noFill/>
        </p:spPr>
        <p:txBody>
          <a:bodyPr wrap="square" lIns="45720" rIns="45720" tIns="27432" bIns="27432" anchor="ctr">
            <a:spAutoFit/>
          </a:bodyPr>
          <a:lstStyle/>
          <a:p>
            <a:pPr rtl="1" algn="ctr">
              <a:lnSpc>
                <a:spcPct val="105000"/>
              </a:lnSpc>
              <a:spcBef>
                <a:spcPts val="0"/>
              </a:spcBef>
              <a:spcAft>
                <a:spcPts val="0"/>
              </a:spcAft>
            </a:pPr>
            <a:r>
              <a:rPr sz="2000" b="1" i="0" lang="ar-SA">
                <a:solidFill>
                  <a:srgbClr val="134E4A"/>
                </a:solidFill>
                <a:latin typeface="Arial"/>
                <a:cs typeface="Arial"/>
              </a:rPr>
              <a:t>جداول الرسالة</a:t>
            </a:r>
          </a:p>
        </p:txBody>
      </p:sp>
      <p:sp>
        <p:nvSpPr>
          <p:cNvPr id="25" name="بطاقة"/>
          <p:cNvSpPr/>
          <p:nvPr/>
        </p:nvSpPr>
        <p:spPr>
          <a:xfrm>
            <a:off x="6210147" y="4526280"/>
            <a:ext cx="5432907" cy="9144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7307" y="4572000"/>
            <a:ext cx="5158587" cy="82296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1" i="0" lang="ar-SA">
                <a:solidFill>
                  <a:srgbClr val="0F766E"/>
                </a:solidFill>
                <a:latin typeface="Arial"/>
                <a:cs typeface="Arial"/>
              </a:rPr>
              <a:t>إعادة إنتاج التطوير بأمر واحد</a:t>
            </a:r>
          </a:p>
        </p:txBody>
      </p:sp>
      <p:sp>
        <p:nvSpPr>
          <p:cNvPr id="27" name="بطاقة"/>
          <p:cNvSpPr/>
          <p:nvPr/>
        </p:nvSpPr>
        <p:spPr>
          <a:xfrm>
            <a:off x="548639" y="4526280"/>
            <a:ext cx="5432907" cy="9144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4572000"/>
            <a:ext cx="5158587" cy="82296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1" i="0" lang="ar-SA">
                <a:solidFill>
                  <a:srgbClr val="0F766E"/>
                </a:solidFill>
                <a:latin typeface="Arial"/>
                <a:cs typeface="Arial"/>
              </a:rPr>
              <a:t>131 اختباراً للتجارب و73 للخدمة</a:t>
            </a:r>
          </a:p>
        </p:txBody>
      </p:sp>
      <p:sp>
        <p:nvSpPr>
          <p:cNvPr id="2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32"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5، القسمان 5-3 و5-4؛ الفصل 7، القسم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تطبيق العرض</a:t>
            </a:r>
          </a:p>
        </p:txBody>
      </p:sp>
      <p:pic>
        <p:nvPicPr>
          <p:cNvPr id="3" name="صورة" descr="لقطة من لوحة «لماذا؟» في صفحة المتعلم: مكوّنا الهجين (شعبية الأنماط المشابهة والجيران SKNN) وسبب كل منهما"/>
          <p:cNvPicPr>
            <a:picLocks noChangeAspect="1"/>
          </p:cNvPicPr>
          <p:nvPr/>
        </p:nvPicPr>
        <p:blipFill>
          <a:blip r:embed="rId2"/>
          <a:stretch>
            <a:fillRect/>
          </a:stretch>
        </p:blipFill>
        <p:spPr>
          <a:xfrm>
            <a:off x="548640" y="1461661"/>
            <a:ext cx="4206240" cy="3751796"/>
          </a:xfrm>
          <a:prstGeom prst="rect">
            <a:avLst/>
          </a:prstGeom>
          <a:ln w="12700">
            <a:solidFill>
              <a:srgbClr val="CBD5E1"/>
            </a:solidFill>
          </a:ln>
        </p:spPr>
      </p:pic>
      <p:sp>
        <p:nvSpPr>
          <p:cNvPr id="4" name="بطاقة"/>
          <p:cNvSpPr/>
          <p:nvPr/>
        </p:nvSpPr>
        <p:spPr>
          <a:xfrm>
            <a:off x="5120640" y="1371600"/>
            <a:ext cx="6522415" cy="14630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5257800" y="1444752"/>
            <a:ext cx="560801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صفحة المتعلم</a:t>
            </a:r>
          </a:p>
        </p:txBody>
      </p:sp>
      <p:sp>
        <p:nvSpPr>
          <p:cNvPr id="7" name="TextBox 6"/>
          <p:cNvSpPr txBox="1"/>
          <p:nvPr/>
        </p:nvSpPr>
        <p:spPr>
          <a:xfrm>
            <a:off x="5257800" y="2084832"/>
            <a:ext cx="6248095" cy="68580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900" b="0" i="0" lang="ar-SA">
                <a:solidFill>
                  <a:srgbClr val="475569"/>
                </a:solidFill>
                <a:latin typeface="Arial"/>
                <a:cs typeface="Arial"/>
              </a:rPr>
              <a:t>أفضل 10 موارد جديدة عند يوم مختار، مع سبب لكل مورد</a:t>
            </a:r>
          </a:p>
        </p:txBody>
      </p:sp>
      <p:sp>
        <p:nvSpPr>
          <p:cNvPr id="8" name="بطاقة"/>
          <p:cNvSpPr/>
          <p:nvPr/>
        </p:nvSpPr>
        <p:spPr>
          <a:xfrm>
            <a:off x="5120640" y="3063240"/>
            <a:ext cx="6522415" cy="14630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10957255" y="32461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5257800" y="3136392"/>
            <a:ext cx="560801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لوحة المدرّس</a:t>
            </a:r>
          </a:p>
        </p:txBody>
      </p:sp>
      <p:sp>
        <p:nvSpPr>
          <p:cNvPr id="11" name="TextBox 10"/>
          <p:cNvSpPr txBox="1"/>
          <p:nvPr/>
        </p:nvSpPr>
        <p:spPr>
          <a:xfrm>
            <a:off x="5257800" y="3776472"/>
            <a:ext cx="6248095" cy="68580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900" b="0" i="0" lang="ar-SA">
                <a:solidFill>
                  <a:srgbClr val="475569"/>
                </a:solidFill>
                <a:latin typeface="Arial"/>
                <a:cs typeface="Arial"/>
              </a:rPr>
              <a:t>«درجة خطر نسبية غير معايَرة» من اليوم 56، للمدرّس وحده</a:t>
            </a:r>
          </a:p>
        </p:txBody>
      </p:sp>
      <p:sp>
        <p:nvSpPr>
          <p:cNvPr id="12" name="شريط"/>
          <p:cNvSpPr/>
          <p:nvPr/>
        </p:nvSpPr>
        <p:spPr>
          <a:xfrm>
            <a:off x="548640" y="5486400"/>
            <a:ext cx="1109441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5532120"/>
            <a:ext cx="10545775" cy="59436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1" i="0" lang="ar-SA">
                <a:solidFill>
                  <a:srgbClr val="92400E"/>
                </a:solidFill>
                <a:latin typeface="Arial"/>
                <a:cs typeface="Arial"/>
              </a:rPr>
              <a:t>عرض توضيحي بإعادة التشغيل؛ أرقامه لا يُستشهد بها</a:t>
            </a:r>
          </a:p>
        </p:txBody>
      </p:sp>
      <p:sp>
        <p:nvSpPr>
          <p:cNvPr id="14"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5"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6"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أحكام الفرضيات على عروض 2014</a:t>
            </a:r>
          </a:p>
        </p:txBody>
      </p:sp>
      <p:graphicFrame>
        <p:nvGraphicFramePr>
          <p:cNvPr id="3" name="جدول"/>
          <p:cNvGraphicFramePr>
            <a:graphicFrameLocks noGrp="1"/>
          </p:cNvGraphicFramePr>
          <p:nvPr/>
        </p:nvGraphicFramePr>
        <p:xfrm>
          <a:off x="548640" y="1463040"/>
          <a:ext cx="11094411" cy="3429000"/>
        </p:xfrm>
        <a:graphic>
          <a:graphicData uri="http://schemas.openxmlformats.org/drawingml/2006/table">
            <a:tbl>
              <a:tblPr firstRow="1" bandRow="0">
                <a:tableStyleId>{5C22544A-7EE6-4342-B048-85BDC9FD1C3A}</a:tableStyleId>
              </a:tblPr>
              <a:tblGrid>
                <a:gridCol w="1331329"/>
                <a:gridCol w="2218883"/>
                <a:gridCol w="998497"/>
                <a:gridCol w="1220385"/>
                <a:gridCol w="2773603"/>
                <a:gridCol w="1331329"/>
                <a:gridCol w="1220385"/>
              </a:tblGrid>
              <a:tr h="685800">
                <a:tc>
                  <a:txBody>
                    <a:bodyPr wrap="square"/>
                    <a:lstStyle/>
                    <a:p>
                      <a:pPr rtl="1" algn="r"/>
                      <a:r>
                        <a:rPr sz="1700" b="1" i="0" lang="ar-SA">
                          <a:solidFill>
                            <a:srgbClr val="FFFFFF"/>
                          </a:solidFill>
                          <a:latin typeface="Arial"/>
                          <a:cs typeface="Arial"/>
                        </a:rPr>
                        <a:t>‪MDE80‬</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‪Δ‎&gt;‎0‬</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‪p‎_‎Holm‬</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فاصل 95%</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Δ̄</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الفرضية</a:t>
                      </a:r>
                    </a:p>
                  </a:txBody>
                  <a:tcPr anchor="ctr" marL="91440" marR="91440" marT="36576" marB="36576">
                    <a:solidFill>
                      <a:srgbClr val="0F766E"/>
                    </a:solidFill>
                  </a:tcPr>
                </a:tc>
              </a:tr>
              <a:tr h="685800">
                <a:tc>
                  <a:txBody>
                    <a:bodyPr wrap="square"/>
                    <a:lstStyle/>
                    <a:p>
                      <a:pPr rtl="1" algn="r"/>
                      <a:r>
                        <a:rPr sz="1700" b="0" i="0" lang="ar-SA">
                          <a:solidFill>
                            <a:srgbClr val="134E4A"/>
                          </a:solidFill>
                          <a:latin typeface="Arial"/>
                          <a:cs typeface="Arial"/>
                        </a:rPr>
                        <a:t>‪0.0375‬</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700" b="1" i="0" lang="ar-SA">
                          <a:solidFill>
                            <a:srgbClr val="134E4A"/>
                          </a:solidFill>
                          <a:latin typeface="Arial"/>
                          <a:cs typeface="Arial"/>
                        </a:rPr>
                        <a:t>‪H1‬</a:t>
                      </a:r>
                    </a:p>
                  </a:txBody>
                  <a:tcPr anchor="ctr" marL="91440" marR="91440" marT="36576" marB="36576">
                    <a:solidFill>
                      <a:srgbClr val="FFFFFF"/>
                    </a:solidFill>
                  </a:tcPr>
                </a:tc>
              </a:tr>
              <a:tr h="685800">
                <a:tc>
                  <a:txBody>
                    <a:bodyPr wrap="square"/>
                    <a:lstStyle/>
                    <a:p>
                      <a:pPr rtl="1" algn="r"/>
                      <a:r>
                        <a:rPr sz="1700" b="0" i="0" lang="ar-SA">
                          <a:solidFill>
                            <a:srgbClr val="134E4A"/>
                          </a:solidFill>
                          <a:latin typeface="Arial"/>
                          <a:cs typeface="Arial"/>
                        </a:rPr>
                        <a:t>‪0.0450‬</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700" b="1" i="0" lang="ar-SA">
                          <a:solidFill>
                            <a:srgbClr val="134E4A"/>
                          </a:solidFill>
                          <a:latin typeface="Arial"/>
                          <a:cs typeface="Arial"/>
                        </a:rPr>
                        <a:t>H2-أ</a:t>
                      </a:r>
                    </a:p>
                  </a:txBody>
                  <a:tcPr anchor="ctr" marL="91440" marR="91440" marT="36576" marB="36576">
                    <a:solidFill>
                      <a:srgbClr val="EEF2F6"/>
                    </a:solidFill>
                  </a:tcPr>
                </a:tc>
              </a:tr>
              <a:tr h="685800">
                <a:tc>
                  <a:txBody>
                    <a:bodyPr wrap="square"/>
                    <a:lstStyle/>
                    <a:p>
                      <a:pPr rtl="1" algn="r"/>
                      <a:r>
                        <a:rPr sz="1700" b="0" i="0" lang="ar-SA">
                          <a:solidFill>
                            <a:srgbClr val="134E4A"/>
                          </a:solidFill>
                          <a:latin typeface="Arial"/>
                          <a:cs typeface="Arial"/>
                        </a:rPr>
                        <a:t>‪0.0500‬</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7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700" b="1" i="0" lang="ar-SA">
                          <a:solidFill>
                            <a:srgbClr val="134E4A"/>
                          </a:solidFill>
                          <a:latin typeface="Arial"/>
                          <a:cs typeface="Arial"/>
                        </a:rPr>
                        <a:t>‪H3‬</a:t>
                      </a:r>
                    </a:p>
                  </a:txBody>
                  <a:tcPr anchor="ctr" marL="91440" marR="91440" marT="36576" marB="36576">
                    <a:solidFill>
                      <a:srgbClr val="FFFFFF"/>
                    </a:solidFill>
                  </a:tcPr>
                </a:tc>
              </a:tr>
              <a:tr h="685800">
                <a:tc>
                  <a:txBody>
                    <a:bodyPr wrap="square"/>
                    <a:lstStyle/>
                    <a:p>
                      <a:pPr rtl="1" algn="r"/>
                      <a:r>
                        <a:rPr sz="1700" b="0" i="0" lang="ar-SA">
                          <a:solidFill>
                            <a:srgbClr val="134E4A"/>
                          </a:solidFill>
                          <a:latin typeface="Arial"/>
                          <a:cs typeface="Arial"/>
                        </a:rPr>
                        <a:t>‪0.0225‬</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7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700" b="1" i="0" lang="ar-SA">
                          <a:solidFill>
                            <a:srgbClr val="134E4A"/>
                          </a:solidFill>
                          <a:latin typeface="Arial"/>
                          <a:cs typeface="Arial"/>
                        </a:rPr>
                        <a:t>H4-أ</a:t>
                      </a:r>
                    </a:p>
                  </a:txBody>
                  <a:tcPr anchor="ctr" marL="91440" marR="91440" marT="36576" marB="36576">
                    <a:solidFill>
                      <a:srgbClr val="EEF2F6"/>
                    </a:solidFill>
                  </a:tcPr>
                </a:tc>
              </a:tr>
            </a:tbl>
          </a:graphicData>
        </a:graphic>
      </p:graphicFrame>
      <p:sp>
        <p:nvSpPr>
          <p:cNvPr id="4" name="TextBox 3"/>
          <p:cNvSpPr txBox="1"/>
          <p:nvPr/>
        </p:nvSpPr>
        <p:spPr>
          <a:xfrm>
            <a:off x="548640" y="498348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0" i="0" lang="ar-SA">
                <a:solidFill>
                  <a:srgbClr val="475569"/>
                </a:solidFill>
                <a:latin typeface="Arial"/>
                <a:cs typeface="Arial"/>
              </a:rPr>
              <a:t>تشغيل تأكيدي واحد مقفل. H1: لا يكشف التصميم بقوة 80% أثراً أصغر من ‪MDE80‎ ‎‎=‎‎ ‎0.0375‬.‏ H2-ب غير منطبقة بالبناء.</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results/conf2014/verdicts.csv؛ results/conf2014/mde80_frozen.md؛ الجدولان 5-17 و5-18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 يعنيه كل حكم</a:t>
            </a:r>
          </a:p>
        </p:txBody>
      </p:sp>
      <p:graphicFrame>
        <p:nvGraphicFramePr>
          <p:cNvPr id="3" name="جدول"/>
          <p:cNvGraphicFramePr>
            <a:graphicFrameLocks noGrp="1"/>
          </p:cNvGraphicFramePr>
          <p:nvPr/>
        </p:nvGraphicFramePr>
        <p:xfrm>
          <a:off x="548640" y="1463040"/>
          <a:ext cx="11094414" cy="4389120"/>
        </p:xfrm>
        <a:graphic>
          <a:graphicData uri="http://schemas.openxmlformats.org/drawingml/2006/table">
            <a:tbl>
              <a:tblPr firstRow="1" bandRow="0">
                <a:tableStyleId>{5C22544A-7EE6-4342-B048-85BDC9FD1C3A}</a:tableStyleId>
              </a:tblPr>
              <a:tblGrid>
                <a:gridCol w="9541196"/>
                <a:gridCol w="1553218"/>
              </a:tblGrid>
              <a:tr h="877824">
                <a:tc>
                  <a:txBody>
                    <a:bodyPr wrap="square"/>
                    <a:lstStyle/>
                    <a:p>
                      <a:pPr rtl="1" algn="r"/>
                      <a:r>
                        <a:rPr sz="2000" b="1" i="0" lang="ar-SA">
                          <a:solidFill>
                            <a:srgbClr val="FFFFFF"/>
                          </a:solidFill>
                          <a:latin typeface="Arial"/>
                          <a:cs typeface="Arial"/>
                        </a:rPr>
                        <a:t>القراءة</a:t>
                      </a:r>
                    </a:p>
                  </a:txBody>
                  <a:tcPr anchor="ctr" marL="91440" marR="91440" marT="36576" marB="36576">
                    <a:solidFill>
                      <a:srgbClr val="0F766E"/>
                    </a:solidFill>
                  </a:tcPr>
                </a:tc>
                <a:tc>
                  <a:txBody>
                    <a:bodyPr wrap="square"/>
                    <a:lstStyle/>
                    <a:p>
                      <a:pPr rtl="1" algn="r"/>
                      <a:r>
                        <a:rPr sz="2000" b="1" i="0" lang="ar-SA">
                          <a:solidFill>
                            <a:srgbClr val="FFFFFF"/>
                          </a:solidFill>
                          <a:latin typeface="Arial"/>
                          <a:cs typeface="Arial"/>
                        </a:rPr>
                        <a:t>الفرضية</a:t>
                      </a:r>
                    </a:p>
                  </a:txBody>
                  <a:tcPr anchor="ctr" marL="91440" marR="91440" marT="36576" marB="36576">
                    <a:solidFill>
                      <a:srgbClr val="0F766E"/>
                    </a:solidFill>
                  </a:tcPr>
                </a:tc>
              </a:tr>
              <a:tr h="877824">
                <a:tc>
                  <a:txBody>
                    <a:bodyPr wrap="square"/>
                    <a:lstStyle/>
                    <a:p>
                      <a:pPr rtl="1" algn="r"/>
                      <a:r>
                        <a:rPr sz="2000" b="0" i="0" lang="ar-SA">
                          <a:solidFill>
                            <a:srgbClr val="134E4A"/>
                          </a:solidFill>
                          <a:latin typeface="Arial"/>
                          <a:cs typeface="Arial"/>
                        </a:rPr>
                        <a:t>الهجين 0.5692 والشعبية الآنية 0.5698؛ الحد الأعلى للإضافة 0.0204 (العروض) و0.043 (المقررات)</a:t>
                      </a:r>
                    </a:p>
                  </a:txBody>
                  <a:tcPr anchor="ctr" marL="91440" marR="91440" marT="36576" marB="36576">
                    <a:solidFill>
                      <a:srgbClr val="FFFFFF"/>
                    </a:solidFill>
                  </a:tcPr>
                </a:tc>
                <a:tc>
                  <a:txBody>
                    <a:bodyPr wrap="square"/>
                    <a:lstStyle/>
                    <a:p>
                      <a:pPr rtl="1" algn="r"/>
                      <a:r>
                        <a:rPr sz="2000" b="1" i="0" lang="ar-SA">
                          <a:solidFill>
                            <a:srgbClr val="134E4A"/>
                          </a:solidFill>
                          <a:latin typeface="Arial"/>
                          <a:cs typeface="Arial"/>
                        </a:rPr>
                        <a:t>‪H1‬</a:t>
                      </a:r>
                    </a:p>
                  </a:txBody>
                  <a:tcPr anchor="ctr" marL="91440" marR="91440" marT="36576" marB="36576">
                    <a:solidFill>
                      <a:srgbClr val="FFFFFF"/>
                    </a:solidFill>
                  </a:tcPr>
                </a:tc>
              </a:tr>
              <a:tr h="877824">
                <a:tc>
                  <a:txBody>
                    <a:bodyPr wrap="square"/>
                    <a:lstStyle/>
                    <a:p>
                      <a:pPr rtl="1" algn="r"/>
                      <a:r>
                        <a:rPr sz="2000" b="0" i="0" lang="ar-SA">
                          <a:solidFill>
                            <a:srgbClr val="134E4A"/>
                          </a:solidFill>
                          <a:latin typeface="Arial"/>
                          <a:cs typeface="Arial"/>
                        </a:rPr>
                        <a:t>موجب في 13 من 13 داخل WRMF، وWRMF نفسه 0.2708 مقابل 0.5698</a:t>
                      </a:r>
                    </a:p>
                  </a:txBody>
                  <a:tcPr anchor="ctr" marL="91440" marR="91440" marT="36576" marB="36576">
                    <a:solidFill>
                      <a:srgbClr val="EEF2F6"/>
                    </a:solidFill>
                  </a:tcPr>
                </a:tc>
                <a:tc>
                  <a:txBody>
                    <a:bodyPr wrap="square"/>
                    <a:lstStyle/>
                    <a:p>
                      <a:pPr rtl="1" algn="r"/>
                      <a:r>
                        <a:rPr sz="2000" b="1" i="0" lang="ar-SA">
                          <a:solidFill>
                            <a:srgbClr val="134E4A"/>
                          </a:solidFill>
                          <a:latin typeface="Arial"/>
                          <a:cs typeface="Arial"/>
                        </a:rPr>
                        <a:t>H2-أ</a:t>
                      </a:r>
                    </a:p>
                  </a:txBody>
                  <a:tcPr anchor="ctr" marL="91440" marR="91440" marT="36576" marB="36576">
                    <a:solidFill>
                      <a:srgbClr val="EEF2F6"/>
                    </a:solidFill>
                  </a:tcPr>
                </a:tc>
              </a:tr>
              <a:tr h="877824">
                <a:tc>
                  <a:txBody>
                    <a:bodyPr wrap="square"/>
                    <a:lstStyle/>
                    <a:p>
                      <a:pPr rtl="1" algn="r"/>
                      <a:r>
                        <a:rPr sz="2000" b="0" i="0" lang="ar-SA">
                          <a:solidFill>
                            <a:srgbClr val="134E4A"/>
                          </a:solidFill>
                          <a:latin typeface="Arial"/>
                          <a:cs typeface="Arial"/>
                        </a:rPr>
                        <a:t>GRU-lite 0.5305 وSKNN 0.5405؛ استُبعد تفوق ‪‎≥‎‎ ‎0.02‬، ولا تكافؤ</a:t>
                      </a:r>
                    </a:p>
                  </a:txBody>
                  <a:tcPr anchor="ctr" marL="91440" marR="91440" marT="36576" marB="36576">
                    <a:solidFill>
                      <a:srgbClr val="FFFFFF"/>
                    </a:solidFill>
                  </a:tcPr>
                </a:tc>
                <a:tc>
                  <a:txBody>
                    <a:bodyPr wrap="square"/>
                    <a:lstStyle/>
                    <a:p>
                      <a:pPr rtl="1" algn="r"/>
                      <a:r>
                        <a:rPr sz="2000" b="1" i="0" lang="ar-SA">
                          <a:solidFill>
                            <a:srgbClr val="134E4A"/>
                          </a:solidFill>
                          <a:latin typeface="Arial"/>
                          <a:cs typeface="Arial"/>
                        </a:rPr>
                        <a:t>‪H3‬</a:t>
                      </a:r>
                    </a:p>
                  </a:txBody>
                  <a:tcPr anchor="ctr" marL="91440" marR="91440" marT="36576" marB="36576">
                    <a:solidFill>
                      <a:srgbClr val="FFFFFF"/>
                    </a:solidFill>
                  </a:tcPr>
                </a:tc>
              </a:tr>
              <a:tr h="877824">
                <a:tc>
                  <a:txBody>
                    <a:bodyPr wrap="square"/>
                    <a:lstStyle/>
                    <a:p>
                      <a:pPr rtl="1" algn="r"/>
                      <a:r>
                        <a:rPr sz="2000" b="0" i="0" lang="ar-SA">
                          <a:solidFill>
                            <a:srgbClr val="134E4A"/>
                          </a:solidFill>
                          <a:latin typeface="Arial"/>
                          <a:cs typeface="Arial"/>
                        </a:rPr>
                        <a:t>‪‎+‎0.0083‎ ‎AUC‬ دالة بوحدة العرض ودون العتبة؛ ‪M2‎ ‎‎−‎‎ ‎M1‎ ‎‎=‎‎ ‎‎+‎0.0643‬ (ثانوي)</a:t>
                      </a:r>
                    </a:p>
                  </a:txBody>
                  <a:tcPr anchor="ctr" marL="91440" marR="91440" marT="36576" marB="36576">
                    <a:solidFill>
                      <a:srgbClr val="EEF2F6"/>
                    </a:solidFill>
                  </a:tcPr>
                </a:tc>
                <a:tc>
                  <a:txBody>
                    <a:bodyPr wrap="square"/>
                    <a:lstStyle/>
                    <a:p>
                      <a:pPr rtl="1" algn="r"/>
                      <a:r>
                        <a:rPr sz="2000" b="1" i="0" lang="ar-SA">
                          <a:solidFill>
                            <a:srgbClr val="134E4A"/>
                          </a:solidFill>
                          <a:latin typeface="Arial"/>
                          <a:cs typeface="Arial"/>
                        </a:rPr>
                        <a:t>H4-أ</a:t>
                      </a:r>
                    </a:p>
                  </a:txBody>
                  <a:tcPr anchor="ctr" marL="91440" marR="91440" marT="36576" marB="36576">
                    <a:solidFill>
                      <a:srgbClr val="EEF2F6"/>
                    </a:solidFill>
                  </a:tcPr>
                </a:tc>
              </a:tr>
            </a:tbl>
          </a:graphicData>
        </a:graphic>
      </p:graphicFrame>
      <p:sp>
        <p:nvSpPr>
          <p:cNvPr id="4"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5"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6"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7"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results/conf2014/verdicts.csv وsecondary.csv؛ الجداول 5-8-هـ و5-22-ب و5-24-أ؛ [16]،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إيقاع الجدول الدراسي وترتيب النماذج</a:t>
            </a:r>
          </a:p>
        </p:txBody>
      </p:sp>
      <p:sp>
        <p:nvSpPr>
          <p:cNvPr id="3" name="العنوان الفرعي"/>
          <p:cNvSpPr txBox="1"/>
          <p:nvPr/>
        </p:nvSpPr>
        <p:spPr>
          <a:xfrm>
            <a:off x="548640" y="123444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0" i="0" lang="ar-SA">
                <a:solidFill>
                  <a:srgbClr val="475569"/>
                </a:solidFill>
                <a:latin typeface="Arial"/>
                <a:cs typeface="Arial"/>
              </a:rPr>
              <a:t>الشعبية الآنية في المقدمة في السنتين</a:t>
            </a:r>
          </a:p>
        </p:txBody>
      </p:sp>
      <p:sp>
        <p:nvSpPr>
          <p:cNvPr id="4" name="عنوان المخطط"/>
          <p:cNvSpPr txBox="1"/>
          <p:nvPr/>
        </p:nvSpPr>
        <p:spPr>
          <a:xfrm>
            <a:off x="548639" y="182880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NDCG@10، الموارد الجديدة، 2014</a:t>
            </a:r>
          </a:p>
        </p:txBody>
      </p:sp>
      <p:graphicFrame>
        <p:nvGraphicFramePr>
          <p:cNvPr id="5" name="مخطط أعمدة"/>
          <p:cNvGraphicFramePr>
            <a:graphicFrameLocks noGrp="1"/>
          </p:cNvGraphicFramePr>
          <p:nvPr/>
        </p:nvGraphicFramePr>
        <p:xfrm>
          <a:off x="548639" y="2286000"/>
          <a:ext cx="11094415" cy="3246120"/>
        </p:xfrm>
        <a:graphic>
          <a:graphicData uri="http://schemas.openxmlformats.org/drawingml/2006/chart">
            <c:chart xmlns:c="http://schemas.openxmlformats.org/drawingml/2006/chart" r:id="rId2"/>
          </a:graphicData>
        </a:graphic>
      </p:graphicFrame>
      <p:sp>
        <p:nvSpPr>
          <p:cNvPr id="6" name="TextBox 5"/>
          <p:cNvSpPr txBox="1"/>
          <p:nvPr/>
        </p:nvSpPr>
        <p:spPr>
          <a:xfrm>
            <a:off x="548640" y="55778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وصفي. ترتيب خطوط الأساس نفسه في التطوير 2013</a:t>
            </a:r>
          </a:p>
        </p:txBody>
      </p:sp>
      <p:sp>
        <p:nvSpPr>
          <p:cNvPr id="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10"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الجدول 5-24-أ؛ results/conf2014/summary.md وresults/dev2013/summary.md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الحداثة في ترجيح الإشارة</a:t>
            </a:r>
          </a:p>
        </p:txBody>
      </p:sp>
      <p:graphicFrame>
        <p:nvGraphicFramePr>
          <p:cNvPr id="3" name="جدول"/>
          <p:cNvGraphicFramePr>
            <a:graphicFrameLocks noGrp="1"/>
          </p:cNvGraphicFramePr>
          <p:nvPr/>
        </p:nvGraphicFramePr>
        <p:xfrm>
          <a:off x="548640" y="1463040"/>
          <a:ext cx="11094414" cy="3474720"/>
        </p:xfrm>
        <a:graphic>
          <a:graphicData uri="http://schemas.openxmlformats.org/drawingml/2006/table">
            <a:tbl>
              <a:tblPr firstRow="1" bandRow="0">
                <a:tableStyleId>{5C22544A-7EE6-4342-B048-85BDC9FD1C3A}</a:tableStyleId>
              </a:tblPr>
              <a:tblGrid>
                <a:gridCol w="3106436"/>
                <a:gridCol w="3106436"/>
                <a:gridCol w="4881542"/>
              </a:tblGrid>
              <a:tr h="868680">
                <a:tc>
                  <a:txBody>
                    <a:bodyPr wrap="square"/>
                    <a:lstStyle/>
                    <a:p>
                      <a:pPr rtl="1" algn="r"/>
                      <a:r>
                        <a:rPr sz="2400" b="1" i="0" lang="ar-SA">
                          <a:solidFill>
                            <a:srgbClr val="FFFFFF"/>
                          </a:solidFill>
                          <a:latin typeface="Arial"/>
                          <a:cs typeface="Arial"/>
                        </a:rPr>
                        <a:t>التأكيد 2014</a:t>
                      </a:r>
                    </a:p>
                  </a:txBody>
                  <a:tcPr anchor="ctr" marL="91440" marR="91440" marT="36576" marB="36576">
                    <a:solidFill>
                      <a:srgbClr val="0F766E"/>
                    </a:solidFill>
                  </a:tcPr>
                </a:tc>
                <a:tc>
                  <a:txBody>
                    <a:bodyPr wrap="square"/>
                    <a:lstStyle/>
                    <a:p>
                      <a:pPr rtl="1" algn="r"/>
                      <a:r>
                        <a:rPr sz="2400" b="1" i="0" lang="ar-SA">
                          <a:solidFill>
                            <a:srgbClr val="FFFFFF"/>
                          </a:solidFill>
                          <a:latin typeface="Arial"/>
                          <a:cs typeface="Arial"/>
                        </a:rPr>
                        <a:t>التطوير 2013</a:t>
                      </a:r>
                    </a:p>
                  </a:txBody>
                  <a:tcPr anchor="ctr" marL="91440" marR="91440" marT="36576" marB="36576">
                    <a:solidFill>
                      <a:srgbClr val="0F766E"/>
                    </a:solidFill>
                  </a:tcPr>
                </a:tc>
                <a:tc>
                  <a:txBody>
                    <a:bodyPr wrap="square"/>
                    <a:lstStyle/>
                    <a:p>
                      <a:pPr rtl="1" algn="r"/>
                      <a:r>
                        <a:rPr sz="2400" b="1" i="0" lang="ar-SA">
                          <a:solidFill>
                            <a:srgbClr val="FFFFFF"/>
                          </a:solidFill>
                          <a:latin typeface="Arial"/>
                          <a:cs typeface="Arial"/>
                        </a:rPr>
                        <a:t>WRMF، الفرق عن L0</a:t>
                      </a:r>
                    </a:p>
                  </a:txBody>
                  <a:tcPr anchor="ctr" marL="91440" marR="91440" marT="36576" marB="36576">
                    <a:solidFill>
                      <a:srgbClr val="0F766E"/>
                    </a:solidFill>
                  </a:tcPr>
                </a:tc>
              </a:tr>
              <a:tr h="868680">
                <a:tc>
                  <a:txBody>
                    <a:bodyPr wrap="square"/>
                    <a:lstStyle/>
                    <a:p>
                      <a:pPr rtl="1" algn="r"/>
                      <a:r>
                        <a:rPr sz="2400" b="0" i="0" lang="ar-SA">
                          <a:solidFill>
                            <a:srgbClr val="134E4A"/>
                          </a:solidFill>
                          <a:latin typeface="Arial"/>
                          <a:cs typeface="Arial"/>
                        </a:rPr>
                        <a:t>‪‎+‎0.0035‬</a:t>
                      </a:r>
                    </a:p>
                  </a:txBody>
                  <a:tcPr anchor="ctr" marL="91440" marR="91440" marT="36576" marB="36576">
                    <a:solidFill>
                      <a:srgbClr val="FFFFFF"/>
                    </a:solidFill>
                  </a:tcPr>
                </a:tc>
                <a:tc>
                  <a:txBody>
                    <a:bodyPr wrap="square"/>
                    <a:lstStyle/>
                    <a:p>
                      <a:pPr rtl="1" algn="r"/>
                      <a:r>
                        <a:rPr sz="2400" b="0" i="0" lang="ar-SA">
                          <a:solidFill>
                            <a:srgbClr val="134E4A"/>
                          </a:solidFill>
                          <a:latin typeface="Arial"/>
                          <a:cs typeface="Arial"/>
                        </a:rPr>
                        <a:t>‪‎+‎0.0003‬</a:t>
                      </a:r>
                    </a:p>
                  </a:txBody>
                  <a:tcPr anchor="ctr" marL="91440" marR="91440" marT="36576" marB="36576">
                    <a:solidFill>
                      <a:srgbClr val="FFFFFF"/>
                    </a:solidFill>
                  </a:tcPr>
                </a:tc>
                <a:tc>
                  <a:txBody>
                    <a:bodyPr wrap="square"/>
                    <a:lstStyle/>
                    <a:p>
                      <a:pPr rtl="1" algn="r"/>
                      <a:r>
                        <a:rPr sz="2400" b="1" i="0" lang="ar-SA">
                          <a:solidFill>
                            <a:srgbClr val="134E4A"/>
                          </a:solidFill>
                          <a:latin typeface="Arial"/>
                          <a:cs typeface="Arial"/>
                        </a:rPr>
                        <a:t>L1 عدد الأيام</a:t>
                      </a:r>
                    </a:p>
                  </a:txBody>
                  <a:tcPr anchor="ctr" marL="91440" marR="91440" marT="36576" marB="36576">
                    <a:solidFill>
                      <a:srgbClr val="FFFFFF"/>
                    </a:solidFill>
                  </a:tcPr>
                </a:tc>
              </a:tr>
              <a:tr h="868680">
                <a:tc>
                  <a:txBody>
                    <a:bodyPr wrap="square"/>
                    <a:lstStyle/>
                    <a:p>
                      <a:pPr rtl="1" algn="r"/>
                      <a:r>
                        <a:rPr sz="2400" b="1" i="0" lang="ar-SA">
                          <a:solidFill>
                            <a:srgbClr val="92400E"/>
                          </a:solidFill>
                          <a:latin typeface="Arial"/>
                          <a:cs typeface="Arial"/>
                        </a:rPr>
                        <a:t>‪‎+‎0.0406‬</a:t>
                      </a:r>
                    </a:p>
                  </a:txBody>
                  <a:tcPr anchor="ctr" marL="91440" marR="91440" marT="36576" marB="36576">
                    <a:solidFill>
                      <a:srgbClr val="FEF3C7"/>
                    </a:solidFill>
                  </a:tcPr>
                </a:tc>
                <a:tc>
                  <a:txBody>
                    <a:bodyPr wrap="square"/>
                    <a:lstStyle/>
                    <a:p>
                      <a:pPr rtl="1" algn="r"/>
                      <a:r>
                        <a:rPr sz="2400" b="1" i="0" lang="ar-SA">
                          <a:solidFill>
                            <a:srgbClr val="92400E"/>
                          </a:solidFill>
                          <a:latin typeface="Arial"/>
                          <a:cs typeface="Arial"/>
                        </a:rPr>
                        <a:t>‪‎+‎0.0409‬</a:t>
                      </a:r>
                    </a:p>
                  </a:txBody>
                  <a:tcPr anchor="ctr" marL="91440" marR="91440" marT="36576" marB="36576">
                    <a:solidFill>
                      <a:srgbClr val="FEF3C7"/>
                    </a:solidFill>
                  </a:tcPr>
                </a:tc>
                <a:tc>
                  <a:txBody>
                    <a:bodyPr wrap="square"/>
                    <a:lstStyle/>
                    <a:p>
                      <a:pPr rtl="1" algn="r"/>
                      <a:r>
                        <a:rPr sz="2400" b="1" i="0" lang="ar-SA">
                          <a:solidFill>
                            <a:srgbClr val="92400E"/>
                          </a:solidFill>
                          <a:latin typeface="Arial"/>
                          <a:cs typeface="Arial"/>
                        </a:rPr>
                        <a:t>L2 مع الحداثة</a:t>
                      </a:r>
                    </a:p>
                  </a:txBody>
                  <a:tcPr anchor="ctr" marL="91440" marR="91440" marT="36576" marB="36576">
                    <a:solidFill>
                      <a:srgbClr val="FEF3C7"/>
                    </a:solidFill>
                  </a:tcPr>
                </a:tc>
              </a:tr>
              <a:tr h="868680">
                <a:tc>
                  <a:txBody>
                    <a:bodyPr wrap="square"/>
                    <a:lstStyle/>
                    <a:p>
                      <a:pPr rtl="1" algn="r"/>
                      <a:r>
                        <a:rPr sz="2400" b="0" i="0" lang="ar-SA">
                          <a:solidFill>
                            <a:srgbClr val="134E4A"/>
                          </a:solidFill>
                          <a:latin typeface="Arial"/>
                          <a:cs typeface="Arial"/>
                        </a:rPr>
                        <a:t>‪‎+‎0.0446‬</a:t>
                      </a:r>
                    </a:p>
                  </a:txBody>
                  <a:tcPr anchor="ctr" marL="91440" marR="91440" marT="36576" marB="36576">
                    <a:solidFill>
                      <a:srgbClr val="FFFFFF"/>
                    </a:solidFill>
                  </a:tcPr>
                </a:tc>
                <a:tc>
                  <a:txBody>
                    <a:bodyPr wrap="square"/>
                    <a:lstStyle/>
                    <a:p>
                      <a:pPr rtl="1" algn="r"/>
                      <a:r>
                        <a:rPr sz="2400" b="0" i="0" lang="ar-SA">
                          <a:solidFill>
                            <a:srgbClr val="134E4A"/>
                          </a:solidFill>
                          <a:latin typeface="Arial"/>
                          <a:cs typeface="Arial"/>
                        </a:rPr>
                        <a:t>‪‎+‎0.0525‬</a:t>
                      </a:r>
                    </a:p>
                  </a:txBody>
                  <a:tcPr anchor="ctr" marL="91440" marR="91440" marT="36576" marB="36576">
                    <a:solidFill>
                      <a:srgbClr val="FFFFFF"/>
                    </a:solidFill>
                  </a:tcPr>
                </a:tc>
                <a:tc>
                  <a:txBody>
                    <a:bodyPr wrap="square"/>
                    <a:lstStyle/>
                    <a:p>
                      <a:pPr rtl="1" algn="r"/>
                      <a:r>
                        <a:rPr sz="2400" b="1" i="0" lang="ar-SA">
                          <a:solidFill>
                            <a:srgbClr val="134E4A"/>
                          </a:solidFill>
                          <a:latin typeface="Arial"/>
                          <a:cs typeface="Arial"/>
                        </a:rPr>
                        <a:t>L3 مع الشدة</a:t>
                      </a:r>
                    </a:p>
                  </a:txBody>
                  <a:tcPr anchor="ctr" marL="91440" marR="91440" marT="36576" marB="36576">
                    <a:solidFill>
                      <a:srgbClr val="FFFFFF"/>
                    </a:solidFill>
                  </a:tcPr>
                </a:tc>
              </a:tr>
            </a:tbl>
          </a:graphicData>
        </a:graphic>
      </p:graphicFrame>
      <p:sp>
        <p:nvSpPr>
          <p:cNvPr id="4" name="TextBox 3"/>
          <p:cNvSpPr txBox="1"/>
          <p:nvPr/>
        </p:nvSpPr>
        <p:spPr>
          <a:xfrm>
            <a:off x="548640" y="502920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0" i="0" lang="ar-SA">
                <a:solidFill>
                  <a:srgbClr val="475569"/>
                </a:solidFill>
                <a:latin typeface="Arial"/>
                <a:cs typeface="Arial"/>
              </a:rPr>
              <a:t>وصفي، خارج عائلة هولم</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الجدول 5-21؛ ablation_signals.csv في results/dev2013 وresults/conf2014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مصدر مكسب الشخصنة</a:t>
            </a:r>
          </a:p>
        </p:txBody>
      </p:sp>
      <p:sp>
        <p:nvSpPr>
          <p:cNvPr id="3" name="العنوان الفرعي"/>
          <p:cNvSpPr txBox="1"/>
          <p:nvPr/>
        </p:nvSpPr>
        <p:spPr>
          <a:xfrm>
            <a:off x="548640" y="123444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0" i="0" lang="ar-SA">
                <a:solidFill>
                  <a:srgbClr val="475569"/>
                </a:solidFill>
                <a:latin typeface="Arial"/>
                <a:cs typeface="Arial"/>
              </a:rPr>
              <a:t>مكسب SKNN يعتمد على قصره على سلال الأقران الحديثة</a:t>
            </a:r>
          </a:p>
        </p:txBody>
      </p:sp>
      <p:sp>
        <p:nvSpPr>
          <p:cNvPr id="4" name="بطاقة رقم"/>
          <p:cNvSpPr/>
          <p:nvPr/>
        </p:nvSpPr>
        <p:spPr>
          <a:xfrm>
            <a:off x="8127796" y="1828800"/>
            <a:ext cx="3515258" cy="3474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كبير"/>
          <p:cNvSpPr txBox="1"/>
          <p:nvPr/>
        </p:nvSpPr>
        <p:spPr>
          <a:xfrm>
            <a:off x="8219236" y="1938528"/>
            <a:ext cx="3332378" cy="1563624"/>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400" b="1" i="0" lang="ar-SA">
                <a:solidFill>
                  <a:srgbClr val="0F766E"/>
                </a:solidFill>
                <a:latin typeface="Arial"/>
                <a:cs typeface="Arial"/>
              </a:rPr>
              <a:t>‪‎+‎0.0097‬</a:t>
            </a:r>
          </a:p>
        </p:txBody>
      </p:sp>
      <p:sp>
        <p:nvSpPr>
          <p:cNvPr id="6" name="TextBox 5"/>
          <p:cNvSpPr txBox="1"/>
          <p:nvPr/>
        </p:nvSpPr>
        <p:spPr>
          <a:xfrm>
            <a:off x="8310676" y="3502152"/>
            <a:ext cx="3149498" cy="1728216"/>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‪‎[‎‎+‎0.0028‎،‎‎ ‎‎+‎0.0156‎]‎‬</a:t>
            </a:r>
          </a:p>
          <a:p>
            <a:pPr rtl="1" algn="ctr">
              <a:lnSpc>
                <a:spcPct val="110000"/>
              </a:lnSpc>
              <a:spcBef>
                <a:spcPts val="0"/>
              </a:spcBef>
              <a:spcAft>
                <a:spcPts val="200"/>
              </a:spcAft>
            </a:pPr>
            <a:r>
              <a:rPr sz="1800" b="0" i="0" lang="ar-SA">
                <a:solidFill>
                  <a:srgbClr val="475569"/>
                </a:solidFill>
                <a:latin typeface="Arial"/>
                <a:cs typeface="Arial"/>
              </a:rPr>
              <a:t>أحدث السلال (12/13)</a:t>
            </a:r>
          </a:p>
        </p:txBody>
      </p:sp>
      <p:sp>
        <p:nvSpPr>
          <p:cNvPr id="7" name="بطاقة رقم"/>
          <p:cNvSpPr/>
          <p:nvPr/>
        </p:nvSpPr>
        <p:spPr>
          <a:xfrm>
            <a:off x="4338218" y="1828800"/>
            <a:ext cx="3515258" cy="3474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كبير"/>
          <p:cNvSpPr txBox="1"/>
          <p:nvPr/>
        </p:nvSpPr>
        <p:spPr>
          <a:xfrm>
            <a:off x="4429658" y="1938528"/>
            <a:ext cx="3332378" cy="1563624"/>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400" b="1" i="0" lang="ar-SA">
                <a:solidFill>
                  <a:srgbClr val="0F766E"/>
                </a:solidFill>
                <a:latin typeface="Arial"/>
                <a:cs typeface="Arial"/>
              </a:rPr>
              <a:t>‪‎−‎0.0158‬</a:t>
            </a:r>
          </a:p>
        </p:txBody>
      </p:sp>
      <p:sp>
        <p:nvSpPr>
          <p:cNvPr id="9" name="TextBox 8"/>
          <p:cNvSpPr txBox="1"/>
          <p:nvPr/>
        </p:nvSpPr>
        <p:spPr>
          <a:xfrm>
            <a:off x="4521098" y="3502152"/>
            <a:ext cx="3149498" cy="1728216"/>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‪‎[‎‎−‎0.0323‎،‎‎ ‎‎−‎0.0033‎]‎‬</a:t>
            </a:r>
          </a:p>
          <a:p>
            <a:pPr rtl="1" algn="ctr">
              <a:lnSpc>
                <a:spcPct val="110000"/>
              </a:lnSpc>
              <a:spcBef>
                <a:spcPts val="0"/>
              </a:spcBef>
              <a:spcAft>
                <a:spcPts val="200"/>
              </a:spcAft>
            </a:pPr>
            <a:r>
              <a:rPr sz="1800" b="0" i="0" lang="ar-SA">
                <a:solidFill>
                  <a:srgbClr val="475569"/>
                </a:solidFill>
                <a:latin typeface="Arial"/>
                <a:cs typeface="Arial"/>
              </a:rPr>
              <a:t>كل السلال، بالأرضية (4/13)</a:t>
            </a:r>
          </a:p>
        </p:txBody>
      </p:sp>
      <p:sp>
        <p:nvSpPr>
          <p:cNvPr id="10" name="بطاقة رقم"/>
          <p:cNvSpPr/>
          <p:nvPr/>
        </p:nvSpPr>
        <p:spPr>
          <a:xfrm>
            <a:off x="548639" y="1828800"/>
            <a:ext cx="3515258" cy="34747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كبير"/>
          <p:cNvSpPr txBox="1"/>
          <p:nvPr/>
        </p:nvSpPr>
        <p:spPr>
          <a:xfrm>
            <a:off x="640079" y="1938528"/>
            <a:ext cx="3332378" cy="1563624"/>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400" b="1" i="0" lang="ar-SA">
                <a:solidFill>
                  <a:srgbClr val="0F766E"/>
                </a:solidFill>
                <a:latin typeface="Arial"/>
                <a:cs typeface="Arial"/>
              </a:rPr>
              <a:t>‪‎−‎0.0004‬</a:t>
            </a:r>
          </a:p>
        </p:txBody>
      </p:sp>
      <p:sp>
        <p:nvSpPr>
          <p:cNvPr id="12" name="TextBox 11"/>
          <p:cNvSpPr txBox="1"/>
          <p:nvPr/>
        </p:nvSpPr>
        <p:spPr>
          <a:xfrm>
            <a:off x="731519" y="3502152"/>
            <a:ext cx="3149498" cy="1728216"/>
          </a:xfrm>
          <a:prstGeom prst="rect">
            <a:avLst/>
          </a:prstGeom>
          <a:noFill/>
        </p:spPr>
        <p:txBody>
          <a:bodyPr wrap="square" lIns="45720" rIns="45720" tIns="27432" bIns="27432" anchor="t">
            <a:spAutoFit/>
          </a:bodyPr>
          <a:lstStyle/>
          <a:p>
            <a:pPr rtl="1" algn="ctr">
              <a:lnSpc>
                <a:spcPct val="110000"/>
              </a:lnSpc>
              <a:spcBef>
                <a:spcPts val="0"/>
              </a:spcBef>
              <a:spcAft>
                <a:spcPts val="200"/>
              </a:spcAft>
            </a:pPr>
            <a:r>
              <a:rPr sz="1800" b="0" i="0" lang="ar-SA">
                <a:solidFill>
                  <a:srgbClr val="475569"/>
                </a:solidFill>
                <a:latin typeface="Arial"/>
                <a:cs typeface="Arial"/>
              </a:rPr>
              <a:t>كل السلال، دون أرضية</a:t>
            </a:r>
          </a:p>
        </p:txBody>
      </p:sp>
      <p:sp>
        <p:nvSpPr>
          <p:cNvPr id="13" name="TextBox 12"/>
          <p:cNvSpPr txBox="1"/>
          <p:nvPr/>
        </p:nvSpPr>
        <p:spPr>
          <a:xfrm>
            <a:off x="548640" y="53766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الهجين − شعبية العنقود، 2014</a:t>
            </a:r>
          </a:p>
        </p:txBody>
      </p:sp>
      <p:sp>
        <p:nvSpPr>
          <p:cNvPr id="14"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5"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6"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17"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results/posthoc/a6_personalization_mall.csv وa12_symmetric_info.csv؛ الجدولان 5-20-أ وهـ-7</a:t>
            </a:r>
          </a:p>
        </p:txBody>
      </p:sp>
      <p:sp>
        <p:nvSpPr>
          <p:cNvPr id="18" name="وسم"/>
          <p:cNvSpPr/>
          <p:nvPr/>
        </p:nvSpPr>
        <p:spPr>
          <a:xfrm>
            <a:off x="548640" y="566928"/>
            <a:ext cx="1956816" cy="42062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92400E"/>
                </a:solidFill>
                <a:latin typeface="Arial"/>
                <a:cs typeface="Arial"/>
              </a:rPr>
              <a:t>لاحق، استكشافي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متانة الأحكام وحدود التصميم</a:t>
            </a:r>
          </a:p>
        </p:txBody>
      </p:sp>
      <p:graphicFrame>
        <p:nvGraphicFramePr>
          <p:cNvPr id="3" name="جدول"/>
          <p:cNvGraphicFramePr>
            <a:graphicFrameLocks noGrp="1"/>
          </p:cNvGraphicFramePr>
          <p:nvPr/>
        </p:nvGraphicFramePr>
        <p:xfrm>
          <a:off x="548640" y="1463040"/>
          <a:ext cx="11094413" cy="3657600"/>
        </p:xfrm>
        <a:graphic>
          <a:graphicData uri="http://schemas.openxmlformats.org/drawingml/2006/table">
            <a:tbl>
              <a:tblPr firstRow="1" bandRow="0">
                <a:tableStyleId>{5C22544A-7EE6-4342-B048-85BDC9FD1C3A}</a:tableStyleId>
              </a:tblPr>
              <a:tblGrid>
                <a:gridCol w="3993989"/>
                <a:gridCol w="3550212"/>
                <a:gridCol w="1775106"/>
                <a:gridCol w="1775106"/>
              </a:tblGrid>
              <a:tr h="731520">
                <a:tc>
                  <a:txBody>
                    <a:bodyPr wrap="square"/>
                    <a:lstStyle/>
                    <a:p>
                      <a:pPr rtl="1" algn="r"/>
                      <a:r>
                        <a:rPr sz="2000" b="1" i="0" lang="ar-SA">
                          <a:solidFill>
                            <a:srgbClr val="FFFFFF"/>
                          </a:solidFill>
                          <a:latin typeface="Arial"/>
                          <a:cs typeface="Arial"/>
                        </a:rPr>
                        <a:t>فاصل 98.75% (لاحق)</a:t>
                      </a:r>
                    </a:p>
                  </a:txBody>
                  <a:tcPr anchor="ctr" marL="91440" marR="91440" marT="36576" marB="36576">
                    <a:solidFill>
                      <a:srgbClr val="0F766E"/>
                    </a:solidFill>
                  </a:tcPr>
                </a:tc>
                <a:tc>
                  <a:txBody>
                    <a:bodyPr wrap="square"/>
                    <a:lstStyle/>
                    <a:p>
                      <a:pPr rtl="1" algn="r"/>
                      <a:r>
                        <a:rPr sz="2000" b="1" i="0" lang="ar-SA">
                          <a:solidFill>
                            <a:srgbClr val="FFFFFF"/>
                          </a:solidFill>
                          <a:latin typeface="Arial"/>
                          <a:cs typeface="Arial"/>
                        </a:rPr>
                        <a:t>العتبة ‪0.015‎–‎0.025‬ (لاحق)</a:t>
                      </a:r>
                    </a:p>
                  </a:txBody>
                  <a:tcPr anchor="ctr" marL="91440" marR="91440" marT="36576" marB="36576">
                    <a:solidFill>
                      <a:srgbClr val="0F766E"/>
                    </a:solidFill>
                  </a:tcPr>
                </a:tc>
                <a:tc>
                  <a:txBody>
                    <a:bodyPr wrap="square"/>
                    <a:lstStyle/>
                    <a:p>
                      <a:pPr rtl="1" algn="r"/>
                      <a:r>
                        <a:rPr sz="2000" b="1" i="0" lang="ar-SA">
                          <a:solidFill>
                            <a:srgbClr val="FFFFFF"/>
                          </a:solidFill>
                          <a:latin typeface="Arial"/>
                          <a:cs typeface="Arial"/>
                        </a:rPr>
                        <a:t>‪MDE80‎ ‎‎/‎‎ ‎δ‬</a:t>
                      </a:r>
                    </a:p>
                  </a:txBody>
                  <a:tcPr anchor="ctr" marL="91440" marR="91440" marT="36576" marB="36576">
                    <a:solidFill>
                      <a:srgbClr val="0F766E"/>
                    </a:solidFill>
                  </a:tcPr>
                </a:tc>
                <a:tc>
                  <a:txBody>
                    <a:bodyPr wrap="square"/>
                    <a:lstStyle/>
                    <a:p>
                      <a:pPr rtl="1" algn="r"/>
                      <a:r>
                        <a:rPr sz="20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2000" b="0" i="0" lang="ar-SA">
                          <a:solidFill>
                            <a:srgbClr val="134E4A"/>
                          </a:solidFill>
                          <a:latin typeface="Arial"/>
                          <a:cs typeface="Arial"/>
                        </a:rPr>
                        <a:t>غير حاسمة، الحد الأعلى 0.035</a:t>
                      </a:r>
                    </a:p>
                  </a:txBody>
                  <a:tcPr anchor="ctr" marL="91440" marR="91440" marT="36576" marB="36576">
                    <a:solidFill>
                      <a:srgbClr val="FFFFFF"/>
                    </a:solidFill>
                  </a:tcPr>
                </a:tc>
                <a:tc>
                  <a:txBody>
                    <a:bodyPr wrap="square"/>
                    <a:lstStyle/>
                    <a:p>
                      <a:pPr rtl="1" algn="r"/>
                      <a:r>
                        <a:rPr sz="2000" b="0" i="0" lang="ar-SA">
                          <a:solidFill>
                            <a:srgbClr val="134E4A"/>
                          </a:solidFill>
                          <a:latin typeface="Arial"/>
                          <a:cs typeface="Arial"/>
                        </a:rPr>
                        <a:t>يتغير الحكم</a:t>
                      </a:r>
                    </a:p>
                  </a:txBody>
                  <a:tcPr anchor="ctr" marL="91440" marR="91440" marT="36576" marB="36576">
                    <a:solidFill>
                      <a:srgbClr val="FFFFFF"/>
                    </a:solidFill>
                  </a:tcPr>
                </a:tc>
                <a:tc>
                  <a:txBody>
                    <a:bodyPr wrap="square"/>
                    <a:lstStyle/>
                    <a:p>
                      <a:pPr rtl="1" algn="r"/>
                      <a:r>
                        <a:rPr sz="2000" b="0" i="0" lang="ar-SA">
                          <a:solidFill>
                            <a:srgbClr val="134E4A"/>
                          </a:solidFill>
                          <a:latin typeface="Arial"/>
                          <a:cs typeface="Arial"/>
                        </a:rPr>
                        <a:t>‪1.87‬</a:t>
                      </a:r>
                    </a:p>
                  </a:txBody>
                  <a:tcPr anchor="ctr" marL="91440" marR="91440" marT="36576" marB="36576">
                    <a:solidFill>
                      <a:srgbClr val="FFFFFF"/>
                    </a:solidFill>
                  </a:tcPr>
                </a:tc>
                <a:tc>
                  <a:txBody>
                    <a:bodyPr wrap="square"/>
                    <a:lstStyle/>
                    <a:p>
                      <a:pPr rtl="1" algn="r"/>
                      <a:r>
                        <a:rPr sz="2000" b="1" i="0" lang="ar-SA">
                          <a:solidFill>
                            <a:srgbClr val="134E4A"/>
                          </a:solidFill>
                          <a:latin typeface="Arial"/>
                          <a:cs typeface="Arial"/>
                        </a:rPr>
                        <a:t>‪H1‬</a:t>
                      </a:r>
                    </a:p>
                  </a:txBody>
                  <a:tcPr anchor="ctr" marL="91440" marR="91440" marT="36576" marB="36576">
                    <a:solidFill>
                      <a:srgbClr val="FFFFFF"/>
                    </a:solidFill>
                  </a:tcPr>
                </a:tc>
              </a:tr>
              <a:tr h="731520">
                <a:tc>
                  <a:txBody>
                    <a:bodyPr wrap="square"/>
                    <a:lstStyle/>
                    <a:p>
                      <a:pPr rtl="1" algn="r"/>
                      <a:r>
                        <a:rPr sz="2000" b="0" i="0" lang="ar-SA">
                          <a:solidFill>
                            <a:srgbClr val="134E4A"/>
                          </a:solidFill>
                          <a:latin typeface="Arial"/>
                          <a:cs typeface="Arial"/>
                        </a:rPr>
                        <a:t>مؤكَّدة</a:t>
                      </a:r>
                    </a:p>
                  </a:txBody>
                  <a:tcPr anchor="ctr" marL="91440" marR="91440" marT="36576" marB="36576">
                    <a:solidFill>
                      <a:srgbClr val="EEF2F6"/>
                    </a:solidFill>
                  </a:tcPr>
                </a:tc>
                <a:tc>
                  <a:txBody>
                    <a:bodyPr wrap="square"/>
                    <a:lstStyle/>
                    <a:p>
                      <a:pPr rtl="1" algn="r"/>
                      <a:r>
                        <a:rPr sz="2000" b="0" i="0" lang="ar-SA">
                          <a:solidFill>
                            <a:srgbClr val="134E4A"/>
                          </a:solidFill>
                          <a:latin typeface="Arial"/>
                          <a:cs typeface="Arial"/>
                        </a:rPr>
                        <a:t>ثابت</a:t>
                      </a:r>
                    </a:p>
                  </a:txBody>
                  <a:tcPr anchor="ctr" marL="91440" marR="91440" marT="36576" marB="36576">
                    <a:solidFill>
                      <a:srgbClr val="EEF2F6"/>
                    </a:solidFill>
                  </a:tcPr>
                </a:tc>
                <a:tc>
                  <a:txBody>
                    <a:bodyPr wrap="square"/>
                    <a:lstStyle/>
                    <a:p>
                      <a:pPr rtl="1" algn="r"/>
                      <a:r>
                        <a:rPr sz="2000" b="0" i="0" lang="ar-SA">
                          <a:solidFill>
                            <a:srgbClr val="134E4A"/>
                          </a:solidFill>
                          <a:latin typeface="Arial"/>
                          <a:cs typeface="Arial"/>
                        </a:rPr>
                        <a:t>‪2.25‬</a:t>
                      </a:r>
                    </a:p>
                  </a:txBody>
                  <a:tcPr anchor="ctr" marL="91440" marR="91440" marT="36576" marB="36576">
                    <a:solidFill>
                      <a:srgbClr val="EEF2F6"/>
                    </a:solidFill>
                  </a:tcPr>
                </a:tc>
                <a:tc>
                  <a:txBody>
                    <a:bodyPr wrap="square"/>
                    <a:lstStyle/>
                    <a:p>
                      <a:pPr rtl="1" algn="r"/>
                      <a:r>
                        <a:rPr sz="2000" b="1" i="0" lang="ar-SA">
                          <a:solidFill>
                            <a:srgbClr val="134E4A"/>
                          </a:solidFill>
                          <a:latin typeface="Arial"/>
                          <a:cs typeface="Arial"/>
                        </a:rPr>
                        <a:t>H2-أ</a:t>
                      </a:r>
                    </a:p>
                  </a:txBody>
                  <a:tcPr anchor="ctr" marL="91440" marR="91440" marT="36576" marB="36576">
                    <a:solidFill>
                      <a:srgbClr val="EEF2F6"/>
                    </a:solidFill>
                  </a:tcPr>
                </a:tc>
              </a:tr>
              <a:tr h="731520">
                <a:tc>
                  <a:txBody>
                    <a:bodyPr wrap="square"/>
                    <a:lstStyle/>
                    <a:p>
                      <a:pPr rtl="1" algn="r"/>
                      <a:r>
                        <a:rPr sz="20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2000" b="0" i="0" lang="ar-SA">
                          <a:solidFill>
                            <a:srgbClr val="134E4A"/>
                          </a:solidFill>
                          <a:latin typeface="Arial"/>
                          <a:cs typeface="Arial"/>
                        </a:rPr>
                        <a:t>ثابت</a:t>
                      </a:r>
                    </a:p>
                  </a:txBody>
                  <a:tcPr anchor="ctr" marL="91440" marR="91440" marT="36576" marB="36576">
                    <a:solidFill>
                      <a:srgbClr val="FFFFFF"/>
                    </a:solidFill>
                  </a:tcPr>
                </a:tc>
                <a:tc>
                  <a:txBody>
                    <a:bodyPr wrap="square"/>
                    <a:lstStyle/>
                    <a:p>
                      <a:pPr rtl="1" algn="r"/>
                      <a:r>
                        <a:rPr sz="2000" b="0" i="0" lang="ar-SA">
                          <a:solidFill>
                            <a:srgbClr val="134E4A"/>
                          </a:solidFill>
                          <a:latin typeface="Arial"/>
                          <a:cs typeface="Arial"/>
                        </a:rPr>
                        <a:t>‪2.50‬</a:t>
                      </a:r>
                    </a:p>
                  </a:txBody>
                  <a:tcPr anchor="ctr" marL="91440" marR="91440" marT="36576" marB="36576">
                    <a:solidFill>
                      <a:srgbClr val="FFFFFF"/>
                    </a:solidFill>
                  </a:tcPr>
                </a:tc>
                <a:tc>
                  <a:txBody>
                    <a:bodyPr wrap="square"/>
                    <a:lstStyle/>
                    <a:p>
                      <a:pPr rtl="1" algn="r"/>
                      <a:r>
                        <a:rPr sz="2000" b="1" i="0" lang="ar-SA">
                          <a:solidFill>
                            <a:srgbClr val="134E4A"/>
                          </a:solidFill>
                          <a:latin typeface="Arial"/>
                          <a:cs typeface="Arial"/>
                        </a:rPr>
                        <a:t>‪H3‬</a:t>
                      </a:r>
                    </a:p>
                  </a:txBody>
                  <a:tcPr anchor="ctr" marL="91440" marR="91440" marT="36576" marB="36576">
                    <a:solidFill>
                      <a:srgbClr val="FFFFFF"/>
                    </a:solidFill>
                  </a:tcPr>
                </a:tc>
              </a:tr>
              <a:tr h="731520">
                <a:tc>
                  <a:txBody>
                    <a:bodyPr wrap="square"/>
                    <a:lstStyle/>
                    <a:p>
                      <a:pPr rtl="1" algn="r"/>
                      <a:r>
                        <a:rPr sz="20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2000" b="0" i="0" lang="ar-SA">
                          <a:solidFill>
                            <a:srgbClr val="134E4A"/>
                          </a:solidFill>
                          <a:latin typeface="Arial"/>
                          <a:cs typeface="Arial"/>
                        </a:rPr>
                        <a:t>ثابت</a:t>
                      </a:r>
                    </a:p>
                  </a:txBody>
                  <a:tcPr anchor="ctr" marL="91440" marR="91440" marT="36576" marB="36576">
                    <a:solidFill>
                      <a:srgbClr val="EEF2F6"/>
                    </a:solidFill>
                  </a:tcPr>
                </a:tc>
                <a:tc>
                  <a:txBody>
                    <a:bodyPr wrap="square"/>
                    <a:lstStyle/>
                    <a:p>
                      <a:pPr rtl="1" algn="r"/>
                      <a:r>
                        <a:rPr sz="2000" b="0" i="0" lang="ar-SA">
                          <a:solidFill>
                            <a:srgbClr val="134E4A"/>
                          </a:solidFill>
                          <a:latin typeface="Arial"/>
                          <a:cs typeface="Arial"/>
                        </a:rPr>
                        <a:t>‪1.12‬</a:t>
                      </a:r>
                    </a:p>
                  </a:txBody>
                  <a:tcPr anchor="ctr" marL="91440" marR="91440" marT="36576" marB="36576">
                    <a:solidFill>
                      <a:srgbClr val="EEF2F6"/>
                    </a:solidFill>
                  </a:tcPr>
                </a:tc>
                <a:tc>
                  <a:txBody>
                    <a:bodyPr wrap="square"/>
                    <a:lstStyle/>
                    <a:p>
                      <a:pPr rtl="1" algn="r"/>
                      <a:r>
                        <a:rPr sz="2000" b="1" i="0" lang="ar-SA">
                          <a:solidFill>
                            <a:srgbClr val="134E4A"/>
                          </a:solidFill>
                          <a:latin typeface="Arial"/>
                          <a:cs typeface="Arial"/>
                        </a:rPr>
                        <a:t>H4-أ</a:t>
                      </a:r>
                    </a:p>
                  </a:txBody>
                  <a:tcPr anchor="ctr" marL="91440" marR="91440" marT="36576" marB="36576">
                    <a:solidFill>
                      <a:srgbClr val="EEF2F6"/>
                    </a:solidFill>
                  </a:tcPr>
                </a:tc>
              </a:tr>
            </a:tbl>
          </a:graphicData>
        </a:graphic>
      </p:graphicFrame>
      <p:sp>
        <p:nvSpPr>
          <p:cNvPr id="4" name="TextBox 3"/>
          <p:cNvSpPr txBox="1"/>
          <p:nvPr/>
        </p:nvSpPr>
        <p:spPr>
          <a:xfrm>
            <a:off x="548640" y="521208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0" i="0" lang="ar-SA">
                <a:solidFill>
                  <a:srgbClr val="475569"/>
                </a:solidFill>
                <a:latin typeface="Arial"/>
                <a:cs typeface="Arial"/>
              </a:rPr>
              <a:t>تفاؤل الانتقاء صغير: ‪‎+‎0.0176‬ بترك عرض خارجاً مقابل ‪‎+‎0.0196‬ داخل العينة (2013، لاحق)</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الجدول 5-17 (mde80_frozen.md)؛ الجداول هـ-4 وهـ-8 وهـ-9 (‪results‎/‎posthoc‎/‎‬)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هل يوجد مسار أوعد؟</a:t>
            </a:r>
          </a:p>
        </p:txBody>
      </p:sp>
      <p:sp>
        <p:nvSpPr>
          <p:cNvPr id="3" name="العنوان الفرعي"/>
          <p:cNvSpPr txBox="1"/>
          <p:nvPr/>
        </p:nvSpPr>
        <p:spPr>
          <a:xfrm>
            <a:off x="548640" y="123444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0" i="0" lang="ar-SA">
                <a:solidFill>
                  <a:srgbClr val="475569"/>
                </a:solidFill>
                <a:latin typeface="Arial"/>
                <a:cs typeface="Arial"/>
              </a:rPr>
              <a:t>لم يتجاوز أي مسار مختبَر الشعبية الآنية؛ الأوعد يبدأ منها</a:t>
            </a:r>
          </a:p>
        </p:txBody>
      </p:sp>
      <p:graphicFrame>
        <p:nvGraphicFramePr>
          <p:cNvPr id="4" name="جدول"/>
          <p:cNvGraphicFramePr>
            <a:graphicFrameLocks noGrp="1"/>
          </p:cNvGraphicFramePr>
          <p:nvPr/>
        </p:nvGraphicFramePr>
        <p:xfrm>
          <a:off x="548640" y="1828800"/>
          <a:ext cx="11094415" cy="4023355"/>
        </p:xfrm>
        <a:graphic>
          <a:graphicData uri="http://schemas.openxmlformats.org/drawingml/2006/table">
            <a:tbl>
              <a:tblPr firstRow="1" bandRow="0">
                <a:tableStyleId>{5C22544A-7EE6-4342-B048-85BDC9FD1C3A}</a:tableStyleId>
              </a:tblPr>
              <a:tblGrid>
                <a:gridCol w="6656649"/>
                <a:gridCol w="4437766"/>
              </a:tblGrid>
              <a:tr h="574765">
                <a:tc>
                  <a:txBody>
                    <a:bodyPr wrap="square"/>
                    <a:lstStyle/>
                    <a:p>
                      <a:pPr rtl="1" algn="r"/>
                      <a:r>
                        <a:rPr sz="1700" b="1" i="0" lang="ar-SA">
                          <a:solidFill>
                            <a:srgbClr val="FFFFFF"/>
                          </a:solidFill>
                          <a:latin typeface="Arial"/>
                          <a:cs typeface="Arial"/>
                        </a:rPr>
                        <a:t>شاهده</a:t>
                      </a:r>
                    </a:p>
                  </a:txBody>
                  <a:tcPr anchor="ctr" marL="91440" marR="91440" marT="36576" marB="36576">
                    <a:solidFill>
                      <a:srgbClr val="0F766E"/>
                    </a:solidFill>
                  </a:tcPr>
                </a:tc>
                <a:tc>
                  <a:txBody>
                    <a:bodyPr wrap="square"/>
                    <a:lstStyle/>
                    <a:p>
                      <a:pPr rtl="1" algn="r"/>
                      <a:r>
                        <a:rPr sz="1700" b="1" i="0" lang="ar-SA">
                          <a:solidFill>
                            <a:srgbClr val="FFFFFF"/>
                          </a:solidFill>
                          <a:latin typeface="Arial"/>
                          <a:cs typeface="Arial"/>
                        </a:rPr>
                        <a:t>المسار المقترح</a:t>
                      </a:r>
                    </a:p>
                  </a:txBody>
                  <a:tcPr anchor="ctr" marL="91440" marR="91440" marT="36576" marB="36576">
                    <a:solidFill>
                      <a:srgbClr val="0F766E"/>
                    </a:solidFill>
                  </a:tcPr>
                </a:tc>
              </a:tr>
              <a:tr h="574765">
                <a:tc>
                  <a:txBody>
                    <a:bodyPr wrap="square"/>
                    <a:lstStyle/>
                    <a:p>
                      <a:pPr rtl="1" algn="r"/>
                      <a:r>
                        <a:rPr sz="1700" b="0" i="0" lang="ar-SA">
                          <a:solidFill>
                            <a:srgbClr val="134E4A"/>
                          </a:solidFill>
                          <a:latin typeface="Arial"/>
                          <a:cs typeface="Arial"/>
                        </a:rPr>
                        <a:t>الجيران فوقها كانوا سيجتازون قاعدة القبول في 2013: ‪‎+‎0.0093‬ (لاحق)</a:t>
                      </a:r>
                    </a:p>
                  </a:txBody>
                  <a:tcPr anchor="ctr" marL="91440" marR="91440" marT="36576" marB="36576">
                    <a:solidFill>
                      <a:srgbClr val="FFFFFF"/>
                    </a:solidFill>
                  </a:tcPr>
                </a:tc>
                <a:tc>
                  <a:txBody>
                    <a:bodyPr wrap="square"/>
                    <a:lstStyle/>
                    <a:p>
                      <a:pPr rtl="1" algn="r"/>
                      <a:r>
                        <a:rPr sz="1700" b="1" i="0" lang="ar-SA">
                          <a:solidFill>
                            <a:srgbClr val="134E4A"/>
                          </a:solidFill>
                          <a:latin typeface="Arial"/>
                          <a:cs typeface="Arial"/>
                        </a:rPr>
                        <a:t>قياس أي تخصيص فوق الشعبية الآنية مباشرة</a:t>
                      </a:r>
                    </a:p>
                  </a:txBody>
                  <a:tcPr anchor="ctr" marL="91440" marR="91440" marT="36576" marB="36576">
                    <a:solidFill>
                      <a:srgbClr val="FFFFFF"/>
                    </a:solidFill>
                  </a:tcPr>
                </a:tc>
              </a:tr>
              <a:tr h="574765">
                <a:tc>
                  <a:txBody>
                    <a:bodyPr wrap="square"/>
                    <a:lstStyle/>
                    <a:p>
                      <a:pPr rtl="1" algn="r"/>
                      <a:r>
                        <a:rPr sz="1700" b="0" i="0" lang="ar-SA">
                          <a:solidFill>
                            <a:srgbClr val="134E4A"/>
                          </a:solidFill>
                          <a:latin typeface="Arial"/>
                          <a:cs typeface="Arial"/>
                        </a:rPr>
                        <a:t>الفرق ‪‎+‎0.0074‬ بفاصل يشمل الصفر (لاحق)</a:t>
                      </a:r>
                    </a:p>
                  </a:txBody>
                  <a:tcPr anchor="ctr" marL="91440" marR="91440" marT="36576" marB="36576">
                    <a:solidFill>
                      <a:srgbClr val="EEF2F6"/>
                    </a:solidFill>
                  </a:tcPr>
                </a:tc>
                <a:tc>
                  <a:txBody>
                    <a:bodyPr wrap="square"/>
                    <a:lstStyle/>
                    <a:p>
                      <a:pPr rtl="1" algn="r"/>
                      <a:r>
                        <a:rPr sz="1700" b="1" i="0" lang="ar-SA">
                          <a:solidFill>
                            <a:srgbClr val="134E4A"/>
                          </a:solidFill>
                          <a:latin typeface="Arial"/>
                          <a:cs typeface="Arial"/>
                        </a:rPr>
                        <a:t>مقارنة تسلسلية متكافئة المعلومة</a:t>
                      </a:r>
                    </a:p>
                  </a:txBody>
                  <a:tcPr anchor="ctr" marL="91440" marR="91440" marT="36576" marB="36576">
                    <a:solidFill>
                      <a:srgbClr val="EEF2F6"/>
                    </a:solidFill>
                  </a:tcPr>
                </a:tc>
              </a:tr>
              <a:tr h="574765">
                <a:tc>
                  <a:txBody>
                    <a:bodyPr wrap="square"/>
                    <a:lstStyle/>
                    <a:p>
                      <a:pPr rtl="1" algn="r"/>
                      <a:r>
                        <a:rPr sz="1700" b="0" i="0" lang="ar-SA">
                          <a:solidFill>
                            <a:srgbClr val="134E4A"/>
                          </a:solidFill>
                          <a:latin typeface="Arial"/>
                          <a:cs typeface="Arial"/>
                        </a:rPr>
                        <a:t>الحداثة تحمل أثر H2-أ (وصفي)</a:t>
                      </a:r>
                    </a:p>
                  </a:txBody>
                  <a:tcPr anchor="ctr" marL="91440" marR="91440" marT="36576" marB="36576">
                    <a:solidFill>
                      <a:srgbClr val="FFFFFF"/>
                    </a:solidFill>
                  </a:tcPr>
                </a:tc>
                <a:tc>
                  <a:txBody>
                    <a:bodyPr wrap="square"/>
                    <a:lstStyle/>
                    <a:p>
                      <a:pPr rtl="1" algn="r"/>
                      <a:r>
                        <a:rPr sz="1700" b="1" i="0" lang="ar-SA">
                          <a:solidFill>
                            <a:srgbClr val="134E4A"/>
                          </a:solidFill>
                          <a:latin typeface="Arial"/>
                          <a:cs typeface="Arial"/>
                        </a:rPr>
                        <a:t>فصل حداثة الفرد عن إيقاع الجماعة</a:t>
                      </a:r>
                    </a:p>
                  </a:txBody>
                  <a:tcPr anchor="ctr" marL="91440" marR="91440" marT="36576" marB="36576">
                    <a:solidFill>
                      <a:srgbClr val="FFFFFF"/>
                    </a:solidFill>
                  </a:tcPr>
                </a:tc>
              </a:tr>
              <a:tr h="574765">
                <a:tc>
                  <a:txBody>
                    <a:bodyPr wrap="square"/>
                    <a:lstStyle/>
                    <a:p>
                      <a:pPr rtl="1" algn="r"/>
                      <a:r>
                        <a:rPr sz="1700" b="0" i="0" lang="ar-SA">
                          <a:solidFill>
                            <a:srgbClr val="134E4A"/>
                          </a:solidFill>
                          <a:latin typeface="Arial"/>
                          <a:cs typeface="Arial"/>
                        </a:rPr>
                        <a:t>‪‎+‎0.0407‬ للربع الأقل تاريخاً مقابل ‪‎+‎0.0174‬ للأعلى (استكشافي)</a:t>
                      </a:r>
                    </a:p>
                  </a:txBody>
                  <a:tcPr anchor="ctr" marL="91440" marR="91440" marT="36576" marB="36576">
                    <a:solidFill>
                      <a:srgbClr val="EEF2F6"/>
                    </a:solidFill>
                  </a:tcPr>
                </a:tc>
                <a:tc>
                  <a:txBody>
                    <a:bodyPr wrap="square"/>
                    <a:lstStyle/>
                    <a:p>
                      <a:pPr rtl="1" algn="r"/>
                      <a:r>
                        <a:rPr sz="1700" b="1" i="0" lang="ar-SA">
                          <a:solidFill>
                            <a:srgbClr val="134E4A"/>
                          </a:solidFill>
                          <a:latin typeface="Arial"/>
                          <a:cs typeface="Arial"/>
                        </a:rPr>
                        <a:t>سياق العنقود للأقل تاريخاً</a:t>
                      </a:r>
                    </a:p>
                  </a:txBody>
                  <a:tcPr anchor="ctr" marL="91440" marR="91440" marT="36576" marB="36576">
                    <a:solidFill>
                      <a:srgbClr val="EEF2F6"/>
                    </a:solidFill>
                  </a:tcPr>
                </a:tc>
              </a:tr>
              <a:tr h="574765">
                <a:tc>
                  <a:txBody>
                    <a:bodyPr wrap="square"/>
                    <a:lstStyle/>
                    <a:p>
                      <a:pPr rtl="1" algn="r"/>
                      <a:r>
                        <a:rPr sz="1700" b="0" i="0" lang="ar-SA">
                          <a:solidFill>
                            <a:srgbClr val="134E4A"/>
                          </a:solidFill>
                          <a:latin typeface="Arial"/>
                          <a:cs typeface="Arial"/>
                        </a:rPr>
                        <a:t>دقة اليوم، وMDE80 فوق 2δ في فرضيتين</a:t>
                      </a:r>
                    </a:p>
                  </a:txBody>
                  <a:tcPr anchor="ctr" marL="91440" marR="91440" marT="36576" marB="36576">
                    <a:solidFill>
                      <a:srgbClr val="FFFFFF"/>
                    </a:solidFill>
                  </a:tcPr>
                </a:tc>
                <a:tc>
                  <a:txBody>
                    <a:bodyPr wrap="square"/>
                    <a:lstStyle/>
                    <a:p>
                      <a:pPr rtl="1" algn="r"/>
                      <a:r>
                        <a:rPr sz="1700" b="1" i="0" lang="ar-SA">
                          <a:solidFill>
                            <a:srgbClr val="134E4A"/>
                          </a:solidFill>
                          <a:latin typeface="Arial"/>
                          <a:cs typeface="Arial"/>
                        </a:rPr>
                        <a:t>بيانات أغنى ووحدات أكثر</a:t>
                      </a:r>
                    </a:p>
                  </a:txBody>
                  <a:tcPr anchor="ctr" marL="91440" marR="91440" marT="36576" marB="36576">
                    <a:solidFill>
                      <a:srgbClr val="FFFFFF"/>
                    </a:solidFill>
                  </a:tcPr>
                </a:tc>
              </a:tr>
              <a:tr h="574765">
                <a:tc>
                  <a:txBody>
                    <a:bodyPr wrap="square"/>
                    <a:lstStyle/>
                    <a:p>
                      <a:pPr rtl="1" algn="r"/>
                      <a:r>
                        <a:rPr sz="1700" b="0" i="0" lang="ar-SA">
                          <a:solidFill>
                            <a:srgbClr val="134E4A"/>
                          </a:solidFill>
                          <a:latin typeface="Arial"/>
                          <a:cs typeface="Arial"/>
                        </a:rPr>
                        <a:t>لا تقويم بشري، والدرجة غير معايَرة</a:t>
                      </a:r>
                    </a:p>
                  </a:txBody>
                  <a:tcPr anchor="ctr" marL="91440" marR="91440" marT="36576" marB="36576">
                    <a:solidFill>
                      <a:srgbClr val="EEF2F6"/>
                    </a:solidFill>
                  </a:tcPr>
                </a:tc>
                <a:tc>
                  <a:txBody>
                    <a:bodyPr wrap="square"/>
                    <a:lstStyle/>
                    <a:p>
                      <a:pPr rtl="1" algn="r"/>
                      <a:r>
                        <a:rPr sz="1700" b="1" i="0" lang="ar-SA">
                          <a:solidFill>
                            <a:srgbClr val="134E4A"/>
                          </a:solidFill>
                          <a:latin typeface="Arial"/>
                          <a:cs typeface="Arial"/>
                        </a:rPr>
                        <a:t>تقويم بشري ومعايرة الخطر</a:t>
                      </a:r>
                    </a:p>
                  </a:txBody>
                  <a:tcPr anchor="ctr" marL="91440" marR="91440" marT="36576" marB="36576">
                    <a:solidFill>
                      <a:srgbClr val="EEF2F6"/>
                    </a:solidFill>
                  </a:tcPr>
                </a:tc>
              </a:tr>
            </a:tbl>
          </a:graphicData>
        </a:graphic>
      </p:graphicFrame>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‪results‎/‎posthoc‎/‎‬ (الجدولان هـ-1 وهـ-10)؛ results/conf2014/h4b.csv؛ الفصل 7، القسم 7-6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المعلنة</a:t>
            </a:r>
          </a:p>
        </p:txBody>
      </p:sp>
      <p:sp>
        <p:nvSpPr>
          <p:cNvPr id="3" name="عمود"/>
          <p:cNvSpPr/>
          <p:nvPr/>
        </p:nvSpPr>
        <p:spPr>
          <a:xfrm>
            <a:off x="6233007" y="1463040"/>
            <a:ext cx="5410047" cy="44805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نقطة"/>
          <p:cNvSpPr/>
          <p:nvPr/>
        </p:nvSpPr>
        <p:spPr>
          <a:xfrm>
            <a:off x="11259007" y="204939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70167" y="1600200"/>
            <a:ext cx="4769967" cy="10629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مؤسسة واحدة؛ تعميم 2013 ← 2014 فقط</a:t>
            </a:r>
          </a:p>
        </p:txBody>
      </p:sp>
      <p:sp>
        <p:nvSpPr>
          <p:cNvPr id="6" name="نقطة"/>
          <p:cNvSpPr/>
          <p:nvPr/>
        </p:nvSpPr>
        <p:spPr>
          <a:xfrm>
            <a:off x="11259007" y="31123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0167" y="2663190"/>
            <a:ext cx="4769967" cy="10629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الوصول المستقبلي وكيل للملاءمة؛ لا أثر تعليمي</a:t>
            </a:r>
          </a:p>
        </p:txBody>
      </p:sp>
      <p:sp>
        <p:nvSpPr>
          <p:cNvPr id="8" name="نقطة"/>
          <p:cNvSpPr/>
          <p:nvPr/>
        </p:nvSpPr>
        <p:spPr>
          <a:xfrm>
            <a:off x="11259007" y="41753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7" y="3726180"/>
            <a:ext cx="4769967" cy="10629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سجلات بدقة يوم</a:t>
            </a:r>
          </a:p>
        </p:txBody>
      </p:sp>
      <p:sp>
        <p:nvSpPr>
          <p:cNvPr id="10" name="نقطة"/>
          <p:cNvSpPr/>
          <p:nvPr/>
        </p:nvSpPr>
        <p:spPr>
          <a:xfrm>
            <a:off x="11259007" y="523836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0167" y="4789170"/>
            <a:ext cx="4769967" cy="10629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H3 غير متكافئة في المعلومة والميزانية</a:t>
            </a:r>
          </a:p>
        </p:txBody>
      </p:sp>
      <p:sp>
        <p:nvSpPr>
          <p:cNvPr id="12" name="عمود"/>
          <p:cNvSpPr/>
          <p:nvPr/>
        </p:nvSpPr>
        <p:spPr>
          <a:xfrm>
            <a:off x="548640" y="1463040"/>
            <a:ext cx="5410047" cy="44805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نقطة"/>
          <p:cNvSpPr/>
          <p:nvPr/>
        </p:nvSpPr>
        <p:spPr>
          <a:xfrm>
            <a:off x="5574639" y="22265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600200"/>
            <a:ext cx="4769967" cy="14173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الأرضية قُرّرت بعد رؤية التطوير</a:t>
            </a:r>
          </a:p>
        </p:txBody>
      </p:sp>
      <p:sp>
        <p:nvSpPr>
          <p:cNvPr id="15" name="نقطة"/>
          <p:cNvSpPr/>
          <p:nvPr/>
        </p:nvSpPr>
        <p:spPr>
          <a:xfrm>
            <a:off x="5574639" y="36438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17520"/>
            <a:ext cx="4769967" cy="14173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الخطر غير معايَر، ولا تقويم بشري</a:t>
            </a:r>
          </a:p>
        </p:txBody>
      </p:sp>
      <p:sp>
        <p:nvSpPr>
          <p:cNvPr id="17" name="نقطة"/>
          <p:cNvSpPr/>
          <p:nvPr/>
        </p:nvSpPr>
        <p:spPr>
          <a:xfrm>
            <a:off x="5574639" y="50612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434840"/>
            <a:ext cx="4769967" cy="14173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200" b="0" i="0" lang="ar-SA">
                <a:solidFill>
                  <a:srgbClr val="134E4A"/>
                </a:solidFill>
                <a:latin typeface="Arial"/>
                <a:cs typeface="Arial"/>
              </a:rPr>
              <a:t>المراجعات في سير العمل محاكاة آلية</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22"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6، القسمان 6-8 و6-9؛ الفصل 1، القسم 1-5؛ الفصل 7، القسم 7-5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المساهمات</a:t>
            </a:r>
          </a:p>
        </p:txBody>
      </p:sp>
      <p:sp>
        <p:nvSpPr>
          <p:cNvPr id="3" name="بطاقة"/>
          <p:cNvSpPr/>
          <p:nvPr/>
        </p:nvSpPr>
        <p:spPr>
          <a:xfrm>
            <a:off x="6233007" y="146304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6370167" y="157276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قابل للنقل</a:t>
            </a:r>
          </a:p>
        </p:txBody>
      </p:sp>
      <p:sp>
        <p:nvSpPr>
          <p:cNvPr id="6" name="TextBox 5"/>
          <p:cNvSpPr txBox="1"/>
          <p:nvPr/>
        </p:nvSpPr>
        <p:spPr>
          <a:xfrm>
            <a:off x="6370167" y="233172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قطع زمني، وكتالوج كامل، وفصل الجديد عن المكرر</a:t>
            </a:r>
          </a:p>
        </p:txBody>
      </p:sp>
      <p:sp>
        <p:nvSpPr>
          <p:cNvPr id="7" name="بطاقة"/>
          <p:cNvSpPr/>
          <p:nvPr/>
        </p:nvSpPr>
        <p:spPr>
          <a:xfrm>
            <a:off x="548640" y="146304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85800" y="157276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حوكمة التأكيد</a:t>
            </a:r>
          </a:p>
        </p:txBody>
      </p:sp>
      <p:sp>
        <p:nvSpPr>
          <p:cNvPr id="10" name="TextBox 9"/>
          <p:cNvSpPr txBox="1"/>
          <p:nvPr/>
        </p:nvSpPr>
        <p:spPr>
          <a:xfrm>
            <a:off x="685800" y="233172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حاجز، وتجميد ببصمات، وتشغيل واحد مقفل</a:t>
            </a:r>
          </a:p>
        </p:txBody>
      </p:sp>
      <p:sp>
        <p:nvSpPr>
          <p:cNvPr id="11" name="بطاقة"/>
          <p:cNvSpPr/>
          <p:nvPr/>
        </p:nvSpPr>
        <p:spPr>
          <a:xfrm>
            <a:off x="6233007" y="384048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957255" y="40233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370167" y="39502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رؤى تجريبية</a:t>
            </a:r>
          </a:p>
        </p:txBody>
      </p:sp>
      <p:sp>
        <p:nvSpPr>
          <p:cNvPr id="14" name="TextBox 13"/>
          <p:cNvSpPr txBox="1"/>
          <p:nvPr/>
        </p:nvSpPr>
        <p:spPr>
          <a:xfrm>
            <a:off x="6370167" y="470916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هيمنة الجدول، وأثر الحداثة، وحد أعلى للتخصيص</a:t>
            </a:r>
          </a:p>
        </p:txBody>
      </p:sp>
      <p:sp>
        <p:nvSpPr>
          <p:cNvPr id="15" name="بطاقة"/>
          <p:cNvSpPr/>
          <p:nvPr/>
        </p:nvSpPr>
        <p:spPr>
          <a:xfrm>
            <a:off x="548640" y="3840480"/>
            <a:ext cx="5410047"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5272887" y="40233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39502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للفحص</a:t>
            </a:r>
          </a:p>
        </p:txBody>
      </p:sp>
      <p:sp>
        <p:nvSpPr>
          <p:cNvPr id="18" name="TextBox 17"/>
          <p:cNvSpPr txBox="1"/>
          <p:nvPr/>
        </p:nvSpPr>
        <p:spPr>
          <a:xfrm>
            <a:off x="685800" y="4709160"/>
            <a:ext cx="5135727" cy="11430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واختبار لكل تنفيذ</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22"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الفصل 7، القسم 7-2؛ الفصل 1، القسم 1-6؛ الجدولان 5-21 و5-24-أ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الخلاصة: حصيلة المسارات</a:t>
            </a:r>
          </a:p>
        </p:txBody>
      </p:sp>
      <p:graphicFrame>
        <p:nvGraphicFramePr>
          <p:cNvPr id="3" name="جدول"/>
          <p:cNvGraphicFramePr>
            <a:graphicFrameLocks noGrp="1"/>
          </p:cNvGraphicFramePr>
          <p:nvPr/>
        </p:nvGraphicFramePr>
        <p:xfrm>
          <a:off x="548640" y="1463040"/>
          <a:ext cx="11094414" cy="3291840"/>
        </p:xfrm>
        <a:graphic>
          <a:graphicData uri="http://schemas.openxmlformats.org/drawingml/2006/table">
            <a:tbl>
              <a:tblPr firstRow="1" bandRow="0">
                <a:tableStyleId>{5C22544A-7EE6-4342-B048-85BDC9FD1C3A}</a:tableStyleId>
              </a:tblPr>
              <a:tblGrid>
                <a:gridCol w="3772101"/>
                <a:gridCol w="4659654"/>
                <a:gridCol w="2662659"/>
              </a:tblGrid>
              <a:tr h="658368">
                <a:tc>
                  <a:txBody>
                    <a:bodyPr wrap="square"/>
                    <a:lstStyle/>
                    <a:p>
                      <a:pPr rtl="1" algn="r"/>
                      <a:r>
                        <a:rPr sz="1800" b="1" i="0" lang="ar-SA">
                          <a:solidFill>
                            <a:srgbClr val="FFFFFF"/>
                          </a:solidFill>
                          <a:latin typeface="Arial"/>
                          <a:cs typeface="Arial"/>
                        </a:rPr>
                        <a:t>ما يُبنى عليه</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النتيجة</a:t>
                      </a:r>
                    </a:p>
                  </a:txBody>
                  <a:tcPr anchor="ctr" marL="91440" marR="91440" marT="36576" marB="36576">
                    <a:solidFill>
                      <a:srgbClr val="0F766E"/>
                    </a:solidFill>
                  </a:tcPr>
                </a:tc>
                <a:tc>
                  <a:txBody>
                    <a:bodyPr wrap="square"/>
                    <a:lstStyle/>
                    <a:p>
                      <a:pPr rtl="1" algn="r"/>
                      <a:r>
                        <a:rPr sz="1800" b="1" i="0" lang="ar-SA">
                          <a:solidFill>
                            <a:srgbClr val="FFFFFF"/>
                          </a:solidFill>
                          <a:latin typeface="Arial"/>
                          <a:cs typeface="Arial"/>
                        </a:rPr>
                        <a:t>المسار</a:t>
                      </a:r>
                    </a:p>
                  </a:txBody>
                  <a:tcPr anchor="ctr" marL="91440" marR="91440" marT="36576" marB="36576">
                    <a:solidFill>
                      <a:srgbClr val="0F766E"/>
                    </a:solidFill>
                  </a:tcPr>
                </a:tc>
              </a:tr>
              <a:tr h="658368">
                <a:tc>
                  <a:txBody>
                    <a:bodyPr wrap="square"/>
                    <a:lstStyle/>
                    <a:p>
                      <a:pPr rtl="1" algn="r"/>
                      <a:r>
                        <a:rPr sz="1800" b="0" i="0" lang="ar-SA">
                          <a:solidFill>
                            <a:srgbClr val="134E4A"/>
                          </a:solidFill>
                          <a:latin typeface="Arial"/>
                          <a:cs typeface="Arial"/>
                        </a:rPr>
                        <a:t>كل تخصيص يُقاس فوق الشعبية الآنية</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غير حاسمة: لا يكشف التصميم بقوة 80% أثراً أصغر من 0.0375</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الشخصنة (H1)</a:t>
                      </a:r>
                    </a:p>
                  </a:txBody>
                  <a:tcPr anchor="ctr" marL="91440" marR="91440" marT="36576" marB="36576">
                    <a:solidFill>
                      <a:srgbClr val="FFFFFF"/>
                    </a:solidFill>
                  </a:tcPr>
                </a:tc>
              </a:tr>
              <a:tr h="658368">
                <a:tc>
                  <a:txBody>
                    <a:bodyPr wrap="square"/>
                    <a:lstStyle/>
                    <a:p>
                      <a:pPr rtl="1" algn="r"/>
                      <a:r>
                        <a:rPr sz="1800" b="0" i="0" lang="ar-SA">
                          <a:solidFill>
                            <a:srgbClr val="134E4A"/>
                          </a:solidFill>
                          <a:latin typeface="Arial"/>
                          <a:cs typeface="Arial"/>
                        </a:rPr>
                        <a:t>الحداثة تحمل الأثر</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مؤكَّدة بهامش داخل WRMF</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ترجيح الإشارة (H2-أ)</a:t>
                      </a:r>
                    </a:p>
                  </a:txBody>
                  <a:tcPr anchor="ctr" marL="91440" marR="91440" marT="36576" marB="36576">
                    <a:solidFill>
                      <a:srgbClr val="EEF2F6"/>
                    </a:solidFill>
                  </a:tcPr>
                </a:tc>
              </a:tr>
              <a:tr h="658368">
                <a:tc>
                  <a:txBody>
                    <a:bodyPr wrap="square"/>
                    <a:lstStyle/>
                    <a:p>
                      <a:pPr rtl="1" algn="r"/>
                      <a:r>
                        <a:rPr sz="1800" b="0" i="0" lang="ar-SA">
                          <a:solidFill>
                            <a:srgbClr val="134E4A"/>
                          </a:solidFill>
                          <a:latin typeface="Arial"/>
                          <a:cs typeface="Arial"/>
                        </a:rPr>
                        <a:t>سؤال نوع النموذج مفتوح</a:t>
                      </a:r>
                    </a:p>
                  </a:txBody>
                  <a:tcPr anchor="ctr" marL="91440" marR="91440" marT="36576" marB="36576">
                    <a:solidFill>
                      <a:srgbClr val="FFFFFF"/>
                    </a:solidFill>
                  </a:tcPr>
                </a:tc>
                <a:tc>
                  <a:txBody>
                    <a:bodyPr wrap="square"/>
                    <a:lstStyle/>
                    <a:p>
                      <a:pPr rtl="1" algn="r"/>
                      <a:r>
                        <a:rPr sz="18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800" b="1" i="0" lang="ar-SA">
                          <a:solidFill>
                            <a:srgbClr val="134E4A"/>
                          </a:solidFill>
                          <a:latin typeface="Arial"/>
                          <a:cs typeface="Arial"/>
                        </a:rPr>
                        <a:t>التسلسل العصبوني (H3)</a:t>
                      </a:r>
                    </a:p>
                  </a:txBody>
                  <a:tcPr anchor="ctr" marL="91440" marR="91440" marT="36576" marB="36576">
                    <a:solidFill>
                      <a:srgbClr val="FFFFFF"/>
                    </a:solidFill>
                  </a:tcPr>
                </a:tc>
              </a:tr>
              <a:tr h="658368">
                <a:tc>
                  <a:txBody>
                    <a:bodyPr wrap="square"/>
                    <a:lstStyle/>
                    <a:p>
                      <a:pPr rtl="1" algn="r"/>
                      <a:r>
                        <a:rPr sz="1800" b="0" i="0" lang="ar-SA">
                          <a:solidFill>
                            <a:srgbClr val="134E4A"/>
                          </a:solidFill>
                          <a:latin typeface="Arial"/>
                          <a:cs typeface="Arial"/>
                        </a:rPr>
                        <a:t>الملامح الأكاديمية أقوى (ثانوي)</a:t>
                      </a:r>
                    </a:p>
                  </a:txBody>
                  <a:tcPr anchor="ctr" marL="91440" marR="91440" marT="36576" marB="36576">
                    <a:solidFill>
                      <a:srgbClr val="EEF2F6"/>
                    </a:solidFill>
                  </a:tcPr>
                </a:tc>
                <a:tc>
                  <a:txBody>
                    <a:bodyPr wrap="square"/>
                    <a:lstStyle/>
                    <a:p>
                      <a:pPr rtl="1" algn="r"/>
                      <a:r>
                        <a:rPr sz="1800" b="0" i="0" lang="ar-SA">
                          <a:solidFill>
                            <a:srgbClr val="134E4A"/>
                          </a:solidFill>
                          <a:latin typeface="Arial"/>
                          <a:cs typeface="Arial"/>
                        </a:rPr>
                        <a:t>مدحوضة عملياً: أثر دال دون العتبة</a:t>
                      </a:r>
                    </a:p>
                  </a:txBody>
                  <a:tcPr anchor="ctr" marL="91440" marR="91440" marT="36576" marB="36576">
                    <a:solidFill>
                      <a:srgbClr val="EEF2F6"/>
                    </a:solidFill>
                  </a:tcPr>
                </a:tc>
                <a:tc>
                  <a:txBody>
                    <a:bodyPr wrap="square"/>
                    <a:lstStyle/>
                    <a:p>
                      <a:pPr rtl="1" algn="r"/>
                      <a:r>
                        <a:rPr sz="1800" b="1" i="0" lang="ar-SA">
                          <a:solidFill>
                            <a:srgbClr val="134E4A"/>
                          </a:solidFill>
                          <a:latin typeface="Arial"/>
                          <a:cs typeface="Arial"/>
                        </a:rPr>
                        <a:t>ملامح السلوك (H4-أ)</a:t>
                      </a:r>
                    </a:p>
                  </a:txBody>
                  <a:tcPr anchor="ctr" marL="91440" marR="91440" marT="36576" marB="36576">
                    <a:solidFill>
                      <a:srgbClr val="EEF2F6"/>
                    </a:solidFill>
                  </a:tcPr>
                </a:tc>
              </a:tr>
            </a:tbl>
          </a:graphicData>
        </a:graphic>
      </p:graphicFrame>
      <p:sp>
        <p:nvSpPr>
          <p:cNvPr id="4" name="خلاصة"/>
          <p:cNvSpPr/>
          <p:nvPr/>
        </p:nvSpPr>
        <p:spPr>
          <a:xfrm>
            <a:off x="548640" y="4983479"/>
            <a:ext cx="11094415" cy="91440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المسار المتبع: حكم مؤكَّد في فرضية، وحدود معلنة في ثلاث، وقوة 13 وحدة أكبر قيوده</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results/conf2014/verdicts.csv وsecondary.csv وmde80_frozen.md؛ الفصل 7، القسمان 7-3 و7-4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 · 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حكم H3 وسؤال نوع النموذج</a:t>
            </a:r>
          </a:p>
        </p:txBody>
      </p:sp>
      <p:graphicFrame>
        <p:nvGraphicFramePr>
          <p:cNvPr id="3" name="جدول"/>
          <p:cNvGraphicFramePr>
            <a:graphicFrameLocks noGrp="1"/>
          </p:cNvGraphicFramePr>
          <p:nvPr/>
        </p:nvGraphicFramePr>
        <p:xfrm>
          <a:off x="548640" y="1463040"/>
          <a:ext cx="11094414" cy="3474720"/>
        </p:xfrm>
        <a:graphic>
          <a:graphicData uri="http://schemas.openxmlformats.org/drawingml/2006/table">
            <a:tbl>
              <a:tblPr firstRow="1" bandRow="0">
                <a:tableStyleId>{5C22544A-7EE6-4342-B048-85BDC9FD1C3A}</a:tableStyleId>
              </a:tblPr>
              <a:tblGrid>
                <a:gridCol w="1331329"/>
                <a:gridCol w="4548710"/>
                <a:gridCol w="5214375"/>
              </a:tblGrid>
              <a:tr h="868680">
                <a:tc>
                  <a:txBody>
                    <a:bodyPr wrap="square"/>
                    <a:lstStyle/>
                    <a:p>
                      <a:pPr rtl="1" algn="r"/>
                      <a:r>
                        <a:rPr sz="1900" b="1" i="0" lang="ar-SA">
                          <a:solidFill>
                            <a:srgbClr val="FFFFFF"/>
                          </a:solidFill>
                          <a:latin typeface="Arial"/>
                          <a:cs typeface="Arial"/>
                        </a:rPr>
                        <a:t>‪Δ‎&gt;‎0‬</a:t>
                      </a:r>
                    </a:p>
                  </a:txBody>
                  <a:tcPr anchor="ctr" marL="91440" marR="91440" marT="36576" marB="36576">
                    <a:solidFill>
                      <a:srgbClr val="0F766E"/>
                    </a:solidFill>
                  </a:tcPr>
                </a:tc>
                <a:tc>
                  <a:txBody>
                    <a:bodyPr wrap="square"/>
                    <a:lstStyle/>
                    <a:p>
                      <a:pPr rtl="1" algn="r"/>
                      <a:r>
                        <a:rPr sz="1900" b="1" i="0" lang="ar-SA">
                          <a:solidFill>
                            <a:srgbClr val="FFFFFF"/>
                          </a:solidFill>
                          <a:latin typeface="Arial"/>
                          <a:cs typeface="Arial"/>
                        </a:rPr>
                        <a:t>الفرق [فاصل 95%]</a:t>
                      </a:r>
                    </a:p>
                  </a:txBody>
                  <a:tcPr anchor="ctr" marL="91440" marR="91440" marT="36576" marB="36576">
                    <a:solidFill>
                      <a:srgbClr val="0F766E"/>
                    </a:solidFill>
                  </a:tcPr>
                </a:tc>
                <a:tc>
                  <a:txBody>
                    <a:bodyPr wrap="square"/>
                    <a:lstStyle/>
                    <a:p>
                      <a:pPr rtl="1" algn="r"/>
                      <a:r>
                        <a:rPr sz="1900" b="1" i="0" lang="ar-SA">
                          <a:solidFill>
                            <a:srgbClr val="FFFFFF"/>
                          </a:solidFill>
                          <a:latin typeface="Arial"/>
                          <a:cs typeface="Arial"/>
                        </a:rPr>
                        <a:t>المقارنة</a:t>
                      </a:r>
                    </a:p>
                  </a:txBody>
                  <a:tcPr anchor="ctr" marL="91440" marR="91440" marT="36576" marB="36576">
                    <a:solidFill>
                      <a:srgbClr val="0F766E"/>
                    </a:solidFill>
                  </a:tcPr>
                </a:tc>
              </a:tr>
              <a:tr h="868680">
                <a:tc>
                  <a:txBody>
                    <a:bodyPr wrap="square"/>
                    <a:lstStyle/>
                    <a:p>
                      <a:pPr rtl="1" algn="r"/>
                      <a:r>
                        <a:rPr sz="1900" b="0" i="0" lang="ar-SA">
                          <a:solidFill>
                            <a:srgbClr val="134E4A"/>
                          </a:solidFill>
                          <a:latin typeface="Arial"/>
                          <a:cs typeface="Arial"/>
                        </a:rPr>
                        <a:t>‪12‎/‎13‬</a:t>
                      </a:r>
                    </a:p>
                  </a:txBody>
                  <a:tcPr anchor="ctr" marL="91440" marR="91440" marT="36576" marB="36576">
                    <a:solidFill>
                      <a:srgbClr val="FFFFFF"/>
                    </a:solidFill>
                  </a:tcPr>
                </a:tc>
                <a:tc>
                  <a:txBody>
                    <a:bodyPr wrap="square"/>
                    <a:lstStyle/>
                    <a:p>
                      <a:pPr rtl="1" algn="r"/>
                      <a:r>
                        <a:rPr sz="1900" b="0" i="0" lang="ar-SA">
                          <a:solidFill>
                            <a:srgbClr val="134E4A"/>
                          </a:solidFill>
                          <a:latin typeface="Arial"/>
                          <a:cs typeface="Arial"/>
                        </a:rPr>
                        <a:t>‪‎+‎0.0399‎ ‎‎[‎‎+‎0.0201‎،‎‎ ‎‎+‎0.0611‎]‎‬</a:t>
                      </a:r>
                    </a:p>
                  </a:txBody>
                  <a:tcPr anchor="ctr" marL="91440" marR="91440" marT="36576" marB="36576">
                    <a:solidFill>
                      <a:srgbClr val="FFFFFF"/>
                    </a:solidFill>
                  </a:tcPr>
                </a:tc>
                <a:tc>
                  <a:txBody>
                    <a:bodyPr wrap="square"/>
                    <a:lstStyle/>
                    <a:p>
                      <a:pPr rtl="1" algn="r"/>
                      <a:r>
                        <a:rPr sz="1900" b="1" i="0" lang="ar-SA">
                          <a:solidFill>
                            <a:srgbClr val="134E4A"/>
                          </a:solidFill>
                          <a:latin typeface="Arial"/>
                          <a:cs typeface="Arial"/>
                        </a:rPr>
                        <a:t>GRU-lite بمدخل الشعبية الآنية − SKNN</a:t>
                      </a:r>
                    </a:p>
                  </a:txBody>
                  <a:tcPr anchor="ctr" marL="91440" marR="91440" marT="36576" marB="36576">
                    <a:solidFill>
                      <a:srgbClr val="FFFFFF"/>
                    </a:solidFill>
                  </a:tcPr>
                </a:tc>
              </a:tr>
              <a:tr h="868680">
                <a:tc>
                  <a:txBody>
                    <a:bodyPr wrap="square"/>
                    <a:lstStyle/>
                    <a:p>
                      <a:pPr rtl="1" algn="r"/>
                      <a:r>
                        <a:rPr sz="1900" b="0" i="0" lang="ar-SA">
                          <a:solidFill>
                            <a:srgbClr val="134E4A"/>
                          </a:solidFill>
                          <a:latin typeface="Arial"/>
                          <a:cs typeface="Arial"/>
                        </a:rPr>
                        <a:t>‪10‎/‎13‬</a:t>
                      </a:r>
                    </a:p>
                  </a:txBody>
                  <a:tcPr anchor="ctr" marL="91440" marR="91440" marT="36576" marB="36576">
                    <a:solidFill>
                      <a:srgbClr val="EEF2F6"/>
                    </a:solidFill>
                  </a:tcPr>
                </a:tc>
                <a:tc>
                  <a:txBody>
                    <a:bodyPr wrap="square"/>
                    <a:lstStyle/>
                    <a:p>
                      <a:pPr rtl="1" algn="r"/>
                      <a:r>
                        <a:rPr sz="1900" b="0" i="0" lang="ar-SA">
                          <a:solidFill>
                            <a:srgbClr val="134E4A"/>
                          </a:solidFill>
                          <a:latin typeface="Arial"/>
                          <a:cs typeface="Arial"/>
                        </a:rPr>
                        <a:t>‪‎+‎0.0293‎ ‎‎[‎‎+‎0.0036‎،‎‎ ‎‎+‎0.0590‎]‎‬</a:t>
                      </a:r>
                    </a:p>
                  </a:txBody>
                  <a:tcPr anchor="ctr" marL="91440" marR="91440" marT="36576" marB="36576">
                    <a:solidFill>
                      <a:srgbClr val="EEF2F6"/>
                    </a:solidFill>
                  </a:tcPr>
                </a:tc>
                <a:tc>
                  <a:txBody>
                    <a:bodyPr wrap="square"/>
                    <a:lstStyle/>
                    <a:p>
                      <a:pPr rtl="1" algn="r"/>
                      <a:r>
                        <a:rPr sz="1900" b="1" i="0" lang="ar-SA">
                          <a:solidFill>
                            <a:srgbClr val="134E4A"/>
                          </a:solidFill>
                          <a:latin typeface="Arial"/>
                          <a:cs typeface="Arial"/>
                        </a:rPr>
                        <a:t>الشعبية الآنية − SKNN</a:t>
                      </a:r>
                    </a:p>
                  </a:txBody>
                  <a:tcPr anchor="ctr" marL="91440" marR="91440" marT="36576" marB="36576">
                    <a:solidFill>
                      <a:srgbClr val="EEF2F6"/>
                    </a:solidFill>
                  </a:tcPr>
                </a:tc>
              </a:tr>
              <a:tr h="868680">
                <a:tc>
                  <a:txBody>
                    <a:bodyPr wrap="square"/>
                    <a:lstStyle/>
                    <a:p>
                      <a:pPr rtl="1" algn="r"/>
                      <a:r>
                        <a:rPr sz="1900" b="0" i="0" lang="ar-SA">
                          <a:solidFill>
                            <a:srgbClr val="134E4A"/>
                          </a:solidFill>
                          <a:latin typeface="Arial"/>
                          <a:cs typeface="Arial"/>
                        </a:rPr>
                        <a:t>‪6‎/‎13‬</a:t>
                      </a:r>
                    </a:p>
                  </a:txBody>
                  <a:tcPr anchor="ctr" marL="91440" marR="91440" marT="36576" marB="36576">
                    <a:solidFill>
                      <a:srgbClr val="FFFFFF"/>
                    </a:solidFill>
                  </a:tcPr>
                </a:tc>
                <a:tc>
                  <a:txBody>
                    <a:bodyPr wrap="square"/>
                    <a:lstStyle/>
                    <a:p>
                      <a:pPr rtl="1" algn="r"/>
                      <a:r>
                        <a:rPr sz="1900" b="0" i="0" lang="ar-SA">
                          <a:solidFill>
                            <a:srgbClr val="134E4A"/>
                          </a:solidFill>
                          <a:latin typeface="Arial"/>
                          <a:cs typeface="Arial"/>
                        </a:rPr>
                        <a:t>‪‎+‎0.0074‎ ‎‎[‎‎−‎0.0109‎،‎‎ ‎‎+‎0.0333‎]‎‬</a:t>
                      </a:r>
                    </a:p>
                  </a:txBody>
                  <a:tcPr anchor="ctr" marL="91440" marR="91440" marT="36576" marB="36576">
                    <a:solidFill>
                      <a:srgbClr val="FFFFFF"/>
                    </a:solidFill>
                  </a:tcPr>
                </a:tc>
                <a:tc>
                  <a:txBody>
                    <a:bodyPr wrap="square"/>
                    <a:lstStyle/>
                    <a:p>
                      <a:pPr rtl="1" algn="r"/>
                      <a:r>
                        <a:rPr sz="1900" b="1" i="0" lang="ar-SA">
                          <a:solidFill>
                            <a:srgbClr val="134E4A"/>
                          </a:solidFill>
                          <a:latin typeface="Arial"/>
                          <a:cs typeface="Arial"/>
                        </a:rPr>
                        <a:t>GRU-lite بمدخل الشعبية الآنية − هجين الشعبية الآنية وSKNN</a:t>
                      </a:r>
                    </a:p>
                  </a:txBody>
                  <a:tcPr anchor="ctr" marL="91440" marR="91440" marT="36576" marB="36576">
                    <a:solidFill>
                      <a:srgbClr val="FFFFFF"/>
                    </a:solidFill>
                  </a:tcPr>
                </a:tc>
              </a:tr>
            </a:tbl>
          </a:graphicData>
        </a:graphic>
      </p:graphicFrame>
      <p:sp>
        <p:nvSpPr>
          <p:cNvPr id="4" name="TextBox 3"/>
          <p:cNvSpPr txBox="1"/>
          <p:nvPr/>
        </p:nvSpPr>
        <p:spPr>
          <a:xfrm>
            <a:off x="548640" y="502920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200"/>
              </a:spcAft>
            </a:pPr>
            <a:r>
              <a:rPr sz="1800" b="0" i="0" lang="ar-SA">
                <a:solidFill>
                  <a:srgbClr val="475569"/>
                </a:solidFill>
                <a:latin typeface="Arial"/>
                <a:cs typeface="Arial"/>
              </a:rPr>
              <a:t>حكم H3 يخص المقارنة المسجلة، وسؤال نوع النموذج مفتوح</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r>
              <a:rPr sz="1200" b="0" i="0" lang="ar-SA">
                <a:solidFill>
                  <a:srgbClr val="475569"/>
                </a:solidFill>
                <a:latin typeface="Arial"/>
                <a:cs typeface="Arial"/>
              </a:rPr>
              <a:t>أ</a:t>
            </a:r>
          </a:p>
        </p:txBody>
      </p:sp>
      <p:sp>
        <p:nvSpPr>
          <p:cNvPr id="8" name="المصدر"/>
          <p:cNvSpPr txBox="1"/>
          <p:nvPr/>
        </p:nvSpPr>
        <p:spPr>
          <a:xfrm>
            <a:off x="548640" y="6016752"/>
            <a:ext cx="11094415"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المصدر: results/posthoc/a11_h3_equal_info.csv وa12_symmetric_info.csv؛ الجدول هـ-10</a:t>
            </a:r>
          </a:p>
        </p:txBody>
      </p:sp>
      <p:sp>
        <p:nvSpPr>
          <p:cNvPr id="9" name="وسم"/>
          <p:cNvSpPr/>
          <p:nvPr/>
        </p:nvSpPr>
        <p:spPr>
          <a:xfrm>
            <a:off x="548640" y="566928"/>
            <a:ext cx="3666744" cy="42062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92400E"/>
                </a:solidFill>
                <a:latin typeface="Arial"/>
                <a:cs typeface="Arial"/>
              </a:rPr>
              <a:t>لاحق، استكشافي (2014، 13 عرضاً)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