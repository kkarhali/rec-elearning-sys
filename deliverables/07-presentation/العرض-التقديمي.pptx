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مؤكَّدة بهامش في 13 من 13 عرضاً.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deliverables/06-final-thesis/figures/derived/fig1_forest.png (نسخة مشتقة معتمدة بتسميات كاملة؛ لا قص للأصل المقفل).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بصياغة المشرف. (أ) الدلالة تجيب هل الأثر غير صفري، والعتبة تجيب هل هو بحجم يستحق. (ب)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وH4-أ مدحوضتان عملياً (وH4-أ دالة إحصائياً). والجواب عن السؤال التطبيقي: ما الذي يضيفه التخصيص فوق مواد الأسبوع الحالي؟ أثر مؤكَّد لترجيح الإشارات داخل WRMF، ولا تفوق مثبت للهجين على الشعبية الآنية.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tretch>
            <a:fillRect/>
          </a:stretch>
        </p:blipFill>
        <p:spPr>
          <a:xfrm>
            <a:off x="548640" y="2044099"/>
            <a:ext cx="8138160" cy="3181280"/>
          </a:xfrm>
          <a:prstGeom prst="rect">
            <a:avLst/>
          </a:prstGeom>
          <a:ln w="12700">
            <a:solidFill>
              <a:srgbClr val="CBD5E1"/>
            </a:solidFill>
          </a:ln>
        </p:spPr>
      </p:pic>
      <p:sp>
        <p:nvSpPr>
          <p:cNvPr id="4" name="TextBox 3"/>
          <p:cNvSpPr txBox="1"/>
          <p:nvPr/>
        </p:nvSpPr>
        <p:spPr>
          <a:xfrm>
            <a:off x="548640" y="5271100"/>
            <a:ext cx="813816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أُعيد رسمه من fig1_forest.csv المقفل؛ الأصل في results/conf2014/figures/</a:t>
            </a:r>
          </a:p>
        </p:txBody>
      </p:sp>
      <p:sp>
        <p:nvSpPr>
          <p:cNvPr id="5" name="بطاقة"/>
          <p:cNvSpPr/>
          <p:nvPr/>
        </p:nvSpPr>
        <p:spPr>
          <a:xfrm>
            <a:off x="9052560" y="1371600"/>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9189720" y="14447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a:t>
            </a:r>
          </a:p>
        </p:txBody>
      </p:sp>
      <p:sp>
        <p:nvSpPr>
          <p:cNvPr id="8" name="TextBox 7"/>
          <p:cNvSpPr txBox="1"/>
          <p:nvPr/>
        </p:nvSpPr>
        <p:spPr>
          <a:xfrm>
            <a:off x="9189720" y="20848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0.02</a:t>
            </a:r>
          </a:p>
        </p:txBody>
      </p:sp>
      <p:sp>
        <p:nvSpPr>
          <p:cNvPr id="9" name="بطاقة"/>
          <p:cNvSpPr/>
          <p:nvPr/>
        </p:nvSpPr>
        <p:spPr>
          <a:xfrm>
            <a:off x="9052560" y="30479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9189720" y="31211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9189720" y="37612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الفاصل كله فوق العتبة</a:t>
            </a:r>
          </a:p>
        </p:txBody>
      </p:sp>
      <p:sp>
        <p:nvSpPr>
          <p:cNvPr id="13" name="بطاقة"/>
          <p:cNvSpPr/>
          <p:nvPr/>
        </p:nvSpPr>
        <p:spPr>
          <a:xfrm>
            <a:off x="9052560" y="47243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9189720" y="4797551"/>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البقية</a:t>
            </a:r>
          </a:p>
        </p:txBody>
      </p:sp>
      <p:sp>
        <p:nvSpPr>
          <p:cNvPr id="16" name="TextBox 15"/>
          <p:cNvSpPr txBox="1"/>
          <p:nvPr/>
        </p:nvSpPr>
        <p:spPr>
          <a:xfrm>
            <a:off x="9189720" y="54376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الحكم غير حاسمة، وليس «تكافؤاً»: الفرق صفري تقريباً وفاصله يشمل الصفر والعتبة. المساهمة منهجية وتجريبية.</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مؤكَّدة في 13 من 13 عرضاً، داخل WRMF وبيانات 2014 فقط، دون تعميم إلى النظام أو نماذج أخرى.</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في 13 من 13 عرضاً، داخل WRMF وOULAD 2014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الهجين لم يتفوق عليها في 2014 (غير حاسمة): الجدول الدراسي يفرض الكثير من الوصول</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79476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63246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63246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63246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632460">
                <a:tc>
                  <a:txBody>
                    <a:bodyPr wrap="square"/>
                    <a:lstStyle/>
                    <a:p>
                      <a:pPr rtl="1" algn="r"/>
                      <a:r>
                        <a:rPr sz="1500" b="0" i="0" lang="ar-SA">
                          <a:solidFill>
                            <a:srgbClr val="134E4A"/>
                          </a:solidFill>
                          <a:latin typeface="Arial"/>
                          <a:cs typeface="Arial"/>
                        </a:rPr>
                        <a:t>‭0.0146‬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رئيسي (H4-أ)</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M1 مقابل M0</a:t>
                      </a:r>
                    </a:p>
                  </a:txBody>
                  <a:tcPr anchor="ctr" marL="91440" marR="91440" marT="36576" marB="36576">
                    <a:solidFill>
                      <a:srgbClr val="FFFFFF"/>
                    </a:solidFill>
                  </a:tcPr>
                </a:tc>
              </a:tr>
              <a:tr h="63246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EEF2F6"/>
                    </a:solidFill>
                  </a:tcPr>
                </a:tc>
              </a:tr>
              <a:tr h="63246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FFFFFF"/>
                    </a:solidFill>
                  </a:tcPr>
                </a:tc>
              </a:tr>
            </a:tbl>
          </a:graphicData>
        </a:graphic>
      </p:graphicFrame>
      <p:sp>
        <p:nvSpPr>
          <p:cNvPr id="5" name="TextBox 4"/>
          <p:cNvSpPr txBox="1"/>
          <p:nvPr/>
        </p:nvSpPr>
        <p:spPr>
          <a:xfrm>
            <a:off x="548640" y="576072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عائلة هولم.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